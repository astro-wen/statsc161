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772677dcfc1d4419" Type="http://schemas.openxmlformats.org/officeDocument/2006/relationships/extended-properties" Target="docProps/app.xml"/><Relationship Id="R8d87dafe026a48bc" Type="http://schemas.openxmlformats.org/officeDocument/2006/relationships/officeDocument" Target="ppt/presentation.xml"/><Relationship Id="Rc5e807d6457a4b8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ea4aaae68a042f0"/>
  </p:sldMasterIdLst>
  <p:sldIdLst>
    <p:sldId xmlns:r="http://schemas.openxmlformats.org/officeDocument/2006/relationships" id="256" r:id="Rf615f5ed55314443"/>
    <p:sldId xmlns:r="http://schemas.openxmlformats.org/officeDocument/2006/relationships" id="257" r:id="Rdd3c64d783a343f9"/>
    <p:sldId xmlns:r="http://schemas.openxmlformats.org/officeDocument/2006/relationships" id="258" r:id="R81856251b7114fab"/>
    <p:sldId xmlns:r="http://schemas.openxmlformats.org/officeDocument/2006/relationships" id="259" r:id="R0b87917674f241ad"/>
    <p:sldId xmlns:r="http://schemas.openxmlformats.org/officeDocument/2006/relationships" id="260" r:id="Rdbb4b7dc987f486e"/>
    <p:sldId xmlns:r="http://schemas.openxmlformats.org/officeDocument/2006/relationships" id="261" r:id="Rfdf53b204e2d41e8"/>
    <p:sldId xmlns:r="http://schemas.openxmlformats.org/officeDocument/2006/relationships" id="262" r:id="Rb3203ab0c5f941af"/>
    <p:sldId xmlns:r="http://schemas.openxmlformats.org/officeDocument/2006/relationships" id="263" r:id="Rb1437ffee7b44fb7"/>
    <p:sldId xmlns:r="http://schemas.openxmlformats.org/officeDocument/2006/relationships" id="264" r:id="R6003a8a84b3346cf"/>
    <p:sldId xmlns:r="http://schemas.openxmlformats.org/officeDocument/2006/relationships" id="265" r:id="R299b340e96d24241"/>
    <p:sldId xmlns:r="http://schemas.openxmlformats.org/officeDocument/2006/relationships" id="266" r:id="R1956a215f7784356"/>
    <p:sldId xmlns:r="http://schemas.openxmlformats.org/officeDocument/2006/relationships" id="267" r:id="R7c2f8b332d5e45df"/>
    <p:sldId xmlns:r="http://schemas.openxmlformats.org/officeDocument/2006/relationships" id="268" r:id="R533ac520b8a54cb6"/>
    <p:sldId xmlns:r="http://schemas.openxmlformats.org/officeDocument/2006/relationships" id="269" r:id="R26ead0f4df5d4a54"/>
    <p:sldId xmlns:r="http://schemas.openxmlformats.org/officeDocument/2006/relationships" id="270" r:id="Re2a0512d3efb48bd"/>
    <p:sldId xmlns:r="http://schemas.openxmlformats.org/officeDocument/2006/relationships" id="271" r:id="R713b619207ff433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07607871aa4389" Type="http://schemas.openxmlformats.org/officeDocument/2006/relationships/theme" Target="theme/theme1.xml"/><Relationship Id="R0b87917674f241ad" Type="http://schemas.openxmlformats.org/officeDocument/2006/relationships/slide" Target="slides/slide4.xml"/><Relationship Id="R1956a215f7784356" Type="http://schemas.openxmlformats.org/officeDocument/2006/relationships/slide" Target="slides/slide11.xml"/><Relationship Id="R26ead0f4df5d4a54" Type="http://schemas.openxmlformats.org/officeDocument/2006/relationships/slide" Target="slides/slide14.xml"/><Relationship Id="R299b340e96d24241" Type="http://schemas.openxmlformats.org/officeDocument/2006/relationships/slide" Target="slides/slide10.xml"/><Relationship Id="R533ac520b8a54cb6" Type="http://schemas.openxmlformats.org/officeDocument/2006/relationships/slide" Target="slides/slide13.xml"/><Relationship Id="R6003a8a84b3346cf" Type="http://schemas.openxmlformats.org/officeDocument/2006/relationships/slide" Target="slides/slide9.xml"/><Relationship Id="R713b619207ff4335" Type="http://schemas.openxmlformats.org/officeDocument/2006/relationships/slide" Target="slides/slide16.xml"/><Relationship Id="R7c2f8b332d5e45df" Type="http://schemas.openxmlformats.org/officeDocument/2006/relationships/slide" Target="slides/slide12.xml"/><Relationship Id="R81856251b7114fab" Type="http://schemas.openxmlformats.org/officeDocument/2006/relationships/slide" Target="slides/slide3.xml"/><Relationship Id="Rb1437ffee7b44fb7" Type="http://schemas.openxmlformats.org/officeDocument/2006/relationships/slide" Target="slides/slide8.xml"/><Relationship Id="Rb3203ab0c5f941af" Type="http://schemas.openxmlformats.org/officeDocument/2006/relationships/slide" Target="slides/slide7.xml"/><Relationship Id="Rbf9826966d754554" Type="http://schemas.openxmlformats.org/officeDocument/2006/relationships/tableStyles" Target="tableStyles.xml"/><Relationship Id="Rd23cbca7a6e64f28" Type="http://schemas.openxmlformats.org/officeDocument/2006/relationships/presProps" Target="presProps.xml"/><Relationship Id="Rdbb4b7dc987f486e" Type="http://schemas.openxmlformats.org/officeDocument/2006/relationships/slide" Target="slides/slide5.xml"/><Relationship Id="Rdd3c64d783a343f9" Type="http://schemas.openxmlformats.org/officeDocument/2006/relationships/slide" Target="slides/slide2.xml"/><Relationship Id="Rdea4aaae68a042f0" Type="http://schemas.openxmlformats.org/officeDocument/2006/relationships/slideMaster" Target="slideMasters/slideMaster1.xml"/><Relationship Id="Re2a0512d3efb48bd" Type="http://schemas.openxmlformats.org/officeDocument/2006/relationships/slide" Target="slides/slide15.xml"/><Relationship Id="Rf615f5ed55314443" Type="http://schemas.openxmlformats.org/officeDocument/2006/relationships/slide" Target="slides/slide1.xml"/><Relationship Id="Rfdf53b204e2d41e8" Type="http://schemas.openxmlformats.org/officeDocument/2006/relationships/slide" Target="slides/slide6.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Hi everyone, we are Leo, Aaron and Jiahong. Polymarket is a prediction market where a share pays one dollar if an event happens. Our question: is the price a good probability, and can a model do better than the crowd?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Two parts. Aaron looks at market prices: are they calibrated, and can recalibration or boosting beat them? Jiahong looks at wallets: which traits predict the price a wallet pays? For the final we combine both to look for informed trading, and to spot an informed trader we first need to know how good the price already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(0:45). Four papers frame our work. Thaler and Ziemba surveyed racetrack and lottery betting and the pricing anomalies there. Snowberg and Wolfers describe the favorite-longshot bias: long shots are bet too much and favorites too little. Wolfers and Zitzewitz conclude that prediction markets are usually fairly accurate. Page and Clemen ask our exact question and find prices are reasonably calibrated near expiry but biased for events far away. Aaron tests whether Polymarket in 2026 behaves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(0:30). Thank you, Leo. Our question is whether prediction-market prices are good probabilities. A Yes share pays one dollar if the event happens. If you believe the chance is p and the price is c, your expected profit is p minus c. Traders trade until the price matches the crowd's belief, so the price works as a probability. We test two things: is it calibrated, and can a model do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(0:30). We used 7,479 resolved Yes/No markets in our four categories, from June to October 2026. For each market, we took the last trade price at four points before close: seven days, three days, one day, and six hours. These prices come from 4.1 million trades.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(0:40). This is our main result. We group markets by their price one day before close and check how often they happened. The points lie on the diagonal: when the market says 30 percent, it happens about 30 percent of the time. This holds in all four categories. The intervals resample whole events, because markets in one event are linked; for example, only one film can win Best Picture.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(0:40). Next, the favorite-longshot bias. We measure it with a calibration slope from logistic regression, where one is perfect. Six hours before close, the slope is 1.08, a small sign of the bias. But it comes only from prices below 2 cents or above 98 cents. Without them, the slope is 1.00. It also changes from month to month. So the bias is small and not stable.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(0:20). Accuracy improves as the event gets closer. The Brier score falls from 0.074 one week before close to 0.038 six hours before. Economy stays the hardest category near the close.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 Can a model beat the price? We tried logistic regression, which corrects the price, and gradient boosting, which combines many decision trees and adds 18 features. We trained on markets before September and tested on September and October. Neither model beats the market price. The boosting model relies almost entirely on the price itself.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(0:30). To summarize, the market is hard to beat. Prices are well calibrated, the bias is small and unstable, and our models do not beat the price. So for the final, an informed trader is not someone who wins often, but someone who consistently beats the price they paid. Next, Jiahong will show which wallets pay low prices.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Our question is how well wallet trading characteristics predict average purchase price, and whether gradient boosting improves on linear regression. The dataset has 55,952 wallets, one row per wallet. The target is the volume-weighted price of the shares each wallet bought. The histogram shows training wallets. We keep all wallets and exclude the confirmed flag. This cohort comes from five selected event groups, so we describe the wallets in this dataset. A higher or lower purchase price does not by itself tell us whether the wallet made a profit.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We reserve twenty percent of wallets for final evaluation with one fixed random split: 44,761 training wallets and 11,191 test wallets. Every method gets exactly the same test wallets. Five-fold validation happens entirely inside training. We compare a mean baseline, an additive linear regression, and histogram gradient boosting, which can capture nonlinear patterns and interactions. Five skewed predictors use log of one plus the value. We choose boosting settings from a six-configuration grid using validation error, and the test set stays outside model selection.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On the held-out wallets, the mean baseline has an average absolute error of 22.14 cents per share. Linear regression reduces this to 19.78 cents, and gradient boosting to 16.74 cents. That is a 15.4 percent improvement over linear regression: 3.04 cents, with a paired wallet-bootstrap interval from 2.86 to 3.23 cents. Boosting also has a higher R squared, 0.368 against 0.197. The intervals assume independent wallets, which may be imperfect because wallets can trade in the same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To interpret the model, we shuffle one predictor at a time and measure how much test error rises. Trade count matters most, about 6.32 cents. Spending, largest purchase and number of markets also contribute. This shows what the model relies on, not whether an input raises or lowers the price, and correlated inputs make attribution hard. Removing spending and largest purchase raises boosting error from 16.74 to 19.97 cents, so the money summaries add information. We cannot infer profit, trading skill or causal effects from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Likely questions and short answers are on the backup slide and in reports/midterm/slide_script.md.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Train/test: no event is on both sides. Mid-range prices: neither model beats the market on 5 to 95 cent prices either. Category slopes: with four categories tested, one borderline interval is not unusual by chance. Other likely questions: why trade prices (the book covered only about 22% of markets; correlation 0.92 where both exist); why resample by event (markets in one event are dependent); why Brier and not accuracy (it is a proper scoring rule; accuracy treats 51% and 99% as the same call).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5e9e3ac30cd4287"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d05c0c5c70b472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a5a1c3127ae0467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334cb8e7fa14ff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dd848489b1149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7b10705158d447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F8440A-1D83-41D4-A039-BDF76EE118D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9D394F4-4C37-461E-814D-F5E210FC73A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4EE006-7593-41C8-A611-2911AF5193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AE78B5-F49F-4975-8198-F144384E94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E9ABB8-D19C-421C-9F03-F0374ABCDFF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2365DAE-0166-4C77-B76D-8572895C26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6AA0E2-8FE2-4B2C-8EED-83D76FCCBD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2B85B46-FBD0-4F89-867E-A2A9E2B6D5B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1F810D-A48E-46E5-B4CC-93BB0C4E81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A9F984-9A0F-4EE1-9C8D-F508361BD3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ed12ea3737a4b78" Type="http://schemas.openxmlformats.org/officeDocument/2006/relationships/slideLayout" Target="../slideLayouts/slideLayout4.xml"/><Relationship Id="R4eab576cb70a408d" Type="http://schemas.openxmlformats.org/officeDocument/2006/relationships/slideLayout" Target="../slideLayouts/slideLayout1.xml"/><Relationship Id="R5837265699a34904" Type="http://schemas.openxmlformats.org/officeDocument/2006/relationships/slideLayout" Target="../slideLayouts/slideLayout3.xml"/><Relationship Id="R602a4c66cb9e4a20" Type="http://schemas.openxmlformats.org/officeDocument/2006/relationships/slideLayout" Target="../slideLayouts/slideLayout6.xml"/><Relationship Id="Ra01f0ec208fe4fd4" Type="http://schemas.openxmlformats.org/officeDocument/2006/relationships/slideLayout" Target="../slideLayouts/slideLayout2.xml"/><Relationship Id="Rce5e19433f934f6d" Type="http://schemas.openxmlformats.org/officeDocument/2006/relationships/theme" Target="theme/theme2.xml"/><Relationship Id="Ree8df184110143f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ab576cb70a408d"/>
    <p:sldLayoutId xmlns:r="http://schemas.openxmlformats.org/officeDocument/2006/relationships" id="2147483650" r:id="Ra01f0ec208fe4fd4"/>
    <p:sldLayoutId xmlns:r="http://schemas.openxmlformats.org/officeDocument/2006/relationships" id="2147483651" r:id="R5837265699a34904"/>
    <p:sldLayoutId xmlns:r="http://schemas.openxmlformats.org/officeDocument/2006/relationships" id="2147483652" r:id="R3ed12ea3737a4b78"/>
    <p:sldLayoutId xmlns:r="http://schemas.openxmlformats.org/officeDocument/2006/relationships" id="2147483653" r:id="Ree8df184110143fe"/>
    <p:sldLayoutId xmlns:r="http://schemas.openxmlformats.org/officeDocument/2006/relationships" id="2147483654" r:id="R602a4c66cb9e4a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89285dd29a41e6"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de42c01f92864630"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b7242b9c64b4d0b"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ef7d1e30ef8a4bcb"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c8d2e9627273496f"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ab20aa281ec41b6" Type="http://schemas.openxmlformats.org/officeDocument/2006/relationships/slideLayout" Target="../slideLayouts/slideLayout6.xml"/><Relationship Id="R3a676c7c09064ca6" Type="http://schemas.openxmlformats.org/officeDocument/2006/relationships/image" Target="../media/image2.png"/><Relationship Id="Rfab095b425a0475c" Type="http://schemas.openxmlformats.org/officeDocument/2006/relationships/image" Target="../media/image.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ca09e0ece59a4889" Type="http://schemas.openxmlformats.org/officeDocument/2006/relationships/image" Target="../media/image3.png"/><Relationship Id="Re8aa7621c0dd443a"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e9d8f5fcc4640e9" Type="http://schemas.openxmlformats.org/officeDocument/2006/relationships/slideLayout" Target="../slideLayouts/slideLayout6.xml"/><Relationship Id="R95364801969b4a5a"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0849729a5fa4316" Type="http://schemas.openxmlformats.org/officeDocument/2006/relationships/slideLayout" Target="../slideLayouts/slideLayout6.xml"/><Relationship Id="Rcd95c24935f14665"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af531a2745341a2"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6d326458b184489" Type="http://schemas.openxmlformats.org/officeDocument/2006/relationships/chart" Target="charts/chart1.xml"/><Relationship Id="Rd649ea04c81046a8"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98ea05b64d1422d"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5b1f1df39664e70" Type="http://schemas.openxmlformats.org/officeDocument/2006/relationships/slideLayout" Target="../slideLayouts/slideLayout6.xml"/><Relationship Id="Ref374d6475f445b9" Type="http://schemas.openxmlformats.org/officeDocument/2006/relationships/chart" Target="charts/char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34da2edff8c04812" Type="http://schemas.openxmlformats.org/officeDocument/2006/relationships/slideLayout" Target="../slideLayouts/slideLayout6.xml"/><Relationship Id="R36f325cbc1d44c2a" Type="http://schemas.openxmlformats.org/officeDocument/2006/relationships/chart" Target="charts/char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c6fac35df369428e"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0d66096814f4f15" Type="http://schemas.openxmlformats.org/officeDocument/2006/relationships/slideLayout" Target="../slideLayouts/slideLayout6.xml"/><Relationship Id="rId2" Type="http://schemas.openxmlformats.org/officeDocument/2006/relationships/notesSlide" Target="../notesSlides/notesSlide1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Training price distribution</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Share of training wallets</c:v>
          </c:tx>
          <c:spPr>
            <a:solidFill xmlns:a="http://schemas.openxmlformats.org/drawingml/2006/main">
              <a:srgbClr val="315C8C"/>
            </a:solidFill>
          </c:spPr>
          <c:invertIfNegative val="0"/>
          <c:cat>
            <c:strRef>
              <c:f>'Chart Data'!$A$2:$A$6</c:f>
              <c:strCache>
                <c:ptCount val="5"/>
                <c:pt idx="0">
                  <c:v>0.0–0.2</c:v>
                </c:pt>
                <c:pt idx="1">
                  <c:v>0.2–0.4</c:v>
                </c:pt>
                <c:pt idx="2">
                  <c:v>0.4–0.6</c:v>
                </c:pt>
                <c:pt idx="3">
                  <c:v>0.6–0.8</c:v>
                </c:pt>
                <c:pt idx="4">
                  <c:v>0.8–1.0</c:v>
                </c:pt>
              </c:strCache>
            </c:strRef>
          </c:cat>
          <c:val>
            <c:numRef>
              <c:f>'Chart Data'!$B$2:$B$6</c:f>
              <c:numCache>
                <c:formatCode>0%</c:formatCode>
                <c:ptCount val="5"/>
                <c:pt idx="0">
                  <c:v>0.0946359554</c:v>
                </c:pt>
                <c:pt idx="1">
                  <c:v>0.0764504814</c:v>
                </c:pt>
                <c:pt idx="2">
                  <c:v>0.1594915216</c:v>
                </c:pt>
                <c:pt idx="3">
                  <c:v>0.2650521659</c:v>
                </c:pt>
                <c:pt idx="4">
                  <c:v>0.4043698755</c:v>
                </c:pt>
              </c:numCache>
            </c:numRef>
          </c:val>
        </c:ser>
        <c:dLbls>
          <c:showLegendKey val="0"/>
          <c:showVal val="0"/>
          <c:showCatName val="0"/>
          <c:showSerName val="0"/>
          <c:showPercent val="0"/>
          <c:showBubbleSize val="0"/>
          <c:showLeaderLines val="0"/>
        </c:dLbls>
        <c:gapWidth val="18"/>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Average purchase price ($)</a:t>
                </a:r>
              </a:p>
            </c:rich>
          </c:tx>
          <c:overlay val="0"/>
        </c:title>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max val="0.5"/>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0.1"/>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Test MAE in cents per share</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MAE</c:v>
          </c:tx>
          <c:spPr>
            <a:solidFill xmlns:a="http://schemas.openxmlformats.org/drawingml/2006/main">
              <a:srgbClr val="315C8C"/>
            </a:solidFill>
          </c:spPr>
          <c:invertIfNegative val="0"/>
          <c:dPt>
            <c:idx val="0"/>
            <c:invertIfNegative val="0"/>
            <c:spPr>
              <a:solidFill xmlns:a="http://schemas.openxmlformats.org/drawingml/2006/main">
                <a:srgbClr val="9AA4B2"/>
              </a:solidFill>
            </c:spPr>
          </c:dPt>
          <c:dPt>
            <c:idx val="1"/>
            <c:invertIfNegative val="0"/>
            <c:spPr>
              <a:solidFill xmlns:a="http://schemas.openxmlformats.org/drawingml/2006/main">
                <a:srgbClr val="315C8C"/>
              </a:solidFill>
            </c:spPr>
          </c:dPt>
          <c:dPt>
            <c:idx val="2"/>
            <c:invertIfNegative val="0"/>
            <c:spPr>
              <a:solidFill xmlns:a="http://schemas.openxmlformats.org/drawingml/2006/main">
                <a:srgbClr val="DF7137"/>
              </a:solidFill>
            </c:spPr>
          </c:dPt>
          <c:cat>
            <c:strRef>
              <c:f>'Chart Data'!$A$2:$A$4</c:f>
              <c:strCache>
                <c:ptCount val="3"/>
                <c:pt idx="0">
                  <c:v>Mean baseline</c:v>
                </c:pt>
                <c:pt idx="1">
                  <c:v>Linear regression</c:v>
                </c:pt>
                <c:pt idx="2">
                  <c:v>Gradient boosting</c:v>
                </c:pt>
              </c:strCache>
            </c:strRef>
          </c:cat>
          <c:val>
            <c:numRef>
              <c:f>'Chart Data'!$B$2:$B$4</c:f>
              <c:numCache>
                <c:formatCode>0</c:formatCode>
                <c:ptCount val="3"/>
                <c:pt idx="0">
                  <c:v>22.14207059</c:v>
                </c:pt>
                <c:pt idx="1">
                  <c:v>19.78049482</c:v>
                </c:pt>
                <c:pt idx="2">
                  <c:v>16.73620722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449"/>
                </a:solidFill>
              </a:defRPr>
            </a:pPr>
          </a:p>
        </c:txPr>
        <c:crossAx val="48672768"/>
      </c:catAx>
      <c:valAx>
        <c:axId val="48672768"/>
        <c:scaling>
          <c:orientation val="minMax"/>
          <c:max val="27"/>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263449"/>
                </a:solidFill>
              </a:rPr>
              <a:t>Increase in MAE after shuffling (cents)</a:t>
            </a:r>
          </a:p>
        </c:rich>
      </c:tx>
      <c:overlay val="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title>
    <c:plotArea>
      <c:barChart>
        <c:barDir val="bar"/>
        <c:varyColors val="0"/>
        <c:ser>
          <c:idx val="0"/>
          <c:order val="0"/>
          <c:tx>
            <c:v>Increase in MAE</c:v>
          </c:tx>
          <c:spPr>
            <a:solidFill xmlns:a="http://schemas.openxmlformats.org/drawingml/2006/main">
              <a:srgbClr val="315C8C"/>
            </a:solidFill>
          </c:spPr>
          <c:invertIfNegative val="0"/>
          <c:cat>
            <c:strRef>
              <c:f>'Chart Data'!$A$2:$A$7</c:f>
              <c:strCache>
                <c:ptCount val="6"/>
                <c:pt idx="0">
                  <c:v>Concentration</c:v>
                </c:pt>
                <c:pt idx="1">
                  <c:v>Observed span</c:v>
                </c:pt>
                <c:pt idx="2">
                  <c:v>Markets traded</c:v>
                </c:pt>
                <c:pt idx="3">
                  <c:v>Largest purchase</c:v>
                </c:pt>
                <c:pt idx="4">
                  <c:v>Total spending</c:v>
                </c:pt>
                <c:pt idx="5">
                  <c:v>Trade count</c:v>
                </c:pt>
              </c:strCache>
            </c:strRef>
          </c:cat>
          <c:val>
            <c:numRef>
              <c:f>'Chart Data'!$B$2:$B$7</c:f>
              <c:numCache>
                <c:formatCode>General</c:formatCode>
                <c:ptCount val="6"/>
                <c:pt idx="0">
                  <c:v>0.69712797</c:v>
                </c:pt>
                <c:pt idx="1">
                  <c:v>2.16132634</c:v>
                </c:pt>
                <c:pt idx="2">
                  <c:v>3.43561925</c:v>
                </c:pt>
                <c:pt idx="3">
                  <c:v>3.4705788</c:v>
                </c:pt>
                <c:pt idx="4">
                  <c:v>3.7638681</c:v>
                </c:pt>
                <c:pt idx="5">
                  <c:v>6.31779541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263449"/>
                  </a:solidFil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l"/>
        <c:majorGridlines>
          <c:spPr>
            <a:ln xmlns:a="http://schemas.openxmlformats.org/drawingml/2006/main" w="9525">
              <a:solidFill>
                <a:srgbClr val="E8ECF1"/>
              </a:solidFill>
            </a:ln>
          </c:spPr>
        </c:majorGridlines>
        <c:numFmt formatCode="0.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650">
                <a:solidFill>
                  <a:srgbClr val="263449"/>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1E4E2DF3-2402-4A48-87B2-805058D562B1}"/>
              </a:ext>
            </a:extLst>
          </p:cNvPr>
          <p:cNvSpPr>
            <a:spLocks xmlns:a="http://schemas.openxmlformats.org/drawingml/2006/main" noGrp="1"/>
          </p:cNvSpPr>
          <p:nvPr/>
        </p:nvSpPr>
        <p:spPr>
          <a:xfrm xmlns:a="http://schemas.openxmlformats.org/drawingml/2006/main">
            <a:off x="609600" y="6096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315C8C"/>
                </a:solidFill>
                <a:latin typeface="Arial"/>
                <a:ea typeface="Arial"/>
                <a:cs typeface="Arial"/>
              </a:defRPr>
            </a:defPPr>
            <a:lvl1pPr algn="l">
              <a:defRPr sz="1800" b="1">
                <a:solidFill>
                  <a:srgbClr val="315C8C"/>
                </a:solidFill>
                <a:latin typeface="Arial"/>
                <a:ea typeface="Arial"/>
                <a:cs typeface="Arial"/>
              </a:defRPr>
            </a:lvl1pPr>
            <a:lvl2pPr algn="l">
              <a:defRPr sz="1800" b="1">
                <a:solidFill>
                  <a:srgbClr val="315C8C"/>
                </a:solidFill>
                <a:latin typeface="Arial"/>
                <a:ea typeface="Arial"/>
                <a:cs typeface="Arial"/>
              </a:defRPr>
            </a:lvl2pPr>
            <a:lvl3pPr algn="l">
              <a:defRPr sz="1800" b="1">
                <a:solidFill>
                  <a:srgbClr val="315C8C"/>
                </a:solidFill>
                <a:latin typeface="Arial"/>
                <a:ea typeface="Arial"/>
                <a:cs typeface="Arial"/>
              </a:defRPr>
            </a:lvl3pPr>
            <a:lvl4pPr algn="l">
              <a:defRPr sz="1800" b="1">
                <a:solidFill>
                  <a:srgbClr val="315C8C"/>
                </a:solidFill>
                <a:latin typeface="Arial"/>
                <a:ea typeface="Arial"/>
                <a:cs typeface="Arial"/>
              </a:defRPr>
            </a:lvl4pPr>
            <a:lvl5pPr algn="l">
              <a:defRPr sz="1800" b="1">
                <a:solidFill>
                  <a:srgbClr val="315C8C"/>
                </a:solidFill>
                <a:latin typeface="Arial"/>
                <a:ea typeface="Arial"/>
                <a:cs typeface="Arial"/>
              </a:defRPr>
            </a:lvl5pPr>
            <a:lvl6pPr algn="l">
              <a:defRPr sz="1800" b="1">
                <a:solidFill>
                  <a:srgbClr val="315C8C"/>
                </a:solidFill>
                <a:latin typeface="Arial"/>
                <a:ea typeface="Arial"/>
                <a:cs typeface="Arial"/>
              </a:defRPr>
            </a:lvl6pPr>
            <a:lvl7pPr algn="l">
              <a:defRPr sz="1800" b="1">
                <a:solidFill>
                  <a:srgbClr val="315C8C"/>
                </a:solidFill>
                <a:latin typeface="Arial"/>
                <a:ea typeface="Arial"/>
                <a:cs typeface="Arial"/>
              </a:defRPr>
            </a:lvl7pPr>
            <a:lvl8pPr algn="l">
              <a:defRPr sz="1800" b="1">
                <a:solidFill>
                  <a:srgbClr val="315C8C"/>
                </a:solidFill>
                <a:latin typeface="Arial"/>
                <a:ea typeface="Arial"/>
                <a:cs typeface="Arial"/>
              </a:defRPr>
            </a:lvl8pPr>
            <a:lvl9pPr algn="l">
              <a:defRPr sz="1800" b="1">
                <a:solidFill>
                  <a:srgbClr val="315C8C"/>
                </a:solidFill>
                <a:latin typeface="Arial"/>
                <a:ea typeface="Arial"/>
                <a:cs typeface="Arial"/>
              </a:defRPr>
            </a:lvl9pPr>
          </a:lstStyle>
          <a:p xmlns:a="http://schemas.openxmlformats.org/drawingml/2006/main">
            <a:pPr algn="l">
              <a:defRPr sz="1800" b="1">
                <a:solidFill>
                  <a:srgbClr val="315C8C"/>
                </a:solidFill>
                <a:latin typeface="Arial"/>
                <a:ea typeface="Arial"/>
                <a:cs typeface="Arial"/>
              </a:defRPr>
            </a:pPr>
            <a:r>
              <a:rPr sz="1800" b="1">
                <a:solidFill>
                  <a:srgbClr val="315C8C"/>
                </a:solidFill>
                <a:latin typeface="Arial"/>
                <a:ea typeface="Arial"/>
                <a:cs typeface="Arial"/>
              </a:rPr>
              <a:t>UCLA STATS C161 / C261</a:t>
            </a:r>
          </a:p>
        </p:txBody>
      </p:sp>
      <p:sp>
        <p:nvSpPr>
          <p:cNvPr id="2" name="title">
            <a:extLst xmlns:a="http://schemas.openxmlformats.org/drawingml/2006/main">
              <a:ext uri="{FF2B5EF4-FFF2-40B4-BE49-F238E27FC236}">
                <a16:creationId xmlns:a16="http://schemas.microsoft.com/office/drawing/2014/main" id="{64E54047-51F2-4D75-BE41-29EF20CBB3A8}"/>
              </a:ext>
            </a:extLst>
          </p:cNvPr>
          <p:cNvSpPr>
            <a:spLocks xmlns:a="http://schemas.openxmlformats.org/drawingml/2006/main" noGrp="1"/>
          </p:cNvSpPr>
          <p:nvPr/>
        </p:nvSpPr>
        <p:spPr>
          <a:xfrm xmlns:a="http://schemas.openxmlformats.org/drawingml/2006/main">
            <a:off x="609600" y="18383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Can AI Beat the Crowd?</a:t>
            </a:r>
          </a:p>
        </p:txBody>
      </p:sp>
      <p:sp>
        <p:nvSpPr>
          <p:cNvPr id="3" name="question">
            <a:extLst xmlns:a="http://schemas.openxmlformats.org/drawingml/2006/main">
              <a:ext uri="{FF2B5EF4-FFF2-40B4-BE49-F238E27FC236}">
                <a16:creationId xmlns:a16="http://schemas.microsoft.com/office/drawing/2014/main" id="{8F39C763-FE12-4077-9457-A493170E70A1}"/>
              </a:ext>
            </a:extLst>
          </p:cNvPr>
          <p:cNvSpPr>
            <a:spLocks xmlns:a="http://schemas.openxmlformats.org/drawingml/2006/main" noGrp="1"/>
          </p:cNvSpPr>
          <p:nvPr/>
        </p:nvSpPr>
        <p:spPr>
          <a:xfrm xmlns:a="http://schemas.openxmlformats.org/drawingml/2006/main">
            <a:off x="609600" y="3067050"/>
            <a:ext cx="10477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63449"/>
                </a:solidFill>
                <a:latin typeface="Arial"/>
                <a:ea typeface="Arial"/>
                <a:cs typeface="Arial"/>
              </a:defRPr>
            </a:defPPr>
            <a:lvl1pPr algn="l">
              <a:defRPr sz="2625" b="0">
                <a:solidFill>
                  <a:srgbClr val="263449"/>
                </a:solidFill>
                <a:latin typeface="Arial"/>
                <a:ea typeface="Arial"/>
                <a:cs typeface="Arial"/>
              </a:defRPr>
            </a:lvl1pPr>
            <a:lvl2pPr algn="l">
              <a:defRPr sz="2625" b="0">
                <a:solidFill>
                  <a:srgbClr val="263449"/>
                </a:solidFill>
                <a:latin typeface="Arial"/>
                <a:ea typeface="Arial"/>
                <a:cs typeface="Arial"/>
              </a:defRPr>
            </a:lvl2pPr>
            <a:lvl3pPr algn="l">
              <a:defRPr sz="2625" b="0">
                <a:solidFill>
                  <a:srgbClr val="263449"/>
                </a:solidFill>
                <a:latin typeface="Arial"/>
                <a:ea typeface="Arial"/>
                <a:cs typeface="Arial"/>
              </a:defRPr>
            </a:lvl3pPr>
            <a:lvl4pPr algn="l">
              <a:defRPr sz="2625" b="0">
                <a:solidFill>
                  <a:srgbClr val="263449"/>
                </a:solidFill>
                <a:latin typeface="Arial"/>
                <a:ea typeface="Arial"/>
                <a:cs typeface="Arial"/>
              </a:defRPr>
            </a:lvl4pPr>
            <a:lvl5pPr algn="l">
              <a:defRPr sz="2625" b="0">
                <a:solidFill>
                  <a:srgbClr val="263449"/>
                </a:solidFill>
                <a:latin typeface="Arial"/>
                <a:ea typeface="Arial"/>
                <a:cs typeface="Arial"/>
              </a:defRPr>
            </a:lvl5pPr>
            <a:lvl6pPr algn="l">
              <a:defRPr sz="2625" b="0">
                <a:solidFill>
                  <a:srgbClr val="263449"/>
                </a:solidFill>
                <a:latin typeface="Arial"/>
                <a:ea typeface="Arial"/>
                <a:cs typeface="Arial"/>
              </a:defRPr>
            </a:lvl6pPr>
            <a:lvl7pPr algn="l">
              <a:defRPr sz="2625" b="0">
                <a:solidFill>
                  <a:srgbClr val="263449"/>
                </a:solidFill>
                <a:latin typeface="Arial"/>
                <a:ea typeface="Arial"/>
                <a:cs typeface="Arial"/>
              </a:defRPr>
            </a:lvl7pPr>
            <a:lvl8pPr algn="l">
              <a:defRPr sz="2625" b="0">
                <a:solidFill>
                  <a:srgbClr val="263449"/>
                </a:solidFill>
                <a:latin typeface="Arial"/>
                <a:ea typeface="Arial"/>
                <a:cs typeface="Arial"/>
              </a:defRPr>
            </a:lvl8pPr>
            <a:lvl9pPr algn="l">
              <a:defRPr sz="2625" b="0">
                <a:solidFill>
                  <a:srgbClr val="263449"/>
                </a:solidFill>
                <a:latin typeface="Arial"/>
                <a:ea typeface="Arial"/>
                <a:cs typeface="Arial"/>
              </a:defRPr>
            </a:lvl9pPr>
          </a:lstStyle>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Are prediction-market prices good probabilities,</a:t>
            </a:r>
          </a:p>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and can a model do better?</a:t>
            </a:r>
          </a:p>
        </p:txBody>
      </p:sp>
      <p:sp>
        <p:nvSpPr>
          <p:cNvPr id="4" name="authors">
            <a:extLst xmlns:a="http://schemas.openxmlformats.org/drawingml/2006/main">
              <a:ext uri="{FF2B5EF4-FFF2-40B4-BE49-F238E27FC236}">
                <a16:creationId xmlns:a16="http://schemas.microsoft.com/office/drawing/2014/main" id="{678A7F1E-21D9-44E9-88A5-430956A7FABB}"/>
              </a:ext>
            </a:extLst>
          </p:cNvPr>
          <p:cNvSpPr>
            <a:spLocks xmlns:a="http://schemas.openxmlformats.org/drawingml/2006/main" noGrp="1"/>
          </p:cNvSpPr>
          <p:nvPr/>
        </p:nvSpPr>
        <p:spPr>
          <a:xfrm xmlns:a="http://schemas.openxmlformats.org/drawingml/2006/main">
            <a:off x="609600" y="53149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15C8C"/>
                </a:solidFill>
                <a:latin typeface="Arial"/>
                <a:ea typeface="Arial"/>
                <a:cs typeface="Arial"/>
              </a:defRPr>
            </a:defPPr>
            <a:lvl1pPr algn="l">
              <a:defRPr sz="2025" b="0">
                <a:solidFill>
                  <a:srgbClr val="315C8C"/>
                </a:solidFill>
                <a:latin typeface="Arial"/>
                <a:ea typeface="Arial"/>
                <a:cs typeface="Arial"/>
              </a:defRPr>
            </a:lvl1pPr>
            <a:lvl2pPr algn="l">
              <a:defRPr sz="2025" b="0">
                <a:solidFill>
                  <a:srgbClr val="315C8C"/>
                </a:solidFill>
                <a:latin typeface="Arial"/>
                <a:ea typeface="Arial"/>
                <a:cs typeface="Arial"/>
              </a:defRPr>
            </a:lvl2pPr>
            <a:lvl3pPr algn="l">
              <a:defRPr sz="2025" b="0">
                <a:solidFill>
                  <a:srgbClr val="315C8C"/>
                </a:solidFill>
                <a:latin typeface="Arial"/>
                <a:ea typeface="Arial"/>
                <a:cs typeface="Arial"/>
              </a:defRPr>
            </a:lvl3pPr>
            <a:lvl4pPr algn="l">
              <a:defRPr sz="2025" b="0">
                <a:solidFill>
                  <a:srgbClr val="315C8C"/>
                </a:solidFill>
                <a:latin typeface="Arial"/>
                <a:ea typeface="Arial"/>
                <a:cs typeface="Arial"/>
              </a:defRPr>
            </a:lvl4pPr>
            <a:lvl5pPr algn="l">
              <a:defRPr sz="2025" b="0">
                <a:solidFill>
                  <a:srgbClr val="315C8C"/>
                </a:solidFill>
                <a:latin typeface="Arial"/>
                <a:ea typeface="Arial"/>
                <a:cs typeface="Arial"/>
              </a:defRPr>
            </a:lvl5pPr>
            <a:lvl6pPr algn="l">
              <a:defRPr sz="2025" b="0">
                <a:solidFill>
                  <a:srgbClr val="315C8C"/>
                </a:solidFill>
                <a:latin typeface="Arial"/>
                <a:ea typeface="Arial"/>
                <a:cs typeface="Arial"/>
              </a:defRPr>
            </a:lvl6pPr>
            <a:lvl7pPr algn="l">
              <a:defRPr sz="2025" b="0">
                <a:solidFill>
                  <a:srgbClr val="315C8C"/>
                </a:solidFill>
                <a:latin typeface="Arial"/>
                <a:ea typeface="Arial"/>
                <a:cs typeface="Arial"/>
              </a:defRPr>
            </a:lvl7pPr>
            <a:lvl8pPr algn="l">
              <a:defRPr sz="2025" b="0">
                <a:solidFill>
                  <a:srgbClr val="315C8C"/>
                </a:solidFill>
                <a:latin typeface="Arial"/>
                <a:ea typeface="Arial"/>
                <a:cs typeface="Arial"/>
              </a:defRPr>
            </a:lvl8pPr>
            <a:lvl9pPr algn="l">
              <a:defRPr sz="2025" b="0">
                <a:solidFill>
                  <a:srgbClr val="315C8C"/>
                </a:solidFill>
                <a:latin typeface="Arial"/>
                <a:ea typeface="Arial"/>
                <a:cs typeface="Arial"/>
              </a:defRPr>
            </a:lvl9pPr>
          </a:lstStyle>
          <a:p xmlns:a="http://schemas.openxmlformats.org/drawingml/2006/main">
            <a:pPr algn="l">
              <a:defRPr sz="2025" b="0">
                <a:solidFill>
                  <a:srgbClr val="315C8C"/>
                </a:solidFill>
                <a:latin typeface="Arial"/>
                <a:ea typeface="Arial"/>
                <a:cs typeface="Arial"/>
              </a:defRPr>
            </a:pPr>
            <a:r>
              <a:rPr sz="2025" b="0">
                <a:solidFill>
                  <a:srgbClr val="315C8C"/>
                </a:solidFill>
                <a:latin typeface="Arial"/>
                <a:ea typeface="Arial"/>
                <a:cs typeface="Arial"/>
              </a:rPr>
              <a:t>Leo Wong   /   Aaron Wen   /   Jiahong Chen</a:t>
            </a:r>
          </a:p>
        </p:txBody>
      </p:sp>
      <p:sp>
        <p:nvSpPr>
          <p:cNvPr id="5" name="project">
            <a:extLst xmlns:a="http://schemas.openxmlformats.org/drawingml/2006/main">
              <a:ext uri="{FF2B5EF4-FFF2-40B4-BE49-F238E27FC236}">
                <a16:creationId xmlns:a16="http://schemas.microsoft.com/office/drawing/2014/main" id="{5CDBC4C0-1487-434F-A615-5B5F20575C5D}"/>
              </a:ext>
            </a:extLst>
          </p:cNvPr>
          <p:cNvSpPr>
            <a:spLocks xmlns:a="http://schemas.openxmlformats.org/drawingml/2006/main" noGrp="1"/>
          </p:cNvSpPr>
          <p:nvPr/>
        </p:nvSpPr>
        <p:spPr>
          <a:xfrm xmlns:a="http://schemas.openxmlformats.org/drawingml/2006/main">
            <a:off x="609600" y="58864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27085"/>
                </a:solidFill>
                <a:latin typeface="Arial"/>
                <a:ea typeface="Arial"/>
                <a:cs typeface="Arial"/>
              </a:defRPr>
            </a:defPPr>
            <a:lvl1pPr algn="l">
              <a:defRPr sz="1725" b="0">
                <a:solidFill>
                  <a:srgbClr val="627085"/>
                </a:solidFill>
                <a:latin typeface="Arial"/>
                <a:ea typeface="Arial"/>
                <a:cs typeface="Arial"/>
              </a:defRPr>
            </a:lvl1pPr>
            <a:lvl2pPr algn="l">
              <a:defRPr sz="1725" b="0">
                <a:solidFill>
                  <a:srgbClr val="627085"/>
                </a:solidFill>
                <a:latin typeface="Arial"/>
                <a:ea typeface="Arial"/>
                <a:cs typeface="Arial"/>
              </a:defRPr>
            </a:lvl2pPr>
            <a:lvl3pPr algn="l">
              <a:defRPr sz="1725" b="0">
                <a:solidFill>
                  <a:srgbClr val="627085"/>
                </a:solidFill>
                <a:latin typeface="Arial"/>
                <a:ea typeface="Arial"/>
                <a:cs typeface="Arial"/>
              </a:defRPr>
            </a:lvl3pPr>
            <a:lvl4pPr algn="l">
              <a:defRPr sz="1725" b="0">
                <a:solidFill>
                  <a:srgbClr val="627085"/>
                </a:solidFill>
                <a:latin typeface="Arial"/>
                <a:ea typeface="Arial"/>
                <a:cs typeface="Arial"/>
              </a:defRPr>
            </a:lvl4pPr>
            <a:lvl5pPr algn="l">
              <a:defRPr sz="1725" b="0">
                <a:solidFill>
                  <a:srgbClr val="627085"/>
                </a:solidFill>
                <a:latin typeface="Arial"/>
                <a:ea typeface="Arial"/>
                <a:cs typeface="Arial"/>
              </a:defRPr>
            </a:lvl5pPr>
            <a:lvl6pPr algn="l">
              <a:defRPr sz="1725" b="0">
                <a:solidFill>
                  <a:srgbClr val="627085"/>
                </a:solidFill>
                <a:latin typeface="Arial"/>
                <a:ea typeface="Arial"/>
                <a:cs typeface="Arial"/>
              </a:defRPr>
            </a:lvl6pPr>
            <a:lvl7pPr algn="l">
              <a:defRPr sz="1725" b="0">
                <a:solidFill>
                  <a:srgbClr val="627085"/>
                </a:solidFill>
                <a:latin typeface="Arial"/>
                <a:ea typeface="Arial"/>
                <a:cs typeface="Arial"/>
              </a:defRPr>
            </a:lvl7pPr>
            <a:lvl8pPr algn="l">
              <a:defRPr sz="1725" b="0">
                <a:solidFill>
                  <a:srgbClr val="627085"/>
                </a:solidFill>
                <a:latin typeface="Arial"/>
                <a:ea typeface="Arial"/>
                <a:cs typeface="Arial"/>
              </a:defRPr>
            </a:lvl8pPr>
            <a:lvl9pPr algn="l">
              <a:defRPr sz="1725" b="0">
                <a:solidFill>
                  <a:srgbClr val="627085"/>
                </a:solidFill>
                <a:latin typeface="Arial"/>
                <a:ea typeface="Arial"/>
                <a:cs typeface="Arial"/>
              </a:defRPr>
            </a:lvl9pPr>
          </a:lstStyle>
          <a:p xmlns:a="http://schemas.openxmlformats.org/drawingml/2006/main">
            <a:pPr algn="l">
              <a:defRPr sz="1725" b="0">
                <a:solidFill>
                  <a:srgbClr val="627085"/>
                </a:solidFill>
                <a:latin typeface="Arial"/>
                <a:ea typeface="Arial"/>
                <a:cs typeface="Arial"/>
              </a:defRPr>
            </a:pPr>
            <a:r>
              <a:rPr sz="1725" b="0">
                <a:solidFill>
                  <a:srgbClr val="627085"/>
                </a:solidFill>
                <a:latin typeface="Arial"/>
                <a:ea typeface="Arial"/>
                <a:cs typeface="Arial"/>
              </a:rPr>
              <a:t>Polymarket midterm project</a:t>
            </a:r>
          </a:p>
        </p:txBody>
      </p:sp>
    </p:spTree>
    <p:extLst>
      <p:ext uri="{BB962C8B-B14F-4D97-AF65-F5344CB8AC3E}">
        <p14:creationId xmlns:p14="http://schemas.microsoft.com/office/powerpoint/2010/main" val="11422144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124931F-A1C4-49B2-AE5D-A6F88232637B}"/>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prices and wallet behavior</a:t>
            </a:r>
          </a:p>
        </p:txBody>
      </p:sp>
      <p:sp>
        <p:nvSpPr>
          <p:cNvPr id="2" name="market-heading">
            <a:extLst xmlns:a="http://schemas.openxmlformats.org/drawingml/2006/main">
              <a:ext uri="{FF2B5EF4-FFF2-40B4-BE49-F238E27FC236}">
                <a16:creationId xmlns:a16="http://schemas.microsoft.com/office/drawing/2014/main" id="{B950B2F8-6644-4C1B-B0E5-A8C21C7F9E09}"/>
              </a:ext>
            </a:extLst>
          </p:cNvPr>
          <p:cNvSpPr>
            <a:spLocks xmlns:a="http://schemas.openxmlformats.org/drawingml/2006/main" noGrp="1"/>
          </p:cNvSpPr>
          <p:nvPr/>
        </p:nvSpPr>
        <p:spPr>
          <a:xfrm xmlns:a="http://schemas.openxmlformats.org/drawingml/2006/main">
            <a:off x="609600" y="1562100"/>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Market prices</a:t>
            </a:r>
          </a:p>
        </p:txBody>
      </p:sp>
      <p:sp>
        <p:nvSpPr>
          <p:cNvPr id="3" name="market-question">
            <a:extLst xmlns:a="http://schemas.openxmlformats.org/drawingml/2006/main">
              <a:ext uri="{FF2B5EF4-FFF2-40B4-BE49-F238E27FC236}">
                <a16:creationId xmlns:a16="http://schemas.microsoft.com/office/drawing/2014/main" id="{A7189A7A-892D-44EF-B724-D499E2EB8D98}"/>
              </a:ext>
            </a:extLst>
          </p:cNvPr>
          <p:cNvSpPr>
            <a:spLocks xmlns:a="http://schemas.openxmlformats.org/drawingml/2006/main" noGrp="1"/>
          </p:cNvSpPr>
          <p:nvPr/>
        </p:nvSpPr>
        <p:spPr>
          <a:xfrm xmlns:a="http://schemas.openxmlformats.org/drawingml/2006/main">
            <a:off x="609600" y="2238375"/>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 market prices match observed outcomes?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Can recalibration or boosting improve accuracy?</a:t>
            </a:r>
          </a:p>
        </p:txBody>
      </p:sp>
      <p:sp>
        <p:nvSpPr>
          <p:cNvPr id="4" name="wallet-heading">
            <a:extLst xmlns:a="http://schemas.openxmlformats.org/drawingml/2006/main">
              <a:ext uri="{FF2B5EF4-FFF2-40B4-BE49-F238E27FC236}">
                <a16:creationId xmlns:a16="http://schemas.microsoft.com/office/drawing/2014/main" id="{9796D4A0-55FB-408E-9ECD-28715BAB9BA1}"/>
              </a:ext>
            </a:extLst>
          </p:cNvPr>
          <p:cNvSpPr>
            <a:spLocks xmlns:a="http://schemas.openxmlformats.org/drawingml/2006/main" noGrp="1"/>
          </p:cNvSpPr>
          <p:nvPr/>
        </p:nvSpPr>
        <p:spPr>
          <a:xfrm xmlns:a="http://schemas.openxmlformats.org/drawingml/2006/main">
            <a:off x="6343650" y="15621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Wallet behavior</a:t>
            </a:r>
          </a:p>
        </p:txBody>
      </p:sp>
      <p:sp>
        <p:nvSpPr>
          <p:cNvPr id="5" name="wallet-question">
            <a:extLst xmlns:a="http://schemas.openxmlformats.org/drawingml/2006/main">
              <a:ext uri="{FF2B5EF4-FFF2-40B4-BE49-F238E27FC236}">
                <a16:creationId xmlns:a16="http://schemas.microsoft.com/office/drawing/2014/main" id="{C4661CF1-5C7E-4265-911D-F72D569015CE}"/>
              </a:ext>
            </a:extLst>
          </p:cNvPr>
          <p:cNvSpPr>
            <a:spLocks xmlns:a="http://schemas.openxmlformats.org/drawingml/2006/main" noGrp="1"/>
          </p:cNvSpPr>
          <p:nvPr/>
        </p:nvSpPr>
        <p:spPr>
          <a:xfrm xmlns:a="http://schemas.openxmlformats.org/drawingml/2006/main">
            <a:off x="6343650" y="2238375"/>
            <a:ext cx="5238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How well do wallet traits predict average purchase price?</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Does boosting improve on linear regression?</a:t>
            </a:r>
          </a:p>
        </p:txBody>
      </p:sp>
      <p:sp>
        <p:nvSpPr>
          <p:cNvPr id="6" name="scope-and-source">
            <a:extLst xmlns:a="http://schemas.openxmlformats.org/drawingml/2006/main">
              <a:ext uri="{FF2B5EF4-FFF2-40B4-BE49-F238E27FC236}">
                <a16:creationId xmlns:a16="http://schemas.microsoft.com/office/drawing/2014/main" id="{7F86CF89-3993-47E2-BECF-92E8B0797AD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Final project direction: combine market and wallet evidence to investigate informed trading.</a:t>
            </a:r>
          </a:p>
        </p:txBody>
      </p:sp>
    </p:spTree>
    <p:extLst>
      <p:ext uri="{BB962C8B-B14F-4D97-AF65-F5344CB8AC3E}">
        <p14:creationId xmlns:p14="http://schemas.microsoft.com/office/powerpoint/2010/main" val="14760302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6D7D9C63-C3D0-46EE-B860-38B9E3AB0BE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Prior research</a:t>
            </a:r>
          </a:p>
        </p:txBody>
      </p:sp>
      <p:graphicFrame>
        <p:nvGraphicFramePr>
          <p:cNvPr id="2" name="">
            <a:extLst xmlns:a="http://schemas.openxmlformats.org/drawingml/2006/main">
              <a:ext uri="{FF2B5EF4-FFF2-40B4-BE49-F238E27FC236}">
                <a16:creationId xmlns:a16="http://schemas.microsoft.com/office/drawing/2014/main" id="{AADD52BE-FD52-4195-BAD6-4AA8FB665C37}"/>
              </a:ext>
            </a:extLst>
          </p:cNvPr>
          <p:cNvGraphicFramePr/>
          <p:nvPr/>
        </p:nvGraphicFramePr>
        <p:xfrm>
          <a:off xmlns:a="http://schemas.openxmlformats.org/drawingml/2006/main" x="609600" y="1419225"/>
          <a:ext xmlns:a="http://schemas.openxmlformats.org/drawingml/2006/main" cx="10972800" cy="3733800"/>
        </p:xfrm>
        <a:graphic xmlns:a="http://schemas.openxmlformats.org/drawingml/2006/main">
          <a:graphicData uri="http://schemas.openxmlformats.org/drawingml/2006/table">
            <a:tbl>
              <a:tblPr/>
              <a:tblGrid>
                <a:gridCol w="4343400"/>
                <a:gridCol w="6629400"/>
              </a:tblGrid>
              <a:tr h="495300">
                <a:tc>
                  <a:txBody>
                    <a:bodyPr lIns="152400" tIns="95250" rIns="133350" bIns="95250"/>
                    <a:lstStyle/>
                    <a:p>
                      <a:r>
                        <a:rPr sz="1875" b="1">
                          <a:solidFill>
                            <a:srgbClr val="FFFFFF"/>
                          </a:solidFill>
                          <a:latin typeface="Arial"/>
                          <a:ea typeface="Arial"/>
                          <a:cs typeface="Arial"/>
                        </a:rPr>
                        <a:t>Study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Main finding</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09625">
                <a:tc>
                  <a:txBody>
                    <a:bodyPr lIns="152400" tIns="95250" rIns="133350" bIns="95250"/>
                    <a:lstStyle/>
                    <a:p>
                      <a:r>
                        <a:rPr sz="1875" b="0">
                          <a:solidFill>
                            <a:srgbClr val="263449"/>
                          </a:solidFill>
                          <a:latin typeface="Arial"/>
                          <a:ea typeface="Arial"/>
                          <a:cs typeface="Arial"/>
                        </a:rPr>
                        <a:t>Thaler &amp; Ziemba (1988)</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Betting markets can show pricing anomalies.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Snowberg &amp; Wolfers (2010)</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Longshots tend to be overbet and favorites underbet.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Wolfers &amp; Zitzewitz (2004)</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Prediction markets often produce accurate forecasts.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Page &amp; Clemen (2013)</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Calibration tends to improve closer to expiry.</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cope-and-source">
            <a:extLst xmlns:a="http://schemas.openxmlformats.org/drawingml/2006/main">
              <a:ext uri="{FF2B5EF4-FFF2-40B4-BE49-F238E27FC236}">
                <a16:creationId xmlns:a16="http://schemas.microsoft.com/office/drawing/2014/main" id="{EAC97D5F-E5D6-461F-A439-C41C02E5EED9}"/>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Sources: JEP 2(2):161–174; JPE 118(4):723–746; JEP 18(2):107–126; Economic Journal 123(568):491–513</a:t>
            </a:r>
          </a:p>
        </p:txBody>
      </p:sp>
    </p:spTree>
    <p:extLst>
      <p:ext uri="{BB962C8B-B14F-4D97-AF65-F5344CB8AC3E}">
        <p14:creationId xmlns:p14="http://schemas.microsoft.com/office/powerpoint/2010/main" val="17432081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427A5B56-DF85-42E8-85FF-7A448218521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Prices as probabilities</a:t>
            </a:r>
          </a:p>
        </p:txBody>
      </p:sp>
      <p:sp>
        <p:nvSpPr>
          <p:cNvPr id="2" name="expected-profit">
            <a:extLst xmlns:a="http://schemas.openxmlformats.org/drawingml/2006/main">
              <a:ext uri="{FF2B5EF4-FFF2-40B4-BE49-F238E27FC236}">
                <a16:creationId xmlns:a16="http://schemas.microsoft.com/office/drawing/2014/main" id="{3F567C40-99BE-4243-ACA8-0A5E9ECB8FBC}"/>
              </a:ext>
            </a:extLst>
          </p:cNvPr>
          <p:cNvSpPr>
            <a:spLocks xmlns:a="http://schemas.openxmlformats.org/drawingml/2006/main" noGrp="1"/>
          </p:cNvSpPr>
          <p:nvPr/>
        </p:nvSpPr>
        <p:spPr>
          <a:xfrm xmlns:a="http://schemas.openxmlformats.org/drawingml/2006/main">
            <a:off x="609600" y="1600200"/>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315C8C"/>
                </a:solidFill>
                <a:latin typeface="Arial"/>
                <a:ea typeface="Arial"/>
                <a:cs typeface="Arial"/>
              </a:defRPr>
            </a:defPPr>
            <a:lvl1pPr algn="l">
              <a:defRPr sz="4050" b="1">
                <a:solidFill>
                  <a:srgbClr val="315C8C"/>
                </a:solidFill>
                <a:latin typeface="Arial"/>
                <a:ea typeface="Arial"/>
                <a:cs typeface="Arial"/>
              </a:defRPr>
            </a:lvl1pPr>
            <a:lvl2pPr algn="l">
              <a:defRPr sz="4050" b="1">
                <a:solidFill>
                  <a:srgbClr val="315C8C"/>
                </a:solidFill>
                <a:latin typeface="Arial"/>
                <a:ea typeface="Arial"/>
                <a:cs typeface="Arial"/>
              </a:defRPr>
            </a:lvl2pPr>
            <a:lvl3pPr algn="l">
              <a:defRPr sz="4050" b="1">
                <a:solidFill>
                  <a:srgbClr val="315C8C"/>
                </a:solidFill>
                <a:latin typeface="Arial"/>
                <a:ea typeface="Arial"/>
                <a:cs typeface="Arial"/>
              </a:defRPr>
            </a:lvl3pPr>
            <a:lvl4pPr algn="l">
              <a:defRPr sz="4050" b="1">
                <a:solidFill>
                  <a:srgbClr val="315C8C"/>
                </a:solidFill>
                <a:latin typeface="Arial"/>
                <a:ea typeface="Arial"/>
                <a:cs typeface="Arial"/>
              </a:defRPr>
            </a:lvl4pPr>
            <a:lvl5pPr algn="l">
              <a:defRPr sz="4050" b="1">
                <a:solidFill>
                  <a:srgbClr val="315C8C"/>
                </a:solidFill>
                <a:latin typeface="Arial"/>
                <a:ea typeface="Arial"/>
                <a:cs typeface="Arial"/>
              </a:defRPr>
            </a:lvl5pPr>
            <a:lvl6pPr algn="l">
              <a:defRPr sz="4050" b="1">
                <a:solidFill>
                  <a:srgbClr val="315C8C"/>
                </a:solidFill>
                <a:latin typeface="Arial"/>
                <a:ea typeface="Arial"/>
                <a:cs typeface="Arial"/>
              </a:defRPr>
            </a:lvl6pPr>
            <a:lvl7pPr algn="l">
              <a:defRPr sz="4050" b="1">
                <a:solidFill>
                  <a:srgbClr val="315C8C"/>
                </a:solidFill>
                <a:latin typeface="Arial"/>
                <a:ea typeface="Arial"/>
                <a:cs typeface="Arial"/>
              </a:defRPr>
            </a:lvl7pPr>
            <a:lvl8pPr algn="l">
              <a:defRPr sz="4050" b="1">
                <a:solidFill>
                  <a:srgbClr val="315C8C"/>
                </a:solidFill>
                <a:latin typeface="Arial"/>
                <a:ea typeface="Arial"/>
                <a:cs typeface="Arial"/>
              </a:defRPr>
            </a:lvl8pPr>
            <a:lvl9pPr algn="l">
              <a:defRPr sz="4050" b="1">
                <a:solidFill>
                  <a:srgbClr val="315C8C"/>
                </a:solidFill>
                <a:latin typeface="Arial"/>
                <a:ea typeface="Arial"/>
                <a:cs typeface="Arial"/>
              </a:defRPr>
            </a:lvl9pPr>
          </a:lstStyle>
          <a:p xmlns:a="http://schemas.openxmlformats.org/drawingml/2006/main">
            <a:pPr algn="l">
              <a:defRPr sz="4050" b="1">
                <a:solidFill>
                  <a:srgbClr val="315C8C"/>
                </a:solidFill>
                <a:latin typeface="Arial"/>
                <a:ea typeface="Arial"/>
                <a:cs typeface="Arial"/>
              </a:defRPr>
            </a:pPr>
            <a:r>
              <a:rPr sz="4050" b="1">
                <a:solidFill>
                  <a:srgbClr val="315C8C"/>
                </a:solidFill>
                <a:latin typeface="Arial"/>
                <a:ea typeface="Arial"/>
                <a:cs typeface="Arial"/>
              </a:rPr>
              <a:t>E[profit] = p − c</a:t>
            </a:r>
          </a:p>
        </p:txBody>
      </p:sp>
      <p:sp>
        <p:nvSpPr>
          <p:cNvPr id="3" name="formula-context">
            <a:extLst xmlns:a="http://schemas.openxmlformats.org/drawingml/2006/main">
              <a:ext uri="{FF2B5EF4-FFF2-40B4-BE49-F238E27FC236}">
                <a16:creationId xmlns:a16="http://schemas.microsoft.com/office/drawing/2014/main" id="{5207B84F-5EA9-4318-93FE-C246F7C5D341}"/>
              </a:ext>
            </a:extLst>
          </p:cNvPr>
          <p:cNvSpPr>
            <a:spLocks xmlns:a="http://schemas.openxmlformats.org/drawingml/2006/main" noGrp="1"/>
          </p:cNvSpPr>
          <p:nvPr/>
        </p:nvSpPr>
        <p:spPr>
          <a:xfrm xmlns:a="http://schemas.openxmlformats.org/drawingml/2006/main">
            <a:off x="609600" y="2752725"/>
            <a:ext cx="5238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 Yes share pays $1 if the event occurs.</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p is your belief. c is the price.</a:t>
            </a:r>
          </a:p>
        </p:txBody>
      </p:sp>
      <p:sp>
        <p:nvSpPr>
          <p:cNvPr id="4" name="calibration">
            <a:extLst xmlns:a="http://schemas.openxmlformats.org/drawingml/2006/main">
              <a:ext uri="{FF2B5EF4-FFF2-40B4-BE49-F238E27FC236}">
                <a16:creationId xmlns:a16="http://schemas.microsoft.com/office/drawing/2014/main" id="{2DB29834-4D40-428D-BDBB-4EA756362118}"/>
              </a:ext>
            </a:extLst>
          </p:cNvPr>
          <p:cNvSpPr>
            <a:spLocks xmlns:a="http://schemas.openxmlformats.org/drawingml/2006/main" noGrp="1"/>
          </p:cNvSpPr>
          <p:nvPr/>
        </p:nvSpPr>
        <p:spPr>
          <a:xfrm xmlns:a="http://schemas.openxmlformats.org/drawingml/2006/main">
            <a:off x="6667500" y="15906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Calibration</a:t>
            </a:r>
          </a:p>
        </p:txBody>
      </p:sp>
      <p:sp>
        <p:nvSpPr>
          <p:cNvPr id="5" name="calibration-explainer">
            <a:extLst xmlns:a="http://schemas.openxmlformats.org/drawingml/2006/main">
              <a:ext uri="{FF2B5EF4-FFF2-40B4-BE49-F238E27FC236}">
                <a16:creationId xmlns:a16="http://schemas.microsoft.com/office/drawing/2014/main" id="{333D8355-F650-4C43-827C-BD40B5265B28}"/>
              </a:ext>
            </a:extLst>
          </p:cNvPr>
          <p:cNvSpPr>
            <a:spLocks xmlns:a="http://schemas.openxmlformats.org/drawingml/2006/main" noGrp="1"/>
          </p:cNvSpPr>
          <p:nvPr/>
        </p:nvSpPr>
        <p:spPr>
          <a:xfrm xmlns:a="http://schemas.openxmlformats.org/drawingml/2006/main">
            <a:off x="6667500" y="2209800"/>
            <a:ext cx="4914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Among events priced at 30%,</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do about 30% resolve Yes?</a:t>
            </a:r>
          </a:p>
        </p:txBody>
      </p:sp>
      <p:sp>
        <p:nvSpPr>
          <p:cNvPr id="6" name="prediction">
            <a:extLst xmlns:a="http://schemas.openxmlformats.org/drawingml/2006/main">
              <a:ext uri="{FF2B5EF4-FFF2-40B4-BE49-F238E27FC236}">
                <a16:creationId xmlns:a16="http://schemas.microsoft.com/office/drawing/2014/main" id="{865A2398-CE1D-4457-97CC-8B4AAC1AD56B}"/>
              </a:ext>
            </a:extLst>
          </p:cNvPr>
          <p:cNvSpPr>
            <a:spLocks xmlns:a="http://schemas.openxmlformats.org/drawingml/2006/main" noGrp="1"/>
          </p:cNvSpPr>
          <p:nvPr/>
        </p:nvSpPr>
        <p:spPr>
          <a:xfrm xmlns:a="http://schemas.openxmlformats.org/drawingml/2006/main">
            <a:off x="6667500" y="37242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Model comparison</a:t>
            </a:r>
          </a:p>
        </p:txBody>
      </p:sp>
      <p:sp>
        <p:nvSpPr>
          <p:cNvPr id="7" name="prediction-explainer">
            <a:extLst xmlns:a="http://schemas.openxmlformats.org/drawingml/2006/main">
              <a:ext uri="{FF2B5EF4-FFF2-40B4-BE49-F238E27FC236}">
                <a16:creationId xmlns:a16="http://schemas.microsoft.com/office/drawing/2014/main" id="{6CAB4F0D-A2B2-4540-8797-7C5F07C8F139}"/>
              </a:ext>
            </a:extLst>
          </p:cNvPr>
          <p:cNvSpPr>
            <a:spLocks xmlns:a="http://schemas.openxmlformats.org/drawingml/2006/main" noGrp="1"/>
          </p:cNvSpPr>
          <p:nvPr/>
        </p:nvSpPr>
        <p:spPr>
          <a:xfrm xmlns:a="http://schemas.openxmlformats.org/drawingml/2006/main">
            <a:off x="6667500" y="4343400"/>
            <a:ext cx="49149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Can a model improve on the price</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using information available at the time?</a:t>
            </a:r>
          </a:p>
        </p:txBody>
      </p:sp>
      <p:sp>
        <p:nvSpPr>
          <p:cNvPr id="8" name="scope-and-source">
            <a:extLst xmlns:a="http://schemas.openxmlformats.org/drawingml/2006/main">
              <a:ext uri="{FF2B5EF4-FFF2-40B4-BE49-F238E27FC236}">
                <a16:creationId xmlns:a16="http://schemas.microsoft.com/office/drawing/2014/main" id="{291FFEDE-A93C-4EF1-9216-7D38F75AFBF8}"/>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Expected profit is per share before trading costs.</a:t>
            </a:r>
          </a:p>
        </p:txBody>
      </p:sp>
    </p:spTree>
    <p:extLst>
      <p:ext uri="{BB962C8B-B14F-4D97-AF65-F5344CB8AC3E}">
        <p14:creationId xmlns:p14="http://schemas.microsoft.com/office/powerpoint/2010/main" val="16272383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5D329DB3-7295-436F-A0BA-F2197924B8F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data and evaluation</a:t>
            </a:r>
          </a:p>
        </p:txBody>
      </p:sp>
      <p:sp>
        <p:nvSpPr>
          <p:cNvPr id="2" name="market-total">
            <a:extLst xmlns:a="http://schemas.openxmlformats.org/drawingml/2006/main">
              <a:ext uri="{FF2B5EF4-FFF2-40B4-BE49-F238E27FC236}">
                <a16:creationId xmlns:a16="http://schemas.microsoft.com/office/drawing/2014/main" id="{5A7EFAD6-FAC6-4FB5-85D0-BA04CCD5E30B}"/>
              </a:ext>
            </a:extLst>
          </p:cNvPr>
          <p:cNvSpPr>
            <a:spLocks xmlns:a="http://schemas.openxmlformats.org/drawingml/2006/main" noGrp="1"/>
          </p:cNvSpPr>
          <p:nvPr/>
        </p:nvSpPr>
        <p:spPr>
          <a:xfrm xmlns:a="http://schemas.openxmlformats.org/drawingml/2006/main">
            <a:off x="609600" y="13811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7,479 markets</a:t>
            </a:r>
          </a:p>
        </p:txBody>
      </p:sp>
      <p:sp>
        <p:nvSpPr>
          <p:cNvPr id="3" name="market-sample">
            <a:extLst xmlns:a="http://schemas.openxmlformats.org/drawingml/2006/main">
              <a:ext uri="{FF2B5EF4-FFF2-40B4-BE49-F238E27FC236}">
                <a16:creationId xmlns:a16="http://schemas.microsoft.com/office/drawing/2014/main" id="{942A2BBE-C1D7-49D5-9F09-F9307D78251E}"/>
              </a:ext>
            </a:extLst>
          </p:cNvPr>
          <p:cNvSpPr>
            <a:spLocks xmlns:a="http://schemas.openxmlformats.org/drawingml/2006/main" noGrp="1"/>
          </p:cNvSpPr>
          <p:nvPr/>
        </p:nvSpPr>
        <p:spPr>
          <a:xfrm xmlns:a="http://schemas.openxmlformats.org/drawingml/2006/main">
            <a:off x="609600" y="2095500"/>
            <a:ext cx="5429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Resolved Yes/No markets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Politics, Technology, Entertainment, Economy</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Markets closing June–October 2026</a:t>
            </a:r>
          </a:p>
        </p:txBody>
      </p:sp>
      <p:sp>
        <p:nvSpPr>
          <p:cNvPr id="4" name="trade-total">
            <a:extLst xmlns:a="http://schemas.openxmlformats.org/drawingml/2006/main">
              <a:ext uri="{FF2B5EF4-FFF2-40B4-BE49-F238E27FC236}">
                <a16:creationId xmlns:a16="http://schemas.microsoft.com/office/drawing/2014/main" id="{20C60087-4DFA-42A8-8378-01130FEF491E}"/>
              </a:ext>
            </a:extLst>
          </p:cNvPr>
          <p:cNvSpPr>
            <a:spLocks xmlns:a="http://schemas.openxmlformats.org/drawingml/2006/main" noGrp="1"/>
          </p:cNvSpPr>
          <p:nvPr/>
        </p:nvSpPr>
        <p:spPr>
          <a:xfrm xmlns:a="http://schemas.openxmlformats.org/drawingml/2006/main">
            <a:off x="609600" y="40100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4.1M trades</a:t>
            </a:r>
          </a:p>
        </p:txBody>
      </p:sp>
      <p:sp>
        <p:nvSpPr>
          <p:cNvPr id="5" name="horizons">
            <a:extLst xmlns:a="http://schemas.openxmlformats.org/drawingml/2006/main">
              <a:ext uri="{FF2B5EF4-FFF2-40B4-BE49-F238E27FC236}">
                <a16:creationId xmlns:a16="http://schemas.microsoft.com/office/drawing/2014/main" id="{7F72331D-F865-443A-8129-AB0D4C0B40FA}"/>
              </a:ext>
            </a:extLst>
          </p:cNvPr>
          <p:cNvSpPr>
            <a:spLocks xmlns:a="http://schemas.openxmlformats.org/drawingml/2006/main" noGrp="1"/>
          </p:cNvSpPr>
          <p:nvPr/>
        </p:nvSpPr>
        <p:spPr>
          <a:xfrm xmlns:a="http://schemas.openxmlformats.org/drawingml/2006/main">
            <a:off x="609600" y="4724400"/>
            <a:ext cx="5429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Last trade before 6h, 24h, 3d, and 7d</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before market close</a:t>
            </a:r>
          </a:p>
        </p:txBody>
      </p:sp>
      <p:sp>
        <p:nvSpPr>
          <p:cNvPr id="6" name="evaluation-heading">
            <a:extLst xmlns:a="http://schemas.openxmlformats.org/drawingml/2006/main">
              <a:ext uri="{FF2B5EF4-FFF2-40B4-BE49-F238E27FC236}">
                <a16:creationId xmlns:a16="http://schemas.microsoft.com/office/drawing/2014/main" id="{BADA9AF8-0DB6-49DA-95E0-834C3A2407B6}"/>
              </a:ext>
            </a:extLst>
          </p:cNvPr>
          <p:cNvSpPr>
            <a:spLocks xmlns:a="http://schemas.openxmlformats.org/drawingml/2006/main" noGrp="1"/>
          </p:cNvSpPr>
          <p:nvPr/>
        </p:nvSpPr>
        <p:spPr>
          <a:xfrm xmlns:a="http://schemas.openxmlformats.org/drawingml/2006/main">
            <a:off x="6667500" y="1428750"/>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Evaluation</a:t>
            </a:r>
          </a:p>
        </p:txBody>
      </p:sp>
      <p:sp>
        <p:nvSpPr>
          <p:cNvPr id="7" name="evaluation">
            <a:extLst xmlns:a="http://schemas.openxmlformats.org/drawingml/2006/main">
              <a:ext uri="{FF2B5EF4-FFF2-40B4-BE49-F238E27FC236}">
                <a16:creationId xmlns:a16="http://schemas.microsoft.com/office/drawing/2014/main" id="{37A48D14-CB3D-4002-A9F6-CE73C67EEFFE}"/>
              </a:ext>
            </a:extLst>
          </p:cNvPr>
          <p:cNvSpPr>
            <a:spLocks xmlns:a="http://schemas.openxmlformats.org/drawingml/2006/main" noGrp="1"/>
          </p:cNvSpPr>
          <p:nvPr/>
        </p:nvSpPr>
        <p:spPr>
          <a:xfrm xmlns:a="http://schemas.openxmlformats.org/drawingml/2006/main">
            <a:off x="6667500" y="2095500"/>
            <a:ext cx="49149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449"/>
                </a:solidFill>
                <a:latin typeface="Arial"/>
                <a:ea typeface="Arial"/>
                <a:cs typeface="Arial"/>
              </a:defRPr>
            </a:defPPr>
            <a:lvl1pPr algn="l">
              <a:defRPr sz="2100" b="0">
                <a:solidFill>
                  <a:srgbClr val="263449"/>
                </a:solidFill>
                <a:latin typeface="Arial"/>
                <a:ea typeface="Arial"/>
                <a:cs typeface="Arial"/>
              </a:defRPr>
            </a:lvl1pPr>
            <a:lvl2pPr algn="l">
              <a:defRPr sz="2100" b="0">
                <a:solidFill>
                  <a:srgbClr val="263449"/>
                </a:solidFill>
                <a:latin typeface="Arial"/>
                <a:ea typeface="Arial"/>
                <a:cs typeface="Arial"/>
              </a:defRPr>
            </a:lvl2pPr>
            <a:lvl3pPr algn="l">
              <a:defRPr sz="2100" b="0">
                <a:solidFill>
                  <a:srgbClr val="263449"/>
                </a:solidFill>
                <a:latin typeface="Arial"/>
                <a:ea typeface="Arial"/>
                <a:cs typeface="Arial"/>
              </a:defRPr>
            </a:lvl3pPr>
            <a:lvl4pPr algn="l">
              <a:defRPr sz="2100" b="0">
                <a:solidFill>
                  <a:srgbClr val="263449"/>
                </a:solidFill>
                <a:latin typeface="Arial"/>
                <a:ea typeface="Arial"/>
                <a:cs typeface="Arial"/>
              </a:defRPr>
            </a:lvl4pPr>
            <a:lvl5pPr algn="l">
              <a:defRPr sz="2100" b="0">
                <a:solidFill>
                  <a:srgbClr val="263449"/>
                </a:solidFill>
                <a:latin typeface="Arial"/>
                <a:ea typeface="Arial"/>
                <a:cs typeface="Arial"/>
              </a:defRPr>
            </a:lvl5pPr>
            <a:lvl6pPr algn="l">
              <a:defRPr sz="2100" b="0">
                <a:solidFill>
                  <a:srgbClr val="263449"/>
                </a:solidFill>
                <a:latin typeface="Arial"/>
                <a:ea typeface="Arial"/>
                <a:cs typeface="Arial"/>
              </a:defRPr>
            </a:lvl6pPr>
            <a:lvl7pPr algn="l">
              <a:defRPr sz="2100" b="0">
                <a:solidFill>
                  <a:srgbClr val="263449"/>
                </a:solidFill>
                <a:latin typeface="Arial"/>
                <a:ea typeface="Arial"/>
                <a:cs typeface="Arial"/>
              </a:defRPr>
            </a:lvl7pPr>
            <a:lvl8pPr algn="l">
              <a:defRPr sz="2100" b="0">
                <a:solidFill>
                  <a:srgbClr val="263449"/>
                </a:solidFill>
                <a:latin typeface="Arial"/>
                <a:ea typeface="Arial"/>
                <a:cs typeface="Arial"/>
              </a:defRPr>
            </a:lvl8pPr>
            <a:lvl9pPr algn="l">
              <a:defRPr sz="2100" b="0">
                <a:solidFill>
                  <a:srgbClr val="263449"/>
                </a:solidFill>
                <a:latin typeface="Arial"/>
                <a:ea typeface="Arial"/>
                <a:cs typeface="Arial"/>
              </a:defRPr>
            </a:lvl9pPr>
          </a:lstStyle>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Compare prices with resolved outcomes.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Use calibration curves and Brier scores.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Resample whole events for uncertainty.</a:t>
            </a:r>
          </a:p>
        </p:txBody>
      </p:sp>
      <p:sp>
        <p:nvSpPr>
          <p:cNvPr id="8" name="book-validation">
            <a:extLst xmlns:a="http://schemas.openxmlformats.org/drawingml/2006/main">
              <a:ext uri="{FF2B5EF4-FFF2-40B4-BE49-F238E27FC236}">
                <a16:creationId xmlns:a16="http://schemas.microsoft.com/office/drawing/2014/main" id="{61178BB9-185E-4C9C-86E1-C1258E5FE1F3}"/>
              </a:ext>
            </a:extLst>
          </p:cNvPr>
          <p:cNvSpPr>
            <a:spLocks xmlns:a="http://schemas.openxmlformats.org/drawingml/2006/main" noGrp="1"/>
          </p:cNvSpPr>
          <p:nvPr/>
        </p:nvSpPr>
        <p:spPr>
          <a:xfrm xmlns:a="http://schemas.openxmlformats.org/drawingml/2006/main">
            <a:off x="6667500" y="41052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63449"/>
                </a:solidFill>
                <a:latin typeface="Arial"/>
                <a:ea typeface="Arial"/>
                <a:cs typeface="Arial"/>
              </a:defRPr>
            </a:defPPr>
            <a:lvl1pPr algn="l">
              <a:defRPr sz="2175" b="1">
                <a:solidFill>
                  <a:srgbClr val="263449"/>
                </a:solidFill>
                <a:latin typeface="Arial"/>
                <a:ea typeface="Arial"/>
                <a:cs typeface="Arial"/>
              </a:defRPr>
            </a:lvl1pPr>
            <a:lvl2pPr algn="l">
              <a:defRPr sz="2175" b="1">
                <a:solidFill>
                  <a:srgbClr val="263449"/>
                </a:solidFill>
                <a:latin typeface="Arial"/>
                <a:ea typeface="Arial"/>
                <a:cs typeface="Arial"/>
              </a:defRPr>
            </a:lvl2pPr>
            <a:lvl3pPr algn="l">
              <a:defRPr sz="2175" b="1">
                <a:solidFill>
                  <a:srgbClr val="263449"/>
                </a:solidFill>
                <a:latin typeface="Arial"/>
                <a:ea typeface="Arial"/>
                <a:cs typeface="Arial"/>
              </a:defRPr>
            </a:lvl3pPr>
            <a:lvl4pPr algn="l">
              <a:defRPr sz="2175" b="1">
                <a:solidFill>
                  <a:srgbClr val="263449"/>
                </a:solidFill>
                <a:latin typeface="Arial"/>
                <a:ea typeface="Arial"/>
                <a:cs typeface="Arial"/>
              </a:defRPr>
            </a:lvl4pPr>
            <a:lvl5pPr algn="l">
              <a:defRPr sz="2175" b="1">
                <a:solidFill>
                  <a:srgbClr val="263449"/>
                </a:solidFill>
                <a:latin typeface="Arial"/>
                <a:ea typeface="Arial"/>
                <a:cs typeface="Arial"/>
              </a:defRPr>
            </a:lvl5pPr>
            <a:lvl6pPr algn="l">
              <a:defRPr sz="2175" b="1">
                <a:solidFill>
                  <a:srgbClr val="263449"/>
                </a:solidFill>
                <a:latin typeface="Arial"/>
                <a:ea typeface="Arial"/>
                <a:cs typeface="Arial"/>
              </a:defRPr>
            </a:lvl6pPr>
            <a:lvl7pPr algn="l">
              <a:defRPr sz="2175" b="1">
                <a:solidFill>
                  <a:srgbClr val="263449"/>
                </a:solidFill>
                <a:latin typeface="Arial"/>
                <a:ea typeface="Arial"/>
                <a:cs typeface="Arial"/>
              </a:defRPr>
            </a:lvl7pPr>
            <a:lvl8pPr algn="l">
              <a:defRPr sz="2175" b="1">
                <a:solidFill>
                  <a:srgbClr val="263449"/>
                </a:solidFill>
                <a:latin typeface="Arial"/>
                <a:ea typeface="Arial"/>
                <a:cs typeface="Arial"/>
              </a:defRPr>
            </a:lvl8pPr>
            <a:lvl9pPr algn="l">
              <a:defRPr sz="2175" b="1">
                <a:solidFill>
                  <a:srgbClr val="263449"/>
                </a:solidFill>
                <a:latin typeface="Arial"/>
                <a:ea typeface="Arial"/>
                <a:cs typeface="Arial"/>
              </a:defRPr>
            </a:lvl9pPr>
          </a:lstStyle>
          <a:p xmlns:a="http://schemas.openxmlformats.org/drawingml/2006/main">
            <a:pPr algn="l">
              <a:defRPr sz="2175" b="1">
                <a:solidFill>
                  <a:srgbClr val="263449"/>
                </a:solidFill>
                <a:latin typeface="Arial"/>
                <a:ea typeface="Arial"/>
                <a:cs typeface="Arial"/>
              </a:defRPr>
            </a:pPr>
            <a:r>
              <a:rPr sz="2175" b="1">
                <a:solidFill>
                  <a:srgbClr val="263449"/>
                </a:solidFill>
                <a:latin typeface="Arial"/>
                <a:ea typeface="Arial"/>
                <a:cs typeface="Arial"/>
              </a:rPr>
              <a:t>Order-book check</a:t>
            </a:r>
          </a:p>
        </p:txBody>
      </p:sp>
      <p:sp>
        <p:nvSpPr>
          <p:cNvPr id="9" name="book-detail">
            <a:extLst xmlns:a="http://schemas.openxmlformats.org/drawingml/2006/main">
              <a:ext uri="{FF2B5EF4-FFF2-40B4-BE49-F238E27FC236}">
                <a16:creationId xmlns:a16="http://schemas.microsoft.com/office/drawing/2014/main" id="{3F407B61-548C-4223-BDC3-075370FACC76}"/>
              </a:ext>
            </a:extLst>
          </p:cNvPr>
          <p:cNvSpPr>
            <a:spLocks xmlns:a="http://schemas.openxmlformats.org/drawingml/2006/main" noGrp="1"/>
          </p:cNvSpPr>
          <p:nvPr/>
        </p:nvSpPr>
        <p:spPr>
          <a:xfrm xmlns:a="http://schemas.openxmlformats.org/drawingml/2006/main">
            <a:off x="6667500" y="4676775"/>
            <a:ext cx="4914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Covers 22% of markets. Where both exist:</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correlation 0.92, median gap 0.9¢.</a:t>
            </a:r>
          </a:p>
        </p:txBody>
      </p:sp>
      <p:sp>
        <p:nvSpPr>
          <p:cNvPr id="10" name="scope-and-source">
            <a:extLst xmlns:a="http://schemas.openxmlformats.org/drawingml/2006/main">
              <a:ext uri="{FF2B5EF4-FFF2-40B4-BE49-F238E27FC236}">
                <a16:creationId xmlns:a16="http://schemas.microsoft.com/office/drawing/2014/main" id="{2E845833-7803-4BEF-9EAA-558D2513D91B}"/>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Categories come from Polymarket event tags. Brier score is the mean squared gap between price and outcome.</a:t>
            </a:r>
          </a:p>
        </p:txBody>
      </p:sp>
    </p:spTree>
    <p:extLst>
      <p:ext uri="{BB962C8B-B14F-4D97-AF65-F5344CB8AC3E}">
        <p14:creationId xmlns:p14="http://schemas.microsoft.com/office/powerpoint/2010/main" val="7012601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75EB7930-1168-4A52-B3D7-61C09DCEF21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calibration</a:t>
            </a:r>
          </a:p>
        </p:txBody>
      </p:sp>
      <p:pic>
        <p:nvPicPr>
          <p:cNvPr id="2" name="">
            <a:extLst xmlns:a="http://schemas.openxmlformats.org/drawingml/2006/main">
              <a:ext uri="{FF2B5EF4-FFF2-40B4-BE49-F238E27FC236}">
                <a16:creationId xmlns:a16="http://schemas.microsoft.com/office/drawing/2014/main" id="{0D2C7B76-D1DC-4CEE-B28D-FBC938F67329}"/>
              </a:ext>
            </a:extLst>
          </p:cNvPr>
          <p:cNvPicPr>
            <a:picLocks xmlns:a="http://schemas.openxmlformats.org/drawingml/2006/main" noChangeAspect="1"/>
          </p:cNvPicPr>
          <p:nvPr/>
        </p:nvPicPr>
        <p:blipFill>
          <a:blip xmlns:r="http://schemas.openxmlformats.org/officeDocument/2006/relationships" xmlns:a="http://schemas.openxmlformats.org/drawingml/2006/main" r:embed="Rfab095b425a0475c"/>
          <a:stretch xmlns:a="http://schemas.openxmlformats.org/drawingml/2006/main"/>
        </p:blipFill>
        <p:spPr>
          <a:xfrm xmlns:a="http://schemas.openxmlformats.org/drawingml/2006/main">
            <a:off x="609600" y="1326761"/>
            <a:ext cx="4057650" cy="4490228"/>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59DCA3DD-6085-41C1-853C-F17E1E6F743A}"/>
              </a:ext>
            </a:extLst>
          </p:cNvPr>
          <p:cNvPicPr>
            <a:picLocks xmlns:a="http://schemas.openxmlformats.org/drawingml/2006/main" noChangeAspect="1"/>
          </p:cNvPicPr>
          <p:nvPr/>
        </p:nvPicPr>
        <p:blipFill>
          <a:blip xmlns:r="http://schemas.openxmlformats.org/officeDocument/2006/relationships" xmlns:a="http://schemas.openxmlformats.org/drawingml/2006/main" r:embed="R3a676c7c09064ca6"/>
          <a:stretch xmlns:a="http://schemas.openxmlformats.org/drawingml/2006/main"/>
        </p:blipFill>
        <p:spPr>
          <a:xfrm xmlns:a="http://schemas.openxmlformats.org/drawingml/2006/main">
            <a:off x="5048250" y="1381158"/>
            <a:ext cx="6534150" cy="2324035"/>
          </a:xfrm>
          <a:prstGeom xmlns:a="http://schemas.openxmlformats.org/drawingml/2006/main" prst="rect">
            <a:avLst/>
          </a:prstGeom>
        </p:spPr>
      </p:pic>
      <p:sp>
        <p:nvSpPr>
          <p:cNvPr id="4" name="calibration-takeaway">
            <a:extLst xmlns:a="http://schemas.openxmlformats.org/drawingml/2006/main">
              <a:ext uri="{FF2B5EF4-FFF2-40B4-BE49-F238E27FC236}">
                <a16:creationId xmlns:a16="http://schemas.microsoft.com/office/drawing/2014/main" id="{EA5F681B-D98D-4B8B-80FC-7853A64EAEE0}"/>
              </a:ext>
            </a:extLst>
          </p:cNvPr>
          <p:cNvSpPr>
            <a:spLocks xmlns:a="http://schemas.openxmlformats.org/drawingml/2006/main" noGrp="1"/>
          </p:cNvSpPr>
          <p:nvPr/>
        </p:nvSpPr>
        <p:spPr>
          <a:xfrm xmlns:a="http://schemas.openxmlformats.org/drawingml/2006/main">
            <a:off x="5210175" y="4143375"/>
            <a:ext cx="619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315C8C"/>
                </a:solidFill>
                <a:latin typeface="Arial"/>
                <a:ea typeface="Arial"/>
                <a:cs typeface="Arial"/>
              </a:defRPr>
            </a:defPPr>
            <a:lvl1pPr algn="l">
              <a:defRPr sz="2400" b="1">
                <a:solidFill>
                  <a:srgbClr val="315C8C"/>
                </a:solidFill>
                <a:latin typeface="Arial"/>
                <a:ea typeface="Arial"/>
                <a:cs typeface="Arial"/>
              </a:defRPr>
            </a:lvl1pPr>
            <a:lvl2pPr algn="l">
              <a:defRPr sz="2400" b="1">
                <a:solidFill>
                  <a:srgbClr val="315C8C"/>
                </a:solidFill>
                <a:latin typeface="Arial"/>
                <a:ea typeface="Arial"/>
                <a:cs typeface="Arial"/>
              </a:defRPr>
            </a:lvl2pPr>
            <a:lvl3pPr algn="l">
              <a:defRPr sz="2400" b="1">
                <a:solidFill>
                  <a:srgbClr val="315C8C"/>
                </a:solidFill>
                <a:latin typeface="Arial"/>
                <a:ea typeface="Arial"/>
                <a:cs typeface="Arial"/>
              </a:defRPr>
            </a:lvl3pPr>
            <a:lvl4pPr algn="l">
              <a:defRPr sz="2400" b="1">
                <a:solidFill>
                  <a:srgbClr val="315C8C"/>
                </a:solidFill>
                <a:latin typeface="Arial"/>
                <a:ea typeface="Arial"/>
                <a:cs typeface="Arial"/>
              </a:defRPr>
            </a:lvl4pPr>
            <a:lvl5pPr algn="l">
              <a:defRPr sz="2400" b="1">
                <a:solidFill>
                  <a:srgbClr val="315C8C"/>
                </a:solidFill>
                <a:latin typeface="Arial"/>
                <a:ea typeface="Arial"/>
                <a:cs typeface="Arial"/>
              </a:defRPr>
            </a:lvl5pPr>
            <a:lvl6pPr algn="l">
              <a:defRPr sz="2400" b="1">
                <a:solidFill>
                  <a:srgbClr val="315C8C"/>
                </a:solidFill>
                <a:latin typeface="Arial"/>
                <a:ea typeface="Arial"/>
                <a:cs typeface="Arial"/>
              </a:defRPr>
            </a:lvl6pPr>
            <a:lvl7pPr algn="l">
              <a:defRPr sz="2400" b="1">
                <a:solidFill>
                  <a:srgbClr val="315C8C"/>
                </a:solidFill>
                <a:latin typeface="Arial"/>
                <a:ea typeface="Arial"/>
                <a:cs typeface="Arial"/>
              </a:defRPr>
            </a:lvl7pPr>
            <a:lvl8pPr algn="l">
              <a:defRPr sz="2400" b="1">
                <a:solidFill>
                  <a:srgbClr val="315C8C"/>
                </a:solidFill>
                <a:latin typeface="Arial"/>
                <a:ea typeface="Arial"/>
                <a:cs typeface="Arial"/>
              </a:defRPr>
            </a:lvl8pPr>
            <a:lvl9pPr algn="l">
              <a:defRPr sz="2400" b="1">
                <a:solidFill>
                  <a:srgbClr val="315C8C"/>
                </a:solidFill>
                <a:latin typeface="Arial"/>
                <a:ea typeface="Arial"/>
                <a:cs typeface="Arial"/>
              </a:defRPr>
            </a:lvl9pPr>
          </a:lstStyle>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Observed outcomes broadly track</a:t>
            </a:r>
          </a:p>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market probabilities.</a:t>
            </a:r>
          </a:p>
        </p:txBody>
      </p:sp>
      <p:sp>
        <p:nvSpPr>
          <p:cNvPr id="5" name="calibration-meaning">
            <a:extLst xmlns:a="http://schemas.openxmlformats.org/drawingml/2006/main">
              <a:ext uri="{FF2B5EF4-FFF2-40B4-BE49-F238E27FC236}">
                <a16:creationId xmlns:a16="http://schemas.microsoft.com/office/drawing/2014/main" id="{F554878D-48F1-4356-93C6-9A1E70D9BF81}"/>
              </a:ext>
            </a:extLst>
          </p:cNvPr>
          <p:cNvSpPr>
            <a:spLocks xmlns:a="http://schemas.openxmlformats.org/drawingml/2006/main" noGrp="1"/>
          </p:cNvSpPr>
          <p:nvPr/>
        </p:nvSpPr>
        <p:spPr>
          <a:xfrm xmlns:a="http://schemas.openxmlformats.org/drawingml/2006/main">
            <a:off x="5210175" y="5181600"/>
            <a:ext cx="619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Events priced near 30% resolve Yes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about 30% of the time.</a:t>
            </a:r>
          </a:p>
        </p:txBody>
      </p:sp>
      <p:sp>
        <p:nvSpPr>
          <p:cNvPr id="6" name="scope-and-source">
            <a:extLst xmlns:a="http://schemas.openxmlformats.org/drawingml/2006/main">
              <a:ext uri="{FF2B5EF4-FFF2-40B4-BE49-F238E27FC236}">
                <a16:creationId xmlns:a16="http://schemas.microsoft.com/office/drawing/2014/main" id="{377BA25B-3EFB-4BA9-9F2D-B21347702B4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24 hours before close. 5,805 markets across 1,610 events. Shaded bands: event-bootstrap 95% intervals.</a:t>
            </a:r>
          </a:p>
        </p:txBody>
      </p:sp>
    </p:spTree>
    <p:extLst>
      <p:ext uri="{BB962C8B-B14F-4D97-AF65-F5344CB8AC3E}">
        <p14:creationId xmlns:p14="http://schemas.microsoft.com/office/powerpoint/2010/main" val="15141949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5520494-C2CB-40E7-A9F3-48AA2F3A1010}"/>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Favorite–longshot bias</a:t>
            </a:r>
          </a:p>
        </p:txBody>
      </p:sp>
      <p:pic>
        <p:nvPicPr>
          <p:cNvPr id="2" name="">
            <a:extLst xmlns:a="http://schemas.openxmlformats.org/drawingml/2006/main">
              <a:ext uri="{FF2B5EF4-FFF2-40B4-BE49-F238E27FC236}">
                <a16:creationId xmlns:a16="http://schemas.microsoft.com/office/drawing/2014/main" id="{ED44A8F7-1905-4828-AA9C-EDCD3F72A2D9}"/>
              </a:ext>
            </a:extLst>
          </p:cNvPr>
          <p:cNvPicPr>
            <a:picLocks xmlns:a="http://schemas.openxmlformats.org/drawingml/2006/main" noChangeAspect="1"/>
          </p:cNvPicPr>
          <p:nvPr/>
        </p:nvPicPr>
        <p:blipFill>
          <a:blip xmlns:r="http://schemas.openxmlformats.org/officeDocument/2006/relationships" xmlns:a="http://schemas.openxmlformats.org/drawingml/2006/main" r:embed="Rca09e0ece59a4889"/>
          <a:stretch xmlns:a="http://schemas.openxmlformats.org/drawingml/2006/main"/>
        </p:blipFill>
        <p:spPr>
          <a:xfrm xmlns:a="http://schemas.openxmlformats.org/drawingml/2006/main">
            <a:off x="609939" y="1362075"/>
            <a:ext cx="7047822" cy="4772025"/>
          </a:xfrm>
          <a:prstGeom xmlns:a="http://schemas.openxmlformats.org/drawingml/2006/main" prst="rect">
            <a:avLst/>
          </a:prstGeom>
        </p:spPr>
      </p:pic>
      <p:sp>
        <p:nvSpPr>
          <p:cNvPr id="3" name="raw-slope">
            <a:extLst xmlns:a="http://schemas.openxmlformats.org/drawingml/2006/main">
              <a:ext uri="{FF2B5EF4-FFF2-40B4-BE49-F238E27FC236}">
                <a16:creationId xmlns:a16="http://schemas.microsoft.com/office/drawing/2014/main" id="{674411A5-2AEB-42E7-B23F-BB4B6B693BB8}"/>
              </a:ext>
            </a:extLst>
          </p:cNvPr>
          <p:cNvSpPr>
            <a:spLocks xmlns:a="http://schemas.openxmlformats.org/drawingml/2006/main" noGrp="1"/>
          </p:cNvSpPr>
          <p:nvPr/>
        </p:nvSpPr>
        <p:spPr>
          <a:xfrm xmlns:a="http://schemas.openxmlformats.org/drawingml/2006/main">
            <a:off x="8220075" y="147637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DF7137"/>
                </a:solidFill>
                <a:latin typeface="Arial"/>
                <a:ea typeface="Arial"/>
                <a:cs typeface="Arial"/>
              </a:defRPr>
            </a:defPPr>
            <a:lvl1pPr algn="l">
              <a:defRPr sz="4500" b="1">
                <a:solidFill>
                  <a:srgbClr val="DF7137"/>
                </a:solidFill>
                <a:latin typeface="Arial"/>
                <a:ea typeface="Arial"/>
                <a:cs typeface="Arial"/>
              </a:defRPr>
            </a:lvl1pPr>
            <a:lvl2pPr algn="l">
              <a:defRPr sz="4500" b="1">
                <a:solidFill>
                  <a:srgbClr val="DF7137"/>
                </a:solidFill>
                <a:latin typeface="Arial"/>
                <a:ea typeface="Arial"/>
                <a:cs typeface="Arial"/>
              </a:defRPr>
            </a:lvl2pPr>
            <a:lvl3pPr algn="l">
              <a:defRPr sz="4500" b="1">
                <a:solidFill>
                  <a:srgbClr val="DF7137"/>
                </a:solidFill>
                <a:latin typeface="Arial"/>
                <a:ea typeface="Arial"/>
                <a:cs typeface="Arial"/>
              </a:defRPr>
            </a:lvl3pPr>
            <a:lvl4pPr algn="l">
              <a:defRPr sz="4500" b="1">
                <a:solidFill>
                  <a:srgbClr val="DF7137"/>
                </a:solidFill>
                <a:latin typeface="Arial"/>
                <a:ea typeface="Arial"/>
                <a:cs typeface="Arial"/>
              </a:defRPr>
            </a:lvl4pPr>
            <a:lvl5pPr algn="l">
              <a:defRPr sz="4500" b="1">
                <a:solidFill>
                  <a:srgbClr val="DF7137"/>
                </a:solidFill>
                <a:latin typeface="Arial"/>
                <a:ea typeface="Arial"/>
                <a:cs typeface="Arial"/>
              </a:defRPr>
            </a:lvl5pPr>
            <a:lvl6pPr algn="l">
              <a:defRPr sz="4500" b="1">
                <a:solidFill>
                  <a:srgbClr val="DF7137"/>
                </a:solidFill>
                <a:latin typeface="Arial"/>
                <a:ea typeface="Arial"/>
                <a:cs typeface="Arial"/>
              </a:defRPr>
            </a:lvl6pPr>
            <a:lvl7pPr algn="l">
              <a:defRPr sz="4500" b="1">
                <a:solidFill>
                  <a:srgbClr val="DF7137"/>
                </a:solidFill>
                <a:latin typeface="Arial"/>
                <a:ea typeface="Arial"/>
                <a:cs typeface="Arial"/>
              </a:defRPr>
            </a:lvl7pPr>
            <a:lvl8pPr algn="l">
              <a:defRPr sz="4500" b="1">
                <a:solidFill>
                  <a:srgbClr val="DF7137"/>
                </a:solidFill>
                <a:latin typeface="Arial"/>
                <a:ea typeface="Arial"/>
                <a:cs typeface="Arial"/>
              </a:defRPr>
            </a:lvl8pPr>
            <a:lvl9pPr algn="l">
              <a:defRPr sz="4500" b="1">
                <a:solidFill>
                  <a:srgbClr val="DF7137"/>
                </a:solidFill>
                <a:latin typeface="Arial"/>
                <a:ea typeface="Arial"/>
                <a:cs typeface="Arial"/>
              </a:defRPr>
            </a:lvl9pPr>
          </a:lstStyle>
          <a:p xmlns:a="http://schemas.openxmlformats.org/drawingml/2006/main">
            <a:pPr algn="l">
              <a:defRPr sz="4500" b="1">
                <a:solidFill>
                  <a:srgbClr val="DF7137"/>
                </a:solidFill>
                <a:latin typeface="Arial"/>
                <a:ea typeface="Arial"/>
                <a:cs typeface="Arial"/>
              </a:defRPr>
            </a:pPr>
            <a:r>
              <a:rPr sz="4500" b="1">
                <a:solidFill>
                  <a:srgbClr val="DF7137"/>
                </a:solidFill>
                <a:latin typeface="Arial"/>
                <a:ea typeface="Arial"/>
                <a:cs typeface="Arial"/>
              </a:rPr>
              <a:t>1.08</a:t>
            </a:r>
          </a:p>
        </p:txBody>
      </p:sp>
      <p:sp>
        <p:nvSpPr>
          <p:cNvPr id="4" name="raw-slope-description">
            <a:extLst xmlns:a="http://schemas.openxmlformats.org/drawingml/2006/main">
              <a:ext uri="{FF2B5EF4-FFF2-40B4-BE49-F238E27FC236}">
                <a16:creationId xmlns:a16="http://schemas.microsoft.com/office/drawing/2014/main" id="{0BA33C95-1CCB-4AD7-AD03-02260636ED41}"/>
              </a:ext>
            </a:extLst>
          </p:cNvPr>
          <p:cNvSpPr>
            <a:spLocks xmlns:a="http://schemas.openxmlformats.org/drawingml/2006/main" noGrp="1"/>
          </p:cNvSpPr>
          <p:nvPr/>
        </p:nvSpPr>
        <p:spPr>
          <a:xfrm xmlns:a="http://schemas.openxmlformats.org/drawingml/2006/main">
            <a:off x="8220075" y="23526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6h calibration slope, all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1.01 to 1.16</a:t>
            </a:r>
          </a:p>
        </p:txBody>
      </p:sp>
      <p:sp>
        <p:nvSpPr>
          <p:cNvPr id="5" name="trimmed-slope">
            <a:extLst xmlns:a="http://schemas.openxmlformats.org/drawingml/2006/main">
              <a:ext uri="{FF2B5EF4-FFF2-40B4-BE49-F238E27FC236}">
                <a16:creationId xmlns:a16="http://schemas.microsoft.com/office/drawing/2014/main" id="{704FC841-278A-4277-8886-8483105BB0F2}"/>
              </a:ext>
            </a:extLst>
          </p:cNvPr>
          <p:cNvSpPr>
            <a:spLocks xmlns:a="http://schemas.openxmlformats.org/drawingml/2006/main" noGrp="1"/>
          </p:cNvSpPr>
          <p:nvPr/>
        </p:nvSpPr>
        <p:spPr>
          <a:xfrm xmlns:a="http://schemas.openxmlformats.org/drawingml/2006/main">
            <a:off x="8220075" y="351472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315C8C"/>
                </a:solidFill>
                <a:latin typeface="Arial"/>
                <a:ea typeface="Arial"/>
                <a:cs typeface="Arial"/>
              </a:defRPr>
            </a:defPPr>
            <a:lvl1pPr algn="l">
              <a:defRPr sz="4500" b="1">
                <a:solidFill>
                  <a:srgbClr val="315C8C"/>
                </a:solidFill>
                <a:latin typeface="Arial"/>
                <a:ea typeface="Arial"/>
                <a:cs typeface="Arial"/>
              </a:defRPr>
            </a:lvl1pPr>
            <a:lvl2pPr algn="l">
              <a:defRPr sz="4500" b="1">
                <a:solidFill>
                  <a:srgbClr val="315C8C"/>
                </a:solidFill>
                <a:latin typeface="Arial"/>
                <a:ea typeface="Arial"/>
                <a:cs typeface="Arial"/>
              </a:defRPr>
            </a:lvl2pPr>
            <a:lvl3pPr algn="l">
              <a:defRPr sz="4500" b="1">
                <a:solidFill>
                  <a:srgbClr val="315C8C"/>
                </a:solidFill>
                <a:latin typeface="Arial"/>
                <a:ea typeface="Arial"/>
                <a:cs typeface="Arial"/>
              </a:defRPr>
            </a:lvl3pPr>
            <a:lvl4pPr algn="l">
              <a:defRPr sz="4500" b="1">
                <a:solidFill>
                  <a:srgbClr val="315C8C"/>
                </a:solidFill>
                <a:latin typeface="Arial"/>
                <a:ea typeface="Arial"/>
                <a:cs typeface="Arial"/>
              </a:defRPr>
            </a:lvl4pPr>
            <a:lvl5pPr algn="l">
              <a:defRPr sz="4500" b="1">
                <a:solidFill>
                  <a:srgbClr val="315C8C"/>
                </a:solidFill>
                <a:latin typeface="Arial"/>
                <a:ea typeface="Arial"/>
                <a:cs typeface="Arial"/>
              </a:defRPr>
            </a:lvl5pPr>
            <a:lvl6pPr algn="l">
              <a:defRPr sz="4500" b="1">
                <a:solidFill>
                  <a:srgbClr val="315C8C"/>
                </a:solidFill>
                <a:latin typeface="Arial"/>
                <a:ea typeface="Arial"/>
                <a:cs typeface="Arial"/>
              </a:defRPr>
            </a:lvl6pPr>
            <a:lvl7pPr algn="l">
              <a:defRPr sz="4500" b="1">
                <a:solidFill>
                  <a:srgbClr val="315C8C"/>
                </a:solidFill>
                <a:latin typeface="Arial"/>
                <a:ea typeface="Arial"/>
                <a:cs typeface="Arial"/>
              </a:defRPr>
            </a:lvl7pPr>
            <a:lvl8pPr algn="l">
              <a:defRPr sz="4500" b="1">
                <a:solidFill>
                  <a:srgbClr val="315C8C"/>
                </a:solidFill>
                <a:latin typeface="Arial"/>
                <a:ea typeface="Arial"/>
                <a:cs typeface="Arial"/>
              </a:defRPr>
            </a:lvl8pPr>
            <a:lvl9pPr algn="l">
              <a:defRPr sz="4500" b="1">
                <a:solidFill>
                  <a:srgbClr val="315C8C"/>
                </a:solidFill>
                <a:latin typeface="Arial"/>
                <a:ea typeface="Arial"/>
                <a:cs typeface="Arial"/>
              </a:defRPr>
            </a:lvl9pPr>
          </a:lstStyle>
          <a:p xmlns:a="http://schemas.openxmlformats.org/drawingml/2006/main">
            <a:pPr algn="l">
              <a:defRPr sz="4500" b="1">
                <a:solidFill>
                  <a:srgbClr val="315C8C"/>
                </a:solidFill>
                <a:latin typeface="Arial"/>
                <a:ea typeface="Arial"/>
                <a:cs typeface="Arial"/>
              </a:defRPr>
            </a:pPr>
            <a:r>
              <a:rPr sz="4500" b="1">
                <a:solidFill>
                  <a:srgbClr val="315C8C"/>
                </a:solidFill>
                <a:latin typeface="Arial"/>
                <a:ea typeface="Arial"/>
                <a:cs typeface="Arial"/>
              </a:rPr>
              <a:t>1.00</a:t>
            </a:r>
          </a:p>
        </p:txBody>
      </p:sp>
      <p:sp>
        <p:nvSpPr>
          <p:cNvPr id="6" name="trimmed-slope-description">
            <a:extLst xmlns:a="http://schemas.openxmlformats.org/drawingml/2006/main">
              <a:ext uri="{FF2B5EF4-FFF2-40B4-BE49-F238E27FC236}">
                <a16:creationId xmlns:a16="http://schemas.microsoft.com/office/drawing/2014/main" id="{47127163-A231-4004-A210-2D7B67116BE8}"/>
              </a:ext>
            </a:extLst>
          </p:cNvPr>
          <p:cNvSpPr>
            <a:spLocks xmlns:a="http://schemas.openxmlformats.org/drawingml/2006/main" noGrp="1"/>
          </p:cNvSpPr>
          <p:nvPr/>
        </p:nvSpPr>
        <p:spPr>
          <a:xfrm xmlns:a="http://schemas.openxmlformats.org/drawingml/2006/main">
            <a:off x="8220075" y="438150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After dropping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below 2¢ and above 98¢</a:t>
            </a:r>
          </a:p>
        </p:txBody>
      </p:sp>
      <p:sp>
        <p:nvSpPr>
          <p:cNvPr id="7" name="scope-and-source">
            <a:extLst xmlns:a="http://schemas.openxmlformats.org/drawingml/2006/main">
              <a:ext uri="{FF2B5EF4-FFF2-40B4-BE49-F238E27FC236}">
                <a16:creationId xmlns:a16="http://schemas.microsoft.com/office/drawing/2014/main" id="{CDE07209-23C1-43F2-AFAA-9E5847D0510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The estimated bias is small. At 24h, monthly slopes range from 0.93 to 1.09, and every interval includes 1.</a:t>
            </a:r>
          </a:p>
        </p:txBody>
      </p:sp>
    </p:spTree>
    <p:extLst>
      <p:ext uri="{BB962C8B-B14F-4D97-AF65-F5344CB8AC3E}">
        <p14:creationId xmlns:p14="http://schemas.microsoft.com/office/powerpoint/2010/main" val="8441985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9A0A8FAF-B479-4B44-BA04-44AAC0AC48A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Accuracy near market close</a:t>
            </a:r>
          </a:p>
        </p:txBody>
      </p:sp>
      <p:pic>
        <p:nvPicPr>
          <p:cNvPr id="2" name="">
            <a:extLst xmlns:a="http://schemas.openxmlformats.org/drawingml/2006/main">
              <a:ext uri="{FF2B5EF4-FFF2-40B4-BE49-F238E27FC236}">
                <a16:creationId xmlns:a16="http://schemas.microsoft.com/office/drawing/2014/main" id="{C6765546-30A7-4837-9829-5BDF1B671FAF}"/>
              </a:ext>
            </a:extLst>
          </p:cNvPr>
          <p:cNvPicPr>
            <a:picLocks xmlns:a="http://schemas.openxmlformats.org/drawingml/2006/main" noChangeAspect="1"/>
          </p:cNvPicPr>
          <p:nvPr/>
        </p:nvPicPr>
        <p:blipFill>
          <a:blip xmlns:r="http://schemas.openxmlformats.org/officeDocument/2006/relationships" xmlns:a="http://schemas.openxmlformats.org/drawingml/2006/main" r:embed="R95364801969b4a5a"/>
          <a:stretch xmlns:a="http://schemas.openxmlformats.org/drawingml/2006/main"/>
        </p:blipFill>
        <p:spPr>
          <a:xfrm xmlns:a="http://schemas.openxmlformats.org/drawingml/2006/main">
            <a:off x="609600" y="1404224"/>
            <a:ext cx="7086600" cy="4449603"/>
          </a:xfrm>
          <a:prstGeom xmlns:a="http://schemas.openxmlformats.org/drawingml/2006/main" prst="rect">
            <a:avLst/>
          </a:prstGeom>
        </p:spPr>
      </p:pic>
      <p:sp>
        <p:nvSpPr>
          <p:cNvPr id="3" name="seven-day-score">
            <a:extLst xmlns:a="http://schemas.openxmlformats.org/drawingml/2006/main">
              <a:ext uri="{FF2B5EF4-FFF2-40B4-BE49-F238E27FC236}">
                <a16:creationId xmlns:a16="http://schemas.microsoft.com/office/drawing/2014/main" id="{F990FDDB-51B3-4D80-8B4D-704E8026FA43}"/>
              </a:ext>
            </a:extLst>
          </p:cNvPr>
          <p:cNvSpPr>
            <a:spLocks xmlns:a="http://schemas.openxmlformats.org/drawingml/2006/main" noGrp="1"/>
          </p:cNvSpPr>
          <p:nvPr/>
        </p:nvSpPr>
        <p:spPr>
          <a:xfrm xmlns:a="http://schemas.openxmlformats.org/drawingml/2006/main">
            <a:off x="8305800" y="155257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0.074</a:t>
            </a:r>
          </a:p>
        </p:txBody>
      </p:sp>
      <p:sp>
        <p:nvSpPr>
          <p:cNvPr id="4" name="seven-day-label">
            <a:extLst xmlns:a="http://schemas.openxmlformats.org/drawingml/2006/main">
              <a:ext uri="{FF2B5EF4-FFF2-40B4-BE49-F238E27FC236}">
                <a16:creationId xmlns:a16="http://schemas.microsoft.com/office/drawing/2014/main" id="{E37FAD6F-B874-4DAF-93C7-73B78A1978FE}"/>
              </a:ext>
            </a:extLst>
          </p:cNvPr>
          <p:cNvSpPr>
            <a:spLocks xmlns:a="http://schemas.openxmlformats.org/drawingml/2006/main" noGrp="1"/>
          </p:cNvSpPr>
          <p:nvPr/>
        </p:nvSpPr>
        <p:spPr>
          <a:xfrm xmlns:a="http://schemas.openxmlformats.org/drawingml/2006/main">
            <a:off x="8305800" y="236220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7 days</a:t>
            </a:r>
          </a:p>
        </p:txBody>
      </p:sp>
      <p:sp>
        <p:nvSpPr>
          <p:cNvPr id="5" name="six-hour-score">
            <a:extLst xmlns:a="http://schemas.openxmlformats.org/drawingml/2006/main">
              <a:ext uri="{FF2B5EF4-FFF2-40B4-BE49-F238E27FC236}">
                <a16:creationId xmlns:a16="http://schemas.microsoft.com/office/drawing/2014/main" id="{FFD75705-F1DF-4558-AA6D-B7B3E16095FF}"/>
              </a:ext>
            </a:extLst>
          </p:cNvPr>
          <p:cNvSpPr>
            <a:spLocks xmlns:a="http://schemas.openxmlformats.org/drawingml/2006/main" noGrp="1"/>
          </p:cNvSpPr>
          <p:nvPr/>
        </p:nvSpPr>
        <p:spPr>
          <a:xfrm xmlns:a="http://schemas.openxmlformats.org/drawingml/2006/main">
            <a:off x="8305800" y="328612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0.038</a:t>
            </a:r>
          </a:p>
        </p:txBody>
      </p:sp>
      <p:sp>
        <p:nvSpPr>
          <p:cNvPr id="6" name="six-hour-label">
            <a:extLst xmlns:a="http://schemas.openxmlformats.org/drawingml/2006/main">
              <a:ext uri="{FF2B5EF4-FFF2-40B4-BE49-F238E27FC236}">
                <a16:creationId xmlns:a16="http://schemas.microsoft.com/office/drawing/2014/main" id="{0BB8E474-AE91-4FAC-A5B9-B8FED1CF89CE}"/>
              </a:ext>
            </a:extLst>
          </p:cNvPr>
          <p:cNvSpPr>
            <a:spLocks xmlns:a="http://schemas.openxmlformats.org/drawingml/2006/main" noGrp="1"/>
          </p:cNvSpPr>
          <p:nvPr/>
        </p:nvSpPr>
        <p:spPr>
          <a:xfrm xmlns:a="http://schemas.openxmlformats.org/drawingml/2006/main">
            <a:off x="8305800" y="409575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6 hours</a:t>
            </a:r>
          </a:p>
        </p:txBody>
      </p:sp>
      <p:sp>
        <p:nvSpPr>
          <p:cNvPr id="7" name="category-pattern">
            <a:extLst xmlns:a="http://schemas.openxmlformats.org/drawingml/2006/main">
              <a:ext uri="{FF2B5EF4-FFF2-40B4-BE49-F238E27FC236}">
                <a16:creationId xmlns:a16="http://schemas.microsoft.com/office/drawing/2014/main" id="{13DCE8C8-58F0-4333-9293-331602ADC26C}"/>
              </a:ext>
            </a:extLst>
          </p:cNvPr>
          <p:cNvSpPr>
            <a:spLocks xmlns:a="http://schemas.openxmlformats.org/drawingml/2006/main" noGrp="1"/>
          </p:cNvSpPr>
          <p:nvPr/>
        </p:nvSpPr>
        <p:spPr>
          <a:xfrm xmlns:a="http://schemas.openxmlformats.org/drawingml/2006/main">
            <a:off x="8305800" y="5010150"/>
            <a:ext cx="3276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Economy retains the largest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error from 3 days to 6 hours.</a:t>
            </a:r>
          </a:p>
        </p:txBody>
      </p:sp>
      <p:sp>
        <p:nvSpPr>
          <p:cNvPr id="8" name="scope-and-source">
            <a:extLst xmlns:a="http://schemas.openxmlformats.org/drawingml/2006/main">
              <a:ext uri="{FF2B5EF4-FFF2-40B4-BE49-F238E27FC236}">
                <a16:creationId xmlns:a16="http://schemas.microsoft.com/office/drawing/2014/main" id="{92F92CCF-88B4-4A50-8099-16920847126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Lower Brier scores mean more accurate probabilities. Politics shows the largest improvement.</a:t>
            </a:r>
          </a:p>
        </p:txBody>
      </p:sp>
    </p:spTree>
    <p:extLst>
      <p:ext uri="{BB962C8B-B14F-4D97-AF65-F5344CB8AC3E}">
        <p14:creationId xmlns:p14="http://schemas.microsoft.com/office/powerpoint/2010/main" val="322951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0FA1FC72-93F8-41AA-B60E-BB4B964FF48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Can models improve on market prices?</a:t>
            </a:r>
          </a:p>
        </p:txBody>
      </p:sp>
      <p:pic>
        <p:nvPicPr>
          <p:cNvPr id="2" name="">
            <a:extLst xmlns:a="http://schemas.openxmlformats.org/drawingml/2006/main">
              <a:ext uri="{FF2B5EF4-FFF2-40B4-BE49-F238E27FC236}">
                <a16:creationId xmlns:a16="http://schemas.microsoft.com/office/drawing/2014/main" id="{EFD58E66-2A91-45C0-9330-2068CE33C614}"/>
              </a:ext>
            </a:extLst>
          </p:cNvPr>
          <p:cNvPicPr>
            <a:picLocks xmlns:a="http://schemas.openxmlformats.org/drawingml/2006/main" noChangeAspect="1"/>
          </p:cNvPicPr>
          <p:nvPr/>
        </p:nvPicPr>
        <p:blipFill>
          <a:blip xmlns:r="http://schemas.openxmlformats.org/officeDocument/2006/relationships" xmlns:a="http://schemas.openxmlformats.org/drawingml/2006/main" r:embed="Rcd95c24935f14665"/>
          <a:stretch xmlns:a="http://schemas.openxmlformats.org/drawingml/2006/main"/>
        </p:blipFill>
        <p:spPr>
          <a:xfrm xmlns:a="http://schemas.openxmlformats.org/drawingml/2006/main">
            <a:off x="609600" y="1478003"/>
            <a:ext cx="6610350" cy="4454443"/>
          </a:xfrm>
          <a:prstGeom xmlns:a="http://schemas.openxmlformats.org/drawingml/2006/main" prst="rect">
            <a:avLst/>
          </a:prstGeom>
        </p:spPr>
      </p:pic>
      <p:graphicFrame>
        <p:nvGraphicFramePr>
          <p:cNvPr id="3" name="">
            <a:extLst xmlns:a="http://schemas.openxmlformats.org/drawingml/2006/main">
              <a:ext uri="{FF2B5EF4-FFF2-40B4-BE49-F238E27FC236}">
                <a16:creationId xmlns:a16="http://schemas.microsoft.com/office/drawing/2014/main" id="{B552FE4C-FCB4-4454-91A2-19978423AF4E}"/>
              </a:ext>
            </a:extLst>
          </p:cNvPr>
          <p:cNvGraphicFramePr/>
          <p:nvPr/>
        </p:nvGraphicFramePr>
        <p:xfrm>
          <a:off xmlns:a="http://schemas.openxmlformats.org/drawingml/2006/main" x="7667625" y="1552575"/>
          <a:ext xmlns:a="http://schemas.openxmlformats.org/drawingml/2006/main" cx="3914775" cy="2695575"/>
        </p:xfrm>
        <a:graphic xmlns:a="http://schemas.openxmlformats.org/drawingml/2006/main">
          <a:graphicData uri="http://schemas.openxmlformats.org/drawingml/2006/table">
            <a:tbl>
              <a:tblPr/>
              <a:tblGrid>
                <a:gridCol w="2657475"/>
                <a:gridCol w="1257300"/>
              </a:tblGrid>
              <a:tr h="495300">
                <a:tc>
                  <a:txBody>
                    <a:bodyPr lIns="152400" tIns="95250" rIns="133350" bIns="95250"/>
                    <a:lstStyle/>
                    <a:p>
                      <a:r>
                        <a:rPr sz="1725" b="1">
                          <a:solidFill>
                            <a:srgbClr val="FFFFFF"/>
                          </a:solidFill>
                          <a:latin typeface="Arial"/>
                          <a:ea typeface="Arial"/>
                          <a:cs typeface="Arial"/>
                        </a:rPr>
                        <a:t>Model</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725" b="1">
                          <a:solidFill>
                            <a:srgbClr val="FFFFFF"/>
                          </a:solidFill>
                          <a:latin typeface="Arial"/>
                          <a:ea typeface="Arial"/>
                          <a:cs typeface="Arial"/>
                        </a:rPr>
                        <a:t>24h Brier</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725" b="0">
                          <a:solidFill>
                            <a:srgbClr val="263449"/>
                          </a:solidFill>
                          <a:latin typeface="Arial"/>
                          <a:ea typeface="Arial"/>
                          <a:cs typeface="Arial"/>
                        </a:rPr>
                        <a:t>Market price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28675">
                <a:tc>
                  <a:txBody>
                    <a:bodyPr lIns="152400" tIns="95250" rIns="133350" bIns="95250"/>
                    <a:lstStyle/>
                    <a:p>
                      <a:r>
                        <a:rPr sz="1725" b="0">
                          <a:solidFill>
                            <a:srgbClr val="263449"/>
                          </a:solidFill>
                          <a:latin typeface="Arial"/>
                          <a:ea typeface="Arial"/>
                          <a:cs typeface="Arial"/>
                        </a:rPr>
                        <a:t>Logistic recalibration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4" name="comparison-takeaway">
            <a:extLst xmlns:a="http://schemas.openxmlformats.org/drawingml/2006/main">
              <a:ext uri="{FF2B5EF4-FFF2-40B4-BE49-F238E27FC236}">
                <a16:creationId xmlns:a16="http://schemas.microsoft.com/office/drawing/2014/main" id="{CD42B080-8BB0-4E2C-BAA8-0956C8ABECCA}"/>
              </a:ext>
            </a:extLst>
          </p:cNvPr>
          <p:cNvSpPr>
            <a:spLocks xmlns:a="http://schemas.openxmlformats.org/drawingml/2006/main" noGrp="1"/>
          </p:cNvSpPr>
          <p:nvPr/>
        </p:nvSpPr>
        <p:spPr>
          <a:xfrm xmlns:a="http://schemas.openxmlformats.org/drawingml/2006/main">
            <a:off x="7667625" y="4562475"/>
            <a:ext cx="39147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C8C"/>
                </a:solidFill>
                <a:latin typeface="Arial"/>
                <a:ea typeface="Arial"/>
                <a:cs typeface="Arial"/>
              </a:defRPr>
            </a:defPPr>
            <a:lvl1pPr algn="l">
              <a:defRPr sz="2175" b="1">
                <a:solidFill>
                  <a:srgbClr val="315C8C"/>
                </a:solidFill>
                <a:latin typeface="Arial"/>
                <a:ea typeface="Arial"/>
                <a:cs typeface="Arial"/>
              </a:defRPr>
            </a:lvl1pPr>
            <a:lvl2pPr algn="l">
              <a:defRPr sz="2175" b="1">
                <a:solidFill>
                  <a:srgbClr val="315C8C"/>
                </a:solidFill>
                <a:latin typeface="Arial"/>
                <a:ea typeface="Arial"/>
                <a:cs typeface="Arial"/>
              </a:defRPr>
            </a:lvl2pPr>
            <a:lvl3pPr algn="l">
              <a:defRPr sz="2175" b="1">
                <a:solidFill>
                  <a:srgbClr val="315C8C"/>
                </a:solidFill>
                <a:latin typeface="Arial"/>
                <a:ea typeface="Arial"/>
                <a:cs typeface="Arial"/>
              </a:defRPr>
            </a:lvl3pPr>
            <a:lvl4pPr algn="l">
              <a:defRPr sz="2175" b="1">
                <a:solidFill>
                  <a:srgbClr val="315C8C"/>
                </a:solidFill>
                <a:latin typeface="Arial"/>
                <a:ea typeface="Arial"/>
                <a:cs typeface="Arial"/>
              </a:defRPr>
            </a:lvl4pPr>
            <a:lvl5pPr algn="l">
              <a:defRPr sz="2175" b="1">
                <a:solidFill>
                  <a:srgbClr val="315C8C"/>
                </a:solidFill>
                <a:latin typeface="Arial"/>
                <a:ea typeface="Arial"/>
                <a:cs typeface="Arial"/>
              </a:defRPr>
            </a:lvl5pPr>
            <a:lvl6pPr algn="l">
              <a:defRPr sz="2175" b="1">
                <a:solidFill>
                  <a:srgbClr val="315C8C"/>
                </a:solidFill>
                <a:latin typeface="Arial"/>
                <a:ea typeface="Arial"/>
                <a:cs typeface="Arial"/>
              </a:defRPr>
            </a:lvl6pPr>
            <a:lvl7pPr algn="l">
              <a:defRPr sz="2175" b="1">
                <a:solidFill>
                  <a:srgbClr val="315C8C"/>
                </a:solidFill>
                <a:latin typeface="Arial"/>
                <a:ea typeface="Arial"/>
                <a:cs typeface="Arial"/>
              </a:defRPr>
            </a:lvl7pPr>
            <a:lvl8pPr algn="l">
              <a:defRPr sz="2175" b="1">
                <a:solidFill>
                  <a:srgbClr val="315C8C"/>
                </a:solidFill>
                <a:latin typeface="Arial"/>
                <a:ea typeface="Arial"/>
                <a:cs typeface="Arial"/>
              </a:defRPr>
            </a:lvl8pPr>
            <a:lvl9pPr algn="l">
              <a:defRPr sz="2175" b="1">
                <a:solidFill>
                  <a:srgbClr val="315C8C"/>
                </a:solidFill>
                <a:latin typeface="Arial"/>
                <a:ea typeface="Arial"/>
                <a:cs typeface="Arial"/>
              </a:defRPr>
            </a:lvl9pPr>
          </a:lstStyle>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Neither model improves on</a:t>
            </a:r>
          </a:p>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market prices in this test.</a:t>
            </a:r>
          </a:p>
        </p:txBody>
      </p:sp>
      <p:sp>
        <p:nvSpPr>
          <p:cNvPr id="5" name="temporal-split">
            <a:extLst xmlns:a="http://schemas.openxmlformats.org/drawingml/2006/main">
              <a:ext uri="{FF2B5EF4-FFF2-40B4-BE49-F238E27FC236}">
                <a16:creationId xmlns:a16="http://schemas.microsoft.com/office/drawing/2014/main" id="{F3CF2723-0546-4CC1-BABA-E5C6CD5F1C9A}"/>
              </a:ext>
            </a:extLst>
          </p:cNvPr>
          <p:cNvSpPr>
            <a:spLocks xmlns:a="http://schemas.openxmlformats.org/drawingml/2006/main" noGrp="1"/>
          </p:cNvSpPr>
          <p:nvPr/>
        </p:nvSpPr>
        <p:spPr>
          <a:xfrm xmlns:a="http://schemas.openxmlformats.org/drawingml/2006/main">
            <a:off x="7667625" y="5581650"/>
            <a:ext cx="39147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27085"/>
                </a:solidFill>
                <a:latin typeface="Arial"/>
                <a:ea typeface="Arial"/>
                <a:cs typeface="Arial"/>
              </a:defRPr>
            </a:defPPr>
            <a:lvl1pPr algn="l">
              <a:defRPr sz="1575" b="0">
                <a:solidFill>
                  <a:srgbClr val="627085"/>
                </a:solidFill>
                <a:latin typeface="Arial"/>
                <a:ea typeface="Arial"/>
                <a:cs typeface="Arial"/>
              </a:defRPr>
            </a:lvl1pPr>
            <a:lvl2pPr algn="l">
              <a:defRPr sz="1575" b="0">
                <a:solidFill>
                  <a:srgbClr val="627085"/>
                </a:solidFill>
                <a:latin typeface="Arial"/>
                <a:ea typeface="Arial"/>
                <a:cs typeface="Arial"/>
              </a:defRPr>
            </a:lvl2pPr>
            <a:lvl3pPr algn="l">
              <a:defRPr sz="1575" b="0">
                <a:solidFill>
                  <a:srgbClr val="627085"/>
                </a:solidFill>
                <a:latin typeface="Arial"/>
                <a:ea typeface="Arial"/>
                <a:cs typeface="Arial"/>
              </a:defRPr>
            </a:lvl3pPr>
            <a:lvl4pPr algn="l">
              <a:defRPr sz="1575" b="0">
                <a:solidFill>
                  <a:srgbClr val="627085"/>
                </a:solidFill>
                <a:latin typeface="Arial"/>
                <a:ea typeface="Arial"/>
                <a:cs typeface="Arial"/>
              </a:defRPr>
            </a:lvl4pPr>
            <a:lvl5pPr algn="l">
              <a:defRPr sz="1575" b="0">
                <a:solidFill>
                  <a:srgbClr val="627085"/>
                </a:solidFill>
                <a:latin typeface="Arial"/>
                <a:ea typeface="Arial"/>
                <a:cs typeface="Arial"/>
              </a:defRPr>
            </a:lvl5pPr>
            <a:lvl6pPr algn="l">
              <a:defRPr sz="1575" b="0">
                <a:solidFill>
                  <a:srgbClr val="627085"/>
                </a:solidFill>
                <a:latin typeface="Arial"/>
                <a:ea typeface="Arial"/>
                <a:cs typeface="Arial"/>
              </a:defRPr>
            </a:lvl6pPr>
            <a:lvl7pPr algn="l">
              <a:defRPr sz="1575" b="0">
                <a:solidFill>
                  <a:srgbClr val="627085"/>
                </a:solidFill>
                <a:latin typeface="Arial"/>
                <a:ea typeface="Arial"/>
                <a:cs typeface="Arial"/>
              </a:defRPr>
            </a:lvl7pPr>
            <a:lvl8pPr algn="l">
              <a:defRPr sz="1575" b="0">
                <a:solidFill>
                  <a:srgbClr val="627085"/>
                </a:solidFill>
                <a:latin typeface="Arial"/>
                <a:ea typeface="Arial"/>
                <a:cs typeface="Arial"/>
              </a:defRPr>
            </a:lvl8pPr>
            <a:lvl9pPr algn="l">
              <a:defRPr sz="1575" b="0">
                <a:solidFill>
                  <a:srgbClr val="627085"/>
                </a:solidFill>
                <a:latin typeface="Arial"/>
                <a:ea typeface="Arial"/>
                <a:cs typeface="Arial"/>
              </a:defRPr>
            </a:lvl9pPr>
          </a:lstStyle>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Train: before September</a:t>
            </a:r>
          </a:p>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Test: 860 September–October events</a:t>
            </a:r>
          </a:p>
        </p:txBody>
      </p:sp>
      <p:sp>
        <p:nvSpPr>
          <p:cNvPr id="6" name="scope-and-source">
            <a:extLst xmlns:a="http://schemas.openxmlformats.org/drawingml/2006/main">
              <a:ext uri="{FF2B5EF4-FFF2-40B4-BE49-F238E27FC236}">
                <a16:creationId xmlns:a16="http://schemas.microsoft.com/office/drawing/2014/main" id="{F0028562-016A-4371-A0F7-EE696C626EA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Models use information available at prediction time. In the chart, values above zero indicate worse performance.</a:t>
            </a:r>
          </a:p>
        </p:txBody>
      </p:sp>
    </p:spTree>
    <p:extLst>
      <p:ext uri="{BB962C8B-B14F-4D97-AF65-F5344CB8AC3E}">
        <p14:creationId xmlns:p14="http://schemas.microsoft.com/office/powerpoint/2010/main" val="1666246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4C96A9A-96F9-4AFF-8F57-53735D0B9E7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findings and limits</a:t>
            </a:r>
          </a:p>
        </p:txBody>
      </p:sp>
      <p:sp>
        <p:nvSpPr>
          <p:cNvPr id="2" name="finding-1">
            <a:extLst xmlns:a="http://schemas.openxmlformats.org/drawingml/2006/main">
              <a:ext uri="{FF2B5EF4-FFF2-40B4-BE49-F238E27FC236}">
                <a16:creationId xmlns:a16="http://schemas.microsoft.com/office/drawing/2014/main" id="{45AA6F76-DCBA-4CBF-A8AD-6B2FD49ACE9A}"/>
              </a:ext>
            </a:extLst>
          </p:cNvPr>
          <p:cNvSpPr>
            <a:spLocks xmlns:a="http://schemas.openxmlformats.org/drawingml/2006/main" noGrp="1"/>
          </p:cNvSpPr>
          <p:nvPr/>
        </p:nvSpPr>
        <p:spPr>
          <a:xfrm xmlns:a="http://schemas.openxmlformats.org/drawingml/2006/main">
            <a:off x="609600" y="15144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315C8C"/>
                </a:solidFill>
                <a:latin typeface="Arial"/>
                <a:ea typeface="Arial"/>
                <a:cs typeface="Arial"/>
              </a:defRPr>
            </a:defPPr>
            <a:lvl1pPr algn="l">
              <a:defRPr sz="2250" b="1">
                <a:solidFill>
                  <a:srgbClr val="315C8C"/>
                </a:solidFill>
                <a:latin typeface="Arial"/>
                <a:ea typeface="Arial"/>
                <a:cs typeface="Arial"/>
              </a:defRPr>
            </a:lvl1pPr>
            <a:lvl2pPr algn="l">
              <a:defRPr sz="2250" b="1">
                <a:solidFill>
                  <a:srgbClr val="315C8C"/>
                </a:solidFill>
                <a:latin typeface="Arial"/>
                <a:ea typeface="Arial"/>
                <a:cs typeface="Arial"/>
              </a:defRPr>
            </a:lvl2pPr>
            <a:lvl3pPr algn="l">
              <a:defRPr sz="2250" b="1">
                <a:solidFill>
                  <a:srgbClr val="315C8C"/>
                </a:solidFill>
                <a:latin typeface="Arial"/>
                <a:ea typeface="Arial"/>
                <a:cs typeface="Arial"/>
              </a:defRPr>
            </a:lvl3pPr>
            <a:lvl4pPr algn="l">
              <a:defRPr sz="2250" b="1">
                <a:solidFill>
                  <a:srgbClr val="315C8C"/>
                </a:solidFill>
                <a:latin typeface="Arial"/>
                <a:ea typeface="Arial"/>
                <a:cs typeface="Arial"/>
              </a:defRPr>
            </a:lvl4pPr>
            <a:lvl5pPr algn="l">
              <a:defRPr sz="2250" b="1">
                <a:solidFill>
                  <a:srgbClr val="315C8C"/>
                </a:solidFill>
                <a:latin typeface="Arial"/>
                <a:ea typeface="Arial"/>
                <a:cs typeface="Arial"/>
              </a:defRPr>
            </a:lvl5pPr>
            <a:lvl6pPr algn="l">
              <a:defRPr sz="2250" b="1">
                <a:solidFill>
                  <a:srgbClr val="315C8C"/>
                </a:solidFill>
                <a:latin typeface="Arial"/>
                <a:ea typeface="Arial"/>
                <a:cs typeface="Arial"/>
              </a:defRPr>
            </a:lvl6pPr>
            <a:lvl7pPr algn="l">
              <a:defRPr sz="2250" b="1">
                <a:solidFill>
                  <a:srgbClr val="315C8C"/>
                </a:solidFill>
                <a:latin typeface="Arial"/>
                <a:ea typeface="Arial"/>
                <a:cs typeface="Arial"/>
              </a:defRPr>
            </a:lvl7pPr>
            <a:lvl8pPr algn="l">
              <a:defRPr sz="2250" b="1">
                <a:solidFill>
                  <a:srgbClr val="315C8C"/>
                </a:solidFill>
                <a:latin typeface="Arial"/>
                <a:ea typeface="Arial"/>
                <a:cs typeface="Arial"/>
              </a:defRPr>
            </a:lvl8pPr>
            <a:lvl9pPr algn="l">
              <a:defRPr sz="2250" b="1">
                <a:solidFill>
                  <a:srgbClr val="315C8C"/>
                </a:solidFill>
                <a:latin typeface="Arial"/>
                <a:ea typeface="Arial"/>
                <a:cs typeface="Arial"/>
              </a:defRPr>
            </a:lvl9pPr>
          </a:lstStyle>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Prices broadly match observed outcomes</a:t>
            </a:r>
          </a:p>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in all four categories.</a:t>
            </a:r>
          </a:p>
        </p:txBody>
      </p:sp>
      <p:sp>
        <p:nvSpPr>
          <p:cNvPr id="3" name="finding-2">
            <a:extLst xmlns:a="http://schemas.openxmlformats.org/drawingml/2006/main">
              <a:ext uri="{FF2B5EF4-FFF2-40B4-BE49-F238E27FC236}">
                <a16:creationId xmlns:a16="http://schemas.microsoft.com/office/drawing/2014/main" id="{13D011C4-1026-4B96-98E5-6E6D3A584D09}"/>
              </a:ext>
            </a:extLst>
          </p:cNvPr>
          <p:cNvSpPr>
            <a:spLocks xmlns:a="http://schemas.openxmlformats.org/drawingml/2006/main" noGrp="1"/>
          </p:cNvSpPr>
          <p:nvPr/>
        </p:nvSpPr>
        <p:spPr>
          <a:xfrm xmlns:a="http://schemas.openxmlformats.org/drawingml/2006/main">
            <a:off x="609600" y="28860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Favorite–longshot bias is small</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and varies across months.</a:t>
            </a:r>
          </a:p>
        </p:txBody>
      </p:sp>
      <p:sp>
        <p:nvSpPr>
          <p:cNvPr id="4" name="finding-3">
            <a:extLst xmlns:a="http://schemas.openxmlformats.org/drawingml/2006/main">
              <a:ext uri="{FF2B5EF4-FFF2-40B4-BE49-F238E27FC236}">
                <a16:creationId xmlns:a16="http://schemas.microsoft.com/office/drawing/2014/main" id="{8CF631CA-FA5F-4D90-A7CF-DD785B0E2CA0}"/>
              </a:ext>
            </a:extLst>
          </p:cNvPr>
          <p:cNvSpPr>
            <a:spLocks xmlns:a="http://schemas.openxmlformats.org/drawingml/2006/main" noGrp="1"/>
          </p:cNvSpPr>
          <p:nvPr/>
        </p:nvSpPr>
        <p:spPr>
          <a:xfrm xmlns:a="http://schemas.openxmlformats.org/drawingml/2006/main">
            <a:off x="609600" y="4267200"/>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Our models do not improve on prices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in the September–October test period.</a:t>
            </a:r>
          </a:p>
        </p:txBody>
      </p:sp>
      <p:sp>
        <p:nvSpPr>
          <p:cNvPr id="5" name="limits-label">
            <a:extLst xmlns:a="http://schemas.openxmlformats.org/drawingml/2006/main">
              <a:ext uri="{FF2B5EF4-FFF2-40B4-BE49-F238E27FC236}">
                <a16:creationId xmlns:a16="http://schemas.microsoft.com/office/drawing/2014/main" id="{E70D0CD1-F6A5-4C0B-85CF-CB4D13EF610B}"/>
              </a:ext>
            </a:extLst>
          </p:cNvPr>
          <p:cNvSpPr>
            <a:spLocks xmlns:a="http://schemas.openxmlformats.org/drawingml/2006/main" noGrp="1"/>
          </p:cNvSpPr>
          <p:nvPr/>
        </p:nvSpPr>
        <p:spPr>
          <a:xfrm xmlns:a="http://schemas.openxmlformats.org/drawingml/2006/main">
            <a:off x="7686675" y="1533525"/>
            <a:ext cx="3895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63449"/>
                </a:solidFill>
                <a:latin typeface="Arial"/>
                <a:ea typeface="Arial"/>
                <a:cs typeface="Arial"/>
              </a:defRPr>
            </a:defPPr>
            <a:lvl1pPr algn="l">
              <a:defRPr sz="2250" b="1">
                <a:solidFill>
                  <a:srgbClr val="263449"/>
                </a:solidFill>
                <a:latin typeface="Arial"/>
                <a:ea typeface="Arial"/>
                <a:cs typeface="Arial"/>
              </a:defRPr>
            </a:lvl1pPr>
            <a:lvl2pPr algn="l">
              <a:defRPr sz="2250" b="1">
                <a:solidFill>
                  <a:srgbClr val="263449"/>
                </a:solidFill>
                <a:latin typeface="Arial"/>
                <a:ea typeface="Arial"/>
                <a:cs typeface="Arial"/>
              </a:defRPr>
            </a:lvl2pPr>
            <a:lvl3pPr algn="l">
              <a:defRPr sz="2250" b="1">
                <a:solidFill>
                  <a:srgbClr val="263449"/>
                </a:solidFill>
                <a:latin typeface="Arial"/>
                <a:ea typeface="Arial"/>
                <a:cs typeface="Arial"/>
              </a:defRPr>
            </a:lvl3pPr>
            <a:lvl4pPr algn="l">
              <a:defRPr sz="2250" b="1">
                <a:solidFill>
                  <a:srgbClr val="263449"/>
                </a:solidFill>
                <a:latin typeface="Arial"/>
                <a:ea typeface="Arial"/>
                <a:cs typeface="Arial"/>
              </a:defRPr>
            </a:lvl4pPr>
            <a:lvl5pPr algn="l">
              <a:defRPr sz="2250" b="1">
                <a:solidFill>
                  <a:srgbClr val="263449"/>
                </a:solidFill>
                <a:latin typeface="Arial"/>
                <a:ea typeface="Arial"/>
                <a:cs typeface="Arial"/>
              </a:defRPr>
            </a:lvl5pPr>
            <a:lvl6pPr algn="l">
              <a:defRPr sz="2250" b="1">
                <a:solidFill>
                  <a:srgbClr val="263449"/>
                </a:solidFill>
                <a:latin typeface="Arial"/>
                <a:ea typeface="Arial"/>
                <a:cs typeface="Arial"/>
              </a:defRPr>
            </a:lvl6pPr>
            <a:lvl7pPr algn="l">
              <a:defRPr sz="2250" b="1">
                <a:solidFill>
                  <a:srgbClr val="263449"/>
                </a:solidFill>
                <a:latin typeface="Arial"/>
                <a:ea typeface="Arial"/>
                <a:cs typeface="Arial"/>
              </a:defRPr>
            </a:lvl7pPr>
            <a:lvl8pPr algn="l">
              <a:defRPr sz="2250" b="1">
                <a:solidFill>
                  <a:srgbClr val="263449"/>
                </a:solidFill>
                <a:latin typeface="Arial"/>
                <a:ea typeface="Arial"/>
                <a:cs typeface="Arial"/>
              </a:defRPr>
            </a:lvl8pPr>
            <a:lvl9pPr algn="l">
              <a:defRPr sz="2250" b="1">
                <a:solidFill>
                  <a:srgbClr val="263449"/>
                </a:solidFill>
                <a:latin typeface="Arial"/>
                <a:ea typeface="Arial"/>
                <a:cs typeface="Arial"/>
              </a:defRPr>
            </a:lvl9pPr>
          </a:lstStyle>
          <a:p xmlns:a="http://schemas.openxmlformats.org/drawingml/2006/main">
            <a:pPr algn="l">
              <a:defRPr sz="2250" b="1">
                <a:solidFill>
                  <a:srgbClr val="263449"/>
                </a:solidFill>
                <a:latin typeface="Arial"/>
                <a:ea typeface="Arial"/>
                <a:cs typeface="Arial"/>
              </a:defRPr>
            </a:pPr>
            <a:r>
              <a:rPr sz="2250" b="1">
                <a:solidFill>
                  <a:srgbClr val="263449"/>
                </a:solidFill>
                <a:latin typeface="Arial"/>
                <a:ea typeface="Arial"/>
                <a:cs typeface="Arial"/>
              </a:rPr>
              <a:t>Limits</a:t>
            </a:r>
          </a:p>
        </p:txBody>
      </p:sp>
      <p:sp>
        <p:nvSpPr>
          <p:cNvPr id="6" name="limits">
            <a:extLst xmlns:a="http://schemas.openxmlformats.org/drawingml/2006/main">
              <a:ext uri="{FF2B5EF4-FFF2-40B4-BE49-F238E27FC236}">
                <a16:creationId xmlns:a16="http://schemas.microsoft.com/office/drawing/2014/main" id="{787CD405-AAEB-4015-939E-33441FD8366B}"/>
              </a:ext>
            </a:extLst>
          </p:cNvPr>
          <p:cNvSpPr>
            <a:spLocks xmlns:a="http://schemas.openxmlformats.org/drawingml/2006/main" noGrp="1"/>
          </p:cNvSpPr>
          <p:nvPr/>
        </p:nvSpPr>
        <p:spPr>
          <a:xfrm xmlns:a="http://schemas.openxmlformats.org/drawingml/2006/main">
            <a:off x="7686675" y="2181225"/>
            <a:ext cx="3895725" cy="2295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Early resolution changes the</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meaning of “24h before close.”</a:t>
            </a:r>
          </a:p>
          <a:p xmlns:a="http://schemas.openxmlformats.org/drawingml/2006/main">
            <a:r>
              <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We evaluate one test period.</a:t>
            </a:r>
          </a:p>
        </p:txBody>
      </p:sp>
      <p:sp>
        <p:nvSpPr>
          <p:cNvPr id="7" name="scope-and-source">
            <a:extLst xmlns:a="http://schemas.openxmlformats.org/drawingml/2006/main">
              <a:ext uri="{FF2B5EF4-FFF2-40B4-BE49-F238E27FC236}">
                <a16:creationId xmlns:a16="http://schemas.microsoft.com/office/drawing/2014/main" id="{C4B7BFE6-6F5C-40F8-AC4F-337B854D0DB6}"/>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Wallet question: which characteristics explain differences in the prices traders choose to pay?</a:t>
            </a:r>
          </a:p>
        </p:txBody>
      </p:sp>
    </p:spTree>
    <p:extLst>
      <p:ext uri="{BB962C8B-B14F-4D97-AF65-F5344CB8AC3E}">
        <p14:creationId xmlns:p14="http://schemas.microsoft.com/office/powerpoint/2010/main" val="11895069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D75D61E-26AF-42BC-97BE-026DEC573D9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Question and data</a:t>
            </a:r>
          </a:p>
        </p:txBody>
      </p:sp>
      <p:sp>
        <p:nvSpPr>
          <p:cNvPr id="2" name="research-question">
            <a:extLst xmlns:a="http://schemas.openxmlformats.org/drawingml/2006/main">
              <a:ext uri="{FF2B5EF4-FFF2-40B4-BE49-F238E27FC236}">
                <a16:creationId xmlns:a16="http://schemas.microsoft.com/office/drawing/2014/main" id="{5B66956B-47D0-4B95-9C74-1F622D4B733E}"/>
              </a:ext>
            </a:extLst>
          </p:cNvPr>
          <p:cNvSpPr>
            <a:spLocks xmlns:a="http://schemas.openxmlformats.org/drawingml/2006/main" noGrp="1"/>
          </p:cNvSpPr>
          <p:nvPr/>
        </p:nvSpPr>
        <p:spPr>
          <a:xfrm xmlns:a="http://schemas.openxmlformats.org/drawingml/2006/main">
            <a:off x="609600" y="1371600"/>
            <a:ext cx="485775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How well do wallet characteristics predict average purchase price, and does boosting improve on linear regression?</a:t>
            </a:r>
          </a:p>
        </p:txBody>
      </p:sp>
      <p:sp>
        <p:nvSpPr>
          <p:cNvPr id="3" name="sample-size">
            <a:extLst xmlns:a="http://schemas.openxmlformats.org/drawingml/2006/main">
              <a:ext uri="{FF2B5EF4-FFF2-40B4-BE49-F238E27FC236}">
                <a16:creationId xmlns:a16="http://schemas.microsoft.com/office/drawing/2014/main" id="{8D30FF14-F058-4655-9EFF-8BF73B789439}"/>
              </a:ext>
            </a:extLst>
          </p:cNvPr>
          <p:cNvSpPr>
            <a:spLocks xmlns:a="http://schemas.openxmlformats.org/drawingml/2006/main" noGrp="1"/>
          </p:cNvSpPr>
          <p:nvPr/>
        </p:nvSpPr>
        <p:spPr>
          <a:xfrm xmlns:a="http://schemas.openxmlformats.org/drawingml/2006/main">
            <a:off x="609600" y="33718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C8C"/>
                </a:solidFill>
                <a:latin typeface="Arial"/>
                <a:ea typeface="Arial"/>
                <a:cs typeface="Arial"/>
              </a:defRPr>
            </a:defPPr>
            <a:lvl1pPr algn="l">
              <a:defRPr sz="2550" b="1">
                <a:solidFill>
                  <a:srgbClr val="315C8C"/>
                </a:solidFill>
                <a:latin typeface="Arial"/>
                <a:ea typeface="Arial"/>
                <a:cs typeface="Arial"/>
              </a:defRPr>
            </a:lvl1pPr>
            <a:lvl2pPr algn="l">
              <a:defRPr sz="2550" b="1">
                <a:solidFill>
                  <a:srgbClr val="315C8C"/>
                </a:solidFill>
                <a:latin typeface="Arial"/>
                <a:ea typeface="Arial"/>
                <a:cs typeface="Arial"/>
              </a:defRPr>
            </a:lvl2pPr>
            <a:lvl3pPr algn="l">
              <a:defRPr sz="2550" b="1">
                <a:solidFill>
                  <a:srgbClr val="315C8C"/>
                </a:solidFill>
                <a:latin typeface="Arial"/>
                <a:ea typeface="Arial"/>
                <a:cs typeface="Arial"/>
              </a:defRPr>
            </a:lvl3pPr>
            <a:lvl4pPr algn="l">
              <a:defRPr sz="2550" b="1">
                <a:solidFill>
                  <a:srgbClr val="315C8C"/>
                </a:solidFill>
                <a:latin typeface="Arial"/>
                <a:ea typeface="Arial"/>
                <a:cs typeface="Arial"/>
              </a:defRPr>
            </a:lvl4pPr>
            <a:lvl5pPr algn="l">
              <a:defRPr sz="2550" b="1">
                <a:solidFill>
                  <a:srgbClr val="315C8C"/>
                </a:solidFill>
                <a:latin typeface="Arial"/>
                <a:ea typeface="Arial"/>
                <a:cs typeface="Arial"/>
              </a:defRPr>
            </a:lvl5pPr>
            <a:lvl6pPr algn="l">
              <a:defRPr sz="2550" b="1">
                <a:solidFill>
                  <a:srgbClr val="315C8C"/>
                </a:solidFill>
                <a:latin typeface="Arial"/>
                <a:ea typeface="Arial"/>
                <a:cs typeface="Arial"/>
              </a:defRPr>
            </a:lvl6pPr>
            <a:lvl7pPr algn="l">
              <a:defRPr sz="2550" b="1">
                <a:solidFill>
                  <a:srgbClr val="315C8C"/>
                </a:solidFill>
                <a:latin typeface="Arial"/>
                <a:ea typeface="Arial"/>
                <a:cs typeface="Arial"/>
              </a:defRPr>
            </a:lvl7pPr>
            <a:lvl8pPr algn="l">
              <a:defRPr sz="2550" b="1">
                <a:solidFill>
                  <a:srgbClr val="315C8C"/>
                </a:solidFill>
                <a:latin typeface="Arial"/>
                <a:ea typeface="Arial"/>
                <a:cs typeface="Arial"/>
              </a:defRPr>
            </a:lvl8pPr>
            <a:lvl9pPr algn="l">
              <a:defRPr sz="2550" b="1">
                <a:solidFill>
                  <a:srgbClr val="315C8C"/>
                </a:solidFill>
                <a:latin typeface="Arial"/>
                <a:ea typeface="Arial"/>
                <a:cs typeface="Arial"/>
              </a:defRPr>
            </a:lvl9pPr>
          </a:lstStyle>
          <a:p xmlns:a="http://schemas.openxmlformats.org/drawingml/2006/main">
            <a:pPr algn="l">
              <a:defRPr sz="2550" b="1">
                <a:solidFill>
                  <a:srgbClr val="315C8C"/>
                </a:solidFill>
                <a:latin typeface="Arial"/>
                <a:ea typeface="Arial"/>
                <a:cs typeface="Arial"/>
              </a:defRPr>
            </a:pPr>
            <a:r>
              <a:rPr sz="2550" b="1">
                <a:solidFill>
                  <a:srgbClr val="315C8C"/>
                </a:solidFill>
                <a:latin typeface="Arial"/>
                <a:ea typeface="Arial"/>
                <a:cs typeface="Arial"/>
              </a:rPr>
              <a:t>55,952 wallets</a:t>
            </a:r>
          </a:p>
        </p:txBody>
      </p:sp>
      <p:sp>
        <p:nvSpPr>
          <p:cNvPr id="4" name="data-description">
            <a:extLst xmlns:a="http://schemas.openxmlformats.org/drawingml/2006/main">
              <a:ext uri="{FF2B5EF4-FFF2-40B4-BE49-F238E27FC236}">
                <a16:creationId xmlns:a16="http://schemas.microsoft.com/office/drawing/2014/main" id="{DD87229D-E3FA-47F6-B2A7-6CB04F9E5443}"/>
              </a:ext>
            </a:extLst>
          </p:cNvPr>
          <p:cNvSpPr>
            <a:spLocks xmlns:a="http://schemas.openxmlformats.org/drawingml/2006/main" noGrp="1"/>
          </p:cNvSpPr>
          <p:nvPr/>
        </p:nvSpPr>
        <p:spPr>
          <a:xfrm xmlns:a="http://schemas.openxmlformats.org/drawingml/2006/main">
            <a:off x="609600" y="4029075"/>
            <a:ext cx="50006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One row per wallet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Target: volume weighted price per share</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All wallets retained. Confirmed flag excluded.</a:t>
            </a:r>
          </a:p>
        </p:txBody>
      </p:sp>
      <p:sp>
        <p:nvSpPr>
          <p:cNvPr id="5" name="cohort-scope">
            <a:extLst xmlns:a="http://schemas.openxmlformats.org/drawingml/2006/main">
              <a:ext uri="{FF2B5EF4-FFF2-40B4-BE49-F238E27FC236}">
                <a16:creationId xmlns:a16="http://schemas.microsoft.com/office/drawing/2014/main" id="{4D95B865-AA69-4A10-86FF-9F7DE8B9170C}"/>
              </a:ext>
            </a:extLst>
          </p:cNvPr>
          <p:cNvSpPr>
            <a:spLocks xmlns:a="http://schemas.openxmlformats.org/drawingml/2006/main" noGrp="1"/>
          </p:cNvSpPr>
          <p:nvPr/>
        </p:nvSpPr>
        <p:spPr>
          <a:xfrm xmlns:a="http://schemas.openxmlformats.org/drawingml/2006/main">
            <a:off x="609600" y="6048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Selected event cohort. Prices summarize observed trading history.</a:t>
            </a:r>
          </a:p>
        </p:txBody>
      </p:sp>
      <p:graphicFrame>
        <p:nvGraphicFramePr>
          <p:cNvPr id="6" name="Chart">
            <a:extLst xmlns:a="http://schemas.openxmlformats.org/drawingml/2006/main">
              <a:ext uri="{FF2B5EF4-FFF2-40B4-BE49-F238E27FC236}">
                <a16:creationId xmlns:a16="http://schemas.microsoft.com/office/drawing/2014/main" id="{DCFDA92D-4E9A-4554-9287-C125DED5D37C}"/>
              </a:ext>
            </a:extLst>
          </p:cNvPr>
          <p:cNvGraphicFramePr/>
          <p:nvPr/>
        </p:nvGraphicFramePr>
        <p:xfrm>
          <a:off xmlns:a="http://schemas.openxmlformats.org/drawingml/2006/main" x="6057900" y="1362075"/>
          <a:ext xmlns:a="http://schemas.openxmlformats.org/drawingml/2006/main" cx="5524500" cy="3952875"/>
        </p:xfrm>
        <a:graphic xmlns:a="http://schemas.openxmlformats.org/drawingml/2006/main">
          <a:graphicData uri="http://schemas.openxmlformats.org/drawingml/2006/chart">
            <c:chart xmlns:r="http://schemas.openxmlformats.org/officeDocument/2006/relationships" xmlns:c="http://schemas.openxmlformats.org/drawingml/2006/chart" r:id="R76d326458b184489"/>
          </a:graphicData>
        </a:graphic>
      </p:graphicFrame>
    </p:spTree>
    <p:extLst>
      <p:ext uri="{BB962C8B-B14F-4D97-AF65-F5344CB8AC3E}">
        <p14:creationId xmlns:p14="http://schemas.microsoft.com/office/powerpoint/2010/main" val="17195111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A1D5D9C-7387-46AA-B249-9E05663E2ED5}"/>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Approach</a:t>
            </a:r>
          </a:p>
        </p:txBody>
      </p:sp>
      <p:sp>
        <p:nvSpPr>
          <p:cNvPr id="2" name="split-heading">
            <a:extLst xmlns:a="http://schemas.openxmlformats.org/drawingml/2006/main">
              <a:ext uri="{FF2B5EF4-FFF2-40B4-BE49-F238E27FC236}">
                <a16:creationId xmlns:a16="http://schemas.microsoft.com/office/drawing/2014/main" id="{E3491132-52A4-4847-AC5D-28426487B788}"/>
              </a:ext>
            </a:extLst>
          </p:cNvPr>
          <p:cNvSpPr>
            <a:spLocks xmlns:a="http://schemas.openxmlformats.org/drawingml/2006/main" noGrp="1"/>
          </p:cNvSpPr>
          <p:nvPr/>
        </p:nvSpPr>
        <p:spPr>
          <a:xfrm xmlns:a="http://schemas.openxmlformats.org/drawingml/2006/main">
            <a:off x="609600" y="136207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63449"/>
                </a:solidFill>
                <a:latin typeface="Arial"/>
                <a:ea typeface="Arial"/>
                <a:cs typeface="Arial"/>
              </a:defRPr>
            </a:defPPr>
            <a:lvl1pPr algn="l">
              <a:defRPr sz="2100" b="1">
                <a:solidFill>
                  <a:srgbClr val="263449"/>
                </a:solidFill>
                <a:latin typeface="Arial"/>
                <a:ea typeface="Arial"/>
                <a:cs typeface="Arial"/>
              </a:defRPr>
            </a:lvl1pPr>
            <a:lvl2pPr algn="l">
              <a:defRPr sz="2100" b="1">
                <a:solidFill>
                  <a:srgbClr val="263449"/>
                </a:solidFill>
                <a:latin typeface="Arial"/>
                <a:ea typeface="Arial"/>
                <a:cs typeface="Arial"/>
              </a:defRPr>
            </a:lvl2pPr>
            <a:lvl3pPr algn="l">
              <a:defRPr sz="2100" b="1">
                <a:solidFill>
                  <a:srgbClr val="263449"/>
                </a:solidFill>
                <a:latin typeface="Arial"/>
                <a:ea typeface="Arial"/>
                <a:cs typeface="Arial"/>
              </a:defRPr>
            </a:lvl3pPr>
            <a:lvl4pPr algn="l">
              <a:defRPr sz="2100" b="1">
                <a:solidFill>
                  <a:srgbClr val="263449"/>
                </a:solidFill>
                <a:latin typeface="Arial"/>
                <a:ea typeface="Arial"/>
                <a:cs typeface="Arial"/>
              </a:defRPr>
            </a:lvl4pPr>
            <a:lvl5pPr algn="l">
              <a:defRPr sz="2100" b="1">
                <a:solidFill>
                  <a:srgbClr val="263449"/>
                </a:solidFill>
                <a:latin typeface="Arial"/>
                <a:ea typeface="Arial"/>
                <a:cs typeface="Arial"/>
              </a:defRPr>
            </a:lvl5pPr>
            <a:lvl6pPr algn="l">
              <a:defRPr sz="2100" b="1">
                <a:solidFill>
                  <a:srgbClr val="263449"/>
                </a:solidFill>
                <a:latin typeface="Arial"/>
                <a:ea typeface="Arial"/>
                <a:cs typeface="Arial"/>
              </a:defRPr>
            </a:lvl6pPr>
            <a:lvl7pPr algn="l">
              <a:defRPr sz="2100" b="1">
                <a:solidFill>
                  <a:srgbClr val="263449"/>
                </a:solidFill>
                <a:latin typeface="Arial"/>
                <a:ea typeface="Arial"/>
                <a:cs typeface="Arial"/>
              </a:defRPr>
            </a:lvl7pPr>
            <a:lvl8pPr algn="l">
              <a:defRPr sz="2100" b="1">
                <a:solidFill>
                  <a:srgbClr val="263449"/>
                </a:solidFill>
                <a:latin typeface="Arial"/>
                <a:ea typeface="Arial"/>
                <a:cs typeface="Arial"/>
              </a:defRPr>
            </a:lvl8pPr>
            <a:lvl9pPr algn="l">
              <a:defRPr sz="2100" b="1">
                <a:solidFill>
                  <a:srgbClr val="263449"/>
                </a:solidFill>
                <a:latin typeface="Arial"/>
                <a:ea typeface="Arial"/>
                <a:cs typeface="Arial"/>
              </a:defRPr>
            </a:lvl9pPr>
          </a:lstStyle>
          <a:p xmlns:a="http://schemas.openxmlformats.org/drawingml/2006/main">
            <a:pPr algn="l">
              <a:defRPr sz="2100" b="1">
                <a:solidFill>
                  <a:srgbClr val="263449"/>
                </a:solidFill>
                <a:latin typeface="Arial"/>
                <a:ea typeface="Arial"/>
                <a:cs typeface="Arial"/>
              </a:defRPr>
            </a:pPr>
            <a:r>
              <a:rPr sz="2100" b="1">
                <a:solidFill>
                  <a:srgbClr val="263449"/>
                </a:solidFill>
                <a:latin typeface="Arial"/>
                <a:ea typeface="Arial"/>
                <a:cs typeface="Arial"/>
              </a:rPr>
              <a:t>One fixed wallet split</a:t>
            </a:r>
          </a:p>
        </p:txBody>
      </p:sp>
      <p:sp>
        <p:nvSpPr>
          <p:cNvPr id="3" name="split-counts">
            <a:extLst xmlns:a="http://schemas.openxmlformats.org/drawingml/2006/main">
              <a:ext uri="{FF2B5EF4-FFF2-40B4-BE49-F238E27FC236}">
                <a16:creationId xmlns:a16="http://schemas.microsoft.com/office/drawing/2014/main" id="{8866C3C9-7038-4CB0-B4F5-FA4D83FBCA48}"/>
              </a:ext>
            </a:extLst>
          </p:cNvPr>
          <p:cNvSpPr>
            <a:spLocks xmlns:a="http://schemas.openxmlformats.org/drawingml/2006/main" noGrp="1"/>
          </p:cNvSpPr>
          <p:nvPr/>
        </p:nvSpPr>
        <p:spPr>
          <a:xfrm xmlns:a="http://schemas.openxmlformats.org/drawingml/2006/main">
            <a:off x="609600" y="1914525"/>
            <a:ext cx="4953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315C8C"/>
                </a:solidFill>
                <a:latin typeface="Arial"/>
                <a:ea typeface="Arial"/>
                <a:cs typeface="Arial"/>
              </a:defRPr>
            </a:defPPr>
            <a:lvl1pPr algn="l">
              <a:defRPr sz="2325" b="0">
                <a:solidFill>
                  <a:srgbClr val="315C8C"/>
                </a:solidFill>
                <a:latin typeface="Arial"/>
                <a:ea typeface="Arial"/>
                <a:cs typeface="Arial"/>
              </a:defRPr>
            </a:lvl1pPr>
            <a:lvl2pPr algn="l">
              <a:defRPr sz="2325" b="0">
                <a:solidFill>
                  <a:srgbClr val="315C8C"/>
                </a:solidFill>
                <a:latin typeface="Arial"/>
                <a:ea typeface="Arial"/>
                <a:cs typeface="Arial"/>
              </a:defRPr>
            </a:lvl2pPr>
            <a:lvl3pPr algn="l">
              <a:defRPr sz="2325" b="0">
                <a:solidFill>
                  <a:srgbClr val="315C8C"/>
                </a:solidFill>
                <a:latin typeface="Arial"/>
                <a:ea typeface="Arial"/>
                <a:cs typeface="Arial"/>
              </a:defRPr>
            </a:lvl3pPr>
            <a:lvl4pPr algn="l">
              <a:defRPr sz="2325" b="0">
                <a:solidFill>
                  <a:srgbClr val="315C8C"/>
                </a:solidFill>
                <a:latin typeface="Arial"/>
                <a:ea typeface="Arial"/>
                <a:cs typeface="Arial"/>
              </a:defRPr>
            </a:lvl4pPr>
            <a:lvl5pPr algn="l">
              <a:defRPr sz="2325" b="0">
                <a:solidFill>
                  <a:srgbClr val="315C8C"/>
                </a:solidFill>
                <a:latin typeface="Arial"/>
                <a:ea typeface="Arial"/>
                <a:cs typeface="Arial"/>
              </a:defRPr>
            </a:lvl5pPr>
            <a:lvl6pPr algn="l">
              <a:defRPr sz="2325" b="0">
                <a:solidFill>
                  <a:srgbClr val="315C8C"/>
                </a:solidFill>
                <a:latin typeface="Arial"/>
                <a:ea typeface="Arial"/>
                <a:cs typeface="Arial"/>
              </a:defRPr>
            </a:lvl6pPr>
            <a:lvl7pPr algn="l">
              <a:defRPr sz="2325" b="0">
                <a:solidFill>
                  <a:srgbClr val="315C8C"/>
                </a:solidFill>
                <a:latin typeface="Arial"/>
                <a:ea typeface="Arial"/>
                <a:cs typeface="Arial"/>
              </a:defRPr>
            </a:lvl7pPr>
            <a:lvl8pPr algn="l">
              <a:defRPr sz="2325" b="0">
                <a:solidFill>
                  <a:srgbClr val="315C8C"/>
                </a:solidFill>
                <a:latin typeface="Arial"/>
                <a:ea typeface="Arial"/>
                <a:cs typeface="Arial"/>
              </a:defRPr>
            </a:lvl8pPr>
            <a:lvl9pPr algn="l">
              <a:defRPr sz="2325" b="0">
                <a:solidFill>
                  <a:srgbClr val="315C8C"/>
                </a:solidFill>
                <a:latin typeface="Arial"/>
                <a:ea typeface="Arial"/>
                <a:cs typeface="Arial"/>
              </a:defRPr>
            </a:lvl9pPr>
          </a:lstStyle>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44,761 training wallets</a:t>
            </a:r>
          </a:p>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11,191 test wallets</a:t>
            </a:r>
          </a:p>
        </p:txBody>
      </p:sp>
      <p:sp>
        <p:nvSpPr>
          <p:cNvPr id="4" name="validation-heading">
            <a:extLst xmlns:a="http://schemas.openxmlformats.org/drawingml/2006/main">
              <a:ext uri="{FF2B5EF4-FFF2-40B4-BE49-F238E27FC236}">
                <a16:creationId xmlns:a16="http://schemas.microsoft.com/office/drawing/2014/main" id="{B7074653-FA1E-4097-8C59-D3010BCCDE15}"/>
              </a:ext>
            </a:extLst>
          </p:cNvPr>
          <p:cNvSpPr>
            <a:spLocks xmlns:a="http://schemas.openxmlformats.org/drawingml/2006/main" noGrp="1"/>
          </p:cNvSpPr>
          <p:nvPr/>
        </p:nvSpPr>
        <p:spPr>
          <a:xfrm xmlns:a="http://schemas.openxmlformats.org/drawingml/2006/main">
            <a:off x="609600" y="3143250"/>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63449"/>
                </a:solidFill>
                <a:latin typeface="Arial"/>
                <a:ea typeface="Arial"/>
                <a:cs typeface="Arial"/>
              </a:defRPr>
            </a:defPPr>
            <a:lvl1pPr algn="l">
              <a:defRPr sz="2025" b="1">
                <a:solidFill>
                  <a:srgbClr val="263449"/>
                </a:solidFill>
                <a:latin typeface="Arial"/>
                <a:ea typeface="Arial"/>
                <a:cs typeface="Arial"/>
              </a:defRPr>
            </a:lvl1pPr>
            <a:lvl2pPr algn="l">
              <a:defRPr sz="2025" b="1">
                <a:solidFill>
                  <a:srgbClr val="263449"/>
                </a:solidFill>
                <a:latin typeface="Arial"/>
                <a:ea typeface="Arial"/>
                <a:cs typeface="Arial"/>
              </a:defRPr>
            </a:lvl2pPr>
            <a:lvl3pPr algn="l">
              <a:defRPr sz="2025" b="1">
                <a:solidFill>
                  <a:srgbClr val="263449"/>
                </a:solidFill>
                <a:latin typeface="Arial"/>
                <a:ea typeface="Arial"/>
                <a:cs typeface="Arial"/>
              </a:defRPr>
            </a:lvl3pPr>
            <a:lvl4pPr algn="l">
              <a:defRPr sz="2025" b="1">
                <a:solidFill>
                  <a:srgbClr val="263449"/>
                </a:solidFill>
                <a:latin typeface="Arial"/>
                <a:ea typeface="Arial"/>
                <a:cs typeface="Arial"/>
              </a:defRPr>
            </a:lvl4pPr>
            <a:lvl5pPr algn="l">
              <a:defRPr sz="2025" b="1">
                <a:solidFill>
                  <a:srgbClr val="263449"/>
                </a:solidFill>
                <a:latin typeface="Arial"/>
                <a:ea typeface="Arial"/>
                <a:cs typeface="Arial"/>
              </a:defRPr>
            </a:lvl5pPr>
            <a:lvl6pPr algn="l">
              <a:defRPr sz="2025" b="1">
                <a:solidFill>
                  <a:srgbClr val="263449"/>
                </a:solidFill>
                <a:latin typeface="Arial"/>
                <a:ea typeface="Arial"/>
                <a:cs typeface="Arial"/>
              </a:defRPr>
            </a:lvl6pPr>
            <a:lvl7pPr algn="l">
              <a:defRPr sz="2025" b="1">
                <a:solidFill>
                  <a:srgbClr val="263449"/>
                </a:solidFill>
                <a:latin typeface="Arial"/>
                <a:ea typeface="Arial"/>
                <a:cs typeface="Arial"/>
              </a:defRPr>
            </a:lvl7pPr>
            <a:lvl8pPr algn="l">
              <a:defRPr sz="2025" b="1">
                <a:solidFill>
                  <a:srgbClr val="263449"/>
                </a:solidFill>
                <a:latin typeface="Arial"/>
                <a:ea typeface="Arial"/>
                <a:cs typeface="Arial"/>
              </a:defRPr>
            </a:lvl8pPr>
            <a:lvl9pPr algn="l">
              <a:defRPr sz="2025" b="1">
                <a:solidFill>
                  <a:srgbClr val="263449"/>
                </a:solidFill>
                <a:latin typeface="Arial"/>
                <a:ea typeface="Arial"/>
                <a:cs typeface="Arial"/>
              </a:defRPr>
            </a:lvl9pPr>
          </a:lstStyle>
          <a:p xmlns:a="http://schemas.openxmlformats.org/drawingml/2006/main">
            <a:pPr algn="l">
              <a:defRPr sz="2025" b="1">
                <a:solidFill>
                  <a:srgbClr val="263449"/>
                </a:solidFill>
                <a:latin typeface="Arial"/>
                <a:ea typeface="Arial"/>
                <a:cs typeface="Arial"/>
              </a:defRPr>
            </a:pPr>
            <a:r>
              <a:rPr sz="2025" b="1">
                <a:solidFill>
                  <a:srgbClr val="263449"/>
                </a:solidFill>
                <a:latin typeface="Arial"/>
                <a:ea typeface="Arial"/>
                <a:cs typeface="Arial"/>
              </a:rPr>
              <a:t>Model selection within training</a:t>
            </a:r>
          </a:p>
        </p:txBody>
      </p:sp>
      <p:sp>
        <p:nvSpPr>
          <p:cNvPr id="5" name="validation-text">
            <a:extLst xmlns:a="http://schemas.openxmlformats.org/drawingml/2006/main">
              <a:ext uri="{FF2B5EF4-FFF2-40B4-BE49-F238E27FC236}">
                <a16:creationId xmlns:a16="http://schemas.microsoft.com/office/drawing/2014/main" id="{A90C321C-37EF-49A8-A37F-311141452AA0}"/>
              </a:ext>
            </a:extLst>
          </p:cNvPr>
          <p:cNvSpPr>
            <a:spLocks xmlns:a="http://schemas.openxmlformats.org/drawingml/2006/main" noGrp="1"/>
          </p:cNvSpPr>
          <p:nvPr/>
        </p:nvSpPr>
        <p:spPr>
          <a:xfrm xmlns:a="http://schemas.openxmlformats.org/drawingml/2006/main">
            <a:off x="609600" y="3619500"/>
            <a:ext cx="4953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Five-fold validation selects one of six boosting configurations.</a:t>
            </a:r>
          </a:p>
        </p:txBody>
      </p:sp>
      <p:sp>
        <p:nvSpPr>
          <p:cNvPr id="6" name="transformation-text">
            <a:extLst xmlns:a="http://schemas.openxmlformats.org/drawingml/2006/main">
              <a:ext uri="{FF2B5EF4-FFF2-40B4-BE49-F238E27FC236}">
                <a16:creationId xmlns:a16="http://schemas.microsoft.com/office/drawing/2014/main" id="{FC503AA0-73F7-4614-8330-7CABC4A51DFC}"/>
              </a:ext>
            </a:extLst>
          </p:cNvPr>
          <p:cNvSpPr>
            <a:spLocks xmlns:a="http://schemas.openxmlformats.org/drawingml/2006/main" noGrp="1"/>
          </p:cNvSpPr>
          <p:nvPr/>
        </p:nvSpPr>
        <p:spPr>
          <a:xfrm xmlns:a="http://schemas.openxmlformats.org/drawingml/2006/main">
            <a:off x="609600" y="4695825"/>
            <a:ext cx="5095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Log-transform five skewed predictors.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Standardize inputs for linear regression.</a:t>
            </a:r>
          </a:p>
        </p:txBody>
      </p:sp>
      <p:graphicFrame>
        <p:nvGraphicFramePr>
          <p:cNvPr id="7" name="">
            <a:extLst xmlns:a="http://schemas.openxmlformats.org/drawingml/2006/main">
              <a:ext uri="{FF2B5EF4-FFF2-40B4-BE49-F238E27FC236}">
                <a16:creationId xmlns:a16="http://schemas.microsoft.com/office/drawing/2014/main" id="{6A3ABAA4-99F1-4A27-AA26-98BB247B947B}"/>
              </a:ext>
            </a:extLst>
          </p:cNvPr>
          <p:cNvGraphicFramePr/>
          <p:nvPr/>
        </p:nvGraphicFramePr>
        <p:xfrm>
          <a:off xmlns:a="http://schemas.openxmlformats.org/drawingml/2006/main" x="6219825" y="1438275"/>
          <a:ext xmlns:a="http://schemas.openxmlformats.org/drawingml/2006/main" cx="5362575" cy="3114675"/>
        </p:xfrm>
        <a:graphic xmlns:a="http://schemas.openxmlformats.org/drawingml/2006/main">
          <a:graphicData uri="http://schemas.openxmlformats.org/drawingml/2006/table">
            <a:tbl>
              <a:tblPr/>
              <a:tblGrid>
                <a:gridCol w="2124075"/>
                <a:gridCol w="3238500"/>
              </a:tblGrid>
              <a:tr h="485775">
                <a:tc>
                  <a:txBody>
                    <a:bodyPr lIns="123825" tIns="85725" rIns="114300" bIns="85725"/>
                    <a:lstStyle/>
                    <a:p>
                      <a:r>
                        <a:rPr sz="1725" b="1">
                          <a:solidFill>
                            <a:srgbClr val="FFFFFF"/>
                          </a:solidFill>
                          <a:latin typeface="Arial"/>
                          <a:ea typeface="Arial"/>
                          <a:cs typeface="Arial"/>
                        </a:rPr>
                        <a:t>Comparison</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23825" tIns="85725" rIns="114300" bIns="85725"/>
                    <a:lstStyle/>
                    <a:p>
                      <a:r>
                        <a:rPr sz="1725" b="1">
                          <a:solidFill>
                            <a:srgbClr val="FFFFFF"/>
                          </a:solidFill>
                          <a:latin typeface="Arial"/>
                          <a:ea typeface="Arial"/>
                          <a:cs typeface="Arial"/>
                        </a:rPr>
                        <a:t>Prediction rule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76300">
                <a:tc>
                  <a:txBody>
                    <a:bodyPr lIns="123825" tIns="85725" rIns="114300" bIns="85725"/>
                    <a:lstStyle/>
                    <a:p>
                      <a:r>
                        <a:rPr sz="1725" b="0">
                          <a:solidFill>
                            <a:srgbClr val="263449"/>
                          </a:solidFill>
                          <a:latin typeface="Arial"/>
                          <a:ea typeface="Arial"/>
                          <a:cs typeface="Arial"/>
                        </a:rPr>
                        <a:t>Mean baseline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Training mean for every wallet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Linear regression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Additive associations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Nonlinear patterns and interactions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8" name="predictor-list">
            <a:extLst xmlns:a="http://schemas.openxmlformats.org/drawingml/2006/main">
              <a:ext uri="{FF2B5EF4-FFF2-40B4-BE49-F238E27FC236}">
                <a16:creationId xmlns:a16="http://schemas.microsoft.com/office/drawing/2014/main" id="{79D253A5-6C46-4A2A-B6C1-E1CDE54323CB}"/>
              </a:ext>
            </a:extLst>
          </p:cNvPr>
          <p:cNvSpPr>
            <a:spLocks xmlns:a="http://schemas.openxmlformats.org/drawingml/2006/main" noGrp="1"/>
          </p:cNvSpPr>
          <p:nvPr/>
        </p:nvSpPr>
        <p:spPr>
          <a:xfrm xmlns:a="http://schemas.openxmlformats.org/drawingml/2006/main">
            <a:off x="6219825" y="4810125"/>
            <a:ext cx="53625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Inputs: trade count, markets traded, observed span, concentration, spending, largest purchase.</a:t>
            </a:r>
          </a:p>
        </p:txBody>
      </p:sp>
      <p:sp>
        <p:nvSpPr>
          <p:cNvPr id="9" name="evaluation-rule">
            <a:extLst xmlns:a="http://schemas.openxmlformats.org/drawingml/2006/main">
              <a:ext uri="{FF2B5EF4-FFF2-40B4-BE49-F238E27FC236}">
                <a16:creationId xmlns:a16="http://schemas.microsoft.com/office/drawing/2014/main" id="{54568A6C-56ED-495D-9FFA-A33E835AC0A2}"/>
              </a:ext>
            </a:extLst>
          </p:cNvPr>
          <p:cNvSpPr>
            <a:spLocks xmlns:a="http://schemas.openxmlformats.org/drawingml/2006/main" noGrp="1"/>
          </p:cNvSpPr>
          <p:nvPr/>
        </p:nvSpPr>
        <p:spPr>
          <a:xfrm xmlns:a="http://schemas.openxmlformats.org/drawingml/2006/main">
            <a:off x="609600" y="61055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Same test wallets for every model. Primary metric: MAE. Secondary checks: RMSE and R².</a:t>
            </a:r>
          </a:p>
        </p:txBody>
      </p:sp>
    </p:spTree>
    <p:extLst>
      <p:ext uri="{BB962C8B-B14F-4D97-AF65-F5344CB8AC3E}">
        <p14:creationId xmlns:p14="http://schemas.microsoft.com/office/powerpoint/2010/main" val="17443254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1D7240C8-C1AC-463D-B5C8-E6F3B2ED226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Results</a:t>
            </a:r>
          </a:p>
        </p:txBody>
      </p:sp>
      <p:graphicFrame>
        <p:nvGraphicFramePr>
          <p:cNvPr id="2" name="Chart">
            <a:extLst xmlns:a="http://schemas.openxmlformats.org/drawingml/2006/main">
              <a:ext uri="{FF2B5EF4-FFF2-40B4-BE49-F238E27FC236}">
                <a16:creationId xmlns:a16="http://schemas.microsoft.com/office/drawing/2014/main" id="{A5A03845-069B-4204-B177-32E49E933C9F}"/>
              </a:ext>
            </a:extLst>
          </p:cNvPr>
          <p:cNvGraphicFramePr/>
          <p:nvPr/>
        </p:nvGraphicFramePr>
        <p:xfrm>
          <a:off xmlns:a="http://schemas.openxmlformats.org/drawingml/2006/main" x="609600" y="1304925"/>
          <a:ext xmlns:a="http://schemas.openxmlformats.org/drawingml/2006/main" cx="7372350" cy="3762375"/>
        </p:xfrm>
        <a:graphic xmlns:a="http://schemas.openxmlformats.org/drawingml/2006/main">
          <a:graphicData uri="http://schemas.openxmlformats.org/drawingml/2006/chart">
            <c:chart xmlns:r="http://schemas.openxmlformats.org/officeDocument/2006/relationships" xmlns:c="http://schemas.openxmlformats.org/drawingml/2006/chart" r:id="Ref374d6475f445b9"/>
          </a:graphicData>
        </a:graphic>
      </p:graphicFrame>
      <p:sp>
        <p:nvSpPr>
          <p:cNvPr id="3" name="relative-improvement">
            <a:extLst xmlns:a="http://schemas.openxmlformats.org/drawingml/2006/main">
              <a:ext uri="{FF2B5EF4-FFF2-40B4-BE49-F238E27FC236}">
                <a16:creationId xmlns:a16="http://schemas.microsoft.com/office/drawing/2014/main" id="{12BBB6DE-63D0-424F-A47E-A3D3033917EC}"/>
              </a:ext>
            </a:extLst>
          </p:cNvPr>
          <p:cNvSpPr>
            <a:spLocks xmlns:a="http://schemas.openxmlformats.org/drawingml/2006/main" noGrp="1"/>
          </p:cNvSpPr>
          <p:nvPr/>
        </p:nvSpPr>
        <p:spPr>
          <a:xfrm xmlns:a="http://schemas.openxmlformats.org/drawingml/2006/main">
            <a:off x="8429625" y="149542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DF7137"/>
                </a:solidFill>
                <a:latin typeface="Arial"/>
                <a:ea typeface="Arial"/>
                <a:cs typeface="Arial"/>
              </a:defRPr>
            </a:defPPr>
            <a:lvl1pPr algn="l">
              <a:defRPr sz="5550" b="1">
                <a:solidFill>
                  <a:srgbClr val="DF7137"/>
                </a:solidFill>
                <a:latin typeface="Arial"/>
                <a:ea typeface="Arial"/>
                <a:cs typeface="Arial"/>
              </a:defRPr>
            </a:lvl1pPr>
            <a:lvl2pPr algn="l">
              <a:defRPr sz="5550" b="1">
                <a:solidFill>
                  <a:srgbClr val="DF7137"/>
                </a:solidFill>
                <a:latin typeface="Arial"/>
                <a:ea typeface="Arial"/>
                <a:cs typeface="Arial"/>
              </a:defRPr>
            </a:lvl2pPr>
            <a:lvl3pPr algn="l">
              <a:defRPr sz="5550" b="1">
                <a:solidFill>
                  <a:srgbClr val="DF7137"/>
                </a:solidFill>
                <a:latin typeface="Arial"/>
                <a:ea typeface="Arial"/>
                <a:cs typeface="Arial"/>
              </a:defRPr>
            </a:lvl3pPr>
            <a:lvl4pPr algn="l">
              <a:defRPr sz="5550" b="1">
                <a:solidFill>
                  <a:srgbClr val="DF7137"/>
                </a:solidFill>
                <a:latin typeface="Arial"/>
                <a:ea typeface="Arial"/>
                <a:cs typeface="Arial"/>
              </a:defRPr>
            </a:lvl4pPr>
            <a:lvl5pPr algn="l">
              <a:defRPr sz="5550" b="1">
                <a:solidFill>
                  <a:srgbClr val="DF7137"/>
                </a:solidFill>
                <a:latin typeface="Arial"/>
                <a:ea typeface="Arial"/>
                <a:cs typeface="Arial"/>
              </a:defRPr>
            </a:lvl5pPr>
            <a:lvl6pPr algn="l">
              <a:defRPr sz="5550" b="1">
                <a:solidFill>
                  <a:srgbClr val="DF7137"/>
                </a:solidFill>
                <a:latin typeface="Arial"/>
                <a:ea typeface="Arial"/>
                <a:cs typeface="Arial"/>
              </a:defRPr>
            </a:lvl6pPr>
            <a:lvl7pPr algn="l">
              <a:defRPr sz="5550" b="1">
                <a:solidFill>
                  <a:srgbClr val="DF7137"/>
                </a:solidFill>
                <a:latin typeface="Arial"/>
                <a:ea typeface="Arial"/>
                <a:cs typeface="Arial"/>
              </a:defRPr>
            </a:lvl7pPr>
            <a:lvl8pPr algn="l">
              <a:defRPr sz="5550" b="1">
                <a:solidFill>
                  <a:srgbClr val="DF7137"/>
                </a:solidFill>
                <a:latin typeface="Arial"/>
                <a:ea typeface="Arial"/>
                <a:cs typeface="Arial"/>
              </a:defRPr>
            </a:lvl8pPr>
            <a:lvl9pPr algn="l">
              <a:defRPr sz="5550" b="1">
                <a:solidFill>
                  <a:srgbClr val="DF7137"/>
                </a:solidFill>
                <a:latin typeface="Arial"/>
                <a:ea typeface="Arial"/>
                <a:cs typeface="Arial"/>
              </a:defRPr>
            </a:lvl9pPr>
          </a:lstStyle>
          <a:p xmlns:a="http://schemas.openxmlformats.org/drawingml/2006/main">
            <a:pPr algn="l">
              <a:defRPr sz="5550" b="1">
                <a:solidFill>
                  <a:srgbClr val="DF7137"/>
                </a:solidFill>
                <a:latin typeface="Arial"/>
                <a:ea typeface="Arial"/>
                <a:cs typeface="Arial"/>
              </a:defRPr>
            </a:pPr>
            <a:r>
              <a:rPr sz="5550" b="1">
                <a:solidFill>
                  <a:srgbClr val="DF7137"/>
                </a:solidFill>
                <a:latin typeface="Arial"/>
                <a:ea typeface="Arial"/>
                <a:cs typeface="Arial"/>
              </a:rPr>
              <a:t>15.4%</a:t>
            </a:r>
          </a:p>
        </p:txBody>
      </p:sp>
      <p:sp>
        <p:nvSpPr>
          <p:cNvPr id="4" name="relative-improvement-label">
            <a:extLst xmlns:a="http://schemas.openxmlformats.org/drawingml/2006/main">
              <a:ext uri="{FF2B5EF4-FFF2-40B4-BE49-F238E27FC236}">
                <a16:creationId xmlns:a16="http://schemas.microsoft.com/office/drawing/2014/main" id="{1F0CBCBE-BFB9-43A7-94F9-9658E7137C68}"/>
              </a:ext>
            </a:extLst>
          </p:cNvPr>
          <p:cNvSpPr>
            <a:spLocks xmlns:a="http://schemas.openxmlformats.org/drawingml/2006/main" noGrp="1"/>
          </p:cNvSpPr>
          <p:nvPr/>
        </p:nvSpPr>
        <p:spPr>
          <a:xfrm xmlns:a="http://schemas.openxmlformats.org/drawingml/2006/main">
            <a:off x="8429625" y="2533650"/>
            <a:ext cx="314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lower MAE than</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linear regression</a:t>
            </a:r>
          </a:p>
        </p:txBody>
      </p:sp>
      <p:sp>
        <p:nvSpPr>
          <p:cNvPr id="5" name="r-squared">
            <a:extLst xmlns:a="http://schemas.openxmlformats.org/drawingml/2006/main">
              <a:ext uri="{FF2B5EF4-FFF2-40B4-BE49-F238E27FC236}">
                <a16:creationId xmlns:a16="http://schemas.microsoft.com/office/drawing/2014/main" id="{B975CDBC-83F1-44AC-A643-0A05B8103DFF}"/>
              </a:ext>
            </a:extLst>
          </p:cNvPr>
          <p:cNvSpPr>
            <a:spLocks xmlns:a="http://schemas.openxmlformats.org/drawingml/2006/main" noGrp="1"/>
          </p:cNvSpPr>
          <p:nvPr/>
        </p:nvSpPr>
        <p:spPr>
          <a:xfrm xmlns:a="http://schemas.openxmlformats.org/drawingml/2006/main">
            <a:off x="8429625" y="3819525"/>
            <a:ext cx="314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315C8C"/>
                </a:solidFill>
                <a:latin typeface="Arial"/>
                <a:ea typeface="Arial"/>
                <a:cs typeface="Arial"/>
              </a:defRPr>
            </a:defPPr>
            <a:lvl1pPr algn="l">
              <a:defRPr sz="2775" b="1">
                <a:solidFill>
                  <a:srgbClr val="315C8C"/>
                </a:solidFill>
                <a:latin typeface="Arial"/>
                <a:ea typeface="Arial"/>
                <a:cs typeface="Arial"/>
              </a:defRPr>
            </a:lvl1pPr>
            <a:lvl2pPr algn="l">
              <a:defRPr sz="2775" b="1">
                <a:solidFill>
                  <a:srgbClr val="315C8C"/>
                </a:solidFill>
                <a:latin typeface="Arial"/>
                <a:ea typeface="Arial"/>
                <a:cs typeface="Arial"/>
              </a:defRPr>
            </a:lvl2pPr>
            <a:lvl3pPr algn="l">
              <a:defRPr sz="2775" b="1">
                <a:solidFill>
                  <a:srgbClr val="315C8C"/>
                </a:solidFill>
                <a:latin typeface="Arial"/>
                <a:ea typeface="Arial"/>
                <a:cs typeface="Arial"/>
              </a:defRPr>
            </a:lvl3pPr>
            <a:lvl4pPr algn="l">
              <a:defRPr sz="2775" b="1">
                <a:solidFill>
                  <a:srgbClr val="315C8C"/>
                </a:solidFill>
                <a:latin typeface="Arial"/>
                <a:ea typeface="Arial"/>
                <a:cs typeface="Arial"/>
              </a:defRPr>
            </a:lvl4pPr>
            <a:lvl5pPr algn="l">
              <a:defRPr sz="2775" b="1">
                <a:solidFill>
                  <a:srgbClr val="315C8C"/>
                </a:solidFill>
                <a:latin typeface="Arial"/>
                <a:ea typeface="Arial"/>
                <a:cs typeface="Arial"/>
              </a:defRPr>
            </a:lvl5pPr>
            <a:lvl6pPr algn="l">
              <a:defRPr sz="2775" b="1">
                <a:solidFill>
                  <a:srgbClr val="315C8C"/>
                </a:solidFill>
                <a:latin typeface="Arial"/>
                <a:ea typeface="Arial"/>
                <a:cs typeface="Arial"/>
              </a:defRPr>
            </a:lvl6pPr>
            <a:lvl7pPr algn="l">
              <a:defRPr sz="2775" b="1">
                <a:solidFill>
                  <a:srgbClr val="315C8C"/>
                </a:solidFill>
                <a:latin typeface="Arial"/>
                <a:ea typeface="Arial"/>
                <a:cs typeface="Arial"/>
              </a:defRPr>
            </a:lvl7pPr>
            <a:lvl8pPr algn="l">
              <a:defRPr sz="2775" b="1">
                <a:solidFill>
                  <a:srgbClr val="315C8C"/>
                </a:solidFill>
                <a:latin typeface="Arial"/>
                <a:ea typeface="Arial"/>
                <a:cs typeface="Arial"/>
              </a:defRPr>
            </a:lvl8pPr>
            <a:lvl9pPr algn="l">
              <a:defRPr sz="2775" b="1">
                <a:solidFill>
                  <a:srgbClr val="315C8C"/>
                </a:solidFill>
                <a:latin typeface="Arial"/>
                <a:ea typeface="Arial"/>
                <a:cs typeface="Arial"/>
              </a:defRPr>
            </a:lvl9pPr>
          </a:lstStyle>
          <a:p xmlns:a="http://schemas.openxmlformats.org/drawingml/2006/main">
            <a:pPr algn="l">
              <a:defRPr sz="2775" b="1">
                <a:solidFill>
                  <a:srgbClr val="315C8C"/>
                </a:solidFill>
                <a:latin typeface="Arial"/>
                <a:ea typeface="Arial"/>
                <a:cs typeface="Arial"/>
              </a:defRPr>
            </a:pPr>
            <a:r>
              <a:rPr sz="2775" b="1">
                <a:solidFill>
                  <a:srgbClr val="315C8C"/>
                </a:solidFill>
                <a:latin typeface="Arial"/>
                <a:ea typeface="Arial"/>
                <a:cs typeface="Arial"/>
              </a:rPr>
              <a:t>R² 0.368</a:t>
            </a:r>
          </a:p>
        </p:txBody>
      </p:sp>
      <p:sp>
        <p:nvSpPr>
          <p:cNvPr id="6" name="r-squared-reference">
            <a:extLst xmlns:a="http://schemas.openxmlformats.org/drawingml/2006/main">
              <a:ext uri="{FF2B5EF4-FFF2-40B4-BE49-F238E27FC236}">
                <a16:creationId xmlns:a16="http://schemas.microsoft.com/office/drawing/2014/main" id="{672E76EA-789A-4EA2-976B-6D96C61EF822}"/>
              </a:ext>
            </a:extLst>
          </p:cNvPr>
          <p:cNvSpPr>
            <a:spLocks xmlns:a="http://schemas.openxmlformats.org/drawingml/2006/main" noGrp="1"/>
          </p:cNvSpPr>
          <p:nvPr/>
        </p:nvSpPr>
        <p:spPr>
          <a:xfrm xmlns:a="http://schemas.openxmlformats.org/drawingml/2006/main">
            <a:off x="8429625" y="438150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vs 0.197 for linear regression</a:t>
            </a:r>
          </a:p>
        </p:txBody>
      </p:sp>
      <p:sp>
        <p:nvSpPr>
          <p:cNvPr id="7" name="paired-interval">
            <a:extLst xmlns:a="http://schemas.openxmlformats.org/drawingml/2006/main">
              <a:ext uri="{FF2B5EF4-FFF2-40B4-BE49-F238E27FC236}">
                <a16:creationId xmlns:a16="http://schemas.microsoft.com/office/drawing/2014/main" id="{B237F38F-EBE7-4F91-B3B7-832433557688}"/>
              </a:ext>
            </a:extLst>
          </p:cNvPr>
          <p:cNvSpPr>
            <a:spLocks xmlns:a="http://schemas.openxmlformats.org/drawingml/2006/main" noGrp="1"/>
          </p:cNvSpPr>
          <p:nvPr/>
        </p:nvSpPr>
        <p:spPr>
          <a:xfrm xmlns:a="http://schemas.openxmlformats.org/drawingml/2006/main">
            <a:off x="609600" y="541972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Absolute MAE reduction: 3.04 cents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paired bootstrap interval: 2.86 to 3.23 cents</a:t>
            </a:r>
          </a:p>
        </p:txBody>
      </p:sp>
      <p:sp>
        <p:nvSpPr>
          <p:cNvPr id="8" name="test-evaluation-footnote">
            <a:extLst xmlns:a="http://schemas.openxmlformats.org/drawingml/2006/main">
              <a:ext uri="{FF2B5EF4-FFF2-40B4-BE49-F238E27FC236}">
                <a16:creationId xmlns:a16="http://schemas.microsoft.com/office/drawing/2014/main" id="{50F518D3-AD76-4F38-91BF-1B08E98D41A0}"/>
              </a:ext>
            </a:extLst>
          </p:cNvPr>
          <p:cNvSpPr>
            <a:spLocks xmlns:a="http://schemas.openxmlformats.org/drawingml/2006/main" noGrp="1"/>
          </p:cNvSpPr>
          <p:nvPr/>
        </p:nvSpPr>
        <p:spPr>
          <a:xfrm xmlns:a="http://schemas.openxmlformats.org/drawingml/2006/main">
            <a:off x="609600" y="63436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27085"/>
                </a:solidFill>
                <a:latin typeface="Arial"/>
                <a:ea typeface="Arial"/>
                <a:cs typeface="Arial"/>
              </a:defRPr>
            </a:defPPr>
            <a:lvl1pPr algn="l">
              <a:defRPr sz="1350" b="0">
                <a:solidFill>
                  <a:srgbClr val="627085"/>
                </a:solidFill>
                <a:latin typeface="Arial"/>
                <a:ea typeface="Arial"/>
                <a:cs typeface="Arial"/>
              </a:defRPr>
            </a:lvl1pPr>
            <a:lvl2pPr algn="l">
              <a:defRPr sz="1350" b="0">
                <a:solidFill>
                  <a:srgbClr val="627085"/>
                </a:solidFill>
                <a:latin typeface="Arial"/>
                <a:ea typeface="Arial"/>
                <a:cs typeface="Arial"/>
              </a:defRPr>
            </a:lvl2pPr>
            <a:lvl3pPr algn="l">
              <a:defRPr sz="1350" b="0">
                <a:solidFill>
                  <a:srgbClr val="627085"/>
                </a:solidFill>
                <a:latin typeface="Arial"/>
                <a:ea typeface="Arial"/>
                <a:cs typeface="Arial"/>
              </a:defRPr>
            </a:lvl3pPr>
            <a:lvl4pPr algn="l">
              <a:defRPr sz="1350" b="0">
                <a:solidFill>
                  <a:srgbClr val="627085"/>
                </a:solidFill>
                <a:latin typeface="Arial"/>
                <a:ea typeface="Arial"/>
                <a:cs typeface="Arial"/>
              </a:defRPr>
            </a:lvl4pPr>
            <a:lvl5pPr algn="l">
              <a:defRPr sz="1350" b="0">
                <a:solidFill>
                  <a:srgbClr val="627085"/>
                </a:solidFill>
                <a:latin typeface="Arial"/>
                <a:ea typeface="Arial"/>
                <a:cs typeface="Arial"/>
              </a:defRPr>
            </a:lvl5pPr>
            <a:lvl6pPr algn="l">
              <a:defRPr sz="1350" b="0">
                <a:solidFill>
                  <a:srgbClr val="627085"/>
                </a:solidFill>
                <a:latin typeface="Arial"/>
                <a:ea typeface="Arial"/>
                <a:cs typeface="Arial"/>
              </a:defRPr>
            </a:lvl6pPr>
            <a:lvl7pPr algn="l">
              <a:defRPr sz="1350" b="0">
                <a:solidFill>
                  <a:srgbClr val="627085"/>
                </a:solidFill>
                <a:latin typeface="Arial"/>
                <a:ea typeface="Arial"/>
                <a:cs typeface="Arial"/>
              </a:defRPr>
            </a:lvl7pPr>
            <a:lvl8pPr algn="l">
              <a:defRPr sz="1350" b="0">
                <a:solidFill>
                  <a:srgbClr val="627085"/>
                </a:solidFill>
                <a:latin typeface="Arial"/>
                <a:ea typeface="Arial"/>
                <a:cs typeface="Arial"/>
              </a:defRPr>
            </a:lvl8pPr>
            <a:lvl9pPr algn="l">
              <a:defRPr sz="1350" b="0">
                <a:solidFill>
                  <a:srgbClr val="627085"/>
                </a:solidFill>
                <a:latin typeface="Arial"/>
                <a:ea typeface="Arial"/>
                <a:cs typeface="Arial"/>
              </a:defRPr>
            </a:lvl9pPr>
          </a:lstStyle>
          <a:p xmlns:a="http://schemas.openxmlformats.org/drawingml/2006/main">
            <a:pPr algn="l">
              <a:defRPr sz="1350" b="0">
                <a:solidFill>
                  <a:srgbClr val="627085"/>
                </a:solidFill>
                <a:latin typeface="Arial"/>
                <a:ea typeface="Arial"/>
                <a:cs typeface="Arial"/>
              </a:defRPr>
            </a:pPr>
            <a:r>
              <a:rPr sz="1350" b="0">
                <a:solidFill>
                  <a:srgbClr val="627085"/>
                </a:solidFill>
                <a:latin typeface="Arial"/>
                <a:ea typeface="Arial"/>
                <a:cs typeface="Arial"/>
              </a:rPr>
              <a:t>11,191 test wallets. Bootstrap intervals condition on the fitted models and assume wallet independence.</a:t>
            </a:r>
          </a:p>
        </p:txBody>
      </p:sp>
    </p:spTree>
    <p:extLst>
      <p:ext uri="{BB962C8B-B14F-4D97-AF65-F5344CB8AC3E}">
        <p14:creationId xmlns:p14="http://schemas.microsoft.com/office/powerpoint/2010/main" val="1240294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33722161-C0BB-44CF-8CDA-8F2EF938762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Interpretation</a:t>
            </a:r>
          </a:p>
        </p:txBody>
      </p:sp>
      <p:graphicFrame>
        <p:nvGraphicFramePr>
          <p:cNvPr id="2" name="Chart">
            <a:extLst xmlns:a="http://schemas.openxmlformats.org/drawingml/2006/main">
              <a:ext uri="{FF2B5EF4-FFF2-40B4-BE49-F238E27FC236}">
                <a16:creationId xmlns:a16="http://schemas.microsoft.com/office/drawing/2014/main" id="{AB827B3F-684F-403C-BD48-3831C3367B8A}"/>
              </a:ext>
            </a:extLst>
          </p:cNvPr>
          <p:cNvGraphicFramePr/>
          <p:nvPr/>
        </p:nvGraphicFramePr>
        <p:xfrm>
          <a:off xmlns:a="http://schemas.openxmlformats.org/drawingml/2006/main" x="533400" y="1381125"/>
          <a:ext xmlns:a="http://schemas.openxmlformats.org/drawingml/2006/main" cx="7124700" cy="4181475"/>
        </p:xfrm>
        <a:graphic xmlns:a="http://schemas.openxmlformats.org/drawingml/2006/main">
          <a:graphicData uri="http://schemas.openxmlformats.org/drawingml/2006/chart">
            <c:chart xmlns:r="http://schemas.openxmlformats.org/officeDocument/2006/relationships" xmlns:c="http://schemas.openxmlformats.org/drawingml/2006/chart" r:id="R36f325cbc1d44c2a"/>
          </a:graphicData>
        </a:graphic>
      </p:graphicFrame>
      <p:sp>
        <p:nvSpPr>
          <p:cNvPr id="3" name="reliance-takeaway">
            <a:extLst xmlns:a="http://schemas.openxmlformats.org/drawingml/2006/main">
              <a:ext uri="{FF2B5EF4-FFF2-40B4-BE49-F238E27FC236}">
                <a16:creationId xmlns:a16="http://schemas.microsoft.com/office/drawing/2014/main" id="{0B7383E1-2AB8-4521-B4D2-FC549CB0C6DD}"/>
              </a:ext>
            </a:extLst>
          </p:cNvPr>
          <p:cNvSpPr>
            <a:spLocks xmlns:a="http://schemas.openxmlformats.org/drawingml/2006/main" noGrp="1"/>
          </p:cNvSpPr>
          <p:nvPr/>
        </p:nvSpPr>
        <p:spPr>
          <a:xfrm xmlns:a="http://schemas.openxmlformats.org/drawingml/2006/main">
            <a:off x="8105775" y="1533525"/>
            <a:ext cx="342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Trade count has the strongest model reliance.</a:t>
            </a:r>
          </a:p>
        </p:txBody>
      </p:sp>
      <p:sp>
        <p:nvSpPr>
          <p:cNvPr id="4" name="ablation-takeaway">
            <a:extLst xmlns:a="http://schemas.openxmlformats.org/drawingml/2006/main">
              <a:ext uri="{FF2B5EF4-FFF2-40B4-BE49-F238E27FC236}">
                <a16:creationId xmlns:a16="http://schemas.microsoft.com/office/drawing/2014/main" id="{5BB4BB36-9BB2-45CF-A4A6-FD088C01E86D}"/>
              </a:ext>
            </a:extLst>
          </p:cNvPr>
          <p:cNvSpPr>
            <a:spLocks xmlns:a="http://schemas.openxmlformats.org/drawingml/2006/main" noGrp="1"/>
          </p:cNvSpPr>
          <p:nvPr/>
        </p:nvSpPr>
        <p:spPr>
          <a:xfrm xmlns:a="http://schemas.openxmlformats.org/drawingml/2006/main">
            <a:off x="8105775" y="3086100"/>
            <a:ext cx="3429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Removing spending and largest purchase raises MAE to 19.97 cents.</a:t>
            </a:r>
          </a:p>
        </p:txBody>
      </p:sp>
      <p:sp>
        <p:nvSpPr>
          <p:cNvPr id="5" name="scope-caution">
            <a:extLst xmlns:a="http://schemas.openxmlformats.org/drawingml/2006/main">
              <a:ext uri="{FF2B5EF4-FFF2-40B4-BE49-F238E27FC236}">
                <a16:creationId xmlns:a16="http://schemas.microsoft.com/office/drawing/2014/main" id="{8AA84B37-1E95-4B8C-952A-3B4F41C1AEE8}"/>
              </a:ext>
            </a:extLst>
          </p:cNvPr>
          <p:cNvSpPr>
            <a:spLocks xmlns:a="http://schemas.openxmlformats.org/drawingml/2006/main" noGrp="1"/>
          </p:cNvSpPr>
          <p:nvPr/>
        </p:nvSpPr>
        <p:spPr>
          <a:xfrm xmlns:a="http://schemas.openxmlformats.org/drawingml/2006/main">
            <a:off x="8105775" y="4676775"/>
            <a:ext cx="3429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Inputs and target come from the same trades.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Price differences can reflect market choice and timing.</a:t>
            </a:r>
          </a:p>
        </p:txBody>
      </p:sp>
      <p:sp>
        <p:nvSpPr>
          <p:cNvPr id="6" name="attribution-caution">
            <a:extLst xmlns:a="http://schemas.openxmlformats.org/drawingml/2006/main">
              <a:ext uri="{FF2B5EF4-FFF2-40B4-BE49-F238E27FC236}">
                <a16:creationId xmlns:a16="http://schemas.microsoft.com/office/drawing/2014/main" id="{4D18B851-587F-409A-B97B-04A75D4D06F6}"/>
              </a:ext>
            </a:extLst>
          </p:cNvPr>
          <p:cNvSpPr>
            <a:spLocks xmlns:a="http://schemas.openxmlformats.org/drawingml/2006/main" noGrp="1"/>
          </p:cNvSpPr>
          <p:nvPr/>
        </p:nvSpPr>
        <p:spPr>
          <a:xfrm xmlns:a="http://schemas.openxmlformats.org/drawingml/2006/main">
            <a:off x="609600" y="60674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Correlated inputs limit attribution. Importance gives no effect direction.</a:t>
            </a:r>
          </a:p>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These results do not establish profit, trading skill, or causal effects.</a:t>
            </a:r>
          </a:p>
        </p:txBody>
      </p:sp>
    </p:spTree>
    <p:extLst>
      <p:ext uri="{BB962C8B-B14F-4D97-AF65-F5344CB8AC3E}">
        <p14:creationId xmlns:p14="http://schemas.microsoft.com/office/powerpoint/2010/main" val="16842516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questions">
            <a:extLst xmlns:a="http://schemas.openxmlformats.org/drawingml/2006/main">
              <a:ext uri="{FF2B5EF4-FFF2-40B4-BE49-F238E27FC236}">
                <a16:creationId xmlns:a16="http://schemas.microsoft.com/office/drawing/2014/main" id="{04AA0EE7-EDCA-4266-B045-68BB2F15D1FD}"/>
              </a:ext>
            </a:extLst>
          </p:cNvPr>
          <p:cNvSpPr>
            <a:spLocks xmlns:a="http://schemas.openxmlformats.org/drawingml/2006/main" noGrp="1"/>
          </p:cNvSpPr>
          <p:nvPr/>
        </p:nvSpPr>
        <p:spPr>
          <a:xfrm xmlns:a="http://schemas.openxmlformats.org/drawingml/2006/main">
            <a:off x="609600" y="193357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Questions</a:t>
            </a:r>
          </a:p>
        </p:txBody>
      </p:sp>
      <p:sp>
        <p:nvSpPr>
          <p:cNvPr id="2" name="discussion">
            <a:extLst xmlns:a="http://schemas.openxmlformats.org/drawingml/2006/main">
              <a:ext uri="{FF2B5EF4-FFF2-40B4-BE49-F238E27FC236}">
                <a16:creationId xmlns:a16="http://schemas.microsoft.com/office/drawing/2014/main" id="{3EF21DD4-9B67-4E63-9969-7F52D9ABBDD1}"/>
              </a:ext>
            </a:extLst>
          </p:cNvPr>
          <p:cNvSpPr>
            <a:spLocks xmlns:a="http://schemas.openxmlformats.org/drawingml/2006/main" noGrp="1"/>
          </p:cNvSpPr>
          <p:nvPr/>
        </p:nvSpPr>
        <p:spPr>
          <a:xfrm xmlns:a="http://schemas.openxmlformats.org/drawingml/2006/main">
            <a:off x="609600" y="31623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315C8C"/>
                </a:solidFill>
                <a:latin typeface="Arial"/>
                <a:ea typeface="Arial"/>
                <a:cs typeface="Arial"/>
              </a:defRPr>
            </a:defPPr>
            <a:lvl1pPr algn="l">
              <a:defRPr sz="2475" b="0">
                <a:solidFill>
                  <a:srgbClr val="315C8C"/>
                </a:solidFill>
                <a:latin typeface="Arial"/>
                <a:ea typeface="Arial"/>
                <a:cs typeface="Arial"/>
              </a:defRPr>
            </a:lvl1pPr>
            <a:lvl2pPr algn="l">
              <a:defRPr sz="2475" b="0">
                <a:solidFill>
                  <a:srgbClr val="315C8C"/>
                </a:solidFill>
                <a:latin typeface="Arial"/>
                <a:ea typeface="Arial"/>
                <a:cs typeface="Arial"/>
              </a:defRPr>
            </a:lvl2pPr>
            <a:lvl3pPr algn="l">
              <a:defRPr sz="2475" b="0">
                <a:solidFill>
                  <a:srgbClr val="315C8C"/>
                </a:solidFill>
                <a:latin typeface="Arial"/>
                <a:ea typeface="Arial"/>
                <a:cs typeface="Arial"/>
              </a:defRPr>
            </a:lvl3pPr>
            <a:lvl4pPr algn="l">
              <a:defRPr sz="2475" b="0">
                <a:solidFill>
                  <a:srgbClr val="315C8C"/>
                </a:solidFill>
                <a:latin typeface="Arial"/>
                <a:ea typeface="Arial"/>
                <a:cs typeface="Arial"/>
              </a:defRPr>
            </a:lvl4pPr>
            <a:lvl5pPr algn="l">
              <a:defRPr sz="2475" b="0">
                <a:solidFill>
                  <a:srgbClr val="315C8C"/>
                </a:solidFill>
                <a:latin typeface="Arial"/>
                <a:ea typeface="Arial"/>
                <a:cs typeface="Arial"/>
              </a:defRPr>
            </a:lvl5pPr>
            <a:lvl6pPr algn="l">
              <a:defRPr sz="2475" b="0">
                <a:solidFill>
                  <a:srgbClr val="315C8C"/>
                </a:solidFill>
                <a:latin typeface="Arial"/>
                <a:ea typeface="Arial"/>
                <a:cs typeface="Arial"/>
              </a:defRPr>
            </a:lvl6pPr>
            <a:lvl7pPr algn="l">
              <a:defRPr sz="2475" b="0">
                <a:solidFill>
                  <a:srgbClr val="315C8C"/>
                </a:solidFill>
                <a:latin typeface="Arial"/>
                <a:ea typeface="Arial"/>
                <a:cs typeface="Arial"/>
              </a:defRPr>
            </a:lvl7pPr>
            <a:lvl8pPr algn="l">
              <a:defRPr sz="2475" b="0">
                <a:solidFill>
                  <a:srgbClr val="315C8C"/>
                </a:solidFill>
                <a:latin typeface="Arial"/>
                <a:ea typeface="Arial"/>
                <a:cs typeface="Arial"/>
              </a:defRPr>
            </a:lvl8pPr>
            <a:lvl9pPr algn="l">
              <a:defRPr sz="2475" b="0">
                <a:solidFill>
                  <a:srgbClr val="315C8C"/>
                </a:solidFill>
                <a:latin typeface="Arial"/>
                <a:ea typeface="Arial"/>
                <a:cs typeface="Arial"/>
              </a:defRPr>
            </a:lvl9pPr>
          </a:lstStyle>
          <a:p xmlns:a="http://schemas.openxmlformats.org/drawingml/2006/main">
            <a:pPr algn="l">
              <a:defRPr sz="2475" b="0">
                <a:solidFill>
                  <a:srgbClr val="315C8C"/>
                </a:solidFill>
                <a:latin typeface="Arial"/>
                <a:ea typeface="Arial"/>
                <a:cs typeface="Arial"/>
              </a:defRPr>
            </a:pPr>
            <a:r>
              <a:rPr sz="2475" b="0">
                <a:solidFill>
                  <a:srgbClr val="315C8C"/>
                </a:solidFill>
                <a:latin typeface="Arial"/>
                <a:ea typeface="Arial"/>
                <a:cs typeface="Arial"/>
              </a:rPr>
              <a:t>Market calibration and wallet behavior</a:t>
            </a:r>
          </a:p>
        </p:txBody>
      </p:sp>
      <p:sp>
        <p:nvSpPr>
          <p:cNvPr id="3" name="team">
            <a:extLst xmlns:a="http://schemas.openxmlformats.org/drawingml/2006/main">
              <a:ext uri="{FF2B5EF4-FFF2-40B4-BE49-F238E27FC236}">
                <a16:creationId xmlns:a16="http://schemas.microsoft.com/office/drawing/2014/main" id="{913BB848-6C18-473E-AE06-E7DDB9A23A99}"/>
              </a:ext>
            </a:extLst>
          </p:cNvPr>
          <p:cNvSpPr>
            <a:spLocks xmlns:a="http://schemas.openxmlformats.org/drawingml/2006/main" noGrp="1"/>
          </p:cNvSpPr>
          <p:nvPr/>
        </p:nvSpPr>
        <p:spPr>
          <a:xfrm xmlns:a="http://schemas.openxmlformats.org/drawingml/2006/main">
            <a:off x="609600" y="54578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27085"/>
                </a:solidFill>
                <a:latin typeface="Arial"/>
                <a:ea typeface="Arial"/>
                <a:cs typeface="Arial"/>
              </a:defRPr>
            </a:defPPr>
            <a:lvl1pPr algn="l">
              <a:defRPr sz="2025" b="0">
                <a:solidFill>
                  <a:srgbClr val="627085"/>
                </a:solidFill>
                <a:latin typeface="Arial"/>
                <a:ea typeface="Arial"/>
                <a:cs typeface="Arial"/>
              </a:defRPr>
            </a:lvl1pPr>
            <a:lvl2pPr algn="l">
              <a:defRPr sz="2025" b="0">
                <a:solidFill>
                  <a:srgbClr val="627085"/>
                </a:solidFill>
                <a:latin typeface="Arial"/>
                <a:ea typeface="Arial"/>
                <a:cs typeface="Arial"/>
              </a:defRPr>
            </a:lvl2pPr>
            <a:lvl3pPr algn="l">
              <a:defRPr sz="2025" b="0">
                <a:solidFill>
                  <a:srgbClr val="627085"/>
                </a:solidFill>
                <a:latin typeface="Arial"/>
                <a:ea typeface="Arial"/>
                <a:cs typeface="Arial"/>
              </a:defRPr>
            </a:lvl3pPr>
            <a:lvl4pPr algn="l">
              <a:defRPr sz="2025" b="0">
                <a:solidFill>
                  <a:srgbClr val="627085"/>
                </a:solidFill>
                <a:latin typeface="Arial"/>
                <a:ea typeface="Arial"/>
                <a:cs typeface="Arial"/>
              </a:defRPr>
            </a:lvl4pPr>
            <a:lvl5pPr algn="l">
              <a:defRPr sz="2025" b="0">
                <a:solidFill>
                  <a:srgbClr val="627085"/>
                </a:solidFill>
                <a:latin typeface="Arial"/>
                <a:ea typeface="Arial"/>
                <a:cs typeface="Arial"/>
              </a:defRPr>
            </a:lvl5pPr>
            <a:lvl6pPr algn="l">
              <a:defRPr sz="2025" b="0">
                <a:solidFill>
                  <a:srgbClr val="627085"/>
                </a:solidFill>
                <a:latin typeface="Arial"/>
                <a:ea typeface="Arial"/>
                <a:cs typeface="Arial"/>
              </a:defRPr>
            </a:lvl6pPr>
            <a:lvl7pPr algn="l">
              <a:defRPr sz="2025" b="0">
                <a:solidFill>
                  <a:srgbClr val="627085"/>
                </a:solidFill>
                <a:latin typeface="Arial"/>
                <a:ea typeface="Arial"/>
                <a:cs typeface="Arial"/>
              </a:defRPr>
            </a:lvl7pPr>
            <a:lvl8pPr algn="l">
              <a:defRPr sz="2025" b="0">
                <a:solidFill>
                  <a:srgbClr val="627085"/>
                </a:solidFill>
                <a:latin typeface="Arial"/>
                <a:ea typeface="Arial"/>
                <a:cs typeface="Arial"/>
              </a:defRPr>
            </a:lvl8pPr>
            <a:lvl9pPr algn="l">
              <a:defRPr sz="2025" b="0">
                <a:solidFill>
                  <a:srgbClr val="627085"/>
                </a:solidFill>
                <a:latin typeface="Arial"/>
                <a:ea typeface="Arial"/>
                <a:cs typeface="Arial"/>
              </a:defRPr>
            </a:lvl9pPr>
          </a:lstStyle>
          <a:p xmlns:a="http://schemas.openxmlformats.org/drawingml/2006/main">
            <a:pPr algn="l">
              <a:defRPr sz="2025" b="0">
                <a:solidFill>
                  <a:srgbClr val="627085"/>
                </a:solidFill>
                <a:latin typeface="Arial"/>
                <a:ea typeface="Arial"/>
                <a:cs typeface="Arial"/>
              </a:defRPr>
            </a:pPr>
            <a:r>
              <a:rPr sz="2025" b="0">
                <a:solidFill>
                  <a:srgbClr val="627085"/>
                </a:solidFill>
                <a:latin typeface="Arial"/>
                <a:ea typeface="Arial"/>
                <a:cs typeface="Arial"/>
              </a:rPr>
              <a:t>Leo Wong   /   Aaron Wen   /   Jiahong Chen</a:t>
            </a:r>
          </a:p>
        </p:txBody>
      </p:sp>
    </p:spTree>
    <p:extLst>
      <p:ext uri="{BB962C8B-B14F-4D97-AF65-F5344CB8AC3E}">
        <p14:creationId xmlns:p14="http://schemas.microsoft.com/office/powerpoint/2010/main" val="12745517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1EC75CE-BED5-4B3D-983B-840AA2B2C77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Additional market checks</a:t>
            </a:r>
          </a:p>
        </p:txBody>
      </p:sp>
      <p:graphicFrame>
        <p:nvGraphicFramePr>
          <p:cNvPr id="2" name="">
            <a:extLst xmlns:a="http://schemas.openxmlformats.org/drawingml/2006/main">
              <a:ext uri="{FF2B5EF4-FFF2-40B4-BE49-F238E27FC236}">
                <a16:creationId xmlns:a16="http://schemas.microsoft.com/office/drawing/2014/main" id="{C008543C-8427-4094-935B-82605D21C98C}"/>
              </a:ext>
            </a:extLst>
          </p:cNvPr>
          <p:cNvGraphicFramePr/>
          <p:nvPr/>
        </p:nvGraphicFramePr>
        <p:xfrm>
          <a:off xmlns:a="http://schemas.openxmlformats.org/drawingml/2006/main" x="609600" y="1457325"/>
          <a:ext xmlns:a="http://schemas.openxmlformats.org/drawingml/2006/main" cx="5048250" cy="1866900"/>
        </p:xfrm>
        <a:graphic xmlns:a="http://schemas.openxmlformats.org/drawingml/2006/main">
          <a:graphicData uri="http://schemas.openxmlformats.org/drawingml/2006/table">
            <a:tbl>
              <a:tblPr/>
              <a:tblGrid>
                <a:gridCol w="2457450"/>
                <a:gridCol w="1295400"/>
                <a:gridCol w="1295400"/>
              </a:tblGrid>
              <a:tr h="495300">
                <a:tc>
                  <a:txBody>
                    <a:bodyPr lIns="152400" tIns="95250" rIns="133350" bIns="95250"/>
                    <a:lstStyle/>
                    <a:p>
                      <a:r>
                        <a:rPr sz="1875" b="1">
                          <a:solidFill>
                            <a:srgbClr val="FFFFFF"/>
                          </a:solidFill>
                          <a:latin typeface="Arial"/>
                          <a:ea typeface="Arial"/>
                          <a:cs typeface="Arial"/>
                        </a:rPr>
                        <a:t>Split</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Events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Markets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875" b="0">
                          <a:solidFill>
                            <a:srgbClr val="263449"/>
                          </a:solidFill>
                          <a:latin typeface="Arial"/>
                          <a:ea typeface="Arial"/>
                          <a:cs typeface="Arial"/>
                        </a:rPr>
                        <a:t>Training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841</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3,215</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875" b="0">
                          <a:solidFill>
                            <a:srgbClr val="263449"/>
                          </a:solidFill>
                          <a:latin typeface="Arial"/>
                          <a:ea typeface="Arial"/>
                          <a:cs typeface="Arial"/>
                        </a:rPr>
                        <a:t>Test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860</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3,511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plit-explanation">
            <a:extLst xmlns:a="http://schemas.openxmlformats.org/drawingml/2006/main">
              <a:ext uri="{FF2B5EF4-FFF2-40B4-BE49-F238E27FC236}">
                <a16:creationId xmlns:a16="http://schemas.microsoft.com/office/drawing/2014/main" id="{BB239B74-2F00-47FE-A1D2-7F486F56835C}"/>
              </a:ext>
            </a:extLst>
          </p:cNvPr>
          <p:cNvSpPr>
            <a:spLocks xmlns:a="http://schemas.openxmlformats.org/drawingml/2006/main" noGrp="1"/>
          </p:cNvSpPr>
          <p:nvPr/>
        </p:nvSpPr>
        <p:spPr>
          <a:xfrm xmlns:a="http://schemas.openxmlformats.org/drawingml/2006/main">
            <a:off x="609600" y="3571875"/>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Training events close before September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Events crossing that date belong entirely to test.</a:t>
            </a:r>
          </a:p>
        </p:txBody>
      </p:sp>
      <p:sp>
        <p:nvSpPr>
          <p:cNvPr id="4" name="mid-range-heading">
            <a:extLst xmlns:a="http://schemas.openxmlformats.org/drawingml/2006/main">
              <a:ext uri="{FF2B5EF4-FFF2-40B4-BE49-F238E27FC236}">
                <a16:creationId xmlns:a16="http://schemas.microsoft.com/office/drawing/2014/main" id="{B3214713-3716-43C5-972B-EC4696FFF117}"/>
              </a:ext>
            </a:extLst>
          </p:cNvPr>
          <p:cNvSpPr>
            <a:spLocks xmlns:a="http://schemas.openxmlformats.org/drawingml/2006/main" noGrp="1"/>
          </p:cNvSpPr>
          <p:nvPr/>
        </p:nvSpPr>
        <p:spPr>
          <a:xfrm xmlns:a="http://schemas.openxmlformats.org/drawingml/2006/main">
            <a:off x="609600" y="48958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C8C"/>
                </a:solidFill>
                <a:latin typeface="Arial"/>
                <a:ea typeface="Arial"/>
                <a:cs typeface="Arial"/>
              </a:defRPr>
            </a:defPPr>
            <a:lvl1pPr algn="l">
              <a:defRPr sz="2100" b="1">
                <a:solidFill>
                  <a:srgbClr val="315C8C"/>
                </a:solidFill>
                <a:latin typeface="Arial"/>
                <a:ea typeface="Arial"/>
                <a:cs typeface="Arial"/>
              </a:defRPr>
            </a:lvl1pPr>
            <a:lvl2pPr algn="l">
              <a:defRPr sz="2100" b="1">
                <a:solidFill>
                  <a:srgbClr val="315C8C"/>
                </a:solidFill>
                <a:latin typeface="Arial"/>
                <a:ea typeface="Arial"/>
                <a:cs typeface="Arial"/>
              </a:defRPr>
            </a:lvl2pPr>
            <a:lvl3pPr algn="l">
              <a:defRPr sz="2100" b="1">
                <a:solidFill>
                  <a:srgbClr val="315C8C"/>
                </a:solidFill>
                <a:latin typeface="Arial"/>
                <a:ea typeface="Arial"/>
                <a:cs typeface="Arial"/>
              </a:defRPr>
            </a:lvl3pPr>
            <a:lvl4pPr algn="l">
              <a:defRPr sz="2100" b="1">
                <a:solidFill>
                  <a:srgbClr val="315C8C"/>
                </a:solidFill>
                <a:latin typeface="Arial"/>
                <a:ea typeface="Arial"/>
                <a:cs typeface="Arial"/>
              </a:defRPr>
            </a:lvl4pPr>
            <a:lvl5pPr algn="l">
              <a:defRPr sz="2100" b="1">
                <a:solidFill>
                  <a:srgbClr val="315C8C"/>
                </a:solidFill>
                <a:latin typeface="Arial"/>
                <a:ea typeface="Arial"/>
                <a:cs typeface="Arial"/>
              </a:defRPr>
            </a:lvl5pPr>
            <a:lvl6pPr algn="l">
              <a:defRPr sz="2100" b="1">
                <a:solidFill>
                  <a:srgbClr val="315C8C"/>
                </a:solidFill>
                <a:latin typeface="Arial"/>
                <a:ea typeface="Arial"/>
                <a:cs typeface="Arial"/>
              </a:defRPr>
            </a:lvl6pPr>
            <a:lvl7pPr algn="l">
              <a:defRPr sz="2100" b="1">
                <a:solidFill>
                  <a:srgbClr val="315C8C"/>
                </a:solidFill>
                <a:latin typeface="Arial"/>
                <a:ea typeface="Arial"/>
                <a:cs typeface="Arial"/>
              </a:defRPr>
            </a:lvl7pPr>
            <a:lvl8pPr algn="l">
              <a:defRPr sz="2100" b="1">
                <a:solidFill>
                  <a:srgbClr val="315C8C"/>
                </a:solidFill>
                <a:latin typeface="Arial"/>
                <a:ea typeface="Arial"/>
                <a:cs typeface="Arial"/>
              </a:defRPr>
            </a:lvl8pPr>
            <a:lvl9pPr algn="l">
              <a:defRPr sz="2100" b="1">
                <a:solidFill>
                  <a:srgbClr val="315C8C"/>
                </a:solidFill>
                <a:latin typeface="Arial"/>
                <a:ea typeface="Arial"/>
                <a:cs typeface="Arial"/>
              </a:defRPr>
            </a:lvl9pPr>
          </a:lstStyle>
          <a:p xmlns:a="http://schemas.openxmlformats.org/drawingml/2006/main">
            <a:pPr algn="l">
              <a:defRPr sz="2100" b="1">
                <a:solidFill>
                  <a:srgbClr val="315C8C"/>
                </a:solidFill>
                <a:latin typeface="Arial"/>
                <a:ea typeface="Arial"/>
                <a:cs typeface="Arial"/>
              </a:defRPr>
            </a:pPr>
            <a:r>
              <a:rPr sz="2100" b="1">
                <a:solidFill>
                  <a:srgbClr val="315C8C"/>
                </a:solidFill>
                <a:latin typeface="Arial"/>
                <a:ea typeface="Arial"/>
                <a:cs typeface="Arial"/>
              </a:rPr>
              <a:t>Mid-range prices: 5¢ to 95¢</a:t>
            </a:r>
          </a:p>
        </p:txBody>
      </p:sp>
      <p:sp>
        <p:nvSpPr>
          <p:cNvPr id="5" name="mid-range-values">
            <a:extLst xmlns:a="http://schemas.openxmlformats.org/drawingml/2006/main">
              <a:ext uri="{FF2B5EF4-FFF2-40B4-BE49-F238E27FC236}">
                <a16:creationId xmlns:a16="http://schemas.microsoft.com/office/drawing/2014/main" id="{647AD7E6-BD35-4C53-9CEF-3B7746157F75}"/>
              </a:ext>
            </a:extLst>
          </p:cNvPr>
          <p:cNvSpPr>
            <a:spLocks xmlns:a="http://schemas.openxmlformats.org/drawingml/2006/main" noGrp="1"/>
          </p:cNvSpPr>
          <p:nvPr/>
        </p:nvSpPr>
        <p:spPr>
          <a:xfrm xmlns:a="http://schemas.openxmlformats.org/drawingml/2006/main">
            <a:off x="609600" y="5476875"/>
            <a:ext cx="5048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24h test Brier: market 0.148, models 0.150.</a:t>
            </a:r>
          </a:p>
        </p:txBody>
      </p:sp>
      <p:graphicFrame>
        <p:nvGraphicFramePr>
          <p:cNvPr id="6" name="">
            <a:extLst xmlns:a="http://schemas.openxmlformats.org/drawingml/2006/main">
              <a:ext uri="{FF2B5EF4-FFF2-40B4-BE49-F238E27FC236}">
                <a16:creationId xmlns:a16="http://schemas.microsoft.com/office/drawing/2014/main" id="{D59E8775-211D-4EF3-8177-E1787524D34B}"/>
              </a:ext>
            </a:extLst>
          </p:cNvPr>
          <p:cNvGraphicFramePr/>
          <p:nvPr/>
        </p:nvGraphicFramePr>
        <p:xfrm>
          <a:off xmlns:a="http://schemas.openxmlformats.org/drawingml/2006/main" x="6343650" y="1457325"/>
          <a:ext xmlns:a="http://schemas.openxmlformats.org/drawingml/2006/main" cx="5238750" cy="3009900"/>
        </p:xfrm>
        <a:graphic xmlns:a="http://schemas.openxmlformats.org/drawingml/2006/main">
          <a:graphicData uri="http://schemas.openxmlformats.org/drawingml/2006/table">
            <a:tbl>
              <a:tblPr/>
              <a:tblGrid>
                <a:gridCol w="3238500"/>
                <a:gridCol w="2000250"/>
              </a:tblGrid>
              <a:tr h="495300">
                <a:tc>
                  <a:txBody>
                    <a:bodyPr lIns="152400" tIns="95250" rIns="133350" bIns="95250"/>
                    <a:lstStyle/>
                    <a:p>
                      <a:r>
                        <a:rPr sz="1875" b="1">
                          <a:solidFill>
                            <a:srgbClr val="FFFFFF"/>
                          </a:solidFill>
                          <a:latin typeface="Arial"/>
                          <a:ea typeface="Arial"/>
                          <a:cs typeface="Arial"/>
                        </a:rPr>
                        <a:t>Category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24h slope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28650">
                <a:tc>
                  <a:txBody>
                    <a:bodyPr lIns="152400" tIns="95250" rIns="133350" bIns="95250"/>
                    <a:lstStyle/>
                    <a:p>
                      <a:r>
                        <a:rPr sz="1875" b="0">
                          <a:solidFill>
                            <a:srgbClr val="263449"/>
                          </a:solidFill>
                          <a:latin typeface="Arial"/>
                          <a:ea typeface="Arial"/>
                          <a:cs typeface="Arial"/>
                        </a:rPr>
                        <a:t>Politics</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1.03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Technology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Entertainment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Economy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0.92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7" name="category-interval">
            <a:extLst xmlns:a="http://schemas.openxmlformats.org/drawingml/2006/main">
              <a:ext uri="{FF2B5EF4-FFF2-40B4-BE49-F238E27FC236}">
                <a16:creationId xmlns:a16="http://schemas.microsoft.com/office/drawing/2014/main" id="{2781C005-A168-4FE3-9474-B886D2EBE23B}"/>
              </a:ext>
            </a:extLst>
          </p:cNvPr>
          <p:cNvSpPr>
            <a:spLocks xmlns:a="http://schemas.openxmlformats.org/drawingml/2006/main" noGrp="1"/>
          </p:cNvSpPr>
          <p:nvPr/>
        </p:nvSpPr>
        <p:spPr>
          <a:xfrm xmlns:a="http://schemas.openxmlformats.org/drawingml/2006/main">
            <a:off x="6343650" y="4895850"/>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Only Entertainment’s interval is just above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1.00 to 1.29, rounded).</a:t>
            </a:r>
          </a:p>
        </p:txBody>
      </p:sp>
    </p:spTree>
    <p:extLst>
      <p:ext uri="{BB962C8B-B14F-4D97-AF65-F5344CB8AC3E}">
        <p14:creationId xmlns:p14="http://schemas.microsoft.com/office/powerpoint/2010/main" val="4452714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2026-10-28T18:45:20.8810000Z</dcterms:created>
  <dcterms:modified xsi:type="dcterms:W3CDTF">2026-10-28T18:45:20.8810000Z</dcterms:modified>
</coreProperties>
</file>