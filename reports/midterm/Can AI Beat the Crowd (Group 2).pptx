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772677dcfc1d4419" Type="http://schemas.openxmlformats.org/officeDocument/2006/relationships/extended-properties" Target="docProps/app.xml"/><Relationship Id="R8d87dafe026a48bc" Type="http://schemas.openxmlformats.org/officeDocument/2006/relationships/officeDocument" Target="ppt/presentation.xml"/><Relationship Id="Rc5e807d6457a4b8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ea4aaae68a042f0"/>
  </p:sldMasterIdLst>
  <p:sldIdLst>
    <p:sldId xmlns:r="http://schemas.openxmlformats.org/officeDocument/2006/relationships" id="256" r:id="Rf615f5ed55314443"/>
    <p:sldId xmlns:r="http://schemas.openxmlformats.org/officeDocument/2006/relationships" id="257" r:id="Rdd3c64d783a343f9"/>
    <p:sldId xmlns:r="http://schemas.openxmlformats.org/officeDocument/2006/relationships" id="258" r:id="R81856251b7114fab"/>
    <p:sldId xmlns:r="http://schemas.openxmlformats.org/officeDocument/2006/relationships" id="259" r:id="R0b87917674f241ad"/>
    <p:sldId xmlns:r="http://schemas.openxmlformats.org/officeDocument/2006/relationships" id="260" r:id="Rdbb4b7dc987f486e"/>
    <p:sldId xmlns:r="http://schemas.openxmlformats.org/officeDocument/2006/relationships" id="261" r:id="Rfdf53b204e2d41e8"/>
    <p:sldId xmlns:r="http://schemas.openxmlformats.org/officeDocument/2006/relationships" id="262" r:id="Rb3203ab0c5f941af"/>
    <p:sldId xmlns:r="http://schemas.openxmlformats.org/officeDocument/2006/relationships" id="263" r:id="Rb1437ffee7b44fb7"/>
    <p:sldId xmlns:r="http://schemas.openxmlformats.org/officeDocument/2006/relationships" id="264" r:id="R6003a8a84b3346cf"/>
    <p:sldId xmlns:r="http://schemas.openxmlformats.org/officeDocument/2006/relationships" id="265" r:id="R299b340e96d24241"/>
    <p:sldId xmlns:r="http://schemas.openxmlformats.org/officeDocument/2006/relationships" id="266" r:id="R1956a215f7784356"/>
    <p:sldId xmlns:r="http://schemas.openxmlformats.org/officeDocument/2006/relationships" id="267" r:id="R7c2f8b332d5e45df"/>
    <p:sldId xmlns:r="http://schemas.openxmlformats.org/officeDocument/2006/relationships" id="268" r:id="R533ac520b8a54cb6"/>
    <p:sldId xmlns:r="http://schemas.openxmlformats.org/officeDocument/2006/relationships" id="269" r:id="R26ead0f4df5d4a54"/>
    <p:sldId xmlns:r="http://schemas.openxmlformats.org/officeDocument/2006/relationships" id="270" r:id="Re2a0512d3efb48bd"/>
    <p:sldId xmlns:r="http://schemas.openxmlformats.org/officeDocument/2006/relationships" id="271" r:id="R713b619207ff43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07607871aa4389" Type="http://schemas.openxmlformats.org/officeDocument/2006/relationships/theme" Target="theme/theme1.xml"/><Relationship Id="R0b87917674f241ad" Type="http://schemas.openxmlformats.org/officeDocument/2006/relationships/slide" Target="slides/slide4.xml"/><Relationship Id="R1956a215f7784356" Type="http://schemas.openxmlformats.org/officeDocument/2006/relationships/slide" Target="slides/slide11.xml"/><Relationship Id="R26ead0f4df5d4a54" Type="http://schemas.openxmlformats.org/officeDocument/2006/relationships/slide" Target="slides/slide14.xml"/><Relationship Id="R299b340e96d24241" Type="http://schemas.openxmlformats.org/officeDocument/2006/relationships/slide" Target="slides/slide10.xml"/><Relationship Id="R533ac520b8a54cb6" Type="http://schemas.openxmlformats.org/officeDocument/2006/relationships/slide" Target="slides/slide13.xml"/><Relationship Id="R6003a8a84b3346cf" Type="http://schemas.openxmlformats.org/officeDocument/2006/relationships/slide" Target="slides/slide9.xml"/><Relationship Id="R713b619207ff4335" Type="http://schemas.openxmlformats.org/officeDocument/2006/relationships/slide" Target="slides/slide16.xml"/><Relationship Id="R7c2f8b332d5e45df" Type="http://schemas.openxmlformats.org/officeDocument/2006/relationships/slide" Target="slides/slide12.xml"/><Relationship Id="R81856251b7114fab" Type="http://schemas.openxmlformats.org/officeDocument/2006/relationships/slide" Target="slides/slide3.xml"/><Relationship Id="Rb1437ffee7b44fb7" Type="http://schemas.openxmlformats.org/officeDocument/2006/relationships/slide" Target="slides/slide8.xml"/><Relationship Id="Rb3203ab0c5f941af" Type="http://schemas.openxmlformats.org/officeDocument/2006/relationships/slide" Target="slides/slide7.xml"/><Relationship Id="Rbf9826966d754554" Type="http://schemas.openxmlformats.org/officeDocument/2006/relationships/tableStyles" Target="tableStyles.xml"/><Relationship Id="Rd23cbca7a6e64f28" Type="http://schemas.openxmlformats.org/officeDocument/2006/relationships/presProps" Target="presProps.xml"/><Relationship Id="Rdbb4b7dc987f486e" Type="http://schemas.openxmlformats.org/officeDocument/2006/relationships/slide" Target="slides/slide5.xml"/><Relationship Id="Rdd3c64d783a343f9" Type="http://schemas.openxmlformats.org/officeDocument/2006/relationships/slide" Target="slides/slide2.xml"/><Relationship Id="Rdea4aaae68a042f0" Type="http://schemas.openxmlformats.org/officeDocument/2006/relationships/slideMaster" Target="slideMasters/slideMaster1.xml"/><Relationship Id="Re2a0512d3efb48bd" Type="http://schemas.openxmlformats.org/officeDocument/2006/relationships/slide" Target="slides/slide15.xml"/><Relationship Id="Rf615f5ed55314443" Type="http://schemas.openxmlformats.org/officeDocument/2006/relationships/slide" Target="slides/slide1.xml"/><Relationship Id="Rfdf53b204e2d41e8" Type="http://schemas.openxmlformats.org/officeDocument/2006/relationships/slide" Target="slides/slide6.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Hi everyone, we are Leo, Aaron and Jiahong. Polymarket is a prediction market where a share pays one dollar if an event happens. Our question: is the price a good probability, and can a model do better than the crowd?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Two parts. Aaron looks at market prices: are they calibrated, and can recalibration or boosting beat them? Jiahong looks at wallets: which traits predict the price a wallet pays? For the final we combine both to look for informed trading, and to spot an informed trader we first need to know how good the price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(0:45). Four papers frame our work. Thaler and Ziemba surveyed racetrack and lottery betting and the pricing anomalies there. Snowberg and Wolfers describe the favorite-longshot bias: long shots are bet too much and favorites too little. Wolfers and Zitzewitz conclude that prediction markets are usually fairly accurate. Page and Clemen ask our exact question and find prices are reasonably calibrated near expiry but biased for events far away. Aaron tests whether Polymarket in 2026 behaves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Thanks, Leo. So like Leo said, our big question is: when Polymarket says something has a 30 percent chance, should we actually believe it? Here's the quick intuition. Take a market like "Will the Lakers win tonight?" A Yes share pays one dollar if they win and zero if they lose. Say it's trading at 40 cents. If you think the Lakers really have a 60 percent chance, that's a good deal: on average you pay 40 and get 60 back. That's this formula. Expected profit is p, what you believe, minus c, the price. So people keep buying until the price matches what the crowd thinks, and that's why we can treat the price as a probability and grade it. Leo also mentioned a classic finding from horse racing: long shots tend to be overpriced. So we asked two things. Is the price right? And can a model do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Here's what we worked with. We took every Yes/No market in our four categories, politics, tech, entertainment and economy, that closed between June and October. Think questions like "Will the Fed cut rates in September?" That's 7,479 markets. For each one we went back in time and asked: what was the price a week before it closed? Three days before? One day? Six hours? To get that, we used the last trade before each of those points, out of about 4.1 million trades. Quick note on why trades: we first tried the order book, but it only covered about a fifth of these markets. Where we had both, they basically agreed, a correlation of 0.92 and less than a cent apart. So trades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So, is the crowd right? This is the main picture. We group markets by their price a day before close, and check how often they actually happened. If the market is honest, everything sits on this diagonal. And it does: when the market says 30 percent, it happens about 30 percent of the time. On the right, it's the same story in all four categories. One detail on the shaded band. It's our 95 percent interval, and we built it by resampling whole events, not single markets. Why? Think of the Oscars. Best Picture has ten markets, one per film, but only one film can win. Those aren't ten independent coin flips, so we treat the whole event as one unit.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(1:15). Now, what about that horse-racing bias we introduced earlier? To check it, we squeeze calibration into one number, the slope. Technically it's the slope from a logistic regression of what happened on the price, but the idea is simple. One means perfect. Above one means the market is too timid: long shots are a little too expensive and favorites a little too cheap. Six hours before close we get 1.08, so there is a small trace of the bias. But here's the catch. It comes entirely from the extreme contracts, the ones under 2 cents or over 98 cents. Think of bets like a long-shot candidate winning an election. Take those out, and the slope is exactly 1.00. And month by month, like in this chart, it bounces between 0.93 and 1.09, and every interval includes 1. So the bias is small, and it doesn't stay 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if short on time, say only the first two sentences). Next, timing. This is the Brier score, which is basically how far off the price was from what actually happened. Lower is better. And it makes sense: the closer you get to the event, the better the price. A week out it's 0.074, six hours out it's 0.038, roughly half. Think of an election: a week before, there's still a lot that can happen; the night before, most of the information is already out. Politics improves the most, and economy stays the hardest to call.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(1:30). So the price is pretty good. Can AI beat it? We tried two models. The first is logistic regression, the standard tool for predicting a yes-or-no outcome: it turns inputs into a probability between 0 and 1. We give it the market price, so it learns small corrections, like "when the market says 10 percent, it's really 8," and it can correct differently by category and by how far we are from the close. The second is gradient boosting. It builds a few hundred small decision trees one after another, and each new tree focuses on the mistakes the earlier ones made. Think of a team of analysts where each one fixes what the last one got wrong. That lets it pick up patterns a straight line would miss. We gave it the price plus 18 other things you'd know at that moment, like how the price moved over the last day, trading volume, how many people are trading, and how long until the deadline. To keep it fair, we trained on everything that finished before September and tested on September and October, so the model never sees the future. And the answer: neither one beats the raw price. The simple correction actually does slightly worse. When we look inside the boosting model, it leans almost entirely on the price itself. That ties back to the bias slide: if the bias keeps changing month to month, you can't learn it in the summer and use it in the fall.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(1:00). So, three takeaways. One, prices are well calibrated across all four categories. Two, the favorite-longshot bias is small and unstable. Three, no model we built beats the price. Two honest limits. Some markets close early, like "Will X happen by December?" resolving the day it happens, so "a day before close" means slightly different things for different markets. And we only have one test period. But here's why this matters for our final. If the market is this good, winning a lot doesn't mean much. If you only buy things priced at 95 cents, you'll win about 95 percent of the time, and that's not skill. A truly informed trader is someone who keeps beating the price they paid. So the next question is: who's paying the low prices, who's buying the long shots? Jiahong, take it away.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Our question is how well wallet trading characteristics predict average purchase price, and whether gradient boosting improves on linear regression. The dataset has 55,952 wallets, one row per wallet. The target is the volume-weighted price of the shares each wallet bought. The histogram shows training wallets. We keep all wallets and exclude the confirmed flag. This cohort comes from five selected event groups, so we describe the wallets in this dataset. A higher or lower purchase price does not by itself tell us whether the wallet made a profit.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We reserve twenty percent of wallets for final evaluation with one fixed random split: 44,761 training wallets and 11,191 test wallets. Every method gets exactly the same test wallets. Five-fold validation happens entirely inside training. We compare a mean baseline, an additive linear regression, and histogram gradient boosting, which can capture nonlinear patterns and interactions. Five skewed predictors use log of one plus the value. We choose boosting settings from a six-configuration grid using validation error, and the test set stays outside model selection.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On the held-out wallets, the mean baseline has an average absolute error of 22.14 cents per share. Linear regression reduces this to 19.78 cents, and gradient boosting to 16.74 cents. That is a 15.4 percent improvement over linear regression: 3.04 cents, with a paired wallet-bootstrap interval from 2.86 to 3.23 cents. Boosting also has a higher R squared, 0.368 against 0.197. The intervals assume independent wallets, which may be imperfect because wallets can trade in the same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To interpret the model, we shuffle one predictor at a time and measure how much test error rises. Trade count matters most, about 6.32 cents. Spending, largest purchase and number of markets also contribute. This shows what the model relies on, not whether an input raises or lowers the price, and correlated inputs make attribution hard. Removing spending and largest purchase raises boosting error from 16.74 to 19.97 cents, so the money summaries add information. We cannot infer profit, trading skill or causal effects from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Likely questions and short answers are on the backup slide and in reports/midterm/slide_script.md.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Train/test: no event is on both sides. Mid-range prices: neither model beats the market on 5 to 95 cent prices either. Category slopes: with four categories tested, one borderline interval is not unusual by chance. Other likely questions: why trade prices (the book covered only about 22% of markets; correlation 0.92 where both exist); why resample by event (markets in one event are dependent); why Brier and not accuracy (it is a proper scoring rule; accuracy treats 51% and 99% as the same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5e9e3ac30cd428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d05c0c5c70b472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5a1c3127ae0467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34cb8e7fa14ff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dd848489b1149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7b10705158d447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F8440A-1D83-41D4-A039-BDF76EE118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D394F4-4C37-461E-814D-F5E210FC73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4EE006-7593-41C8-A611-2911AF5193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AE78B5-F49F-4975-8198-F144384E94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E9ABB8-D19C-421C-9F03-F0374ABCDF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365DAE-0166-4C77-B76D-8572895C26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6AA0E2-8FE2-4B2C-8EED-83D76FCCB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B85B46-FBD0-4F89-867E-A2A9E2B6D5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1F810D-A48E-46E5-B4CC-93BB0C4E81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A9F984-9A0F-4EE1-9C8D-F508361BD3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12ea3737a4b78" Type="http://schemas.openxmlformats.org/officeDocument/2006/relationships/slideLayout" Target="../slideLayouts/slideLayout4.xml"/><Relationship Id="R4eab576cb70a408d" Type="http://schemas.openxmlformats.org/officeDocument/2006/relationships/slideLayout" Target="../slideLayouts/slideLayout1.xml"/><Relationship Id="R5837265699a34904" Type="http://schemas.openxmlformats.org/officeDocument/2006/relationships/slideLayout" Target="../slideLayouts/slideLayout3.xml"/><Relationship Id="R602a4c66cb9e4a20" Type="http://schemas.openxmlformats.org/officeDocument/2006/relationships/slideLayout" Target="../slideLayouts/slideLayout6.xml"/><Relationship Id="Ra01f0ec208fe4fd4" Type="http://schemas.openxmlformats.org/officeDocument/2006/relationships/slideLayout" Target="../slideLayouts/slideLayout2.xml"/><Relationship Id="Rce5e19433f934f6d" Type="http://schemas.openxmlformats.org/officeDocument/2006/relationships/theme" Target="theme/theme2.xml"/><Relationship Id="Ree8df184110143f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ab576cb70a408d"/>
    <p:sldLayoutId xmlns:r="http://schemas.openxmlformats.org/officeDocument/2006/relationships" id="2147483650" r:id="Ra01f0ec208fe4fd4"/>
    <p:sldLayoutId xmlns:r="http://schemas.openxmlformats.org/officeDocument/2006/relationships" id="2147483651" r:id="R5837265699a34904"/>
    <p:sldLayoutId xmlns:r="http://schemas.openxmlformats.org/officeDocument/2006/relationships" id="2147483652" r:id="R3ed12ea3737a4b78"/>
    <p:sldLayoutId xmlns:r="http://schemas.openxmlformats.org/officeDocument/2006/relationships" id="2147483653" r:id="Ree8df184110143fe"/>
    <p:sldLayoutId xmlns:r="http://schemas.openxmlformats.org/officeDocument/2006/relationships" id="2147483654" r:id="R602a4c66cb9e4a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89285dd29a41e6"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de42c01f92864630"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b7242b9c64b4d0b"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ef7d1e30ef8a4bcb"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8d2e9627273496f"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ab20aa281ec41b6" Type="http://schemas.openxmlformats.org/officeDocument/2006/relationships/slideLayout" Target="../slideLayouts/slideLayout6.xml"/><Relationship Id="R3a676c7c09064ca6" Type="http://schemas.openxmlformats.org/officeDocument/2006/relationships/image" Target="../media/image2.png"/><Relationship Id="Rfab095b425a0475c" Type="http://schemas.openxmlformats.org/officeDocument/2006/relationships/image" Target="../media/image.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a09e0ece59a4889" Type="http://schemas.openxmlformats.org/officeDocument/2006/relationships/image" Target="../media/image3.png"/><Relationship Id="Re8aa7621c0dd443a"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e9d8f5fcc4640e9" Type="http://schemas.openxmlformats.org/officeDocument/2006/relationships/slideLayout" Target="../slideLayouts/slideLayout6.xml"/><Relationship Id="R95364801969b4a5a"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0849729a5fa4316" Type="http://schemas.openxmlformats.org/officeDocument/2006/relationships/slideLayout" Target="../slideLayouts/slideLayout6.xml"/><Relationship Id="Rcd95c24935f14665"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af531a2745341a2"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6d326458b184489" Type="http://schemas.openxmlformats.org/officeDocument/2006/relationships/chart" Target="charts/chart1.xml"/><Relationship Id="Rd649ea04c81046a8"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8ea05b64d1422d"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b1f1df39664e70" Type="http://schemas.openxmlformats.org/officeDocument/2006/relationships/slideLayout" Target="../slideLayouts/slideLayout6.xml"/><Relationship Id="Ref374d6475f445b9" Type="http://schemas.openxmlformats.org/officeDocument/2006/relationships/chart" Target="charts/char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4da2edff8c04812" Type="http://schemas.openxmlformats.org/officeDocument/2006/relationships/slideLayout" Target="../slideLayouts/slideLayout6.xml"/><Relationship Id="R36f325cbc1d44c2a" Type="http://schemas.openxmlformats.org/officeDocument/2006/relationships/chart" Target="charts/char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6fac35df369428e"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0d66096814f4f15" Type="http://schemas.openxmlformats.org/officeDocument/2006/relationships/slideLayout" Target="../slideLayouts/slideLayout6.xml"/><Relationship Id="rId2" Type="http://schemas.openxmlformats.org/officeDocument/2006/relationships/notesSlide" Target="../notesSlides/notesSlide1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Training price distribution</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Share of training wallets</c:v>
          </c:tx>
          <c:spPr>
            <a:solidFill xmlns:a="http://schemas.openxmlformats.org/drawingml/2006/main">
              <a:srgbClr val="315C8C"/>
            </a:solidFill>
          </c:spPr>
          <c:invertIfNegative val="0"/>
          <c:cat>
            <c:strRef>
              <c:f>'Chart Data'!$A$2:$A$6</c:f>
              <c:strCache>
                <c:ptCount val="5"/>
                <c:pt idx="0">
                  <c:v>0.0–0.2</c:v>
                </c:pt>
                <c:pt idx="1">
                  <c:v>0.2–0.4</c:v>
                </c:pt>
                <c:pt idx="2">
                  <c:v>0.4–0.6</c:v>
                </c:pt>
                <c:pt idx="3">
                  <c:v>0.6–0.8</c:v>
                </c:pt>
                <c:pt idx="4">
                  <c:v>0.8–1.0</c:v>
                </c:pt>
              </c:strCache>
            </c:strRef>
          </c:cat>
          <c:val>
            <c:numRef>
              <c:f>'Chart Data'!$B$2:$B$6</c:f>
              <c:numCache>
                <c:formatCode>0%</c:formatCode>
                <c:ptCount val="5"/>
                <c:pt idx="0">
                  <c:v>0.0946359554</c:v>
                </c:pt>
                <c:pt idx="1">
                  <c:v>0.0764504814</c:v>
                </c:pt>
                <c:pt idx="2">
                  <c:v>0.1594915216</c:v>
                </c:pt>
                <c:pt idx="3">
                  <c:v>0.2650521659</c:v>
                </c:pt>
                <c:pt idx="4">
                  <c:v>0.4043698755</c:v>
                </c:pt>
              </c:numCache>
            </c:numRef>
          </c:val>
        </c:ser>
        <c:dLbls>
          <c:showLegendKey val="0"/>
          <c:showVal val="0"/>
          <c:showCatName val="0"/>
          <c:showSerName val="0"/>
          <c:showPercent val="0"/>
          <c:showBubbleSize val="0"/>
          <c:showLeaderLines val="0"/>
        </c:dLbls>
        <c:gapWidth val="18"/>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Average purchase price ($)</a:t>
                </a:r>
              </a:p>
            </c:rich>
          </c:tx>
          <c:overlay val="0"/>
        </c:title>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max val="0.5"/>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0.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Test MAE in cents per share</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MAE</c:v>
          </c:tx>
          <c:spPr>
            <a:solidFill xmlns:a="http://schemas.openxmlformats.org/drawingml/2006/main">
              <a:srgbClr val="315C8C"/>
            </a:solidFill>
          </c:spPr>
          <c:invertIfNegative val="0"/>
          <c:dPt>
            <c:idx val="0"/>
            <c:invertIfNegative val="0"/>
            <c:spPr>
              <a:solidFill xmlns:a="http://schemas.openxmlformats.org/drawingml/2006/main">
                <a:srgbClr val="9AA4B2"/>
              </a:solidFill>
            </c:spPr>
          </c:dPt>
          <c:dPt>
            <c:idx val="1"/>
            <c:invertIfNegative val="0"/>
            <c:spPr>
              <a:solidFill xmlns:a="http://schemas.openxmlformats.org/drawingml/2006/main">
                <a:srgbClr val="315C8C"/>
              </a:solidFill>
            </c:spPr>
          </c:dPt>
          <c:dPt>
            <c:idx val="2"/>
            <c:invertIfNegative val="0"/>
            <c:spPr>
              <a:solidFill xmlns:a="http://schemas.openxmlformats.org/drawingml/2006/main">
                <a:srgbClr val="DF7137"/>
              </a:solidFill>
            </c:spPr>
          </c:dPt>
          <c:cat>
            <c:strRef>
              <c:f>'Chart Data'!$A$2:$A$4</c:f>
              <c:strCache>
                <c:ptCount val="3"/>
                <c:pt idx="0">
                  <c:v>Mean baseline</c:v>
                </c:pt>
                <c:pt idx="1">
                  <c:v>Linear regression</c:v>
                </c:pt>
                <c:pt idx="2">
                  <c:v>Gradient boosting</c:v>
                </c:pt>
              </c:strCache>
            </c:strRef>
          </c:cat>
          <c:val>
            <c:numRef>
              <c:f>'Chart Data'!$B$2:$B$4</c:f>
              <c:numCache>
                <c:formatCode>0</c:formatCode>
                <c:ptCount val="3"/>
                <c:pt idx="0">
                  <c:v>22.14207059</c:v>
                </c:pt>
                <c:pt idx="1">
                  <c:v>19.78049482</c:v>
                </c:pt>
                <c:pt idx="2">
                  <c:v>16.73620722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449"/>
                </a:solidFill>
              </a:defRPr>
            </a:pPr>
          </a:p>
        </c:txPr>
        <c:crossAx val="48672768"/>
      </c:catAx>
      <c:valAx>
        <c:axId val="48672768"/>
        <c:scaling>
          <c:orientation val="minMax"/>
          <c:max val="27"/>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263449"/>
                </a:solidFill>
              </a:rPr>
              <a:t>Increase in MAE after shuffling (cents)</a:t>
            </a:r>
          </a:p>
        </c:rich>
      </c:tx>
      <c:overlay val="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title>
    <c:plotArea>
      <c:barChart>
        <c:barDir val="bar"/>
        <c:varyColors val="0"/>
        <c:ser>
          <c:idx val="0"/>
          <c:order val="0"/>
          <c:tx>
            <c:v>Increase in MAE</c:v>
          </c:tx>
          <c:spPr>
            <a:solidFill xmlns:a="http://schemas.openxmlformats.org/drawingml/2006/main">
              <a:srgbClr val="315C8C"/>
            </a:solidFill>
          </c:spPr>
          <c:invertIfNegative val="0"/>
          <c:cat>
            <c:strRef>
              <c:f>'Chart Data'!$A$2:$A$7</c:f>
              <c:strCache>
                <c:ptCount val="6"/>
                <c:pt idx="0">
                  <c:v>Concentration</c:v>
                </c:pt>
                <c:pt idx="1">
                  <c:v>Observed span</c:v>
                </c:pt>
                <c:pt idx="2">
                  <c:v>Markets traded</c:v>
                </c:pt>
                <c:pt idx="3">
                  <c:v>Largest purchase</c:v>
                </c:pt>
                <c:pt idx="4">
                  <c:v>Total spending</c:v>
                </c:pt>
                <c:pt idx="5">
                  <c:v>Trade count</c:v>
                </c:pt>
              </c:strCache>
            </c:strRef>
          </c:cat>
          <c:val>
            <c:numRef>
              <c:f>'Chart Data'!$B$2:$B$7</c:f>
              <c:numCache>
                <c:formatCode>General</c:formatCode>
                <c:ptCount val="6"/>
                <c:pt idx="0">
                  <c:v>0.69712797</c:v>
                </c:pt>
                <c:pt idx="1">
                  <c:v>2.16132634</c:v>
                </c:pt>
                <c:pt idx="2">
                  <c:v>3.43561925</c:v>
                </c:pt>
                <c:pt idx="3">
                  <c:v>3.4705788</c:v>
                </c:pt>
                <c:pt idx="4">
                  <c:v>3.7638681</c:v>
                </c:pt>
                <c:pt idx="5">
                  <c:v>6.31779541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263449"/>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majorGridlines>
          <c:spPr>
            <a:ln xmlns:a="http://schemas.openxmlformats.org/drawingml/2006/main" w="9525">
              <a:solidFill>
                <a:srgbClr val="E8ECF1"/>
              </a:solidFill>
            </a:ln>
          </c:spPr>
        </c:majorGridlines>
        <c:numFmt formatCode="0.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650">
                <a:solidFill>
                  <a:srgbClr val="263449"/>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E4E2DF3-2402-4A48-87B2-805058D562B1}"/>
              </a:ext>
            </a:extLst>
          </p:cNvPr>
          <p:cNvSpPr>
            <a:spLocks xmlns:a="http://schemas.openxmlformats.org/drawingml/2006/main" noGrp="1"/>
          </p:cNvSpPr>
          <p:nvPr/>
        </p:nvSpPr>
        <p:spPr>
          <a:xfrm xmlns:a="http://schemas.openxmlformats.org/drawingml/2006/main">
            <a:off x="609600" y="6096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315C8C"/>
                </a:solidFill>
                <a:latin typeface="Arial"/>
                <a:ea typeface="Arial"/>
                <a:cs typeface="Arial"/>
              </a:defRPr>
            </a:defPPr>
            <a:lvl1pPr algn="l">
              <a:defRPr sz="1800" b="1">
                <a:solidFill>
                  <a:srgbClr val="315C8C"/>
                </a:solidFill>
                <a:latin typeface="Arial"/>
                <a:ea typeface="Arial"/>
                <a:cs typeface="Arial"/>
              </a:defRPr>
            </a:lvl1pPr>
            <a:lvl2pPr algn="l">
              <a:defRPr sz="1800" b="1">
                <a:solidFill>
                  <a:srgbClr val="315C8C"/>
                </a:solidFill>
                <a:latin typeface="Arial"/>
                <a:ea typeface="Arial"/>
                <a:cs typeface="Arial"/>
              </a:defRPr>
            </a:lvl2pPr>
            <a:lvl3pPr algn="l">
              <a:defRPr sz="1800" b="1">
                <a:solidFill>
                  <a:srgbClr val="315C8C"/>
                </a:solidFill>
                <a:latin typeface="Arial"/>
                <a:ea typeface="Arial"/>
                <a:cs typeface="Arial"/>
              </a:defRPr>
            </a:lvl3pPr>
            <a:lvl4pPr algn="l">
              <a:defRPr sz="1800" b="1">
                <a:solidFill>
                  <a:srgbClr val="315C8C"/>
                </a:solidFill>
                <a:latin typeface="Arial"/>
                <a:ea typeface="Arial"/>
                <a:cs typeface="Arial"/>
              </a:defRPr>
            </a:lvl4pPr>
            <a:lvl5pPr algn="l">
              <a:defRPr sz="1800" b="1">
                <a:solidFill>
                  <a:srgbClr val="315C8C"/>
                </a:solidFill>
                <a:latin typeface="Arial"/>
                <a:ea typeface="Arial"/>
                <a:cs typeface="Arial"/>
              </a:defRPr>
            </a:lvl5pPr>
            <a:lvl6pPr algn="l">
              <a:defRPr sz="1800" b="1">
                <a:solidFill>
                  <a:srgbClr val="315C8C"/>
                </a:solidFill>
                <a:latin typeface="Arial"/>
                <a:ea typeface="Arial"/>
                <a:cs typeface="Arial"/>
              </a:defRPr>
            </a:lvl6pPr>
            <a:lvl7pPr algn="l">
              <a:defRPr sz="1800" b="1">
                <a:solidFill>
                  <a:srgbClr val="315C8C"/>
                </a:solidFill>
                <a:latin typeface="Arial"/>
                <a:ea typeface="Arial"/>
                <a:cs typeface="Arial"/>
              </a:defRPr>
            </a:lvl7pPr>
            <a:lvl8pPr algn="l">
              <a:defRPr sz="1800" b="1">
                <a:solidFill>
                  <a:srgbClr val="315C8C"/>
                </a:solidFill>
                <a:latin typeface="Arial"/>
                <a:ea typeface="Arial"/>
                <a:cs typeface="Arial"/>
              </a:defRPr>
            </a:lvl8pPr>
            <a:lvl9pPr algn="l">
              <a:defRPr sz="1800" b="1">
                <a:solidFill>
                  <a:srgbClr val="315C8C"/>
                </a:solidFill>
                <a:latin typeface="Arial"/>
                <a:ea typeface="Arial"/>
                <a:cs typeface="Arial"/>
              </a:defRPr>
            </a:lvl9pPr>
          </a:lstStyle>
          <a:p xmlns:a="http://schemas.openxmlformats.org/drawingml/2006/main">
            <a:pPr algn="l">
              <a:defRPr sz="1800" b="1">
                <a:solidFill>
                  <a:srgbClr val="315C8C"/>
                </a:solidFill>
                <a:latin typeface="Arial"/>
                <a:ea typeface="Arial"/>
                <a:cs typeface="Arial"/>
              </a:defRPr>
            </a:pPr>
            <a:r>
              <a:rPr sz="1800" b="1">
                <a:solidFill>
                  <a:srgbClr val="315C8C"/>
                </a:solidFill>
                <a:latin typeface="Arial"/>
                <a:ea typeface="Arial"/>
                <a:cs typeface="Arial"/>
              </a:rPr>
              <a:t>UCLA STATS C161 / C261</a:t>
            </a:r>
          </a:p>
        </p:txBody>
      </p:sp>
      <p:sp>
        <p:nvSpPr>
          <p:cNvPr id="2" name="title">
            <a:extLst xmlns:a="http://schemas.openxmlformats.org/drawingml/2006/main">
              <a:ext uri="{FF2B5EF4-FFF2-40B4-BE49-F238E27FC236}">
                <a16:creationId xmlns:a16="http://schemas.microsoft.com/office/drawing/2014/main" id="{64E54047-51F2-4D75-BE41-29EF20CBB3A8}"/>
              </a:ext>
            </a:extLst>
          </p:cNvPr>
          <p:cNvSpPr>
            <a:spLocks xmlns:a="http://schemas.openxmlformats.org/drawingml/2006/main" noGrp="1"/>
          </p:cNvSpPr>
          <p:nvPr/>
        </p:nvSpPr>
        <p:spPr>
          <a:xfrm xmlns:a="http://schemas.openxmlformats.org/drawingml/2006/main">
            <a:off x="609600" y="18383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Can AI Beat the Crowd?</a:t>
            </a:r>
          </a:p>
        </p:txBody>
      </p:sp>
      <p:sp>
        <p:nvSpPr>
          <p:cNvPr id="3" name="question">
            <a:extLst xmlns:a="http://schemas.openxmlformats.org/drawingml/2006/main">
              <a:ext uri="{FF2B5EF4-FFF2-40B4-BE49-F238E27FC236}">
                <a16:creationId xmlns:a16="http://schemas.microsoft.com/office/drawing/2014/main" id="{8F39C763-FE12-4077-9457-A493170E70A1}"/>
              </a:ext>
            </a:extLst>
          </p:cNvPr>
          <p:cNvSpPr>
            <a:spLocks xmlns:a="http://schemas.openxmlformats.org/drawingml/2006/main" noGrp="1"/>
          </p:cNvSpPr>
          <p:nvPr/>
        </p:nvSpPr>
        <p:spPr>
          <a:xfrm xmlns:a="http://schemas.openxmlformats.org/drawingml/2006/main">
            <a:off x="609600" y="30670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63449"/>
                </a:solidFill>
                <a:latin typeface="Arial"/>
                <a:ea typeface="Arial"/>
                <a:cs typeface="Arial"/>
              </a:defRPr>
            </a:defPPr>
            <a:lvl1pPr algn="l">
              <a:defRPr sz="2625" b="0">
                <a:solidFill>
                  <a:srgbClr val="263449"/>
                </a:solidFill>
                <a:latin typeface="Arial"/>
                <a:ea typeface="Arial"/>
                <a:cs typeface="Arial"/>
              </a:defRPr>
            </a:lvl1pPr>
            <a:lvl2pPr algn="l">
              <a:defRPr sz="2625" b="0">
                <a:solidFill>
                  <a:srgbClr val="263449"/>
                </a:solidFill>
                <a:latin typeface="Arial"/>
                <a:ea typeface="Arial"/>
                <a:cs typeface="Arial"/>
              </a:defRPr>
            </a:lvl2pPr>
            <a:lvl3pPr algn="l">
              <a:defRPr sz="2625" b="0">
                <a:solidFill>
                  <a:srgbClr val="263449"/>
                </a:solidFill>
                <a:latin typeface="Arial"/>
                <a:ea typeface="Arial"/>
                <a:cs typeface="Arial"/>
              </a:defRPr>
            </a:lvl3pPr>
            <a:lvl4pPr algn="l">
              <a:defRPr sz="2625" b="0">
                <a:solidFill>
                  <a:srgbClr val="263449"/>
                </a:solidFill>
                <a:latin typeface="Arial"/>
                <a:ea typeface="Arial"/>
                <a:cs typeface="Arial"/>
              </a:defRPr>
            </a:lvl4pPr>
            <a:lvl5pPr algn="l">
              <a:defRPr sz="2625" b="0">
                <a:solidFill>
                  <a:srgbClr val="263449"/>
                </a:solidFill>
                <a:latin typeface="Arial"/>
                <a:ea typeface="Arial"/>
                <a:cs typeface="Arial"/>
              </a:defRPr>
            </a:lvl5pPr>
            <a:lvl6pPr algn="l">
              <a:defRPr sz="2625" b="0">
                <a:solidFill>
                  <a:srgbClr val="263449"/>
                </a:solidFill>
                <a:latin typeface="Arial"/>
                <a:ea typeface="Arial"/>
                <a:cs typeface="Arial"/>
              </a:defRPr>
            </a:lvl6pPr>
            <a:lvl7pPr algn="l">
              <a:defRPr sz="2625" b="0">
                <a:solidFill>
                  <a:srgbClr val="263449"/>
                </a:solidFill>
                <a:latin typeface="Arial"/>
                <a:ea typeface="Arial"/>
                <a:cs typeface="Arial"/>
              </a:defRPr>
            </a:lvl7pPr>
            <a:lvl8pPr algn="l">
              <a:defRPr sz="2625" b="0">
                <a:solidFill>
                  <a:srgbClr val="263449"/>
                </a:solidFill>
                <a:latin typeface="Arial"/>
                <a:ea typeface="Arial"/>
                <a:cs typeface="Arial"/>
              </a:defRPr>
            </a:lvl8pPr>
            <a:lvl9pPr algn="l">
              <a:defRPr sz="2625" b="0">
                <a:solidFill>
                  <a:srgbClr val="263449"/>
                </a:solidFill>
                <a:latin typeface="Arial"/>
                <a:ea typeface="Arial"/>
                <a:cs typeface="Arial"/>
              </a:defRPr>
            </a:lvl9pPr>
          </a:lstStyle>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Are prediction-market prices good probabilities,</a:t>
            </a:r>
          </a:p>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and can a model do better?</a:t>
            </a:r>
          </a:p>
        </p:txBody>
      </p:sp>
      <p:sp>
        <p:nvSpPr>
          <p:cNvPr id="4" name="authors">
            <a:extLst xmlns:a="http://schemas.openxmlformats.org/drawingml/2006/main">
              <a:ext uri="{FF2B5EF4-FFF2-40B4-BE49-F238E27FC236}">
                <a16:creationId xmlns:a16="http://schemas.microsoft.com/office/drawing/2014/main" id="{678A7F1E-21D9-44E9-88A5-430956A7FABB}"/>
              </a:ext>
            </a:extLst>
          </p:cNvPr>
          <p:cNvSpPr>
            <a:spLocks xmlns:a="http://schemas.openxmlformats.org/drawingml/2006/main" noGrp="1"/>
          </p:cNvSpPr>
          <p:nvPr/>
        </p:nvSpPr>
        <p:spPr>
          <a:xfrm xmlns:a="http://schemas.openxmlformats.org/drawingml/2006/main">
            <a:off x="609600" y="53149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15C8C"/>
                </a:solidFill>
                <a:latin typeface="Arial"/>
                <a:ea typeface="Arial"/>
                <a:cs typeface="Arial"/>
              </a:defRPr>
            </a:defPPr>
            <a:lvl1pPr algn="l">
              <a:defRPr sz="2025" b="0">
                <a:solidFill>
                  <a:srgbClr val="315C8C"/>
                </a:solidFill>
                <a:latin typeface="Arial"/>
                <a:ea typeface="Arial"/>
                <a:cs typeface="Arial"/>
              </a:defRPr>
            </a:lvl1pPr>
            <a:lvl2pPr algn="l">
              <a:defRPr sz="2025" b="0">
                <a:solidFill>
                  <a:srgbClr val="315C8C"/>
                </a:solidFill>
                <a:latin typeface="Arial"/>
                <a:ea typeface="Arial"/>
                <a:cs typeface="Arial"/>
              </a:defRPr>
            </a:lvl2pPr>
            <a:lvl3pPr algn="l">
              <a:defRPr sz="2025" b="0">
                <a:solidFill>
                  <a:srgbClr val="315C8C"/>
                </a:solidFill>
                <a:latin typeface="Arial"/>
                <a:ea typeface="Arial"/>
                <a:cs typeface="Arial"/>
              </a:defRPr>
            </a:lvl3pPr>
            <a:lvl4pPr algn="l">
              <a:defRPr sz="2025" b="0">
                <a:solidFill>
                  <a:srgbClr val="315C8C"/>
                </a:solidFill>
                <a:latin typeface="Arial"/>
                <a:ea typeface="Arial"/>
                <a:cs typeface="Arial"/>
              </a:defRPr>
            </a:lvl4pPr>
            <a:lvl5pPr algn="l">
              <a:defRPr sz="2025" b="0">
                <a:solidFill>
                  <a:srgbClr val="315C8C"/>
                </a:solidFill>
                <a:latin typeface="Arial"/>
                <a:ea typeface="Arial"/>
                <a:cs typeface="Arial"/>
              </a:defRPr>
            </a:lvl5pPr>
            <a:lvl6pPr algn="l">
              <a:defRPr sz="2025" b="0">
                <a:solidFill>
                  <a:srgbClr val="315C8C"/>
                </a:solidFill>
                <a:latin typeface="Arial"/>
                <a:ea typeface="Arial"/>
                <a:cs typeface="Arial"/>
              </a:defRPr>
            </a:lvl6pPr>
            <a:lvl7pPr algn="l">
              <a:defRPr sz="2025" b="0">
                <a:solidFill>
                  <a:srgbClr val="315C8C"/>
                </a:solidFill>
                <a:latin typeface="Arial"/>
                <a:ea typeface="Arial"/>
                <a:cs typeface="Arial"/>
              </a:defRPr>
            </a:lvl7pPr>
            <a:lvl8pPr algn="l">
              <a:defRPr sz="2025" b="0">
                <a:solidFill>
                  <a:srgbClr val="315C8C"/>
                </a:solidFill>
                <a:latin typeface="Arial"/>
                <a:ea typeface="Arial"/>
                <a:cs typeface="Arial"/>
              </a:defRPr>
            </a:lvl8pPr>
            <a:lvl9pPr algn="l">
              <a:defRPr sz="2025" b="0">
                <a:solidFill>
                  <a:srgbClr val="315C8C"/>
                </a:solidFill>
                <a:latin typeface="Arial"/>
                <a:ea typeface="Arial"/>
                <a:cs typeface="Arial"/>
              </a:defRPr>
            </a:lvl9pPr>
          </a:lstStyle>
          <a:p xmlns:a="http://schemas.openxmlformats.org/drawingml/2006/main">
            <a:pPr algn="l">
              <a:defRPr sz="2025" b="0">
                <a:solidFill>
                  <a:srgbClr val="315C8C"/>
                </a:solidFill>
                <a:latin typeface="Arial"/>
                <a:ea typeface="Arial"/>
                <a:cs typeface="Arial"/>
              </a:defRPr>
            </a:pPr>
            <a:r>
              <a:rPr sz="2025" b="0">
                <a:solidFill>
                  <a:srgbClr val="315C8C"/>
                </a:solidFill>
                <a:latin typeface="Arial"/>
                <a:ea typeface="Arial"/>
                <a:cs typeface="Arial"/>
              </a:rPr>
              <a:t>Leo Wong   /   Aaron Wen   /   Jiahong Chen</a:t>
            </a:r>
          </a:p>
        </p:txBody>
      </p:sp>
      <p:sp>
        <p:nvSpPr>
          <p:cNvPr id="5" name="project">
            <a:extLst xmlns:a="http://schemas.openxmlformats.org/drawingml/2006/main">
              <a:ext uri="{FF2B5EF4-FFF2-40B4-BE49-F238E27FC236}">
                <a16:creationId xmlns:a16="http://schemas.microsoft.com/office/drawing/2014/main" id="{5CDBC4C0-1487-434F-A615-5B5F20575C5D}"/>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7085"/>
                </a:solidFill>
                <a:latin typeface="Arial"/>
                <a:ea typeface="Arial"/>
                <a:cs typeface="Arial"/>
              </a:defRPr>
            </a:defPPr>
            <a:lvl1pPr algn="l">
              <a:defRPr sz="1725" b="0">
                <a:solidFill>
                  <a:srgbClr val="627085"/>
                </a:solidFill>
                <a:latin typeface="Arial"/>
                <a:ea typeface="Arial"/>
                <a:cs typeface="Arial"/>
              </a:defRPr>
            </a:lvl1pPr>
            <a:lvl2pPr algn="l">
              <a:defRPr sz="1725" b="0">
                <a:solidFill>
                  <a:srgbClr val="627085"/>
                </a:solidFill>
                <a:latin typeface="Arial"/>
                <a:ea typeface="Arial"/>
                <a:cs typeface="Arial"/>
              </a:defRPr>
            </a:lvl2pPr>
            <a:lvl3pPr algn="l">
              <a:defRPr sz="1725" b="0">
                <a:solidFill>
                  <a:srgbClr val="627085"/>
                </a:solidFill>
                <a:latin typeface="Arial"/>
                <a:ea typeface="Arial"/>
                <a:cs typeface="Arial"/>
              </a:defRPr>
            </a:lvl3pPr>
            <a:lvl4pPr algn="l">
              <a:defRPr sz="1725" b="0">
                <a:solidFill>
                  <a:srgbClr val="627085"/>
                </a:solidFill>
                <a:latin typeface="Arial"/>
                <a:ea typeface="Arial"/>
                <a:cs typeface="Arial"/>
              </a:defRPr>
            </a:lvl4pPr>
            <a:lvl5pPr algn="l">
              <a:defRPr sz="1725" b="0">
                <a:solidFill>
                  <a:srgbClr val="627085"/>
                </a:solidFill>
                <a:latin typeface="Arial"/>
                <a:ea typeface="Arial"/>
                <a:cs typeface="Arial"/>
              </a:defRPr>
            </a:lvl5pPr>
            <a:lvl6pPr algn="l">
              <a:defRPr sz="1725" b="0">
                <a:solidFill>
                  <a:srgbClr val="627085"/>
                </a:solidFill>
                <a:latin typeface="Arial"/>
                <a:ea typeface="Arial"/>
                <a:cs typeface="Arial"/>
              </a:defRPr>
            </a:lvl6pPr>
            <a:lvl7pPr algn="l">
              <a:defRPr sz="1725" b="0">
                <a:solidFill>
                  <a:srgbClr val="627085"/>
                </a:solidFill>
                <a:latin typeface="Arial"/>
                <a:ea typeface="Arial"/>
                <a:cs typeface="Arial"/>
              </a:defRPr>
            </a:lvl7pPr>
            <a:lvl8pPr algn="l">
              <a:defRPr sz="1725" b="0">
                <a:solidFill>
                  <a:srgbClr val="627085"/>
                </a:solidFill>
                <a:latin typeface="Arial"/>
                <a:ea typeface="Arial"/>
                <a:cs typeface="Arial"/>
              </a:defRPr>
            </a:lvl8pPr>
            <a:lvl9pPr algn="l">
              <a:defRPr sz="1725" b="0">
                <a:solidFill>
                  <a:srgbClr val="627085"/>
                </a:solidFill>
                <a:latin typeface="Arial"/>
                <a:ea typeface="Arial"/>
                <a:cs typeface="Arial"/>
              </a:defRPr>
            </a:lvl9pPr>
          </a:lstStyle>
          <a:p xmlns:a="http://schemas.openxmlformats.org/drawingml/2006/main">
            <a:pPr algn="l">
              <a:defRPr sz="1725" b="0">
                <a:solidFill>
                  <a:srgbClr val="627085"/>
                </a:solidFill>
                <a:latin typeface="Arial"/>
                <a:ea typeface="Arial"/>
                <a:cs typeface="Arial"/>
              </a:defRPr>
            </a:pPr>
            <a:r>
              <a:rPr sz="1725" b="0">
                <a:solidFill>
                  <a:srgbClr val="627085"/>
                </a:solidFill>
                <a:latin typeface="Arial"/>
                <a:ea typeface="Arial"/>
                <a:cs typeface="Arial"/>
              </a:rPr>
              <a:t>Polymarket midterm project</a:t>
            </a:r>
          </a:p>
        </p:txBody>
      </p:sp>
    </p:spTree>
    <p:extLst>
      <p:ext uri="{BB962C8B-B14F-4D97-AF65-F5344CB8AC3E}">
        <p14:creationId xmlns:p14="http://schemas.microsoft.com/office/powerpoint/2010/main" val="11422144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124931F-A1C4-49B2-AE5D-A6F88232637B}"/>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prices and wallet behavior</a:t>
            </a:r>
          </a:p>
        </p:txBody>
      </p:sp>
      <p:sp>
        <p:nvSpPr>
          <p:cNvPr id="2" name="market-heading">
            <a:extLst xmlns:a="http://schemas.openxmlformats.org/drawingml/2006/main">
              <a:ext uri="{FF2B5EF4-FFF2-40B4-BE49-F238E27FC236}">
                <a16:creationId xmlns:a16="http://schemas.microsoft.com/office/drawing/2014/main" id="{B950B2F8-6644-4C1B-B0E5-A8C21C7F9E09}"/>
              </a:ext>
            </a:extLst>
          </p:cNvPr>
          <p:cNvSpPr>
            <a:spLocks xmlns:a="http://schemas.openxmlformats.org/drawingml/2006/main" noGrp="1"/>
          </p:cNvSpPr>
          <p:nvPr/>
        </p:nvSpPr>
        <p:spPr>
          <a:xfrm xmlns:a="http://schemas.openxmlformats.org/drawingml/2006/main">
            <a:off x="609600" y="1562100"/>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Market prices</a:t>
            </a:r>
          </a:p>
        </p:txBody>
      </p:sp>
      <p:sp>
        <p:nvSpPr>
          <p:cNvPr id="3" name="market-question">
            <a:extLst xmlns:a="http://schemas.openxmlformats.org/drawingml/2006/main">
              <a:ext uri="{FF2B5EF4-FFF2-40B4-BE49-F238E27FC236}">
                <a16:creationId xmlns:a16="http://schemas.microsoft.com/office/drawing/2014/main" id="{A7189A7A-892D-44EF-B724-D499E2EB8D98}"/>
              </a:ext>
            </a:extLst>
          </p:cNvPr>
          <p:cNvSpPr>
            <a:spLocks xmlns:a="http://schemas.openxmlformats.org/drawingml/2006/main" noGrp="1"/>
          </p:cNvSpPr>
          <p:nvPr/>
        </p:nvSpPr>
        <p:spPr>
          <a:xfrm xmlns:a="http://schemas.openxmlformats.org/drawingml/2006/main">
            <a:off x="609600" y="2238375"/>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 market prices match observed outcomes?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Can recalibration or boosting improve accuracy?</a:t>
            </a:r>
          </a:p>
        </p:txBody>
      </p:sp>
      <p:sp>
        <p:nvSpPr>
          <p:cNvPr id="4" name="wallet-heading">
            <a:extLst xmlns:a="http://schemas.openxmlformats.org/drawingml/2006/main">
              <a:ext uri="{FF2B5EF4-FFF2-40B4-BE49-F238E27FC236}">
                <a16:creationId xmlns:a16="http://schemas.microsoft.com/office/drawing/2014/main" id="{9796D4A0-55FB-408E-9ECD-28715BAB9BA1}"/>
              </a:ext>
            </a:extLst>
          </p:cNvPr>
          <p:cNvSpPr>
            <a:spLocks xmlns:a="http://schemas.openxmlformats.org/drawingml/2006/main" noGrp="1"/>
          </p:cNvSpPr>
          <p:nvPr/>
        </p:nvSpPr>
        <p:spPr>
          <a:xfrm xmlns:a="http://schemas.openxmlformats.org/drawingml/2006/main">
            <a:off x="6343650" y="15621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Wallet behavior</a:t>
            </a:r>
          </a:p>
        </p:txBody>
      </p:sp>
      <p:sp>
        <p:nvSpPr>
          <p:cNvPr id="5" name="wallet-question">
            <a:extLst xmlns:a="http://schemas.openxmlformats.org/drawingml/2006/main">
              <a:ext uri="{FF2B5EF4-FFF2-40B4-BE49-F238E27FC236}">
                <a16:creationId xmlns:a16="http://schemas.microsoft.com/office/drawing/2014/main" id="{C4661CF1-5C7E-4265-911D-F72D569015CE}"/>
              </a:ext>
            </a:extLst>
          </p:cNvPr>
          <p:cNvSpPr>
            <a:spLocks xmlns:a="http://schemas.openxmlformats.org/drawingml/2006/main" noGrp="1"/>
          </p:cNvSpPr>
          <p:nvPr/>
        </p:nvSpPr>
        <p:spPr>
          <a:xfrm xmlns:a="http://schemas.openxmlformats.org/drawingml/2006/main">
            <a:off x="6343650" y="22383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How well do wallet traits predict average purchase price?</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Does boosting improve on linear regression?</a:t>
            </a:r>
          </a:p>
        </p:txBody>
      </p:sp>
      <p:sp>
        <p:nvSpPr>
          <p:cNvPr id="6" name="scope-and-source">
            <a:extLst xmlns:a="http://schemas.openxmlformats.org/drawingml/2006/main">
              <a:ext uri="{FF2B5EF4-FFF2-40B4-BE49-F238E27FC236}">
                <a16:creationId xmlns:a16="http://schemas.microsoft.com/office/drawing/2014/main" id="{7F86CF89-3993-47E2-BECF-92E8B0797AD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Final project direction: combine market and wallet evidence to investigate informed trading.</a:t>
            </a:r>
          </a:p>
        </p:txBody>
      </p:sp>
    </p:spTree>
    <p:extLst>
      <p:ext uri="{BB962C8B-B14F-4D97-AF65-F5344CB8AC3E}">
        <p14:creationId xmlns:p14="http://schemas.microsoft.com/office/powerpoint/2010/main" val="14760302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6D7D9C63-C3D0-46EE-B860-38B9E3AB0BE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Prior research</a:t>
            </a:r>
          </a:p>
        </p:txBody>
      </p:sp>
      <p:graphicFrame>
        <p:nvGraphicFramePr>
          <p:cNvPr id="2" name="">
            <a:extLst xmlns:a="http://schemas.openxmlformats.org/drawingml/2006/main">
              <a:ext uri="{FF2B5EF4-FFF2-40B4-BE49-F238E27FC236}">
                <a16:creationId xmlns:a16="http://schemas.microsoft.com/office/drawing/2014/main" id="{AADD52BE-FD52-4195-BAD6-4AA8FB665C37}"/>
              </a:ext>
            </a:extLst>
          </p:cNvPr>
          <p:cNvGraphicFramePr/>
          <p:nvPr/>
        </p:nvGraphicFramePr>
        <p:xfrm>
          <a:off xmlns:a="http://schemas.openxmlformats.org/drawingml/2006/main" x="609600" y="1419225"/>
          <a:ext xmlns:a="http://schemas.openxmlformats.org/drawingml/2006/main" cx="10972800" cy="3733800"/>
        </p:xfrm>
        <a:graphic xmlns:a="http://schemas.openxmlformats.org/drawingml/2006/main">
          <a:graphicData uri="http://schemas.openxmlformats.org/drawingml/2006/table">
            <a:tbl>
              <a:tblPr/>
              <a:tblGrid>
                <a:gridCol w="4343400"/>
                <a:gridCol w="6629400"/>
              </a:tblGrid>
              <a:tr h="495300">
                <a:tc>
                  <a:txBody>
                    <a:bodyPr lIns="152400" tIns="95250" rIns="133350" bIns="95250"/>
                    <a:lstStyle/>
                    <a:p>
                      <a:r>
                        <a:rPr sz="1875" b="1">
                          <a:solidFill>
                            <a:srgbClr val="FFFFFF"/>
                          </a:solidFill>
                          <a:latin typeface="Arial"/>
                          <a:ea typeface="Arial"/>
                          <a:cs typeface="Arial"/>
                        </a:rPr>
                        <a:t>Study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Main finding</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09625">
                <a:tc>
                  <a:txBody>
                    <a:bodyPr lIns="152400" tIns="95250" rIns="133350" bIns="95250"/>
                    <a:lstStyle/>
                    <a:p>
                      <a:r>
                        <a:rPr sz="1875" b="0">
                          <a:solidFill>
                            <a:srgbClr val="263449"/>
                          </a:solidFill>
                          <a:latin typeface="Arial"/>
                          <a:ea typeface="Arial"/>
                          <a:cs typeface="Arial"/>
                        </a:rPr>
                        <a:t>Thaler &amp; Ziemba (1988)</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Betting markets can show pricing anomalies.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Snowberg &amp; Wolfers (2010)</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Longshots tend to be overbet and favorites underbet.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Wolfers &amp; Zitzewitz (2004)</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Prediction markets often produce accurate forecasts.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Page &amp; Clemen (2013)</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Calibration tends to improve closer to expiry.</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cope-and-source">
            <a:extLst xmlns:a="http://schemas.openxmlformats.org/drawingml/2006/main">
              <a:ext uri="{FF2B5EF4-FFF2-40B4-BE49-F238E27FC236}">
                <a16:creationId xmlns:a16="http://schemas.microsoft.com/office/drawing/2014/main" id="{EAC97D5F-E5D6-461F-A439-C41C02E5EED9}"/>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Sources: JEP 2(2):161–174; JPE 118(4):723–746; JEP 18(2):107–126; Economic Journal 123(568):491–513</a:t>
            </a:r>
          </a:p>
        </p:txBody>
      </p:sp>
    </p:spTree>
    <p:extLst>
      <p:ext uri="{BB962C8B-B14F-4D97-AF65-F5344CB8AC3E}">
        <p14:creationId xmlns:p14="http://schemas.microsoft.com/office/powerpoint/2010/main" val="17432081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427A5B56-DF85-42E8-85FF-7A448218521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Prices as probabilities</a:t>
            </a:r>
          </a:p>
        </p:txBody>
      </p:sp>
      <p:sp>
        <p:nvSpPr>
          <p:cNvPr id="2" name="expected-profit">
            <a:extLst xmlns:a="http://schemas.openxmlformats.org/drawingml/2006/main">
              <a:ext uri="{FF2B5EF4-FFF2-40B4-BE49-F238E27FC236}">
                <a16:creationId xmlns:a16="http://schemas.microsoft.com/office/drawing/2014/main" id="{3F567C40-99BE-4243-ACA8-0A5E9ECB8FBC}"/>
              </a:ext>
            </a:extLst>
          </p:cNvPr>
          <p:cNvSpPr>
            <a:spLocks xmlns:a="http://schemas.openxmlformats.org/drawingml/2006/main" noGrp="1"/>
          </p:cNvSpPr>
          <p:nvPr/>
        </p:nvSpPr>
        <p:spPr>
          <a:xfrm xmlns:a="http://schemas.openxmlformats.org/drawingml/2006/main">
            <a:off x="609600" y="16002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315C8C"/>
                </a:solidFill>
                <a:latin typeface="Arial"/>
                <a:ea typeface="Arial"/>
                <a:cs typeface="Arial"/>
              </a:defRPr>
            </a:defPPr>
            <a:lvl1pPr algn="l">
              <a:defRPr sz="4050" b="1">
                <a:solidFill>
                  <a:srgbClr val="315C8C"/>
                </a:solidFill>
                <a:latin typeface="Arial"/>
                <a:ea typeface="Arial"/>
                <a:cs typeface="Arial"/>
              </a:defRPr>
            </a:lvl1pPr>
            <a:lvl2pPr algn="l">
              <a:defRPr sz="4050" b="1">
                <a:solidFill>
                  <a:srgbClr val="315C8C"/>
                </a:solidFill>
                <a:latin typeface="Arial"/>
                <a:ea typeface="Arial"/>
                <a:cs typeface="Arial"/>
              </a:defRPr>
            </a:lvl2pPr>
            <a:lvl3pPr algn="l">
              <a:defRPr sz="4050" b="1">
                <a:solidFill>
                  <a:srgbClr val="315C8C"/>
                </a:solidFill>
                <a:latin typeface="Arial"/>
                <a:ea typeface="Arial"/>
                <a:cs typeface="Arial"/>
              </a:defRPr>
            </a:lvl3pPr>
            <a:lvl4pPr algn="l">
              <a:defRPr sz="4050" b="1">
                <a:solidFill>
                  <a:srgbClr val="315C8C"/>
                </a:solidFill>
                <a:latin typeface="Arial"/>
                <a:ea typeface="Arial"/>
                <a:cs typeface="Arial"/>
              </a:defRPr>
            </a:lvl4pPr>
            <a:lvl5pPr algn="l">
              <a:defRPr sz="4050" b="1">
                <a:solidFill>
                  <a:srgbClr val="315C8C"/>
                </a:solidFill>
                <a:latin typeface="Arial"/>
                <a:ea typeface="Arial"/>
                <a:cs typeface="Arial"/>
              </a:defRPr>
            </a:lvl5pPr>
            <a:lvl6pPr algn="l">
              <a:defRPr sz="4050" b="1">
                <a:solidFill>
                  <a:srgbClr val="315C8C"/>
                </a:solidFill>
                <a:latin typeface="Arial"/>
                <a:ea typeface="Arial"/>
                <a:cs typeface="Arial"/>
              </a:defRPr>
            </a:lvl6pPr>
            <a:lvl7pPr algn="l">
              <a:defRPr sz="4050" b="1">
                <a:solidFill>
                  <a:srgbClr val="315C8C"/>
                </a:solidFill>
                <a:latin typeface="Arial"/>
                <a:ea typeface="Arial"/>
                <a:cs typeface="Arial"/>
              </a:defRPr>
            </a:lvl7pPr>
            <a:lvl8pPr algn="l">
              <a:defRPr sz="4050" b="1">
                <a:solidFill>
                  <a:srgbClr val="315C8C"/>
                </a:solidFill>
                <a:latin typeface="Arial"/>
                <a:ea typeface="Arial"/>
                <a:cs typeface="Arial"/>
              </a:defRPr>
            </a:lvl8pPr>
            <a:lvl9pPr algn="l">
              <a:defRPr sz="4050" b="1">
                <a:solidFill>
                  <a:srgbClr val="315C8C"/>
                </a:solidFill>
                <a:latin typeface="Arial"/>
                <a:ea typeface="Arial"/>
                <a:cs typeface="Arial"/>
              </a:defRPr>
            </a:lvl9pPr>
          </a:lstStyle>
          <a:p xmlns:a="http://schemas.openxmlformats.org/drawingml/2006/main">
            <a:pPr algn="l">
              <a:defRPr sz="4050" b="1">
                <a:solidFill>
                  <a:srgbClr val="315C8C"/>
                </a:solidFill>
                <a:latin typeface="Arial"/>
                <a:ea typeface="Arial"/>
                <a:cs typeface="Arial"/>
              </a:defRPr>
            </a:pPr>
            <a:r>
              <a:rPr sz="4050" b="1">
                <a:solidFill>
                  <a:srgbClr val="315C8C"/>
                </a:solidFill>
                <a:latin typeface="Arial"/>
                <a:ea typeface="Arial"/>
                <a:cs typeface="Arial"/>
              </a:rPr>
              <a:t>E[profit] = p − c</a:t>
            </a:r>
          </a:p>
        </p:txBody>
      </p:sp>
      <p:sp>
        <p:nvSpPr>
          <p:cNvPr id="3" name="formula-context">
            <a:extLst xmlns:a="http://schemas.openxmlformats.org/drawingml/2006/main">
              <a:ext uri="{FF2B5EF4-FFF2-40B4-BE49-F238E27FC236}">
                <a16:creationId xmlns:a16="http://schemas.microsoft.com/office/drawing/2014/main" id="{5207B84F-5EA9-4318-93FE-C246F7C5D341}"/>
              </a:ext>
            </a:extLst>
          </p:cNvPr>
          <p:cNvSpPr>
            <a:spLocks xmlns:a="http://schemas.openxmlformats.org/drawingml/2006/main" noGrp="1"/>
          </p:cNvSpPr>
          <p:nvPr/>
        </p:nvSpPr>
        <p:spPr>
          <a:xfrm xmlns:a="http://schemas.openxmlformats.org/drawingml/2006/main">
            <a:off x="609600" y="2752725"/>
            <a:ext cx="5238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 Yes share pays $1 if the event occurs.</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p is your belief. c is the price.</a:t>
            </a:r>
          </a:p>
        </p:txBody>
      </p:sp>
      <p:sp>
        <p:nvSpPr>
          <p:cNvPr id="4" name="calibration">
            <a:extLst xmlns:a="http://schemas.openxmlformats.org/drawingml/2006/main">
              <a:ext uri="{FF2B5EF4-FFF2-40B4-BE49-F238E27FC236}">
                <a16:creationId xmlns:a16="http://schemas.microsoft.com/office/drawing/2014/main" id="{2DB29834-4D40-428D-BDBB-4EA756362118}"/>
              </a:ext>
            </a:extLst>
          </p:cNvPr>
          <p:cNvSpPr>
            <a:spLocks xmlns:a="http://schemas.openxmlformats.org/drawingml/2006/main" noGrp="1"/>
          </p:cNvSpPr>
          <p:nvPr/>
        </p:nvSpPr>
        <p:spPr>
          <a:xfrm xmlns:a="http://schemas.openxmlformats.org/drawingml/2006/main">
            <a:off x="6667500" y="15906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Calibration</a:t>
            </a:r>
          </a:p>
        </p:txBody>
      </p:sp>
      <p:sp>
        <p:nvSpPr>
          <p:cNvPr id="5" name="calibration-explainer">
            <a:extLst xmlns:a="http://schemas.openxmlformats.org/drawingml/2006/main">
              <a:ext uri="{FF2B5EF4-FFF2-40B4-BE49-F238E27FC236}">
                <a16:creationId xmlns:a16="http://schemas.microsoft.com/office/drawing/2014/main" id="{333D8355-F650-4C43-827C-BD40B5265B28}"/>
              </a:ext>
            </a:extLst>
          </p:cNvPr>
          <p:cNvSpPr>
            <a:spLocks xmlns:a="http://schemas.openxmlformats.org/drawingml/2006/main" noGrp="1"/>
          </p:cNvSpPr>
          <p:nvPr/>
        </p:nvSpPr>
        <p:spPr>
          <a:xfrm xmlns:a="http://schemas.openxmlformats.org/drawingml/2006/main">
            <a:off x="6667500" y="2209800"/>
            <a:ext cx="4914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Among events priced at 30%,</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do about 30% resolve Yes?</a:t>
            </a:r>
          </a:p>
        </p:txBody>
      </p:sp>
      <p:sp>
        <p:nvSpPr>
          <p:cNvPr id="6" name="prediction">
            <a:extLst xmlns:a="http://schemas.openxmlformats.org/drawingml/2006/main">
              <a:ext uri="{FF2B5EF4-FFF2-40B4-BE49-F238E27FC236}">
                <a16:creationId xmlns:a16="http://schemas.microsoft.com/office/drawing/2014/main" id="{865A2398-CE1D-4457-97CC-8B4AAC1AD56B}"/>
              </a:ext>
            </a:extLst>
          </p:cNvPr>
          <p:cNvSpPr>
            <a:spLocks xmlns:a="http://schemas.openxmlformats.org/drawingml/2006/main" noGrp="1"/>
          </p:cNvSpPr>
          <p:nvPr/>
        </p:nvSpPr>
        <p:spPr>
          <a:xfrm xmlns:a="http://schemas.openxmlformats.org/drawingml/2006/main">
            <a:off x="6667500" y="37242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Model comparison</a:t>
            </a:r>
          </a:p>
        </p:txBody>
      </p:sp>
      <p:sp>
        <p:nvSpPr>
          <p:cNvPr id="7" name="prediction-explainer">
            <a:extLst xmlns:a="http://schemas.openxmlformats.org/drawingml/2006/main">
              <a:ext uri="{FF2B5EF4-FFF2-40B4-BE49-F238E27FC236}">
                <a16:creationId xmlns:a16="http://schemas.microsoft.com/office/drawing/2014/main" id="{6CAB4F0D-A2B2-4540-8797-7C5F07C8F139}"/>
              </a:ext>
            </a:extLst>
          </p:cNvPr>
          <p:cNvSpPr>
            <a:spLocks xmlns:a="http://schemas.openxmlformats.org/drawingml/2006/main" noGrp="1"/>
          </p:cNvSpPr>
          <p:nvPr/>
        </p:nvSpPr>
        <p:spPr>
          <a:xfrm xmlns:a="http://schemas.openxmlformats.org/drawingml/2006/main">
            <a:off x="6667500" y="4343400"/>
            <a:ext cx="49149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Can a model improve on the price</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using information available at the time?</a:t>
            </a:r>
          </a:p>
        </p:txBody>
      </p:sp>
      <p:sp>
        <p:nvSpPr>
          <p:cNvPr id="8" name="scope-and-source">
            <a:extLst xmlns:a="http://schemas.openxmlformats.org/drawingml/2006/main">
              <a:ext uri="{FF2B5EF4-FFF2-40B4-BE49-F238E27FC236}">
                <a16:creationId xmlns:a16="http://schemas.microsoft.com/office/drawing/2014/main" id="{291FFEDE-A93C-4EF1-9216-7D38F75AFBF8}"/>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Expected profit is per share before trading costs.</a:t>
            </a:r>
          </a:p>
        </p:txBody>
      </p:sp>
    </p:spTree>
    <p:extLst>
      <p:ext uri="{BB962C8B-B14F-4D97-AF65-F5344CB8AC3E}">
        <p14:creationId xmlns:p14="http://schemas.microsoft.com/office/powerpoint/2010/main" val="16272383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5D329DB3-7295-436F-A0BA-F2197924B8F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data and evaluation</a:t>
            </a:r>
          </a:p>
        </p:txBody>
      </p:sp>
      <p:sp>
        <p:nvSpPr>
          <p:cNvPr id="2" name="market-total">
            <a:extLst xmlns:a="http://schemas.openxmlformats.org/drawingml/2006/main">
              <a:ext uri="{FF2B5EF4-FFF2-40B4-BE49-F238E27FC236}">
                <a16:creationId xmlns:a16="http://schemas.microsoft.com/office/drawing/2014/main" id="{5A7EFAD6-FAC6-4FB5-85D0-BA04CCD5E30B}"/>
              </a:ext>
            </a:extLst>
          </p:cNvPr>
          <p:cNvSpPr>
            <a:spLocks xmlns:a="http://schemas.openxmlformats.org/drawingml/2006/main" noGrp="1"/>
          </p:cNvSpPr>
          <p:nvPr/>
        </p:nvSpPr>
        <p:spPr>
          <a:xfrm xmlns:a="http://schemas.openxmlformats.org/drawingml/2006/main">
            <a:off x="609600" y="13811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7,479 markets</a:t>
            </a:r>
          </a:p>
        </p:txBody>
      </p:sp>
      <p:sp>
        <p:nvSpPr>
          <p:cNvPr id="3" name="market-sample">
            <a:extLst xmlns:a="http://schemas.openxmlformats.org/drawingml/2006/main">
              <a:ext uri="{FF2B5EF4-FFF2-40B4-BE49-F238E27FC236}">
                <a16:creationId xmlns:a16="http://schemas.microsoft.com/office/drawing/2014/main" id="{942A2BBE-C1D7-49D5-9F09-F9307D78251E}"/>
              </a:ext>
            </a:extLst>
          </p:cNvPr>
          <p:cNvSpPr>
            <a:spLocks xmlns:a="http://schemas.openxmlformats.org/drawingml/2006/main" noGrp="1"/>
          </p:cNvSpPr>
          <p:nvPr/>
        </p:nvSpPr>
        <p:spPr>
          <a:xfrm xmlns:a="http://schemas.openxmlformats.org/drawingml/2006/main">
            <a:off x="609600" y="2095500"/>
            <a:ext cx="5429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Resolved Yes/No markets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Politics, Technology, Entertainment, Economy</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Markets closing June–October 2026</a:t>
            </a:r>
          </a:p>
        </p:txBody>
      </p:sp>
      <p:sp>
        <p:nvSpPr>
          <p:cNvPr id="4" name="trade-total">
            <a:extLst xmlns:a="http://schemas.openxmlformats.org/drawingml/2006/main">
              <a:ext uri="{FF2B5EF4-FFF2-40B4-BE49-F238E27FC236}">
                <a16:creationId xmlns:a16="http://schemas.microsoft.com/office/drawing/2014/main" id="{20C60087-4DFA-42A8-8378-01130FEF491E}"/>
              </a:ext>
            </a:extLst>
          </p:cNvPr>
          <p:cNvSpPr>
            <a:spLocks xmlns:a="http://schemas.openxmlformats.org/drawingml/2006/main" noGrp="1"/>
          </p:cNvSpPr>
          <p:nvPr/>
        </p:nvSpPr>
        <p:spPr>
          <a:xfrm xmlns:a="http://schemas.openxmlformats.org/drawingml/2006/main">
            <a:off x="609600" y="40100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4.1M trades</a:t>
            </a:r>
          </a:p>
        </p:txBody>
      </p:sp>
      <p:sp>
        <p:nvSpPr>
          <p:cNvPr id="5" name="horizons">
            <a:extLst xmlns:a="http://schemas.openxmlformats.org/drawingml/2006/main">
              <a:ext uri="{FF2B5EF4-FFF2-40B4-BE49-F238E27FC236}">
                <a16:creationId xmlns:a16="http://schemas.microsoft.com/office/drawing/2014/main" id="{7F72331D-F865-443A-8129-AB0D4C0B40FA}"/>
              </a:ext>
            </a:extLst>
          </p:cNvPr>
          <p:cNvSpPr>
            <a:spLocks xmlns:a="http://schemas.openxmlformats.org/drawingml/2006/main" noGrp="1"/>
          </p:cNvSpPr>
          <p:nvPr/>
        </p:nvSpPr>
        <p:spPr>
          <a:xfrm xmlns:a="http://schemas.openxmlformats.org/drawingml/2006/main">
            <a:off x="609600" y="4724400"/>
            <a:ext cx="5429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Last trade before 6h, 24h, 3d, and 7d</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before market close</a:t>
            </a:r>
          </a:p>
        </p:txBody>
      </p:sp>
      <p:sp>
        <p:nvSpPr>
          <p:cNvPr id="6" name="evaluation-heading">
            <a:extLst xmlns:a="http://schemas.openxmlformats.org/drawingml/2006/main">
              <a:ext uri="{FF2B5EF4-FFF2-40B4-BE49-F238E27FC236}">
                <a16:creationId xmlns:a16="http://schemas.microsoft.com/office/drawing/2014/main" id="{BADA9AF8-0DB6-49DA-95E0-834C3A2407B6}"/>
              </a:ext>
            </a:extLst>
          </p:cNvPr>
          <p:cNvSpPr>
            <a:spLocks xmlns:a="http://schemas.openxmlformats.org/drawingml/2006/main" noGrp="1"/>
          </p:cNvSpPr>
          <p:nvPr/>
        </p:nvSpPr>
        <p:spPr>
          <a:xfrm xmlns:a="http://schemas.openxmlformats.org/drawingml/2006/main">
            <a:off x="6667500" y="142875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Evaluation</a:t>
            </a:r>
          </a:p>
        </p:txBody>
      </p:sp>
      <p:sp>
        <p:nvSpPr>
          <p:cNvPr id="7" name="evaluation">
            <a:extLst xmlns:a="http://schemas.openxmlformats.org/drawingml/2006/main">
              <a:ext uri="{FF2B5EF4-FFF2-40B4-BE49-F238E27FC236}">
                <a16:creationId xmlns:a16="http://schemas.microsoft.com/office/drawing/2014/main" id="{37A48D14-CB3D-4002-A9F6-CE73C67EEFFE}"/>
              </a:ext>
            </a:extLst>
          </p:cNvPr>
          <p:cNvSpPr>
            <a:spLocks xmlns:a="http://schemas.openxmlformats.org/drawingml/2006/main" noGrp="1"/>
          </p:cNvSpPr>
          <p:nvPr/>
        </p:nvSpPr>
        <p:spPr>
          <a:xfrm xmlns:a="http://schemas.openxmlformats.org/drawingml/2006/main">
            <a:off x="6667500" y="2095500"/>
            <a:ext cx="49149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449"/>
                </a:solidFill>
                <a:latin typeface="Arial"/>
                <a:ea typeface="Arial"/>
                <a:cs typeface="Arial"/>
              </a:defRPr>
            </a:defPPr>
            <a:lvl1pPr algn="l">
              <a:defRPr sz="2100" b="0">
                <a:solidFill>
                  <a:srgbClr val="263449"/>
                </a:solidFill>
                <a:latin typeface="Arial"/>
                <a:ea typeface="Arial"/>
                <a:cs typeface="Arial"/>
              </a:defRPr>
            </a:lvl1pPr>
            <a:lvl2pPr algn="l">
              <a:defRPr sz="2100" b="0">
                <a:solidFill>
                  <a:srgbClr val="263449"/>
                </a:solidFill>
                <a:latin typeface="Arial"/>
                <a:ea typeface="Arial"/>
                <a:cs typeface="Arial"/>
              </a:defRPr>
            </a:lvl2pPr>
            <a:lvl3pPr algn="l">
              <a:defRPr sz="2100" b="0">
                <a:solidFill>
                  <a:srgbClr val="263449"/>
                </a:solidFill>
                <a:latin typeface="Arial"/>
                <a:ea typeface="Arial"/>
                <a:cs typeface="Arial"/>
              </a:defRPr>
            </a:lvl3pPr>
            <a:lvl4pPr algn="l">
              <a:defRPr sz="2100" b="0">
                <a:solidFill>
                  <a:srgbClr val="263449"/>
                </a:solidFill>
                <a:latin typeface="Arial"/>
                <a:ea typeface="Arial"/>
                <a:cs typeface="Arial"/>
              </a:defRPr>
            </a:lvl4pPr>
            <a:lvl5pPr algn="l">
              <a:defRPr sz="2100" b="0">
                <a:solidFill>
                  <a:srgbClr val="263449"/>
                </a:solidFill>
                <a:latin typeface="Arial"/>
                <a:ea typeface="Arial"/>
                <a:cs typeface="Arial"/>
              </a:defRPr>
            </a:lvl5pPr>
            <a:lvl6pPr algn="l">
              <a:defRPr sz="2100" b="0">
                <a:solidFill>
                  <a:srgbClr val="263449"/>
                </a:solidFill>
                <a:latin typeface="Arial"/>
                <a:ea typeface="Arial"/>
                <a:cs typeface="Arial"/>
              </a:defRPr>
            </a:lvl6pPr>
            <a:lvl7pPr algn="l">
              <a:defRPr sz="2100" b="0">
                <a:solidFill>
                  <a:srgbClr val="263449"/>
                </a:solidFill>
                <a:latin typeface="Arial"/>
                <a:ea typeface="Arial"/>
                <a:cs typeface="Arial"/>
              </a:defRPr>
            </a:lvl7pPr>
            <a:lvl8pPr algn="l">
              <a:defRPr sz="2100" b="0">
                <a:solidFill>
                  <a:srgbClr val="263449"/>
                </a:solidFill>
                <a:latin typeface="Arial"/>
                <a:ea typeface="Arial"/>
                <a:cs typeface="Arial"/>
              </a:defRPr>
            </a:lvl8pPr>
            <a:lvl9pPr algn="l">
              <a:defRPr sz="2100" b="0">
                <a:solidFill>
                  <a:srgbClr val="263449"/>
                </a:solidFill>
                <a:latin typeface="Arial"/>
                <a:ea typeface="Arial"/>
                <a:cs typeface="Arial"/>
              </a:defRPr>
            </a:lvl9pPr>
          </a:lstStyle>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Compare prices with resolved outcomes.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Use calibration curves and Brier scores.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Resample whole events for uncertainty.</a:t>
            </a:r>
          </a:p>
        </p:txBody>
      </p:sp>
      <p:sp>
        <p:nvSpPr>
          <p:cNvPr id="8" name="book-validation">
            <a:extLst xmlns:a="http://schemas.openxmlformats.org/drawingml/2006/main">
              <a:ext uri="{FF2B5EF4-FFF2-40B4-BE49-F238E27FC236}">
                <a16:creationId xmlns:a16="http://schemas.microsoft.com/office/drawing/2014/main" id="{61178BB9-185E-4C9C-86E1-C1258E5FE1F3}"/>
              </a:ext>
            </a:extLst>
          </p:cNvPr>
          <p:cNvSpPr>
            <a:spLocks xmlns:a="http://schemas.openxmlformats.org/drawingml/2006/main" noGrp="1"/>
          </p:cNvSpPr>
          <p:nvPr/>
        </p:nvSpPr>
        <p:spPr>
          <a:xfrm xmlns:a="http://schemas.openxmlformats.org/drawingml/2006/main">
            <a:off x="6667500" y="41052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63449"/>
                </a:solidFill>
                <a:latin typeface="Arial"/>
                <a:ea typeface="Arial"/>
                <a:cs typeface="Arial"/>
              </a:defRPr>
            </a:defPPr>
            <a:lvl1pPr algn="l">
              <a:defRPr sz="2175" b="1">
                <a:solidFill>
                  <a:srgbClr val="263449"/>
                </a:solidFill>
                <a:latin typeface="Arial"/>
                <a:ea typeface="Arial"/>
                <a:cs typeface="Arial"/>
              </a:defRPr>
            </a:lvl1pPr>
            <a:lvl2pPr algn="l">
              <a:defRPr sz="2175" b="1">
                <a:solidFill>
                  <a:srgbClr val="263449"/>
                </a:solidFill>
                <a:latin typeface="Arial"/>
                <a:ea typeface="Arial"/>
                <a:cs typeface="Arial"/>
              </a:defRPr>
            </a:lvl2pPr>
            <a:lvl3pPr algn="l">
              <a:defRPr sz="2175" b="1">
                <a:solidFill>
                  <a:srgbClr val="263449"/>
                </a:solidFill>
                <a:latin typeface="Arial"/>
                <a:ea typeface="Arial"/>
                <a:cs typeface="Arial"/>
              </a:defRPr>
            </a:lvl3pPr>
            <a:lvl4pPr algn="l">
              <a:defRPr sz="2175" b="1">
                <a:solidFill>
                  <a:srgbClr val="263449"/>
                </a:solidFill>
                <a:latin typeface="Arial"/>
                <a:ea typeface="Arial"/>
                <a:cs typeface="Arial"/>
              </a:defRPr>
            </a:lvl4pPr>
            <a:lvl5pPr algn="l">
              <a:defRPr sz="2175" b="1">
                <a:solidFill>
                  <a:srgbClr val="263449"/>
                </a:solidFill>
                <a:latin typeface="Arial"/>
                <a:ea typeface="Arial"/>
                <a:cs typeface="Arial"/>
              </a:defRPr>
            </a:lvl5pPr>
            <a:lvl6pPr algn="l">
              <a:defRPr sz="2175" b="1">
                <a:solidFill>
                  <a:srgbClr val="263449"/>
                </a:solidFill>
                <a:latin typeface="Arial"/>
                <a:ea typeface="Arial"/>
                <a:cs typeface="Arial"/>
              </a:defRPr>
            </a:lvl6pPr>
            <a:lvl7pPr algn="l">
              <a:defRPr sz="2175" b="1">
                <a:solidFill>
                  <a:srgbClr val="263449"/>
                </a:solidFill>
                <a:latin typeface="Arial"/>
                <a:ea typeface="Arial"/>
                <a:cs typeface="Arial"/>
              </a:defRPr>
            </a:lvl7pPr>
            <a:lvl8pPr algn="l">
              <a:defRPr sz="2175" b="1">
                <a:solidFill>
                  <a:srgbClr val="263449"/>
                </a:solidFill>
                <a:latin typeface="Arial"/>
                <a:ea typeface="Arial"/>
                <a:cs typeface="Arial"/>
              </a:defRPr>
            </a:lvl8pPr>
            <a:lvl9pPr algn="l">
              <a:defRPr sz="2175" b="1">
                <a:solidFill>
                  <a:srgbClr val="263449"/>
                </a:solidFill>
                <a:latin typeface="Arial"/>
                <a:ea typeface="Arial"/>
                <a:cs typeface="Arial"/>
              </a:defRPr>
            </a:lvl9pPr>
          </a:lstStyle>
          <a:p xmlns:a="http://schemas.openxmlformats.org/drawingml/2006/main">
            <a:pPr algn="l">
              <a:defRPr sz="2175" b="1">
                <a:solidFill>
                  <a:srgbClr val="263449"/>
                </a:solidFill>
                <a:latin typeface="Arial"/>
                <a:ea typeface="Arial"/>
                <a:cs typeface="Arial"/>
              </a:defRPr>
            </a:pPr>
            <a:r>
              <a:rPr sz="2175" b="1">
                <a:solidFill>
                  <a:srgbClr val="263449"/>
                </a:solidFill>
                <a:latin typeface="Arial"/>
                <a:ea typeface="Arial"/>
                <a:cs typeface="Arial"/>
              </a:rPr>
              <a:t>Order-book check</a:t>
            </a:r>
          </a:p>
        </p:txBody>
      </p:sp>
      <p:sp>
        <p:nvSpPr>
          <p:cNvPr id="9" name="book-detail">
            <a:extLst xmlns:a="http://schemas.openxmlformats.org/drawingml/2006/main">
              <a:ext uri="{FF2B5EF4-FFF2-40B4-BE49-F238E27FC236}">
                <a16:creationId xmlns:a16="http://schemas.microsoft.com/office/drawing/2014/main" id="{3F407B61-548C-4223-BDC3-075370FACC76}"/>
              </a:ext>
            </a:extLst>
          </p:cNvPr>
          <p:cNvSpPr>
            <a:spLocks xmlns:a="http://schemas.openxmlformats.org/drawingml/2006/main" noGrp="1"/>
          </p:cNvSpPr>
          <p:nvPr/>
        </p:nvSpPr>
        <p:spPr>
          <a:xfrm xmlns:a="http://schemas.openxmlformats.org/drawingml/2006/main">
            <a:off x="6667500" y="4676775"/>
            <a:ext cx="4914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Covers 22% of markets. Where both exist:</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correlation 0.92, median gap 0.9¢.</a:t>
            </a:r>
          </a:p>
        </p:txBody>
      </p:sp>
      <p:sp>
        <p:nvSpPr>
          <p:cNvPr id="10" name="scope-and-source">
            <a:extLst xmlns:a="http://schemas.openxmlformats.org/drawingml/2006/main">
              <a:ext uri="{FF2B5EF4-FFF2-40B4-BE49-F238E27FC236}">
                <a16:creationId xmlns:a16="http://schemas.microsoft.com/office/drawing/2014/main" id="{2E845833-7803-4BEF-9EAA-558D2513D91B}"/>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Categories come from Polymarket event tags. Brier score is the mean squared gap between price and outcome.</a:t>
            </a:r>
          </a:p>
        </p:txBody>
      </p:sp>
    </p:spTree>
    <p:extLst>
      <p:ext uri="{BB962C8B-B14F-4D97-AF65-F5344CB8AC3E}">
        <p14:creationId xmlns:p14="http://schemas.microsoft.com/office/powerpoint/2010/main" val="7012601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75EB7930-1168-4A52-B3D7-61C09DCEF21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calibration</a:t>
            </a:r>
          </a:p>
        </p:txBody>
      </p:sp>
      <p:pic>
        <p:nvPicPr>
          <p:cNvPr id="2" name="">
            <a:extLst xmlns:a="http://schemas.openxmlformats.org/drawingml/2006/main">
              <a:ext uri="{FF2B5EF4-FFF2-40B4-BE49-F238E27FC236}">
                <a16:creationId xmlns:a16="http://schemas.microsoft.com/office/drawing/2014/main" id="{0D2C7B76-D1DC-4CEE-B28D-FBC938F67329}"/>
              </a:ext>
            </a:extLst>
          </p:cNvPr>
          <p:cNvPicPr>
            <a:picLocks xmlns:a="http://schemas.openxmlformats.org/drawingml/2006/main" noChangeAspect="1"/>
          </p:cNvPicPr>
          <p:nvPr/>
        </p:nvPicPr>
        <p:blipFill>
          <a:blip xmlns:r="http://schemas.openxmlformats.org/officeDocument/2006/relationships" xmlns:a="http://schemas.openxmlformats.org/drawingml/2006/main" r:embed="Rfab095b425a0475c"/>
          <a:stretch xmlns:a="http://schemas.openxmlformats.org/drawingml/2006/main"/>
        </p:blipFill>
        <p:spPr>
          <a:xfrm xmlns:a="http://schemas.openxmlformats.org/drawingml/2006/main">
            <a:off x="609600" y="1326761"/>
            <a:ext cx="4057650" cy="4490228"/>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59DCA3DD-6085-41C1-853C-F17E1E6F743A}"/>
              </a:ext>
            </a:extLst>
          </p:cNvPr>
          <p:cNvPicPr>
            <a:picLocks xmlns:a="http://schemas.openxmlformats.org/drawingml/2006/main" noChangeAspect="1"/>
          </p:cNvPicPr>
          <p:nvPr/>
        </p:nvPicPr>
        <p:blipFill>
          <a:blip xmlns:r="http://schemas.openxmlformats.org/officeDocument/2006/relationships" xmlns:a="http://schemas.openxmlformats.org/drawingml/2006/main" r:embed="R3a676c7c09064ca6"/>
          <a:stretch xmlns:a="http://schemas.openxmlformats.org/drawingml/2006/main"/>
        </p:blipFill>
        <p:spPr>
          <a:xfrm xmlns:a="http://schemas.openxmlformats.org/drawingml/2006/main">
            <a:off x="5048250" y="1381158"/>
            <a:ext cx="6534150" cy="2324035"/>
          </a:xfrm>
          <a:prstGeom xmlns:a="http://schemas.openxmlformats.org/drawingml/2006/main" prst="rect">
            <a:avLst/>
          </a:prstGeom>
        </p:spPr>
      </p:pic>
      <p:sp>
        <p:nvSpPr>
          <p:cNvPr id="4" name="calibration-takeaway">
            <a:extLst xmlns:a="http://schemas.openxmlformats.org/drawingml/2006/main">
              <a:ext uri="{FF2B5EF4-FFF2-40B4-BE49-F238E27FC236}">
                <a16:creationId xmlns:a16="http://schemas.microsoft.com/office/drawing/2014/main" id="{EA5F681B-D98D-4B8B-80FC-7853A64EAEE0}"/>
              </a:ext>
            </a:extLst>
          </p:cNvPr>
          <p:cNvSpPr>
            <a:spLocks xmlns:a="http://schemas.openxmlformats.org/drawingml/2006/main" noGrp="1"/>
          </p:cNvSpPr>
          <p:nvPr/>
        </p:nvSpPr>
        <p:spPr>
          <a:xfrm xmlns:a="http://schemas.openxmlformats.org/drawingml/2006/main">
            <a:off x="5210175" y="4143375"/>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315C8C"/>
                </a:solidFill>
                <a:latin typeface="Arial"/>
                <a:ea typeface="Arial"/>
                <a:cs typeface="Arial"/>
              </a:defRPr>
            </a:defPPr>
            <a:lvl1pPr algn="l">
              <a:defRPr sz="2400" b="1">
                <a:solidFill>
                  <a:srgbClr val="315C8C"/>
                </a:solidFill>
                <a:latin typeface="Arial"/>
                <a:ea typeface="Arial"/>
                <a:cs typeface="Arial"/>
              </a:defRPr>
            </a:lvl1pPr>
            <a:lvl2pPr algn="l">
              <a:defRPr sz="2400" b="1">
                <a:solidFill>
                  <a:srgbClr val="315C8C"/>
                </a:solidFill>
                <a:latin typeface="Arial"/>
                <a:ea typeface="Arial"/>
                <a:cs typeface="Arial"/>
              </a:defRPr>
            </a:lvl2pPr>
            <a:lvl3pPr algn="l">
              <a:defRPr sz="2400" b="1">
                <a:solidFill>
                  <a:srgbClr val="315C8C"/>
                </a:solidFill>
                <a:latin typeface="Arial"/>
                <a:ea typeface="Arial"/>
                <a:cs typeface="Arial"/>
              </a:defRPr>
            </a:lvl3pPr>
            <a:lvl4pPr algn="l">
              <a:defRPr sz="2400" b="1">
                <a:solidFill>
                  <a:srgbClr val="315C8C"/>
                </a:solidFill>
                <a:latin typeface="Arial"/>
                <a:ea typeface="Arial"/>
                <a:cs typeface="Arial"/>
              </a:defRPr>
            </a:lvl4pPr>
            <a:lvl5pPr algn="l">
              <a:defRPr sz="2400" b="1">
                <a:solidFill>
                  <a:srgbClr val="315C8C"/>
                </a:solidFill>
                <a:latin typeface="Arial"/>
                <a:ea typeface="Arial"/>
                <a:cs typeface="Arial"/>
              </a:defRPr>
            </a:lvl5pPr>
            <a:lvl6pPr algn="l">
              <a:defRPr sz="2400" b="1">
                <a:solidFill>
                  <a:srgbClr val="315C8C"/>
                </a:solidFill>
                <a:latin typeface="Arial"/>
                <a:ea typeface="Arial"/>
                <a:cs typeface="Arial"/>
              </a:defRPr>
            </a:lvl6pPr>
            <a:lvl7pPr algn="l">
              <a:defRPr sz="2400" b="1">
                <a:solidFill>
                  <a:srgbClr val="315C8C"/>
                </a:solidFill>
                <a:latin typeface="Arial"/>
                <a:ea typeface="Arial"/>
                <a:cs typeface="Arial"/>
              </a:defRPr>
            </a:lvl7pPr>
            <a:lvl8pPr algn="l">
              <a:defRPr sz="2400" b="1">
                <a:solidFill>
                  <a:srgbClr val="315C8C"/>
                </a:solidFill>
                <a:latin typeface="Arial"/>
                <a:ea typeface="Arial"/>
                <a:cs typeface="Arial"/>
              </a:defRPr>
            </a:lvl8pPr>
            <a:lvl9pPr algn="l">
              <a:defRPr sz="2400" b="1">
                <a:solidFill>
                  <a:srgbClr val="315C8C"/>
                </a:solidFill>
                <a:latin typeface="Arial"/>
                <a:ea typeface="Arial"/>
                <a:cs typeface="Arial"/>
              </a:defRPr>
            </a:lvl9pPr>
          </a:lstStyle>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Observed outcomes broadly track</a:t>
            </a:r>
          </a:p>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market probabilities.</a:t>
            </a:r>
          </a:p>
        </p:txBody>
      </p:sp>
      <p:sp>
        <p:nvSpPr>
          <p:cNvPr id="5" name="calibration-meaning">
            <a:extLst xmlns:a="http://schemas.openxmlformats.org/drawingml/2006/main">
              <a:ext uri="{FF2B5EF4-FFF2-40B4-BE49-F238E27FC236}">
                <a16:creationId xmlns:a16="http://schemas.microsoft.com/office/drawing/2014/main" id="{F554878D-48F1-4356-93C6-9A1E70D9BF81}"/>
              </a:ext>
            </a:extLst>
          </p:cNvPr>
          <p:cNvSpPr>
            <a:spLocks xmlns:a="http://schemas.openxmlformats.org/drawingml/2006/main" noGrp="1"/>
          </p:cNvSpPr>
          <p:nvPr/>
        </p:nvSpPr>
        <p:spPr>
          <a:xfrm xmlns:a="http://schemas.openxmlformats.org/drawingml/2006/main">
            <a:off x="5210175" y="5181600"/>
            <a:ext cx="619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Events priced near 30% resolve Yes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about 30% of the time.</a:t>
            </a:r>
          </a:p>
        </p:txBody>
      </p:sp>
      <p:sp>
        <p:nvSpPr>
          <p:cNvPr id="6" name="scope-and-source">
            <a:extLst xmlns:a="http://schemas.openxmlformats.org/drawingml/2006/main">
              <a:ext uri="{FF2B5EF4-FFF2-40B4-BE49-F238E27FC236}">
                <a16:creationId xmlns:a16="http://schemas.microsoft.com/office/drawing/2014/main" id="{377BA25B-3EFB-4BA9-9F2D-B21347702B4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24 hours before close. 5,805 markets across 1,610 events. Shaded bands: event-bootstrap 95% intervals.</a:t>
            </a:r>
          </a:p>
        </p:txBody>
      </p:sp>
    </p:spTree>
    <p:extLst>
      <p:ext uri="{BB962C8B-B14F-4D97-AF65-F5344CB8AC3E}">
        <p14:creationId xmlns:p14="http://schemas.microsoft.com/office/powerpoint/2010/main" val="15141949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5520494-C2CB-40E7-A9F3-48AA2F3A1010}"/>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Favorite–longshot bias</a:t>
            </a:r>
          </a:p>
        </p:txBody>
      </p:sp>
      <p:pic>
        <p:nvPicPr>
          <p:cNvPr id="2" name="">
            <a:extLst xmlns:a="http://schemas.openxmlformats.org/drawingml/2006/main">
              <a:ext uri="{FF2B5EF4-FFF2-40B4-BE49-F238E27FC236}">
                <a16:creationId xmlns:a16="http://schemas.microsoft.com/office/drawing/2014/main" id="{ED44A8F7-1905-4828-AA9C-EDCD3F72A2D9}"/>
              </a:ext>
            </a:extLst>
          </p:cNvPr>
          <p:cNvPicPr>
            <a:picLocks xmlns:a="http://schemas.openxmlformats.org/drawingml/2006/main" noChangeAspect="1"/>
          </p:cNvPicPr>
          <p:nvPr/>
        </p:nvPicPr>
        <p:blipFill>
          <a:blip xmlns:r="http://schemas.openxmlformats.org/officeDocument/2006/relationships" xmlns:a="http://schemas.openxmlformats.org/drawingml/2006/main" r:embed="Rca09e0ece59a4889"/>
          <a:stretch xmlns:a="http://schemas.openxmlformats.org/drawingml/2006/main"/>
        </p:blipFill>
        <p:spPr>
          <a:xfrm xmlns:a="http://schemas.openxmlformats.org/drawingml/2006/main">
            <a:off x="609939" y="1362075"/>
            <a:ext cx="7047822" cy="4772025"/>
          </a:xfrm>
          <a:prstGeom xmlns:a="http://schemas.openxmlformats.org/drawingml/2006/main" prst="rect">
            <a:avLst/>
          </a:prstGeom>
        </p:spPr>
      </p:pic>
      <p:sp>
        <p:nvSpPr>
          <p:cNvPr id="3" name="raw-slope">
            <a:extLst xmlns:a="http://schemas.openxmlformats.org/drawingml/2006/main">
              <a:ext uri="{FF2B5EF4-FFF2-40B4-BE49-F238E27FC236}">
                <a16:creationId xmlns:a16="http://schemas.microsoft.com/office/drawing/2014/main" id="{674411A5-2AEB-42E7-B23F-BB4B6B693BB8}"/>
              </a:ext>
            </a:extLst>
          </p:cNvPr>
          <p:cNvSpPr>
            <a:spLocks xmlns:a="http://schemas.openxmlformats.org/drawingml/2006/main" noGrp="1"/>
          </p:cNvSpPr>
          <p:nvPr/>
        </p:nvSpPr>
        <p:spPr>
          <a:xfrm xmlns:a="http://schemas.openxmlformats.org/drawingml/2006/main">
            <a:off x="8220075" y="147637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DF7137"/>
                </a:solidFill>
                <a:latin typeface="Arial"/>
                <a:ea typeface="Arial"/>
                <a:cs typeface="Arial"/>
              </a:defRPr>
            </a:defPPr>
            <a:lvl1pPr algn="l">
              <a:defRPr sz="4500" b="1">
                <a:solidFill>
                  <a:srgbClr val="DF7137"/>
                </a:solidFill>
                <a:latin typeface="Arial"/>
                <a:ea typeface="Arial"/>
                <a:cs typeface="Arial"/>
              </a:defRPr>
            </a:lvl1pPr>
            <a:lvl2pPr algn="l">
              <a:defRPr sz="4500" b="1">
                <a:solidFill>
                  <a:srgbClr val="DF7137"/>
                </a:solidFill>
                <a:latin typeface="Arial"/>
                <a:ea typeface="Arial"/>
                <a:cs typeface="Arial"/>
              </a:defRPr>
            </a:lvl2pPr>
            <a:lvl3pPr algn="l">
              <a:defRPr sz="4500" b="1">
                <a:solidFill>
                  <a:srgbClr val="DF7137"/>
                </a:solidFill>
                <a:latin typeface="Arial"/>
                <a:ea typeface="Arial"/>
                <a:cs typeface="Arial"/>
              </a:defRPr>
            </a:lvl3pPr>
            <a:lvl4pPr algn="l">
              <a:defRPr sz="4500" b="1">
                <a:solidFill>
                  <a:srgbClr val="DF7137"/>
                </a:solidFill>
                <a:latin typeface="Arial"/>
                <a:ea typeface="Arial"/>
                <a:cs typeface="Arial"/>
              </a:defRPr>
            </a:lvl4pPr>
            <a:lvl5pPr algn="l">
              <a:defRPr sz="4500" b="1">
                <a:solidFill>
                  <a:srgbClr val="DF7137"/>
                </a:solidFill>
                <a:latin typeface="Arial"/>
                <a:ea typeface="Arial"/>
                <a:cs typeface="Arial"/>
              </a:defRPr>
            </a:lvl5pPr>
            <a:lvl6pPr algn="l">
              <a:defRPr sz="4500" b="1">
                <a:solidFill>
                  <a:srgbClr val="DF7137"/>
                </a:solidFill>
                <a:latin typeface="Arial"/>
                <a:ea typeface="Arial"/>
                <a:cs typeface="Arial"/>
              </a:defRPr>
            </a:lvl6pPr>
            <a:lvl7pPr algn="l">
              <a:defRPr sz="4500" b="1">
                <a:solidFill>
                  <a:srgbClr val="DF7137"/>
                </a:solidFill>
                <a:latin typeface="Arial"/>
                <a:ea typeface="Arial"/>
                <a:cs typeface="Arial"/>
              </a:defRPr>
            </a:lvl7pPr>
            <a:lvl8pPr algn="l">
              <a:defRPr sz="4500" b="1">
                <a:solidFill>
                  <a:srgbClr val="DF7137"/>
                </a:solidFill>
                <a:latin typeface="Arial"/>
                <a:ea typeface="Arial"/>
                <a:cs typeface="Arial"/>
              </a:defRPr>
            </a:lvl8pPr>
            <a:lvl9pPr algn="l">
              <a:defRPr sz="4500" b="1">
                <a:solidFill>
                  <a:srgbClr val="DF7137"/>
                </a:solidFill>
                <a:latin typeface="Arial"/>
                <a:ea typeface="Arial"/>
                <a:cs typeface="Arial"/>
              </a:defRPr>
            </a:lvl9pPr>
          </a:lstStyle>
          <a:p xmlns:a="http://schemas.openxmlformats.org/drawingml/2006/main">
            <a:pPr algn="l">
              <a:defRPr sz="4500" b="1">
                <a:solidFill>
                  <a:srgbClr val="DF7137"/>
                </a:solidFill>
                <a:latin typeface="Arial"/>
                <a:ea typeface="Arial"/>
                <a:cs typeface="Arial"/>
              </a:defRPr>
            </a:pPr>
            <a:r>
              <a:rPr sz="4500" b="1">
                <a:solidFill>
                  <a:srgbClr val="DF7137"/>
                </a:solidFill>
                <a:latin typeface="Arial"/>
                <a:ea typeface="Arial"/>
                <a:cs typeface="Arial"/>
              </a:rPr>
              <a:t>1.08</a:t>
            </a:r>
          </a:p>
        </p:txBody>
      </p:sp>
      <p:sp>
        <p:nvSpPr>
          <p:cNvPr id="4" name="raw-slope-description">
            <a:extLst xmlns:a="http://schemas.openxmlformats.org/drawingml/2006/main">
              <a:ext uri="{FF2B5EF4-FFF2-40B4-BE49-F238E27FC236}">
                <a16:creationId xmlns:a16="http://schemas.microsoft.com/office/drawing/2014/main" id="{0BA33C95-1CCB-4AD7-AD03-02260636ED41}"/>
              </a:ext>
            </a:extLst>
          </p:cNvPr>
          <p:cNvSpPr>
            <a:spLocks xmlns:a="http://schemas.openxmlformats.org/drawingml/2006/main" noGrp="1"/>
          </p:cNvSpPr>
          <p:nvPr/>
        </p:nvSpPr>
        <p:spPr>
          <a:xfrm xmlns:a="http://schemas.openxmlformats.org/drawingml/2006/main">
            <a:off x="8220075" y="23526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6h calibration slope, all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1.01 to 1.16</a:t>
            </a:r>
          </a:p>
        </p:txBody>
      </p:sp>
      <p:sp>
        <p:nvSpPr>
          <p:cNvPr id="5" name="trimmed-slope">
            <a:extLst xmlns:a="http://schemas.openxmlformats.org/drawingml/2006/main">
              <a:ext uri="{FF2B5EF4-FFF2-40B4-BE49-F238E27FC236}">
                <a16:creationId xmlns:a16="http://schemas.microsoft.com/office/drawing/2014/main" id="{704FC841-278A-4277-8886-8483105BB0F2}"/>
              </a:ext>
            </a:extLst>
          </p:cNvPr>
          <p:cNvSpPr>
            <a:spLocks xmlns:a="http://schemas.openxmlformats.org/drawingml/2006/main" noGrp="1"/>
          </p:cNvSpPr>
          <p:nvPr/>
        </p:nvSpPr>
        <p:spPr>
          <a:xfrm xmlns:a="http://schemas.openxmlformats.org/drawingml/2006/main">
            <a:off x="8220075" y="351472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315C8C"/>
                </a:solidFill>
                <a:latin typeface="Arial"/>
                <a:ea typeface="Arial"/>
                <a:cs typeface="Arial"/>
              </a:defRPr>
            </a:defPPr>
            <a:lvl1pPr algn="l">
              <a:defRPr sz="4500" b="1">
                <a:solidFill>
                  <a:srgbClr val="315C8C"/>
                </a:solidFill>
                <a:latin typeface="Arial"/>
                <a:ea typeface="Arial"/>
                <a:cs typeface="Arial"/>
              </a:defRPr>
            </a:lvl1pPr>
            <a:lvl2pPr algn="l">
              <a:defRPr sz="4500" b="1">
                <a:solidFill>
                  <a:srgbClr val="315C8C"/>
                </a:solidFill>
                <a:latin typeface="Arial"/>
                <a:ea typeface="Arial"/>
                <a:cs typeface="Arial"/>
              </a:defRPr>
            </a:lvl2pPr>
            <a:lvl3pPr algn="l">
              <a:defRPr sz="4500" b="1">
                <a:solidFill>
                  <a:srgbClr val="315C8C"/>
                </a:solidFill>
                <a:latin typeface="Arial"/>
                <a:ea typeface="Arial"/>
                <a:cs typeface="Arial"/>
              </a:defRPr>
            </a:lvl3pPr>
            <a:lvl4pPr algn="l">
              <a:defRPr sz="4500" b="1">
                <a:solidFill>
                  <a:srgbClr val="315C8C"/>
                </a:solidFill>
                <a:latin typeface="Arial"/>
                <a:ea typeface="Arial"/>
                <a:cs typeface="Arial"/>
              </a:defRPr>
            </a:lvl4pPr>
            <a:lvl5pPr algn="l">
              <a:defRPr sz="4500" b="1">
                <a:solidFill>
                  <a:srgbClr val="315C8C"/>
                </a:solidFill>
                <a:latin typeface="Arial"/>
                <a:ea typeface="Arial"/>
                <a:cs typeface="Arial"/>
              </a:defRPr>
            </a:lvl5pPr>
            <a:lvl6pPr algn="l">
              <a:defRPr sz="4500" b="1">
                <a:solidFill>
                  <a:srgbClr val="315C8C"/>
                </a:solidFill>
                <a:latin typeface="Arial"/>
                <a:ea typeface="Arial"/>
                <a:cs typeface="Arial"/>
              </a:defRPr>
            </a:lvl6pPr>
            <a:lvl7pPr algn="l">
              <a:defRPr sz="4500" b="1">
                <a:solidFill>
                  <a:srgbClr val="315C8C"/>
                </a:solidFill>
                <a:latin typeface="Arial"/>
                <a:ea typeface="Arial"/>
                <a:cs typeface="Arial"/>
              </a:defRPr>
            </a:lvl7pPr>
            <a:lvl8pPr algn="l">
              <a:defRPr sz="4500" b="1">
                <a:solidFill>
                  <a:srgbClr val="315C8C"/>
                </a:solidFill>
                <a:latin typeface="Arial"/>
                <a:ea typeface="Arial"/>
                <a:cs typeface="Arial"/>
              </a:defRPr>
            </a:lvl8pPr>
            <a:lvl9pPr algn="l">
              <a:defRPr sz="4500" b="1">
                <a:solidFill>
                  <a:srgbClr val="315C8C"/>
                </a:solidFill>
                <a:latin typeface="Arial"/>
                <a:ea typeface="Arial"/>
                <a:cs typeface="Arial"/>
              </a:defRPr>
            </a:lvl9pPr>
          </a:lstStyle>
          <a:p xmlns:a="http://schemas.openxmlformats.org/drawingml/2006/main">
            <a:pPr algn="l">
              <a:defRPr sz="4500" b="1">
                <a:solidFill>
                  <a:srgbClr val="315C8C"/>
                </a:solidFill>
                <a:latin typeface="Arial"/>
                <a:ea typeface="Arial"/>
                <a:cs typeface="Arial"/>
              </a:defRPr>
            </a:pPr>
            <a:r>
              <a:rPr sz="4500" b="1">
                <a:solidFill>
                  <a:srgbClr val="315C8C"/>
                </a:solidFill>
                <a:latin typeface="Arial"/>
                <a:ea typeface="Arial"/>
                <a:cs typeface="Arial"/>
              </a:rPr>
              <a:t>1.00</a:t>
            </a:r>
          </a:p>
        </p:txBody>
      </p:sp>
      <p:sp>
        <p:nvSpPr>
          <p:cNvPr id="6" name="trimmed-slope-description">
            <a:extLst xmlns:a="http://schemas.openxmlformats.org/drawingml/2006/main">
              <a:ext uri="{FF2B5EF4-FFF2-40B4-BE49-F238E27FC236}">
                <a16:creationId xmlns:a16="http://schemas.microsoft.com/office/drawing/2014/main" id="{47127163-A231-4004-A210-2D7B67116BE8}"/>
              </a:ext>
            </a:extLst>
          </p:cNvPr>
          <p:cNvSpPr>
            <a:spLocks xmlns:a="http://schemas.openxmlformats.org/drawingml/2006/main" noGrp="1"/>
          </p:cNvSpPr>
          <p:nvPr/>
        </p:nvSpPr>
        <p:spPr>
          <a:xfrm xmlns:a="http://schemas.openxmlformats.org/drawingml/2006/main">
            <a:off x="8220075" y="438150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After dropping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below 2¢ and above 98¢</a:t>
            </a:r>
          </a:p>
        </p:txBody>
      </p:sp>
      <p:sp>
        <p:nvSpPr>
          <p:cNvPr id="7" name="scope-and-source">
            <a:extLst xmlns:a="http://schemas.openxmlformats.org/drawingml/2006/main">
              <a:ext uri="{FF2B5EF4-FFF2-40B4-BE49-F238E27FC236}">
                <a16:creationId xmlns:a16="http://schemas.microsoft.com/office/drawing/2014/main" id="{CDE07209-23C1-43F2-AFAA-9E5847D0510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The estimated bias is small. At 24h, monthly slopes range from 0.93 to 1.09, and every interval includes 1.</a:t>
            </a:r>
          </a:p>
        </p:txBody>
      </p:sp>
    </p:spTree>
    <p:extLst>
      <p:ext uri="{BB962C8B-B14F-4D97-AF65-F5344CB8AC3E}">
        <p14:creationId xmlns:p14="http://schemas.microsoft.com/office/powerpoint/2010/main" val="8441985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A0A8FAF-B479-4B44-BA04-44AAC0AC48A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Accuracy near market close</a:t>
            </a:r>
          </a:p>
        </p:txBody>
      </p:sp>
      <p:pic>
        <p:nvPicPr>
          <p:cNvPr id="2" name="">
            <a:extLst xmlns:a="http://schemas.openxmlformats.org/drawingml/2006/main">
              <a:ext uri="{FF2B5EF4-FFF2-40B4-BE49-F238E27FC236}">
                <a16:creationId xmlns:a16="http://schemas.microsoft.com/office/drawing/2014/main" id="{C6765546-30A7-4837-9829-5BDF1B671FAF}"/>
              </a:ext>
            </a:extLst>
          </p:cNvPr>
          <p:cNvPicPr>
            <a:picLocks xmlns:a="http://schemas.openxmlformats.org/drawingml/2006/main" noChangeAspect="1"/>
          </p:cNvPicPr>
          <p:nvPr/>
        </p:nvPicPr>
        <p:blipFill>
          <a:blip xmlns:r="http://schemas.openxmlformats.org/officeDocument/2006/relationships" xmlns:a="http://schemas.openxmlformats.org/drawingml/2006/main" r:embed="R95364801969b4a5a"/>
          <a:stretch xmlns:a="http://schemas.openxmlformats.org/drawingml/2006/main"/>
        </p:blipFill>
        <p:spPr>
          <a:xfrm xmlns:a="http://schemas.openxmlformats.org/drawingml/2006/main">
            <a:off x="609600" y="1404224"/>
            <a:ext cx="7086600" cy="4449603"/>
          </a:xfrm>
          <a:prstGeom xmlns:a="http://schemas.openxmlformats.org/drawingml/2006/main" prst="rect">
            <a:avLst/>
          </a:prstGeom>
        </p:spPr>
      </p:pic>
      <p:sp>
        <p:nvSpPr>
          <p:cNvPr id="3" name="seven-day-score">
            <a:extLst xmlns:a="http://schemas.openxmlformats.org/drawingml/2006/main">
              <a:ext uri="{FF2B5EF4-FFF2-40B4-BE49-F238E27FC236}">
                <a16:creationId xmlns:a16="http://schemas.microsoft.com/office/drawing/2014/main" id="{F990FDDB-51B3-4D80-8B4D-704E8026FA43}"/>
              </a:ext>
            </a:extLst>
          </p:cNvPr>
          <p:cNvSpPr>
            <a:spLocks xmlns:a="http://schemas.openxmlformats.org/drawingml/2006/main" noGrp="1"/>
          </p:cNvSpPr>
          <p:nvPr/>
        </p:nvSpPr>
        <p:spPr>
          <a:xfrm xmlns:a="http://schemas.openxmlformats.org/drawingml/2006/main">
            <a:off x="8305800" y="155257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0.074</a:t>
            </a:r>
          </a:p>
        </p:txBody>
      </p:sp>
      <p:sp>
        <p:nvSpPr>
          <p:cNvPr id="4" name="seven-day-label">
            <a:extLst xmlns:a="http://schemas.openxmlformats.org/drawingml/2006/main">
              <a:ext uri="{FF2B5EF4-FFF2-40B4-BE49-F238E27FC236}">
                <a16:creationId xmlns:a16="http://schemas.microsoft.com/office/drawing/2014/main" id="{E37FAD6F-B874-4DAF-93C7-73B78A1978FE}"/>
              </a:ext>
            </a:extLst>
          </p:cNvPr>
          <p:cNvSpPr>
            <a:spLocks xmlns:a="http://schemas.openxmlformats.org/drawingml/2006/main" noGrp="1"/>
          </p:cNvSpPr>
          <p:nvPr/>
        </p:nvSpPr>
        <p:spPr>
          <a:xfrm xmlns:a="http://schemas.openxmlformats.org/drawingml/2006/main">
            <a:off x="8305800" y="236220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7 days</a:t>
            </a:r>
          </a:p>
        </p:txBody>
      </p:sp>
      <p:sp>
        <p:nvSpPr>
          <p:cNvPr id="5" name="six-hour-score">
            <a:extLst xmlns:a="http://schemas.openxmlformats.org/drawingml/2006/main">
              <a:ext uri="{FF2B5EF4-FFF2-40B4-BE49-F238E27FC236}">
                <a16:creationId xmlns:a16="http://schemas.microsoft.com/office/drawing/2014/main" id="{FFD75705-F1DF-4558-AA6D-B7B3E16095FF}"/>
              </a:ext>
            </a:extLst>
          </p:cNvPr>
          <p:cNvSpPr>
            <a:spLocks xmlns:a="http://schemas.openxmlformats.org/drawingml/2006/main" noGrp="1"/>
          </p:cNvSpPr>
          <p:nvPr/>
        </p:nvSpPr>
        <p:spPr>
          <a:xfrm xmlns:a="http://schemas.openxmlformats.org/drawingml/2006/main">
            <a:off x="8305800" y="328612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0.038</a:t>
            </a:r>
          </a:p>
        </p:txBody>
      </p:sp>
      <p:sp>
        <p:nvSpPr>
          <p:cNvPr id="6" name="six-hour-label">
            <a:extLst xmlns:a="http://schemas.openxmlformats.org/drawingml/2006/main">
              <a:ext uri="{FF2B5EF4-FFF2-40B4-BE49-F238E27FC236}">
                <a16:creationId xmlns:a16="http://schemas.microsoft.com/office/drawing/2014/main" id="{0BB8E474-AE91-4FAC-A5B9-B8FED1CF89CE}"/>
              </a:ext>
            </a:extLst>
          </p:cNvPr>
          <p:cNvSpPr>
            <a:spLocks xmlns:a="http://schemas.openxmlformats.org/drawingml/2006/main" noGrp="1"/>
          </p:cNvSpPr>
          <p:nvPr/>
        </p:nvSpPr>
        <p:spPr>
          <a:xfrm xmlns:a="http://schemas.openxmlformats.org/drawingml/2006/main">
            <a:off x="8305800" y="409575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6 hours</a:t>
            </a:r>
          </a:p>
        </p:txBody>
      </p:sp>
      <p:sp>
        <p:nvSpPr>
          <p:cNvPr id="7" name="category-pattern">
            <a:extLst xmlns:a="http://schemas.openxmlformats.org/drawingml/2006/main">
              <a:ext uri="{FF2B5EF4-FFF2-40B4-BE49-F238E27FC236}">
                <a16:creationId xmlns:a16="http://schemas.microsoft.com/office/drawing/2014/main" id="{13DCE8C8-58F0-4333-9293-331602ADC26C}"/>
              </a:ext>
            </a:extLst>
          </p:cNvPr>
          <p:cNvSpPr>
            <a:spLocks xmlns:a="http://schemas.openxmlformats.org/drawingml/2006/main" noGrp="1"/>
          </p:cNvSpPr>
          <p:nvPr/>
        </p:nvSpPr>
        <p:spPr>
          <a:xfrm xmlns:a="http://schemas.openxmlformats.org/drawingml/2006/main">
            <a:off x="8305800" y="5010150"/>
            <a:ext cx="3276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Economy retains the largest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error from 3 days to 6 hours.</a:t>
            </a:r>
          </a:p>
        </p:txBody>
      </p:sp>
      <p:sp>
        <p:nvSpPr>
          <p:cNvPr id="8" name="scope-and-source">
            <a:extLst xmlns:a="http://schemas.openxmlformats.org/drawingml/2006/main">
              <a:ext uri="{FF2B5EF4-FFF2-40B4-BE49-F238E27FC236}">
                <a16:creationId xmlns:a16="http://schemas.microsoft.com/office/drawing/2014/main" id="{92F92CCF-88B4-4A50-8099-16920847126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Lower Brier scores mean more accurate probabilities. Politics shows the largest improvement.</a:t>
            </a:r>
          </a:p>
        </p:txBody>
      </p:sp>
    </p:spTree>
    <p:extLst>
      <p:ext uri="{BB962C8B-B14F-4D97-AF65-F5344CB8AC3E}">
        <p14:creationId xmlns:p14="http://schemas.microsoft.com/office/powerpoint/2010/main" val="322951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0FA1FC72-93F8-41AA-B60E-BB4B964FF48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Can models improve on market prices?</a:t>
            </a:r>
          </a:p>
        </p:txBody>
      </p:sp>
      <p:pic>
        <p:nvPicPr>
          <p:cNvPr id="2" name="">
            <a:extLst xmlns:a="http://schemas.openxmlformats.org/drawingml/2006/main">
              <a:ext uri="{FF2B5EF4-FFF2-40B4-BE49-F238E27FC236}">
                <a16:creationId xmlns:a16="http://schemas.microsoft.com/office/drawing/2014/main" id="{EFD58E66-2A91-45C0-9330-2068CE33C614}"/>
              </a:ext>
            </a:extLst>
          </p:cNvPr>
          <p:cNvPicPr>
            <a:picLocks xmlns:a="http://schemas.openxmlformats.org/drawingml/2006/main" noChangeAspect="1"/>
          </p:cNvPicPr>
          <p:nvPr/>
        </p:nvPicPr>
        <p:blipFill>
          <a:blip xmlns:r="http://schemas.openxmlformats.org/officeDocument/2006/relationships" xmlns:a="http://schemas.openxmlformats.org/drawingml/2006/main" r:embed="Rcd95c24935f14665"/>
          <a:stretch xmlns:a="http://schemas.openxmlformats.org/drawingml/2006/main"/>
        </p:blipFill>
        <p:spPr>
          <a:xfrm xmlns:a="http://schemas.openxmlformats.org/drawingml/2006/main">
            <a:off x="609600" y="1478003"/>
            <a:ext cx="6610350" cy="4454443"/>
          </a:xfrm>
          <a:prstGeom xmlns:a="http://schemas.openxmlformats.org/drawingml/2006/main" prst="rect">
            <a:avLst/>
          </a:prstGeom>
        </p:spPr>
      </p:pic>
      <p:graphicFrame>
        <p:nvGraphicFramePr>
          <p:cNvPr id="3" name="">
            <a:extLst xmlns:a="http://schemas.openxmlformats.org/drawingml/2006/main">
              <a:ext uri="{FF2B5EF4-FFF2-40B4-BE49-F238E27FC236}">
                <a16:creationId xmlns:a16="http://schemas.microsoft.com/office/drawing/2014/main" id="{B552FE4C-FCB4-4454-91A2-19978423AF4E}"/>
              </a:ext>
            </a:extLst>
          </p:cNvPr>
          <p:cNvGraphicFramePr/>
          <p:nvPr/>
        </p:nvGraphicFramePr>
        <p:xfrm>
          <a:off xmlns:a="http://schemas.openxmlformats.org/drawingml/2006/main" x="7667625" y="1552575"/>
          <a:ext xmlns:a="http://schemas.openxmlformats.org/drawingml/2006/main" cx="3914775" cy="2695575"/>
        </p:xfrm>
        <a:graphic xmlns:a="http://schemas.openxmlformats.org/drawingml/2006/main">
          <a:graphicData uri="http://schemas.openxmlformats.org/drawingml/2006/table">
            <a:tbl>
              <a:tblPr/>
              <a:tblGrid>
                <a:gridCol w="2657475"/>
                <a:gridCol w="1257300"/>
              </a:tblGrid>
              <a:tr h="495300">
                <a:tc>
                  <a:txBody>
                    <a:bodyPr lIns="152400" tIns="95250" rIns="133350" bIns="95250"/>
                    <a:lstStyle/>
                    <a:p>
                      <a:r>
                        <a:rPr sz="1725" b="1">
                          <a:solidFill>
                            <a:srgbClr val="FFFFFF"/>
                          </a:solidFill>
                          <a:latin typeface="Arial"/>
                          <a:ea typeface="Arial"/>
                          <a:cs typeface="Arial"/>
                        </a:rPr>
                        <a:t>Model</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725" b="1">
                          <a:solidFill>
                            <a:srgbClr val="FFFFFF"/>
                          </a:solidFill>
                          <a:latin typeface="Arial"/>
                          <a:ea typeface="Arial"/>
                          <a:cs typeface="Arial"/>
                        </a:rPr>
                        <a:t>24h Brier</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725" b="0">
                          <a:solidFill>
                            <a:srgbClr val="263449"/>
                          </a:solidFill>
                          <a:latin typeface="Arial"/>
                          <a:ea typeface="Arial"/>
                          <a:cs typeface="Arial"/>
                        </a:rPr>
                        <a:t>Market price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28675">
                <a:tc>
                  <a:txBody>
                    <a:bodyPr lIns="152400" tIns="95250" rIns="133350" bIns="95250"/>
                    <a:lstStyle/>
                    <a:p>
                      <a:r>
                        <a:rPr sz="1725" b="0">
                          <a:solidFill>
                            <a:srgbClr val="263449"/>
                          </a:solidFill>
                          <a:latin typeface="Arial"/>
                          <a:ea typeface="Arial"/>
                          <a:cs typeface="Arial"/>
                        </a:rPr>
                        <a:t>Logistic recalibration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4" name="comparison-takeaway">
            <a:extLst xmlns:a="http://schemas.openxmlformats.org/drawingml/2006/main">
              <a:ext uri="{FF2B5EF4-FFF2-40B4-BE49-F238E27FC236}">
                <a16:creationId xmlns:a16="http://schemas.microsoft.com/office/drawing/2014/main" id="{CD42B080-8BB0-4E2C-BAA8-0956C8ABECCA}"/>
              </a:ext>
            </a:extLst>
          </p:cNvPr>
          <p:cNvSpPr>
            <a:spLocks xmlns:a="http://schemas.openxmlformats.org/drawingml/2006/main" noGrp="1"/>
          </p:cNvSpPr>
          <p:nvPr/>
        </p:nvSpPr>
        <p:spPr>
          <a:xfrm xmlns:a="http://schemas.openxmlformats.org/drawingml/2006/main">
            <a:off x="7667625" y="4562475"/>
            <a:ext cx="39147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C8C"/>
                </a:solidFill>
                <a:latin typeface="Arial"/>
                <a:ea typeface="Arial"/>
                <a:cs typeface="Arial"/>
              </a:defRPr>
            </a:defPPr>
            <a:lvl1pPr algn="l">
              <a:defRPr sz="2175" b="1">
                <a:solidFill>
                  <a:srgbClr val="315C8C"/>
                </a:solidFill>
                <a:latin typeface="Arial"/>
                <a:ea typeface="Arial"/>
                <a:cs typeface="Arial"/>
              </a:defRPr>
            </a:lvl1pPr>
            <a:lvl2pPr algn="l">
              <a:defRPr sz="2175" b="1">
                <a:solidFill>
                  <a:srgbClr val="315C8C"/>
                </a:solidFill>
                <a:latin typeface="Arial"/>
                <a:ea typeface="Arial"/>
                <a:cs typeface="Arial"/>
              </a:defRPr>
            </a:lvl2pPr>
            <a:lvl3pPr algn="l">
              <a:defRPr sz="2175" b="1">
                <a:solidFill>
                  <a:srgbClr val="315C8C"/>
                </a:solidFill>
                <a:latin typeface="Arial"/>
                <a:ea typeface="Arial"/>
                <a:cs typeface="Arial"/>
              </a:defRPr>
            </a:lvl3pPr>
            <a:lvl4pPr algn="l">
              <a:defRPr sz="2175" b="1">
                <a:solidFill>
                  <a:srgbClr val="315C8C"/>
                </a:solidFill>
                <a:latin typeface="Arial"/>
                <a:ea typeface="Arial"/>
                <a:cs typeface="Arial"/>
              </a:defRPr>
            </a:lvl4pPr>
            <a:lvl5pPr algn="l">
              <a:defRPr sz="2175" b="1">
                <a:solidFill>
                  <a:srgbClr val="315C8C"/>
                </a:solidFill>
                <a:latin typeface="Arial"/>
                <a:ea typeface="Arial"/>
                <a:cs typeface="Arial"/>
              </a:defRPr>
            </a:lvl5pPr>
            <a:lvl6pPr algn="l">
              <a:defRPr sz="2175" b="1">
                <a:solidFill>
                  <a:srgbClr val="315C8C"/>
                </a:solidFill>
                <a:latin typeface="Arial"/>
                <a:ea typeface="Arial"/>
                <a:cs typeface="Arial"/>
              </a:defRPr>
            </a:lvl6pPr>
            <a:lvl7pPr algn="l">
              <a:defRPr sz="2175" b="1">
                <a:solidFill>
                  <a:srgbClr val="315C8C"/>
                </a:solidFill>
                <a:latin typeface="Arial"/>
                <a:ea typeface="Arial"/>
                <a:cs typeface="Arial"/>
              </a:defRPr>
            </a:lvl7pPr>
            <a:lvl8pPr algn="l">
              <a:defRPr sz="2175" b="1">
                <a:solidFill>
                  <a:srgbClr val="315C8C"/>
                </a:solidFill>
                <a:latin typeface="Arial"/>
                <a:ea typeface="Arial"/>
                <a:cs typeface="Arial"/>
              </a:defRPr>
            </a:lvl8pPr>
            <a:lvl9pPr algn="l">
              <a:defRPr sz="2175" b="1">
                <a:solidFill>
                  <a:srgbClr val="315C8C"/>
                </a:solidFill>
                <a:latin typeface="Arial"/>
                <a:ea typeface="Arial"/>
                <a:cs typeface="Arial"/>
              </a:defRPr>
            </a:lvl9pPr>
          </a:lstStyle>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Neither model improves on</a:t>
            </a:r>
          </a:p>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market prices in this test.</a:t>
            </a:r>
          </a:p>
        </p:txBody>
      </p:sp>
      <p:sp>
        <p:nvSpPr>
          <p:cNvPr id="5" name="temporal-split">
            <a:extLst xmlns:a="http://schemas.openxmlformats.org/drawingml/2006/main">
              <a:ext uri="{FF2B5EF4-FFF2-40B4-BE49-F238E27FC236}">
                <a16:creationId xmlns:a16="http://schemas.microsoft.com/office/drawing/2014/main" id="{F3CF2723-0546-4CC1-BABA-E5C6CD5F1C9A}"/>
              </a:ext>
            </a:extLst>
          </p:cNvPr>
          <p:cNvSpPr>
            <a:spLocks xmlns:a="http://schemas.openxmlformats.org/drawingml/2006/main" noGrp="1"/>
          </p:cNvSpPr>
          <p:nvPr/>
        </p:nvSpPr>
        <p:spPr>
          <a:xfrm xmlns:a="http://schemas.openxmlformats.org/drawingml/2006/main">
            <a:off x="7667625" y="5581650"/>
            <a:ext cx="39147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27085"/>
                </a:solidFill>
                <a:latin typeface="Arial"/>
                <a:ea typeface="Arial"/>
                <a:cs typeface="Arial"/>
              </a:defRPr>
            </a:defPPr>
            <a:lvl1pPr algn="l">
              <a:defRPr sz="1575" b="0">
                <a:solidFill>
                  <a:srgbClr val="627085"/>
                </a:solidFill>
                <a:latin typeface="Arial"/>
                <a:ea typeface="Arial"/>
                <a:cs typeface="Arial"/>
              </a:defRPr>
            </a:lvl1pPr>
            <a:lvl2pPr algn="l">
              <a:defRPr sz="1575" b="0">
                <a:solidFill>
                  <a:srgbClr val="627085"/>
                </a:solidFill>
                <a:latin typeface="Arial"/>
                <a:ea typeface="Arial"/>
                <a:cs typeface="Arial"/>
              </a:defRPr>
            </a:lvl2pPr>
            <a:lvl3pPr algn="l">
              <a:defRPr sz="1575" b="0">
                <a:solidFill>
                  <a:srgbClr val="627085"/>
                </a:solidFill>
                <a:latin typeface="Arial"/>
                <a:ea typeface="Arial"/>
                <a:cs typeface="Arial"/>
              </a:defRPr>
            </a:lvl3pPr>
            <a:lvl4pPr algn="l">
              <a:defRPr sz="1575" b="0">
                <a:solidFill>
                  <a:srgbClr val="627085"/>
                </a:solidFill>
                <a:latin typeface="Arial"/>
                <a:ea typeface="Arial"/>
                <a:cs typeface="Arial"/>
              </a:defRPr>
            </a:lvl4pPr>
            <a:lvl5pPr algn="l">
              <a:defRPr sz="1575" b="0">
                <a:solidFill>
                  <a:srgbClr val="627085"/>
                </a:solidFill>
                <a:latin typeface="Arial"/>
                <a:ea typeface="Arial"/>
                <a:cs typeface="Arial"/>
              </a:defRPr>
            </a:lvl5pPr>
            <a:lvl6pPr algn="l">
              <a:defRPr sz="1575" b="0">
                <a:solidFill>
                  <a:srgbClr val="627085"/>
                </a:solidFill>
                <a:latin typeface="Arial"/>
                <a:ea typeface="Arial"/>
                <a:cs typeface="Arial"/>
              </a:defRPr>
            </a:lvl6pPr>
            <a:lvl7pPr algn="l">
              <a:defRPr sz="1575" b="0">
                <a:solidFill>
                  <a:srgbClr val="627085"/>
                </a:solidFill>
                <a:latin typeface="Arial"/>
                <a:ea typeface="Arial"/>
                <a:cs typeface="Arial"/>
              </a:defRPr>
            </a:lvl7pPr>
            <a:lvl8pPr algn="l">
              <a:defRPr sz="1575" b="0">
                <a:solidFill>
                  <a:srgbClr val="627085"/>
                </a:solidFill>
                <a:latin typeface="Arial"/>
                <a:ea typeface="Arial"/>
                <a:cs typeface="Arial"/>
              </a:defRPr>
            </a:lvl8pPr>
            <a:lvl9pPr algn="l">
              <a:defRPr sz="1575" b="0">
                <a:solidFill>
                  <a:srgbClr val="627085"/>
                </a:solidFill>
                <a:latin typeface="Arial"/>
                <a:ea typeface="Arial"/>
                <a:cs typeface="Arial"/>
              </a:defRPr>
            </a:lvl9pPr>
          </a:lstStyle>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Train: before September</a:t>
            </a:r>
          </a:p>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Test: 860 September–October events</a:t>
            </a:r>
          </a:p>
        </p:txBody>
      </p:sp>
      <p:sp>
        <p:nvSpPr>
          <p:cNvPr id="6" name="scope-and-source">
            <a:extLst xmlns:a="http://schemas.openxmlformats.org/drawingml/2006/main">
              <a:ext uri="{FF2B5EF4-FFF2-40B4-BE49-F238E27FC236}">
                <a16:creationId xmlns:a16="http://schemas.microsoft.com/office/drawing/2014/main" id="{F0028562-016A-4371-A0F7-EE696C626EA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Models use information available at prediction time. In the chart, values above zero indicate worse performance.</a:t>
            </a:r>
          </a:p>
        </p:txBody>
      </p:sp>
    </p:spTree>
    <p:extLst>
      <p:ext uri="{BB962C8B-B14F-4D97-AF65-F5344CB8AC3E}">
        <p14:creationId xmlns:p14="http://schemas.microsoft.com/office/powerpoint/2010/main" val="1666246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4C96A9A-96F9-4AFF-8F57-53735D0B9E7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findings and limits</a:t>
            </a:r>
          </a:p>
        </p:txBody>
      </p:sp>
      <p:sp>
        <p:nvSpPr>
          <p:cNvPr id="2" name="finding-1">
            <a:extLst xmlns:a="http://schemas.openxmlformats.org/drawingml/2006/main">
              <a:ext uri="{FF2B5EF4-FFF2-40B4-BE49-F238E27FC236}">
                <a16:creationId xmlns:a16="http://schemas.microsoft.com/office/drawing/2014/main" id="{45AA6F76-DCBA-4CBF-A8AD-6B2FD49ACE9A}"/>
              </a:ext>
            </a:extLst>
          </p:cNvPr>
          <p:cNvSpPr>
            <a:spLocks xmlns:a="http://schemas.openxmlformats.org/drawingml/2006/main" noGrp="1"/>
          </p:cNvSpPr>
          <p:nvPr/>
        </p:nvSpPr>
        <p:spPr>
          <a:xfrm xmlns:a="http://schemas.openxmlformats.org/drawingml/2006/main">
            <a:off x="609600" y="15144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315C8C"/>
                </a:solidFill>
                <a:latin typeface="Arial"/>
                <a:ea typeface="Arial"/>
                <a:cs typeface="Arial"/>
              </a:defRPr>
            </a:defPPr>
            <a:lvl1pPr algn="l">
              <a:defRPr sz="2250" b="1">
                <a:solidFill>
                  <a:srgbClr val="315C8C"/>
                </a:solidFill>
                <a:latin typeface="Arial"/>
                <a:ea typeface="Arial"/>
                <a:cs typeface="Arial"/>
              </a:defRPr>
            </a:lvl1pPr>
            <a:lvl2pPr algn="l">
              <a:defRPr sz="2250" b="1">
                <a:solidFill>
                  <a:srgbClr val="315C8C"/>
                </a:solidFill>
                <a:latin typeface="Arial"/>
                <a:ea typeface="Arial"/>
                <a:cs typeface="Arial"/>
              </a:defRPr>
            </a:lvl2pPr>
            <a:lvl3pPr algn="l">
              <a:defRPr sz="2250" b="1">
                <a:solidFill>
                  <a:srgbClr val="315C8C"/>
                </a:solidFill>
                <a:latin typeface="Arial"/>
                <a:ea typeface="Arial"/>
                <a:cs typeface="Arial"/>
              </a:defRPr>
            </a:lvl3pPr>
            <a:lvl4pPr algn="l">
              <a:defRPr sz="2250" b="1">
                <a:solidFill>
                  <a:srgbClr val="315C8C"/>
                </a:solidFill>
                <a:latin typeface="Arial"/>
                <a:ea typeface="Arial"/>
                <a:cs typeface="Arial"/>
              </a:defRPr>
            </a:lvl4pPr>
            <a:lvl5pPr algn="l">
              <a:defRPr sz="2250" b="1">
                <a:solidFill>
                  <a:srgbClr val="315C8C"/>
                </a:solidFill>
                <a:latin typeface="Arial"/>
                <a:ea typeface="Arial"/>
                <a:cs typeface="Arial"/>
              </a:defRPr>
            </a:lvl5pPr>
            <a:lvl6pPr algn="l">
              <a:defRPr sz="2250" b="1">
                <a:solidFill>
                  <a:srgbClr val="315C8C"/>
                </a:solidFill>
                <a:latin typeface="Arial"/>
                <a:ea typeface="Arial"/>
                <a:cs typeface="Arial"/>
              </a:defRPr>
            </a:lvl6pPr>
            <a:lvl7pPr algn="l">
              <a:defRPr sz="2250" b="1">
                <a:solidFill>
                  <a:srgbClr val="315C8C"/>
                </a:solidFill>
                <a:latin typeface="Arial"/>
                <a:ea typeface="Arial"/>
                <a:cs typeface="Arial"/>
              </a:defRPr>
            </a:lvl7pPr>
            <a:lvl8pPr algn="l">
              <a:defRPr sz="2250" b="1">
                <a:solidFill>
                  <a:srgbClr val="315C8C"/>
                </a:solidFill>
                <a:latin typeface="Arial"/>
                <a:ea typeface="Arial"/>
                <a:cs typeface="Arial"/>
              </a:defRPr>
            </a:lvl8pPr>
            <a:lvl9pPr algn="l">
              <a:defRPr sz="2250" b="1">
                <a:solidFill>
                  <a:srgbClr val="315C8C"/>
                </a:solidFill>
                <a:latin typeface="Arial"/>
                <a:ea typeface="Arial"/>
                <a:cs typeface="Arial"/>
              </a:defRPr>
            </a:lvl9pPr>
          </a:lstStyle>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Prices broadly match observed outcomes</a:t>
            </a:r>
          </a:p>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in all four categories.</a:t>
            </a:r>
          </a:p>
        </p:txBody>
      </p:sp>
      <p:sp>
        <p:nvSpPr>
          <p:cNvPr id="3" name="finding-2">
            <a:extLst xmlns:a="http://schemas.openxmlformats.org/drawingml/2006/main">
              <a:ext uri="{FF2B5EF4-FFF2-40B4-BE49-F238E27FC236}">
                <a16:creationId xmlns:a16="http://schemas.microsoft.com/office/drawing/2014/main" id="{13D011C4-1026-4B96-98E5-6E6D3A584D09}"/>
              </a:ext>
            </a:extLst>
          </p:cNvPr>
          <p:cNvSpPr>
            <a:spLocks xmlns:a="http://schemas.openxmlformats.org/drawingml/2006/main" noGrp="1"/>
          </p:cNvSpPr>
          <p:nvPr/>
        </p:nvSpPr>
        <p:spPr>
          <a:xfrm xmlns:a="http://schemas.openxmlformats.org/drawingml/2006/main">
            <a:off x="609600" y="28860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Favorite–longshot bias is small</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and varies across months.</a:t>
            </a:r>
          </a:p>
        </p:txBody>
      </p:sp>
      <p:sp>
        <p:nvSpPr>
          <p:cNvPr id="4" name="finding-3">
            <a:extLst xmlns:a="http://schemas.openxmlformats.org/drawingml/2006/main">
              <a:ext uri="{FF2B5EF4-FFF2-40B4-BE49-F238E27FC236}">
                <a16:creationId xmlns:a16="http://schemas.microsoft.com/office/drawing/2014/main" id="{8CF631CA-FA5F-4D90-A7CF-DD785B0E2CA0}"/>
              </a:ext>
            </a:extLst>
          </p:cNvPr>
          <p:cNvSpPr>
            <a:spLocks xmlns:a="http://schemas.openxmlformats.org/drawingml/2006/main" noGrp="1"/>
          </p:cNvSpPr>
          <p:nvPr/>
        </p:nvSpPr>
        <p:spPr>
          <a:xfrm xmlns:a="http://schemas.openxmlformats.org/drawingml/2006/main">
            <a:off x="609600" y="4267200"/>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Our models do not improve on prices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in the September–October test period.</a:t>
            </a:r>
          </a:p>
        </p:txBody>
      </p:sp>
      <p:sp>
        <p:nvSpPr>
          <p:cNvPr id="5" name="limits-label">
            <a:extLst xmlns:a="http://schemas.openxmlformats.org/drawingml/2006/main">
              <a:ext uri="{FF2B5EF4-FFF2-40B4-BE49-F238E27FC236}">
                <a16:creationId xmlns:a16="http://schemas.microsoft.com/office/drawing/2014/main" id="{E70D0CD1-F6A5-4C0B-85CF-CB4D13EF610B}"/>
              </a:ext>
            </a:extLst>
          </p:cNvPr>
          <p:cNvSpPr>
            <a:spLocks xmlns:a="http://schemas.openxmlformats.org/drawingml/2006/main" noGrp="1"/>
          </p:cNvSpPr>
          <p:nvPr/>
        </p:nvSpPr>
        <p:spPr>
          <a:xfrm xmlns:a="http://schemas.openxmlformats.org/drawingml/2006/main">
            <a:off x="7686675" y="1533525"/>
            <a:ext cx="3895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63449"/>
                </a:solidFill>
                <a:latin typeface="Arial"/>
                <a:ea typeface="Arial"/>
                <a:cs typeface="Arial"/>
              </a:defRPr>
            </a:defPPr>
            <a:lvl1pPr algn="l">
              <a:defRPr sz="2250" b="1">
                <a:solidFill>
                  <a:srgbClr val="263449"/>
                </a:solidFill>
                <a:latin typeface="Arial"/>
                <a:ea typeface="Arial"/>
                <a:cs typeface="Arial"/>
              </a:defRPr>
            </a:lvl1pPr>
            <a:lvl2pPr algn="l">
              <a:defRPr sz="2250" b="1">
                <a:solidFill>
                  <a:srgbClr val="263449"/>
                </a:solidFill>
                <a:latin typeface="Arial"/>
                <a:ea typeface="Arial"/>
                <a:cs typeface="Arial"/>
              </a:defRPr>
            </a:lvl2pPr>
            <a:lvl3pPr algn="l">
              <a:defRPr sz="2250" b="1">
                <a:solidFill>
                  <a:srgbClr val="263449"/>
                </a:solidFill>
                <a:latin typeface="Arial"/>
                <a:ea typeface="Arial"/>
                <a:cs typeface="Arial"/>
              </a:defRPr>
            </a:lvl3pPr>
            <a:lvl4pPr algn="l">
              <a:defRPr sz="2250" b="1">
                <a:solidFill>
                  <a:srgbClr val="263449"/>
                </a:solidFill>
                <a:latin typeface="Arial"/>
                <a:ea typeface="Arial"/>
                <a:cs typeface="Arial"/>
              </a:defRPr>
            </a:lvl4pPr>
            <a:lvl5pPr algn="l">
              <a:defRPr sz="2250" b="1">
                <a:solidFill>
                  <a:srgbClr val="263449"/>
                </a:solidFill>
                <a:latin typeface="Arial"/>
                <a:ea typeface="Arial"/>
                <a:cs typeface="Arial"/>
              </a:defRPr>
            </a:lvl5pPr>
            <a:lvl6pPr algn="l">
              <a:defRPr sz="2250" b="1">
                <a:solidFill>
                  <a:srgbClr val="263449"/>
                </a:solidFill>
                <a:latin typeface="Arial"/>
                <a:ea typeface="Arial"/>
                <a:cs typeface="Arial"/>
              </a:defRPr>
            </a:lvl6pPr>
            <a:lvl7pPr algn="l">
              <a:defRPr sz="2250" b="1">
                <a:solidFill>
                  <a:srgbClr val="263449"/>
                </a:solidFill>
                <a:latin typeface="Arial"/>
                <a:ea typeface="Arial"/>
                <a:cs typeface="Arial"/>
              </a:defRPr>
            </a:lvl7pPr>
            <a:lvl8pPr algn="l">
              <a:defRPr sz="2250" b="1">
                <a:solidFill>
                  <a:srgbClr val="263449"/>
                </a:solidFill>
                <a:latin typeface="Arial"/>
                <a:ea typeface="Arial"/>
                <a:cs typeface="Arial"/>
              </a:defRPr>
            </a:lvl8pPr>
            <a:lvl9pPr algn="l">
              <a:defRPr sz="2250" b="1">
                <a:solidFill>
                  <a:srgbClr val="263449"/>
                </a:solidFill>
                <a:latin typeface="Arial"/>
                <a:ea typeface="Arial"/>
                <a:cs typeface="Arial"/>
              </a:defRPr>
            </a:lvl9pPr>
          </a:lstStyle>
          <a:p xmlns:a="http://schemas.openxmlformats.org/drawingml/2006/main">
            <a:pPr algn="l">
              <a:defRPr sz="2250" b="1">
                <a:solidFill>
                  <a:srgbClr val="263449"/>
                </a:solidFill>
                <a:latin typeface="Arial"/>
                <a:ea typeface="Arial"/>
                <a:cs typeface="Arial"/>
              </a:defRPr>
            </a:pPr>
            <a:r>
              <a:rPr sz="2250" b="1">
                <a:solidFill>
                  <a:srgbClr val="263449"/>
                </a:solidFill>
                <a:latin typeface="Arial"/>
                <a:ea typeface="Arial"/>
                <a:cs typeface="Arial"/>
              </a:rPr>
              <a:t>Limits</a:t>
            </a:r>
          </a:p>
        </p:txBody>
      </p:sp>
      <p:sp>
        <p:nvSpPr>
          <p:cNvPr id="6" name="limits">
            <a:extLst xmlns:a="http://schemas.openxmlformats.org/drawingml/2006/main">
              <a:ext uri="{FF2B5EF4-FFF2-40B4-BE49-F238E27FC236}">
                <a16:creationId xmlns:a16="http://schemas.microsoft.com/office/drawing/2014/main" id="{787CD405-AAEB-4015-939E-33441FD8366B}"/>
              </a:ext>
            </a:extLst>
          </p:cNvPr>
          <p:cNvSpPr>
            <a:spLocks xmlns:a="http://schemas.openxmlformats.org/drawingml/2006/main" noGrp="1"/>
          </p:cNvSpPr>
          <p:nvPr/>
        </p:nvSpPr>
        <p:spPr>
          <a:xfrm xmlns:a="http://schemas.openxmlformats.org/drawingml/2006/main">
            <a:off x="7686675" y="2181225"/>
            <a:ext cx="3895725"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Early resolution changes the</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meaning of “24h before close.”</a:t>
            </a:r>
          </a:p>
          <a:p xmlns:a="http://schemas.openxmlformats.org/drawingml/2006/main">
            <a:r>
              <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We evaluate one test period.</a:t>
            </a:r>
          </a:p>
        </p:txBody>
      </p:sp>
      <p:sp>
        <p:nvSpPr>
          <p:cNvPr id="7" name="scope-and-source">
            <a:extLst xmlns:a="http://schemas.openxmlformats.org/drawingml/2006/main">
              <a:ext uri="{FF2B5EF4-FFF2-40B4-BE49-F238E27FC236}">
                <a16:creationId xmlns:a16="http://schemas.microsoft.com/office/drawing/2014/main" id="{C4B7BFE6-6F5C-40F8-AC4F-337B854D0DB6}"/>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Wallet question: which characteristics explain differences in the prices traders choose to pay?</a:t>
            </a:r>
          </a:p>
        </p:txBody>
      </p:sp>
    </p:spTree>
    <p:extLst>
      <p:ext uri="{BB962C8B-B14F-4D97-AF65-F5344CB8AC3E}">
        <p14:creationId xmlns:p14="http://schemas.microsoft.com/office/powerpoint/2010/main" val="11895069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D75D61E-26AF-42BC-97BE-026DEC573D9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Question and data</a:t>
            </a:r>
          </a:p>
        </p:txBody>
      </p:sp>
      <p:sp>
        <p:nvSpPr>
          <p:cNvPr id="2" name="research-question">
            <a:extLst xmlns:a="http://schemas.openxmlformats.org/drawingml/2006/main">
              <a:ext uri="{FF2B5EF4-FFF2-40B4-BE49-F238E27FC236}">
                <a16:creationId xmlns:a16="http://schemas.microsoft.com/office/drawing/2014/main" id="{5B66956B-47D0-4B95-9C74-1F622D4B733E}"/>
              </a:ext>
            </a:extLst>
          </p:cNvPr>
          <p:cNvSpPr>
            <a:spLocks xmlns:a="http://schemas.openxmlformats.org/drawingml/2006/main" noGrp="1"/>
          </p:cNvSpPr>
          <p:nvPr/>
        </p:nvSpPr>
        <p:spPr>
          <a:xfrm xmlns:a="http://schemas.openxmlformats.org/drawingml/2006/main">
            <a:off x="609600" y="1371600"/>
            <a:ext cx="485775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How well do wallet characteristics predict average purchase price, and does boosting improve on linear regression?</a:t>
            </a:r>
          </a:p>
        </p:txBody>
      </p:sp>
      <p:sp>
        <p:nvSpPr>
          <p:cNvPr id="3" name="sample-size">
            <a:extLst xmlns:a="http://schemas.openxmlformats.org/drawingml/2006/main">
              <a:ext uri="{FF2B5EF4-FFF2-40B4-BE49-F238E27FC236}">
                <a16:creationId xmlns:a16="http://schemas.microsoft.com/office/drawing/2014/main" id="{8D30FF14-F058-4655-9EFF-8BF73B789439}"/>
              </a:ext>
            </a:extLst>
          </p:cNvPr>
          <p:cNvSpPr>
            <a:spLocks xmlns:a="http://schemas.openxmlformats.org/drawingml/2006/main" noGrp="1"/>
          </p:cNvSpPr>
          <p:nvPr/>
        </p:nvSpPr>
        <p:spPr>
          <a:xfrm xmlns:a="http://schemas.openxmlformats.org/drawingml/2006/main">
            <a:off x="609600" y="33718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C8C"/>
                </a:solidFill>
                <a:latin typeface="Arial"/>
                <a:ea typeface="Arial"/>
                <a:cs typeface="Arial"/>
              </a:defRPr>
            </a:defPPr>
            <a:lvl1pPr algn="l">
              <a:defRPr sz="2550" b="1">
                <a:solidFill>
                  <a:srgbClr val="315C8C"/>
                </a:solidFill>
                <a:latin typeface="Arial"/>
                <a:ea typeface="Arial"/>
                <a:cs typeface="Arial"/>
              </a:defRPr>
            </a:lvl1pPr>
            <a:lvl2pPr algn="l">
              <a:defRPr sz="2550" b="1">
                <a:solidFill>
                  <a:srgbClr val="315C8C"/>
                </a:solidFill>
                <a:latin typeface="Arial"/>
                <a:ea typeface="Arial"/>
                <a:cs typeface="Arial"/>
              </a:defRPr>
            </a:lvl2pPr>
            <a:lvl3pPr algn="l">
              <a:defRPr sz="2550" b="1">
                <a:solidFill>
                  <a:srgbClr val="315C8C"/>
                </a:solidFill>
                <a:latin typeface="Arial"/>
                <a:ea typeface="Arial"/>
                <a:cs typeface="Arial"/>
              </a:defRPr>
            </a:lvl3pPr>
            <a:lvl4pPr algn="l">
              <a:defRPr sz="2550" b="1">
                <a:solidFill>
                  <a:srgbClr val="315C8C"/>
                </a:solidFill>
                <a:latin typeface="Arial"/>
                <a:ea typeface="Arial"/>
                <a:cs typeface="Arial"/>
              </a:defRPr>
            </a:lvl4pPr>
            <a:lvl5pPr algn="l">
              <a:defRPr sz="2550" b="1">
                <a:solidFill>
                  <a:srgbClr val="315C8C"/>
                </a:solidFill>
                <a:latin typeface="Arial"/>
                <a:ea typeface="Arial"/>
                <a:cs typeface="Arial"/>
              </a:defRPr>
            </a:lvl5pPr>
            <a:lvl6pPr algn="l">
              <a:defRPr sz="2550" b="1">
                <a:solidFill>
                  <a:srgbClr val="315C8C"/>
                </a:solidFill>
                <a:latin typeface="Arial"/>
                <a:ea typeface="Arial"/>
                <a:cs typeface="Arial"/>
              </a:defRPr>
            </a:lvl6pPr>
            <a:lvl7pPr algn="l">
              <a:defRPr sz="2550" b="1">
                <a:solidFill>
                  <a:srgbClr val="315C8C"/>
                </a:solidFill>
                <a:latin typeface="Arial"/>
                <a:ea typeface="Arial"/>
                <a:cs typeface="Arial"/>
              </a:defRPr>
            </a:lvl7pPr>
            <a:lvl8pPr algn="l">
              <a:defRPr sz="2550" b="1">
                <a:solidFill>
                  <a:srgbClr val="315C8C"/>
                </a:solidFill>
                <a:latin typeface="Arial"/>
                <a:ea typeface="Arial"/>
                <a:cs typeface="Arial"/>
              </a:defRPr>
            </a:lvl8pPr>
            <a:lvl9pPr algn="l">
              <a:defRPr sz="2550" b="1">
                <a:solidFill>
                  <a:srgbClr val="315C8C"/>
                </a:solidFill>
                <a:latin typeface="Arial"/>
                <a:ea typeface="Arial"/>
                <a:cs typeface="Arial"/>
              </a:defRPr>
            </a:lvl9pPr>
          </a:lstStyle>
          <a:p xmlns:a="http://schemas.openxmlformats.org/drawingml/2006/main">
            <a:pPr algn="l">
              <a:defRPr sz="2550" b="1">
                <a:solidFill>
                  <a:srgbClr val="315C8C"/>
                </a:solidFill>
                <a:latin typeface="Arial"/>
                <a:ea typeface="Arial"/>
                <a:cs typeface="Arial"/>
              </a:defRPr>
            </a:pPr>
            <a:r>
              <a:rPr sz="2550" b="1">
                <a:solidFill>
                  <a:srgbClr val="315C8C"/>
                </a:solidFill>
                <a:latin typeface="Arial"/>
                <a:ea typeface="Arial"/>
                <a:cs typeface="Arial"/>
              </a:rPr>
              <a:t>55,952 wallets</a:t>
            </a:r>
          </a:p>
        </p:txBody>
      </p:sp>
      <p:sp>
        <p:nvSpPr>
          <p:cNvPr id="4" name="data-description">
            <a:extLst xmlns:a="http://schemas.openxmlformats.org/drawingml/2006/main">
              <a:ext uri="{FF2B5EF4-FFF2-40B4-BE49-F238E27FC236}">
                <a16:creationId xmlns:a16="http://schemas.microsoft.com/office/drawing/2014/main" id="{DD87229D-E3FA-47F6-B2A7-6CB04F9E5443}"/>
              </a:ext>
            </a:extLst>
          </p:cNvPr>
          <p:cNvSpPr>
            <a:spLocks xmlns:a="http://schemas.openxmlformats.org/drawingml/2006/main" noGrp="1"/>
          </p:cNvSpPr>
          <p:nvPr/>
        </p:nvSpPr>
        <p:spPr>
          <a:xfrm xmlns:a="http://schemas.openxmlformats.org/drawingml/2006/main">
            <a:off x="609600" y="4029075"/>
            <a:ext cx="5000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One row per wallet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Target: volume weighted price per share</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All wallets retained. Confirmed flag excluded.</a:t>
            </a:r>
          </a:p>
        </p:txBody>
      </p:sp>
      <p:sp>
        <p:nvSpPr>
          <p:cNvPr id="5" name="cohort-scope">
            <a:extLst xmlns:a="http://schemas.openxmlformats.org/drawingml/2006/main">
              <a:ext uri="{FF2B5EF4-FFF2-40B4-BE49-F238E27FC236}">
                <a16:creationId xmlns:a16="http://schemas.microsoft.com/office/drawing/2014/main" id="{4D95B865-AA69-4A10-86FF-9F7DE8B9170C}"/>
              </a:ext>
            </a:extLst>
          </p:cNvPr>
          <p:cNvSpPr>
            <a:spLocks xmlns:a="http://schemas.openxmlformats.org/drawingml/2006/main" noGrp="1"/>
          </p:cNvSpPr>
          <p:nvPr/>
        </p:nvSpPr>
        <p:spPr>
          <a:xfrm xmlns:a="http://schemas.openxmlformats.org/drawingml/2006/main">
            <a:off x="609600" y="6048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Selected event cohort. Prices summarize observed trading history.</a:t>
            </a:r>
          </a:p>
        </p:txBody>
      </p:sp>
      <p:graphicFrame>
        <p:nvGraphicFramePr>
          <p:cNvPr id="6" name="Chart">
            <a:extLst xmlns:a="http://schemas.openxmlformats.org/drawingml/2006/main">
              <a:ext uri="{FF2B5EF4-FFF2-40B4-BE49-F238E27FC236}">
                <a16:creationId xmlns:a16="http://schemas.microsoft.com/office/drawing/2014/main" id="{DCFDA92D-4E9A-4554-9287-C125DED5D37C}"/>
              </a:ext>
            </a:extLst>
          </p:cNvPr>
          <p:cNvGraphicFramePr/>
          <p:nvPr/>
        </p:nvGraphicFramePr>
        <p:xfrm>
          <a:off xmlns:a="http://schemas.openxmlformats.org/drawingml/2006/main" x="6057900" y="1362075"/>
          <a:ext xmlns:a="http://schemas.openxmlformats.org/drawingml/2006/main" cx="5524500" cy="3952875"/>
        </p:xfrm>
        <a:graphic xmlns:a="http://schemas.openxmlformats.org/drawingml/2006/main">
          <a:graphicData uri="http://schemas.openxmlformats.org/drawingml/2006/chart">
            <c:chart xmlns:r="http://schemas.openxmlformats.org/officeDocument/2006/relationships" xmlns:c="http://schemas.openxmlformats.org/drawingml/2006/chart" r:id="R76d326458b184489"/>
          </a:graphicData>
        </a:graphic>
      </p:graphicFrame>
    </p:spTree>
    <p:extLst>
      <p:ext uri="{BB962C8B-B14F-4D97-AF65-F5344CB8AC3E}">
        <p14:creationId xmlns:p14="http://schemas.microsoft.com/office/powerpoint/2010/main" val="17195111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A1D5D9C-7387-46AA-B249-9E05663E2ED5}"/>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Approach</a:t>
            </a:r>
          </a:p>
        </p:txBody>
      </p:sp>
      <p:sp>
        <p:nvSpPr>
          <p:cNvPr id="2" name="split-heading">
            <a:extLst xmlns:a="http://schemas.openxmlformats.org/drawingml/2006/main">
              <a:ext uri="{FF2B5EF4-FFF2-40B4-BE49-F238E27FC236}">
                <a16:creationId xmlns:a16="http://schemas.microsoft.com/office/drawing/2014/main" id="{E3491132-52A4-4847-AC5D-28426487B788}"/>
              </a:ext>
            </a:extLst>
          </p:cNvPr>
          <p:cNvSpPr>
            <a:spLocks xmlns:a="http://schemas.openxmlformats.org/drawingml/2006/main" noGrp="1"/>
          </p:cNvSpPr>
          <p:nvPr/>
        </p:nvSpPr>
        <p:spPr>
          <a:xfrm xmlns:a="http://schemas.openxmlformats.org/drawingml/2006/main">
            <a:off x="609600" y="13620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63449"/>
                </a:solidFill>
                <a:latin typeface="Arial"/>
                <a:ea typeface="Arial"/>
                <a:cs typeface="Arial"/>
              </a:defRPr>
            </a:defPPr>
            <a:lvl1pPr algn="l">
              <a:defRPr sz="2100" b="1">
                <a:solidFill>
                  <a:srgbClr val="263449"/>
                </a:solidFill>
                <a:latin typeface="Arial"/>
                <a:ea typeface="Arial"/>
                <a:cs typeface="Arial"/>
              </a:defRPr>
            </a:lvl1pPr>
            <a:lvl2pPr algn="l">
              <a:defRPr sz="2100" b="1">
                <a:solidFill>
                  <a:srgbClr val="263449"/>
                </a:solidFill>
                <a:latin typeface="Arial"/>
                <a:ea typeface="Arial"/>
                <a:cs typeface="Arial"/>
              </a:defRPr>
            </a:lvl2pPr>
            <a:lvl3pPr algn="l">
              <a:defRPr sz="2100" b="1">
                <a:solidFill>
                  <a:srgbClr val="263449"/>
                </a:solidFill>
                <a:latin typeface="Arial"/>
                <a:ea typeface="Arial"/>
                <a:cs typeface="Arial"/>
              </a:defRPr>
            </a:lvl3pPr>
            <a:lvl4pPr algn="l">
              <a:defRPr sz="2100" b="1">
                <a:solidFill>
                  <a:srgbClr val="263449"/>
                </a:solidFill>
                <a:latin typeface="Arial"/>
                <a:ea typeface="Arial"/>
                <a:cs typeface="Arial"/>
              </a:defRPr>
            </a:lvl4pPr>
            <a:lvl5pPr algn="l">
              <a:defRPr sz="2100" b="1">
                <a:solidFill>
                  <a:srgbClr val="263449"/>
                </a:solidFill>
                <a:latin typeface="Arial"/>
                <a:ea typeface="Arial"/>
                <a:cs typeface="Arial"/>
              </a:defRPr>
            </a:lvl5pPr>
            <a:lvl6pPr algn="l">
              <a:defRPr sz="2100" b="1">
                <a:solidFill>
                  <a:srgbClr val="263449"/>
                </a:solidFill>
                <a:latin typeface="Arial"/>
                <a:ea typeface="Arial"/>
                <a:cs typeface="Arial"/>
              </a:defRPr>
            </a:lvl6pPr>
            <a:lvl7pPr algn="l">
              <a:defRPr sz="2100" b="1">
                <a:solidFill>
                  <a:srgbClr val="263449"/>
                </a:solidFill>
                <a:latin typeface="Arial"/>
                <a:ea typeface="Arial"/>
                <a:cs typeface="Arial"/>
              </a:defRPr>
            </a:lvl7pPr>
            <a:lvl8pPr algn="l">
              <a:defRPr sz="2100" b="1">
                <a:solidFill>
                  <a:srgbClr val="263449"/>
                </a:solidFill>
                <a:latin typeface="Arial"/>
                <a:ea typeface="Arial"/>
                <a:cs typeface="Arial"/>
              </a:defRPr>
            </a:lvl8pPr>
            <a:lvl9pPr algn="l">
              <a:defRPr sz="2100" b="1">
                <a:solidFill>
                  <a:srgbClr val="263449"/>
                </a:solidFill>
                <a:latin typeface="Arial"/>
                <a:ea typeface="Arial"/>
                <a:cs typeface="Arial"/>
              </a:defRPr>
            </a:lvl9pPr>
          </a:lstStyle>
          <a:p xmlns:a="http://schemas.openxmlformats.org/drawingml/2006/main">
            <a:pPr algn="l">
              <a:defRPr sz="2100" b="1">
                <a:solidFill>
                  <a:srgbClr val="263449"/>
                </a:solidFill>
                <a:latin typeface="Arial"/>
                <a:ea typeface="Arial"/>
                <a:cs typeface="Arial"/>
              </a:defRPr>
            </a:pPr>
            <a:r>
              <a:rPr sz="2100" b="1">
                <a:solidFill>
                  <a:srgbClr val="263449"/>
                </a:solidFill>
                <a:latin typeface="Arial"/>
                <a:ea typeface="Arial"/>
                <a:cs typeface="Arial"/>
              </a:rPr>
              <a:t>One fixed wallet split</a:t>
            </a:r>
          </a:p>
        </p:txBody>
      </p:sp>
      <p:sp>
        <p:nvSpPr>
          <p:cNvPr id="3" name="split-counts">
            <a:extLst xmlns:a="http://schemas.openxmlformats.org/drawingml/2006/main">
              <a:ext uri="{FF2B5EF4-FFF2-40B4-BE49-F238E27FC236}">
                <a16:creationId xmlns:a16="http://schemas.microsoft.com/office/drawing/2014/main" id="{8866C3C9-7038-4CB0-B4F5-FA4D83FBCA48}"/>
              </a:ext>
            </a:extLst>
          </p:cNvPr>
          <p:cNvSpPr>
            <a:spLocks xmlns:a="http://schemas.openxmlformats.org/drawingml/2006/main" noGrp="1"/>
          </p:cNvSpPr>
          <p:nvPr/>
        </p:nvSpPr>
        <p:spPr>
          <a:xfrm xmlns:a="http://schemas.openxmlformats.org/drawingml/2006/main">
            <a:off x="609600" y="1914525"/>
            <a:ext cx="4953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15C8C"/>
                </a:solidFill>
                <a:latin typeface="Arial"/>
                <a:ea typeface="Arial"/>
                <a:cs typeface="Arial"/>
              </a:defRPr>
            </a:defPPr>
            <a:lvl1pPr algn="l">
              <a:defRPr sz="2325" b="0">
                <a:solidFill>
                  <a:srgbClr val="315C8C"/>
                </a:solidFill>
                <a:latin typeface="Arial"/>
                <a:ea typeface="Arial"/>
                <a:cs typeface="Arial"/>
              </a:defRPr>
            </a:lvl1pPr>
            <a:lvl2pPr algn="l">
              <a:defRPr sz="2325" b="0">
                <a:solidFill>
                  <a:srgbClr val="315C8C"/>
                </a:solidFill>
                <a:latin typeface="Arial"/>
                <a:ea typeface="Arial"/>
                <a:cs typeface="Arial"/>
              </a:defRPr>
            </a:lvl2pPr>
            <a:lvl3pPr algn="l">
              <a:defRPr sz="2325" b="0">
                <a:solidFill>
                  <a:srgbClr val="315C8C"/>
                </a:solidFill>
                <a:latin typeface="Arial"/>
                <a:ea typeface="Arial"/>
                <a:cs typeface="Arial"/>
              </a:defRPr>
            </a:lvl3pPr>
            <a:lvl4pPr algn="l">
              <a:defRPr sz="2325" b="0">
                <a:solidFill>
                  <a:srgbClr val="315C8C"/>
                </a:solidFill>
                <a:latin typeface="Arial"/>
                <a:ea typeface="Arial"/>
                <a:cs typeface="Arial"/>
              </a:defRPr>
            </a:lvl4pPr>
            <a:lvl5pPr algn="l">
              <a:defRPr sz="2325" b="0">
                <a:solidFill>
                  <a:srgbClr val="315C8C"/>
                </a:solidFill>
                <a:latin typeface="Arial"/>
                <a:ea typeface="Arial"/>
                <a:cs typeface="Arial"/>
              </a:defRPr>
            </a:lvl5pPr>
            <a:lvl6pPr algn="l">
              <a:defRPr sz="2325" b="0">
                <a:solidFill>
                  <a:srgbClr val="315C8C"/>
                </a:solidFill>
                <a:latin typeface="Arial"/>
                <a:ea typeface="Arial"/>
                <a:cs typeface="Arial"/>
              </a:defRPr>
            </a:lvl6pPr>
            <a:lvl7pPr algn="l">
              <a:defRPr sz="2325" b="0">
                <a:solidFill>
                  <a:srgbClr val="315C8C"/>
                </a:solidFill>
                <a:latin typeface="Arial"/>
                <a:ea typeface="Arial"/>
                <a:cs typeface="Arial"/>
              </a:defRPr>
            </a:lvl7pPr>
            <a:lvl8pPr algn="l">
              <a:defRPr sz="2325" b="0">
                <a:solidFill>
                  <a:srgbClr val="315C8C"/>
                </a:solidFill>
                <a:latin typeface="Arial"/>
                <a:ea typeface="Arial"/>
                <a:cs typeface="Arial"/>
              </a:defRPr>
            </a:lvl8pPr>
            <a:lvl9pPr algn="l">
              <a:defRPr sz="2325" b="0">
                <a:solidFill>
                  <a:srgbClr val="315C8C"/>
                </a:solidFill>
                <a:latin typeface="Arial"/>
                <a:ea typeface="Arial"/>
                <a:cs typeface="Arial"/>
              </a:defRPr>
            </a:lvl9pPr>
          </a:lstStyle>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44,761 training wallets</a:t>
            </a:r>
          </a:p>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11,191 test wallets</a:t>
            </a:r>
          </a:p>
        </p:txBody>
      </p:sp>
      <p:sp>
        <p:nvSpPr>
          <p:cNvPr id="4" name="validation-heading">
            <a:extLst xmlns:a="http://schemas.openxmlformats.org/drawingml/2006/main">
              <a:ext uri="{FF2B5EF4-FFF2-40B4-BE49-F238E27FC236}">
                <a16:creationId xmlns:a16="http://schemas.microsoft.com/office/drawing/2014/main" id="{B7074653-FA1E-4097-8C59-D3010BCCDE15}"/>
              </a:ext>
            </a:extLst>
          </p:cNvPr>
          <p:cNvSpPr>
            <a:spLocks xmlns:a="http://schemas.openxmlformats.org/drawingml/2006/main" noGrp="1"/>
          </p:cNvSpPr>
          <p:nvPr/>
        </p:nvSpPr>
        <p:spPr>
          <a:xfrm xmlns:a="http://schemas.openxmlformats.org/drawingml/2006/main">
            <a:off x="609600" y="31432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63449"/>
                </a:solidFill>
                <a:latin typeface="Arial"/>
                <a:ea typeface="Arial"/>
                <a:cs typeface="Arial"/>
              </a:defRPr>
            </a:defPPr>
            <a:lvl1pPr algn="l">
              <a:defRPr sz="2025" b="1">
                <a:solidFill>
                  <a:srgbClr val="263449"/>
                </a:solidFill>
                <a:latin typeface="Arial"/>
                <a:ea typeface="Arial"/>
                <a:cs typeface="Arial"/>
              </a:defRPr>
            </a:lvl1pPr>
            <a:lvl2pPr algn="l">
              <a:defRPr sz="2025" b="1">
                <a:solidFill>
                  <a:srgbClr val="263449"/>
                </a:solidFill>
                <a:latin typeface="Arial"/>
                <a:ea typeface="Arial"/>
                <a:cs typeface="Arial"/>
              </a:defRPr>
            </a:lvl2pPr>
            <a:lvl3pPr algn="l">
              <a:defRPr sz="2025" b="1">
                <a:solidFill>
                  <a:srgbClr val="263449"/>
                </a:solidFill>
                <a:latin typeface="Arial"/>
                <a:ea typeface="Arial"/>
                <a:cs typeface="Arial"/>
              </a:defRPr>
            </a:lvl3pPr>
            <a:lvl4pPr algn="l">
              <a:defRPr sz="2025" b="1">
                <a:solidFill>
                  <a:srgbClr val="263449"/>
                </a:solidFill>
                <a:latin typeface="Arial"/>
                <a:ea typeface="Arial"/>
                <a:cs typeface="Arial"/>
              </a:defRPr>
            </a:lvl4pPr>
            <a:lvl5pPr algn="l">
              <a:defRPr sz="2025" b="1">
                <a:solidFill>
                  <a:srgbClr val="263449"/>
                </a:solidFill>
                <a:latin typeface="Arial"/>
                <a:ea typeface="Arial"/>
                <a:cs typeface="Arial"/>
              </a:defRPr>
            </a:lvl5pPr>
            <a:lvl6pPr algn="l">
              <a:defRPr sz="2025" b="1">
                <a:solidFill>
                  <a:srgbClr val="263449"/>
                </a:solidFill>
                <a:latin typeface="Arial"/>
                <a:ea typeface="Arial"/>
                <a:cs typeface="Arial"/>
              </a:defRPr>
            </a:lvl6pPr>
            <a:lvl7pPr algn="l">
              <a:defRPr sz="2025" b="1">
                <a:solidFill>
                  <a:srgbClr val="263449"/>
                </a:solidFill>
                <a:latin typeface="Arial"/>
                <a:ea typeface="Arial"/>
                <a:cs typeface="Arial"/>
              </a:defRPr>
            </a:lvl7pPr>
            <a:lvl8pPr algn="l">
              <a:defRPr sz="2025" b="1">
                <a:solidFill>
                  <a:srgbClr val="263449"/>
                </a:solidFill>
                <a:latin typeface="Arial"/>
                <a:ea typeface="Arial"/>
                <a:cs typeface="Arial"/>
              </a:defRPr>
            </a:lvl8pPr>
            <a:lvl9pPr algn="l">
              <a:defRPr sz="2025" b="1">
                <a:solidFill>
                  <a:srgbClr val="263449"/>
                </a:solidFill>
                <a:latin typeface="Arial"/>
                <a:ea typeface="Arial"/>
                <a:cs typeface="Arial"/>
              </a:defRPr>
            </a:lvl9pPr>
          </a:lstStyle>
          <a:p xmlns:a="http://schemas.openxmlformats.org/drawingml/2006/main">
            <a:pPr algn="l">
              <a:defRPr sz="2025" b="1">
                <a:solidFill>
                  <a:srgbClr val="263449"/>
                </a:solidFill>
                <a:latin typeface="Arial"/>
                <a:ea typeface="Arial"/>
                <a:cs typeface="Arial"/>
              </a:defRPr>
            </a:pPr>
            <a:r>
              <a:rPr sz="2025" b="1">
                <a:solidFill>
                  <a:srgbClr val="263449"/>
                </a:solidFill>
                <a:latin typeface="Arial"/>
                <a:ea typeface="Arial"/>
                <a:cs typeface="Arial"/>
              </a:rPr>
              <a:t>Model selection within training</a:t>
            </a:r>
          </a:p>
        </p:txBody>
      </p:sp>
      <p:sp>
        <p:nvSpPr>
          <p:cNvPr id="5" name="validation-text">
            <a:extLst xmlns:a="http://schemas.openxmlformats.org/drawingml/2006/main">
              <a:ext uri="{FF2B5EF4-FFF2-40B4-BE49-F238E27FC236}">
                <a16:creationId xmlns:a16="http://schemas.microsoft.com/office/drawing/2014/main" id="{A90C321C-37EF-49A8-A37F-311141452AA0}"/>
              </a:ext>
            </a:extLst>
          </p:cNvPr>
          <p:cNvSpPr>
            <a:spLocks xmlns:a="http://schemas.openxmlformats.org/drawingml/2006/main" noGrp="1"/>
          </p:cNvSpPr>
          <p:nvPr/>
        </p:nvSpPr>
        <p:spPr>
          <a:xfrm xmlns:a="http://schemas.openxmlformats.org/drawingml/2006/main">
            <a:off x="609600" y="361950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Five-fold validation selects one of six boosting configurations.</a:t>
            </a:r>
          </a:p>
        </p:txBody>
      </p:sp>
      <p:sp>
        <p:nvSpPr>
          <p:cNvPr id="6" name="transformation-text">
            <a:extLst xmlns:a="http://schemas.openxmlformats.org/drawingml/2006/main">
              <a:ext uri="{FF2B5EF4-FFF2-40B4-BE49-F238E27FC236}">
                <a16:creationId xmlns:a16="http://schemas.microsoft.com/office/drawing/2014/main" id="{FC503AA0-73F7-4614-8330-7CABC4A51DFC}"/>
              </a:ext>
            </a:extLst>
          </p:cNvPr>
          <p:cNvSpPr>
            <a:spLocks xmlns:a="http://schemas.openxmlformats.org/drawingml/2006/main" noGrp="1"/>
          </p:cNvSpPr>
          <p:nvPr/>
        </p:nvSpPr>
        <p:spPr>
          <a:xfrm xmlns:a="http://schemas.openxmlformats.org/drawingml/2006/main">
            <a:off x="609600" y="4695825"/>
            <a:ext cx="5095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Log-transform five skewed predictors.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Standardize inputs for linear regression.</a:t>
            </a:r>
          </a:p>
        </p:txBody>
      </p:sp>
      <p:graphicFrame>
        <p:nvGraphicFramePr>
          <p:cNvPr id="7" name="">
            <a:extLst xmlns:a="http://schemas.openxmlformats.org/drawingml/2006/main">
              <a:ext uri="{FF2B5EF4-FFF2-40B4-BE49-F238E27FC236}">
                <a16:creationId xmlns:a16="http://schemas.microsoft.com/office/drawing/2014/main" id="{6A3ABAA4-99F1-4A27-AA26-98BB247B947B}"/>
              </a:ext>
            </a:extLst>
          </p:cNvPr>
          <p:cNvGraphicFramePr/>
          <p:nvPr/>
        </p:nvGraphicFramePr>
        <p:xfrm>
          <a:off xmlns:a="http://schemas.openxmlformats.org/drawingml/2006/main" x="6219825" y="1438275"/>
          <a:ext xmlns:a="http://schemas.openxmlformats.org/drawingml/2006/main" cx="5362575" cy="3114675"/>
        </p:xfrm>
        <a:graphic xmlns:a="http://schemas.openxmlformats.org/drawingml/2006/main">
          <a:graphicData uri="http://schemas.openxmlformats.org/drawingml/2006/table">
            <a:tbl>
              <a:tblPr/>
              <a:tblGrid>
                <a:gridCol w="2124075"/>
                <a:gridCol w="3238500"/>
              </a:tblGrid>
              <a:tr h="485775">
                <a:tc>
                  <a:txBody>
                    <a:bodyPr lIns="123825" tIns="85725" rIns="114300" bIns="85725"/>
                    <a:lstStyle/>
                    <a:p>
                      <a:r>
                        <a:rPr sz="1725" b="1">
                          <a:solidFill>
                            <a:srgbClr val="FFFFFF"/>
                          </a:solidFill>
                          <a:latin typeface="Arial"/>
                          <a:ea typeface="Arial"/>
                          <a:cs typeface="Arial"/>
                        </a:rPr>
                        <a:t>Comparison</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23825" tIns="85725" rIns="114300" bIns="85725"/>
                    <a:lstStyle/>
                    <a:p>
                      <a:r>
                        <a:rPr sz="1725" b="1">
                          <a:solidFill>
                            <a:srgbClr val="FFFFFF"/>
                          </a:solidFill>
                          <a:latin typeface="Arial"/>
                          <a:ea typeface="Arial"/>
                          <a:cs typeface="Arial"/>
                        </a:rPr>
                        <a:t>Prediction rule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76300">
                <a:tc>
                  <a:txBody>
                    <a:bodyPr lIns="123825" tIns="85725" rIns="114300" bIns="85725"/>
                    <a:lstStyle/>
                    <a:p>
                      <a:r>
                        <a:rPr sz="1725" b="0">
                          <a:solidFill>
                            <a:srgbClr val="263449"/>
                          </a:solidFill>
                          <a:latin typeface="Arial"/>
                          <a:ea typeface="Arial"/>
                          <a:cs typeface="Arial"/>
                        </a:rPr>
                        <a:t>Mean baseline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Training mean for every wallet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Linear regression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Additive associations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Nonlinear patterns and interactions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8" name="predictor-list">
            <a:extLst xmlns:a="http://schemas.openxmlformats.org/drawingml/2006/main">
              <a:ext uri="{FF2B5EF4-FFF2-40B4-BE49-F238E27FC236}">
                <a16:creationId xmlns:a16="http://schemas.microsoft.com/office/drawing/2014/main" id="{79D253A5-6C46-4A2A-B6C1-E1CDE54323CB}"/>
              </a:ext>
            </a:extLst>
          </p:cNvPr>
          <p:cNvSpPr>
            <a:spLocks xmlns:a="http://schemas.openxmlformats.org/drawingml/2006/main" noGrp="1"/>
          </p:cNvSpPr>
          <p:nvPr/>
        </p:nvSpPr>
        <p:spPr>
          <a:xfrm xmlns:a="http://schemas.openxmlformats.org/drawingml/2006/main">
            <a:off x="6219825" y="4810125"/>
            <a:ext cx="53625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Inputs: trade count, markets traded, observed span, concentration, spending, largest purchase.</a:t>
            </a:r>
          </a:p>
        </p:txBody>
      </p:sp>
      <p:sp>
        <p:nvSpPr>
          <p:cNvPr id="9" name="evaluation-rule">
            <a:extLst xmlns:a="http://schemas.openxmlformats.org/drawingml/2006/main">
              <a:ext uri="{FF2B5EF4-FFF2-40B4-BE49-F238E27FC236}">
                <a16:creationId xmlns:a16="http://schemas.microsoft.com/office/drawing/2014/main" id="{54568A6C-56ED-495D-9FFA-A33E835AC0A2}"/>
              </a:ext>
            </a:extLst>
          </p:cNvPr>
          <p:cNvSpPr>
            <a:spLocks xmlns:a="http://schemas.openxmlformats.org/drawingml/2006/main" noGrp="1"/>
          </p:cNvSpPr>
          <p:nvPr/>
        </p:nvSpPr>
        <p:spPr>
          <a:xfrm xmlns:a="http://schemas.openxmlformats.org/drawingml/2006/main">
            <a:off x="609600" y="61055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Same test wallets for every model. Primary metric: MAE. Secondary checks: RMSE and R².</a:t>
            </a:r>
          </a:p>
        </p:txBody>
      </p:sp>
    </p:spTree>
    <p:extLst>
      <p:ext uri="{BB962C8B-B14F-4D97-AF65-F5344CB8AC3E}">
        <p14:creationId xmlns:p14="http://schemas.microsoft.com/office/powerpoint/2010/main" val="17443254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1D7240C8-C1AC-463D-B5C8-E6F3B2ED226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Results</a:t>
            </a:r>
          </a:p>
        </p:txBody>
      </p:sp>
      <p:graphicFrame>
        <p:nvGraphicFramePr>
          <p:cNvPr id="2" name="Chart">
            <a:extLst xmlns:a="http://schemas.openxmlformats.org/drawingml/2006/main">
              <a:ext uri="{FF2B5EF4-FFF2-40B4-BE49-F238E27FC236}">
                <a16:creationId xmlns:a16="http://schemas.microsoft.com/office/drawing/2014/main" id="{A5A03845-069B-4204-B177-32E49E933C9F}"/>
              </a:ext>
            </a:extLst>
          </p:cNvPr>
          <p:cNvGraphicFramePr/>
          <p:nvPr/>
        </p:nvGraphicFramePr>
        <p:xfrm>
          <a:off xmlns:a="http://schemas.openxmlformats.org/drawingml/2006/main" x="609600" y="1304925"/>
          <a:ext xmlns:a="http://schemas.openxmlformats.org/drawingml/2006/main" cx="7372350" cy="3762375"/>
        </p:xfrm>
        <a:graphic xmlns:a="http://schemas.openxmlformats.org/drawingml/2006/main">
          <a:graphicData uri="http://schemas.openxmlformats.org/drawingml/2006/chart">
            <c:chart xmlns:r="http://schemas.openxmlformats.org/officeDocument/2006/relationships" xmlns:c="http://schemas.openxmlformats.org/drawingml/2006/chart" r:id="Ref374d6475f445b9"/>
          </a:graphicData>
        </a:graphic>
      </p:graphicFrame>
      <p:sp>
        <p:nvSpPr>
          <p:cNvPr id="3" name="relative-improvement">
            <a:extLst xmlns:a="http://schemas.openxmlformats.org/drawingml/2006/main">
              <a:ext uri="{FF2B5EF4-FFF2-40B4-BE49-F238E27FC236}">
                <a16:creationId xmlns:a16="http://schemas.microsoft.com/office/drawing/2014/main" id="{12BBB6DE-63D0-424F-A47E-A3D3033917EC}"/>
              </a:ext>
            </a:extLst>
          </p:cNvPr>
          <p:cNvSpPr>
            <a:spLocks xmlns:a="http://schemas.openxmlformats.org/drawingml/2006/main" noGrp="1"/>
          </p:cNvSpPr>
          <p:nvPr/>
        </p:nvSpPr>
        <p:spPr>
          <a:xfrm xmlns:a="http://schemas.openxmlformats.org/drawingml/2006/main">
            <a:off x="8429625" y="14954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DF7137"/>
                </a:solidFill>
                <a:latin typeface="Arial"/>
                <a:ea typeface="Arial"/>
                <a:cs typeface="Arial"/>
              </a:defRPr>
            </a:defPPr>
            <a:lvl1pPr algn="l">
              <a:defRPr sz="5550" b="1">
                <a:solidFill>
                  <a:srgbClr val="DF7137"/>
                </a:solidFill>
                <a:latin typeface="Arial"/>
                <a:ea typeface="Arial"/>
                <a:cs typeface="Arial"/>
              </a:defRPr>
            </a:lvl1pPr>
            <a:lvl2pPr algn="l">
              <a:defRPr sz="5550" b="1">
                <a:solidFill>
                  <a:srgbClr val="DF7137"/>
                </a:solidFill>
                <a:latin typeface="Arial"/>
                <a:ea typeface="Arial"/>
                <a:cs typeface="Arial"/>
              </a:defRPr>
            </a:lvl2pPr>
            <a:lvl3pPr algn="l">
              <a:defRPr sz="5550" b="1">
                <a:solidFill>
                  <a:srgbClr val="DF7137"/>
                </a:solidFill>
                <a:latin typeface="Arial"/>
                <a:ea typeface="Arial"/>
                <a:cs typeface="Arial"/>
              </a:defRPr>
            </a:lvl3pPr>
            <a:lvl4pPr algn="l">
              <a:defRPr sz="5550" b="1">
                <a:solidFill>
                  <a:srgbClr val="DF7137"/>
                </a:solidFill>
                <a:latin typeface="Arial"/>
                <a:ea typeface="Arial"/>
                <a:cs typeface="Arial"/>
              </a:defRPr>
            </a:lvl4pPr>
            <a:lvl5pPr algn="l">
              <a:defRPr sz="5550" b="1">
                <a:solidFill>
                  <a:srgbClr val="DF7137"/>
                </a:solidFill>
                <a:latin typeface="Arial"/>
                <a:ea typeface="Arial"/>
                <a:cs typeface="Arial"/>
              </a:defRPr>
            </a:lvl5pPr>
            <a:lvl6pPr algn="l">
              <a:defRPr sz="5550" b="1">
                <a:solidFill>
                  <a:srgbClr val="DF7137"/>
                </a:solidFill>
                <a:latin typeface="Arial"/>
                <a:ea typeface="Arial"/>
                <a:cs typeface="Arial"/>
              </a:defRPr>
            </a:lvl6pPr>
            <a:lvl7pPr algn="l">
              <a:defRPr sz="5550" b="1">
                <a:solidFill>
                  <a:srgbClr val="DF7137"/>
                </a:solidFill>
                <a:latin typeface="Arial"/>
                <a:ea typeface="Arial"/>
                <a:cs typeface="Arial"/>
              </a:defRPr>
            </a:lvl7pPr>
            <a:lvl8pPr algn="l">
              <a:defRPr sz="5550" b="1">
                <a:solidFill>
                  <a:srgbClr val="DF7137"/>
                </a:solidFill>
                <a:latin typeface="Arial"/>
                <a:ea typeface="Arial"/>
                <a:cs typeface="Arial"/>
              </a:defRPr>
            </a:lvl8pPr>
            <a:lvl9pPr algn="l">
              <a:defRPr sz="5550" b="1">
                <a:solidFill>
                  <a:srgbClr val="DF7137"/>
                </a:solidFill>
                <a:latin typeface="Arial"/>
                <a:ea typeface="Arial"/>
                <a:cs typeface="Arial"/>
              </a:defRPr>
            </a:lvl9pPr>
          </a:lstStyle>
          <a:p xmlns:a="http://schemas.openxmlformats.org/drawingml/2006/main">
            <a:pPr algn="l">
              <a:defRPr sz="5550" b="1">
                <a:solidFill>
                  <a:srgbClr val="DF7137"/>
                </a:solidFill>
                <a:latin typeface="Arial"/>
                <a:ea typeface="Arial"/>
                <a:cs typeface="Arial"/>
              </a:defRPr>
            </a:pPr>
            <a:r>
              <a:rPr sz="5550" b="1">
                <a:solidFill>
                  <a:srgbClr val="DF7137"/>
                </a:solidFill>
                <a:latin typeface="Arial"/>
                <a:ea typeface="Arial"/>
                <a:cs typeface="Arial"/>
              </a:rPr>
              <a:t>15.4%</a:t>
            </a:r>
          </a:p>
        </p:txBody>
      </p:sp>
      <p:sp>
        <p:nvSpPr>
          <p:cNvPr id="4" name="relative-improvement-label">
            <a:extLst xmlns:a="http://schemas.openxmlformats.org/drawingml/2006/main">
              <a:ext uri="{FF2B5EF4-FFF2-40B4-BE49-F238E27FC236}">
                <a16:creationId xmlns:a16="http://schemas.microsoft.com/office/drawing/2014/main" id="{1F0CBCBE-BFB9-43A7-94F9-9658E7137C68}"/>
              </a:ext>
            </a:extLst>
          </p:cNvPr>
          <p:cNvSpPr>
            <a:spLocks xmlns:a="http://schemas.openxmlformats.org/drawingml/2006/main" noGrp="1"/>
          </p:cNvSpPr>
          <p:nvPr/>
        </p:nvSpPr>
        <p:spPr>
          <a:xfrm xmlns:a="http://schemas.openxmlformats.org/drawingml/2006/main">
            <a:off x="8429625" y="2533650"/>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lower MAE than</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linear regression</a:t>
            </a:r>
          </a:p>
        </p:txBody>
      </p:sp>
      <p:sp>
        <p:nvSpPr>
          <p:cNvPr id="5" name="r-squared">
            <a:extLst xmlns:a="http://schemas.openxmlformats.org/drawingml/2006/main">
              <a:ext uri="{FF2B5EF4-FFF2-40B4-BE49-F238E27FC236}">
                <a16:creationId xmlns:a16="http://schemas.microsoft.com/office/drawing/2014/main" id="{B975CDBC-83F1-44AC-A643-0A05B8103DFF}"/>
              </a:ext>
            </a:extLst>
          </p:cNvPr>
          <p:cNvSpPr>
            <a:spLocks xmlns:a="http://schemas.openxmlformats.org/drawingml/2006/main" noGrp="1"/>
          </p:cNvSpPr>
          <p:nvPr/>
        </p:nvSpPr>
        <p:spPr>
          <a:xfrm xmlns:a="http://schemas.openxmlformats.org/drawingml/2006/main">
            <a:off x="8429625" y="3819525"/>
            <a:ext cx="314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315C8C"/>
                </a:solidFill>
                <a:latin typeface="Arial"/>
                <a:ea typeface="Arial"/>
                <a:cs typeface="Arial"/>
              </a:defRPr>
            </a:defPPr>
            <a:lvl1pPr algn="l">
              <a:defRPr sz="2775" b="1">
                <a:solidFill>
                  <a:srgbClr val="315C8C"/>
                </a:solidFill>
                <a:latin typeface="Arial"/>
                <a:ea typeface="Arial"/>
                <a:cs typeface="Arial"/>
              </a:defRPr>
            </a:lvl1pPr>
            <a:lvl2pPr algn="l">
              <a:defRPr sz="2775" b="1">
                <a:solidFill>
                  <a:srgbClr val="315C8C"/>
                </a:solidFill>
                <a:latin typeface="Arial"/>
                <a:ea typeface="Arial"/>
                <a:cs typeface="Arial"/>
              </a:defRPr>
            </a:lvl2pPr>
            <a:lvl3pPr algn="l">
              <a:defRPr sz="2775" b="1">
                <a:solidFill>
                  <a:srgbClr val="315C8C"/>
                </a:solidFill>
                <a:latin typeface="Arial"/>
                <a:ea typeface="Arial"/>
                <a:cs typeface="Arial"/>
              </a:defRPr>
            </a:lvl3pPr>
            <a:lvl4pPr algn="l">
              <a:defRPr sz="2775" b="1">
                <a:solidFill>
                  <a:srgbClr val="315C8C"/>
                </a:solidFill>
                <a:latin typeface="Arial"/>
                <a:ea typeface="Arial"/>
                <a:cs typeface="Arial"/>
              </a:defRPr>
            </a:lvl4pPr>
            <a:lvl5pPr algn="l">
              <a:defRPr sz="2775" b="1">
                <a:solidFill>
                  <a:srgbClr val="315C8C"/>
                </a:solidFill>
                <a:latin typeface="Arial"/>
                <a:ea typeface="Arial"/>
                <a:cs typeface="Arial"/>
              </a:defRPr>
            </a:lvl5pPr>
            <a:lvl6pPr algn="l">
              <a:defRPr sz="2775" b="1">
                <a:solidFill>
                  <a:srgbClr val="315C8C"/>
                </a:solidFill>
                <a:latin typeface="Arial"/>
                <a:ea typeface="Arial"/>
                <a:cs typeface="Arial"/>
              </a:defRPr>
            </a:lvl6pPr>
            <a:lvl7pPr algn="l">
              <a:defRPr sz="2775" b="1">
                <a:solidFill>
                  <a:srgbClr val="315C8C"/>
                </a:solidFill>
                <a:latin typeface="Arial"/>
                <a:ea typeface="Arial"/>
                <a:cs typeface="Arial"/>
              </a:defRPr>
            </a:lvl7pPr>
            <a:lvl8pPr algn="l">
              <a:defRPr sz="2775" b="1">
                <a:solidFill>
                  <a:srgbClr val="315C8C"/>
                </a:solidFill>
                <a:latin typeface="Arial"/>
                <a:ea typeface="Arial"/>
                <a:cs typeface="Arial"/>
              </a:defRPr>
            </a:lvl8pPr>
            <a:lvl9pPr algn="l">
              <a:defRPr sz="2775" b="1">
                <a:solidFill>
                  <a:srgbClr val="315C8C"/>
                </a:solidFill>
                <a:latin typeface="Arial"/>
                <a:ea typeface="Arial"/>
                <a:cs typeface="Arial"/>
              </a:defRPr>
            </a:lvl9pPr>
          </a:lstStyle>
          <a:p xmlns:a="http://schemas.openxmlformats.org/drawingml/2006/main">
            <a:pPr algn="l">
              <a:defRPr sz="2775" b="1">
                <a:solidFill>
                  <a:srgbClr val="315C8C"/>
                </a:solidFill>
                <a:latin typeface="Arial"/>
                <a:ea typeface="Arial"/>
                <a:cs typeface="Arial"/>
              </a:defRPr>
            </a:pPr>
            <a:r>
              <a:rPr sz="2775" b="1">
                <a:solidFill>
                  <a:srgbClr val="315C8C"/>
                </a:solidFill>
                <a:latin typeface="Arial"/>
                <a:ea typeface="Arial"/>
                <a:cs typeface="Arial"/>
              </a:rPr>
              <a:t>R² 0.368</a:t>
            </a:r>
          </a:p>
        </p:txBody>
      </p:sp>
      <p:sp>
        <p:nvSpPr>
          <p:cNvPr id="6" name="r-squared-reference">
            <a:extLst xmlns:a="http://schemas.openxmlformats.org/drawingml/2006/main">
              <a:ext uri="{FF2B5EF4-FFF2-40B4-BE49-F238E27FC236}">
                <a16:creationId xmlns:a16="http://schemas.microsoft.com/office/drawing/2014/main" id="{672E76EA-789A-4EA2-976B-6D96C61EF822}"/>
              </a:ext>
            </a:extLst>
          </p:cNvPr>
          <p:cNvSpPr>
            <a:spLocks xmlns:a="http://schemas.openxmlformats.org/drawingml/2006/main" noGrp="1"/>
          </p:cNvSpPr>
          <p:nvPr/>
        </p:nvSpPr>
        <p:spPr>
          <a:xfrm xmlns:a="http://schemas.openxmlformats.org/drawingml/2006/main">
            <a:off x="8429625" y="438150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vs 0.197 for linear regression</a:t>
            </a:r>
          </a:p>
        </p:txBody>
      </p:sp>
      <p:sp>
        <p:nvSpPr>
          <p:cNvPr id="7" name="paired-interval">
            <a:extLst xmlns:a="http://schemas.openxmlformats.org/drawingml/2006/main">
              <a:ext uri="{FF2B5EF4-FFF2-40B4-BE49-F238E27FC236}">
                <a16:creationId xmlns:a16="http://schemas.microsoft.com/office/drawing/2014/main" id="{B237F38F-EBE7-4F91-B3B7-832433557688}"/>
              </a:ext>
            </a:extLst>
          </p:cNvPr>
          <p:cNvSpPr>
            <a:spLocks xmlns:a="http://schemas.openxmlformats.org/drawingml/2006/main" noGrp="1"/>
          </p:cNvSpPr>
          <p:nvPr/>
        </p:nvSpPr>
        <p:spPr>
          <a:xfrm xmlns:a="http://schemas.openxmlformats.org/drawingml/2006/main">
            <a:off x="609600" y="541972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Absolute MAE reduction: 3.04 cents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paired bootstrap interval: 2.86 to 3.23 cents</a:t>
            </a:r>
          </a:p>
        </p:txBody>
      </p:sp>
      <p:sp>
        <p:nvSpPr>
          <p:cNvPr id="8" name="test-evaluation-footnote">
            <a:extLst xmlns:a="http://schemas.openxmlformats.org/drawingml/2006/main">
              <a:ext uri="{FF2B5EF4-FFF2-40B4-BE49-F238E27FC236}">
                <a16:creationId xmlns:a16="http://schemas.microsoft.com/office/drawing/2014/main" id="{50F518D3-AD76-4F38-91BF-1B08E98D41A0}"/>
              </a:ext>
            </a:extLst>
          </p:cNvPr>
          <p:cNvSpPr>
            <a:spLocks xmlns:a="http://schemas.openxmlformats.org/drawingml/2006/main" noGrp="1"/>
          </p:cNvSpPr>
          <p:nvPr/>
        </p:nvSpPr>
        <p:spPr>
          <a:xfrm xmlns:a="http://schemas.openxmlformats.org/drawingml/2006/main">
            <a:off x="609600" y="63436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27085"/>
                </a:solidFill>
                <a:latin typeface="Arial"/>
                <a:ea typeface="Arial"/>
                <a:cs typeface="Arial"/>
              </a:defRPr>
            </a:defPPr>
            <a:lvl1pPr algn="l">
              <a:defRPr sz="1350" b="0">
                <a:solidFill>
                  <a:srgbClr val="627085"/>
                </a:solidFill>
                <a:latin typeface="Arial"/>
                <a:ea typeface="Arial"/>
                <a:cs typeface="Arial"/>
              </a:defRPr>
            </a:lvl1pPr>
            <a:lvl2pPr algn="l">
              <a:defRPr sz="1350" b="0">
                <a:solidFill>
                  <a:srgbClr val="627085"/>
                </a:solidFill>
                <a:latin typeface="Arial"/>
                <a:ea typeface="Arial"/>
                <a:cs typeface="Arial"/>
              </a:defRPr>
            </a:lvl2pPr>
            <a:lvl3pPr algn="l">
              <a:defRPr sz="1350" b="0">
                <a:solidFill>
                  <a:srgbClr val="627085"/>
                </a:solidFill>
                <a:latin typeface="Arial"/>
                <a:ea typeface="Arial"/>
                <a:cs typeface="Arial"/>
              </a:defRPr>
            </a:lvl3pPr>
            <a:lvl4pPr algn="l">
              <a:defRPr sz="1350" b="0">
                <a:solidFill>
                  <a:srgbClr val="627085"/>
                </a:solidFill>
                <a:latin typeface="Arial"/>
                <a:ea typeface="Arial"/>
                <a:cs typeface="Arial"/>
              </a:defRPr>
            </a:lvl4pPr>
            <a:lvl5pPr algn="l">
              <a:defRPr sz="1350" b="0">
                <a:solidFill>
                  <a:srgbClr val="627085"/>
                </a:solidFill>
                <a:latin typeface="Arial"/>
                <a:ea typeface="Arial"/>
                <a:cs typeface="Arial"/>
              </a:defRPr>
            </a:lvl5pPr>
            <a:lvl6pPr algn="l">
              <a:defRPr sz="1350" b="0">
                <a:solidFill>
                  <a:srgbClr val="627085"/>
                </a:solidFill>
                <a:latin typeface="Arial"/>
                <a:ea typeface="Arial"/>
                <a:cs typeface="Arial"/>
              </a:defRPr>
            </a:lvl6pPr>
            <a:lvl7pPr algn="l">
              <a:defRPr sz="1350" b="0">
                <a:solidFill>
                  <a:srgbClr val="627085"/>
                </a:solidFill>
                <a:latin typeface="Arial"/>
                <a:ea typeface="Arial"/>
                <a:cs typeface="Arial"/>
              </a:defRPr>
            </a:lvl7pPr>
            <a:lvl8pPr algn="l">
              <a:defRPr sz="1350" b="0">
                <a:solidFill>
                  <a:srgbClr val="627085"/>
                </a:solidFill>
                <a:latin typeface="Arial"/>
                <a:ea typeface="Arial"/>
                <a:cs typeface="Arial"/>
              </a:defRPr>
            </a:lvl8pPr>
            <a:lvl9pPr algn="l">
              <a:defRPr sz="1350" b="0">
                <a:solidFill>
                  <a:srgbClr val="627085"/>
                </a:solidFill>
                <a:latin typeface="Arial"/>
                <a:ea typeface="Arial"/>
                <a:cs typeface="Arial"/>
              </a:defRPr>
            </a:lvl9pPr>
          </a:lstStyle>
          <a:p xmlns:a="http://schemas.openxmlformats.org/drawingml/2006/main">
            <a:pPr algn="l">
              <a:defRPr sz="1350" b="0">
                <a:solidFill>
                  <a:srgbClr val="627085"/>
                </a:solidFill>
                <a:latin typeface="Arial"/>
                <a:ea typeface="Arial"/>
                <a:cs typeface="Arial"/>
              </a:defRPr>
            </a:pPr>
            <a:r>
              <a:rPr sz="1350" b="0">
                <a:solidFill>
                  <a:srgbClr val="627085"/>
                </a:solidFill>
                <a:latin typeface="Arial"/>
                <a:ea typeface="Arial"/>
                <a:cs typeface="Arial"/>
              </a:rPr>
              <a:t>11,191 test wallets. Bootstrap intervals condition on the fitted models and assume wallet independence.</a:t>
            </a:r>
          </a:p>
        </p:txBody>
      </p:sp>
    </p:spTree>
    <p:extLst>
      <p:ext uri="{BB962C8B-B14F-4D97-AF65-F5344CB8AC3E}">
        <p14:creationId xmlns:p14="http://schemas.microsoft.com/office/powerpoint/2010/main" val="1240294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33722161-C0BB-44CF-8CDA-8F2EF938762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Interpretation</a:t>
            </a:r>
          </a:p>
        </p:txBody>
      </p:sp>
      <p:graphicFrame>
        <p:nvGraphicFramePr>
          <p:cNvPr id="2" name="Chart">
            <a:extLst xmlns:a="http://schemas.openxmlformats.org/drawingml/2006/main">
              <a:ext uri="{FF2B5EF4-FFF2-40B4-BE49-F238E27FC236}">
                <a16:creationId xmlns:a16="http://schemas.microsoft.com/office/drawing/2014/main" id="{AB827B3F-684F-403C-BD48-3831C3367B8A}"/>
              </a:ext>
            </a:extLst>
          </p:cNvPr>
          <p:cNvGraphicFramePr/>
          <p:nvPr/>
        </p:nvGraphicFramePr>
        <p:xfrm>
          <a:off xmlns:a="http://schemas.openxmlformats.org/drawingml/2006/main" x="533400" y="1381125"/>
          <a:ext xmlns:a="http://schemas.openxmlformats.org/drawingml/2006/main" cx="7124700" cy="4181475"/>
        </p:xfrm>
        <a:graphic xmlns:a="http://schemas.openxmlformats.org/drawingml/2006/main">
          <a:graphicData uri="http://schemas.openxmlformats.org/drawingml/2006/chart">
            <c:chart xmlns:r="http://schemas.openxmlformats.org/officeDocument/2006/relationships" xmlns:c="http://schemas.openxmlformats.org/drawingml/2006/chart" r:id="R36f325cbc1d44c2a"/>
          </a:graphicData>
        </a:graphic>
      </p:graphicFrame>
      <p:sp>
        <p:nvSpPr>
          <p:cNvPr id="3" name="reliance-takeaway">
            <a:extLst xmlns:a="http://schemas.openxmlformats.org/drawingml/2006/main">
              <a:ext uri="{FF2B5EF4-FFF2-40B4-BE49-F238E27FC236}">
                <a16:creationId xmlns:a16="http://schemas.microsoft.com/office/drawing/2014/main" id="{0B7383E1-2AB8-4521-B4D2-FC549CB0C6DD}"/>
              </a:ext>
            </a:extLst>
          </p:cNvPr>
          <p:cNvSpPr>
            <a:spLocks xmlns:a="http://schemas.openxmlformats.org/drawingml/2006/main" noGrp="1"/>
          </p:cNvSpPr>
          <p:nvPr/>
        </p:nvSpPr>
        <p:spPr>
          <a:xfrm xmlns:a="http://schemas.openxmlformats.org/drawingml/2006/main">
            <a:off x="8105775" y="1533525"/>
            <a:ext cx="342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Trade count has the strongest model reliance.</a:t>
            </a:r>
          </a:p>
        </p:txBody>
      </p:sp>
      <p:sp>
        <p:nvSpPr>
          <p:cNvPr id="4" name="ablation-takeaway">
            <a:extLst xmlns:a="http://schemas.openxmlformats.org/drawingml/2006/main">
              <a:ext uri="{FF2B5EF4-FFF2-40B4-BE49-F238E27FC236}">
                <a16:creationId xmlns:a16="http://schemas.microsoft.com/office/drawing/2014/main" id="{5BB4BB36-9BB2-45CF-A4A6-FD088C01E86D}"/>
              </a:ext>
            </a:extLst>
          </p:cNvPr>
          <p:cNvSpPr>
            <a:spLocks xmlns:a="http://schemas.openxmlformats.org/drawingml/2006/main" noGrp="1"/>
          </p:cNvSpPr>
          <p:nvPr/>
        </p:nvSpPr>
        <p:spPr>
          <a:xfrm xmlns:a="http://schemas.openxmlformats.org/drawingml/2006/main">
            <a:off x="8105775" y="3086100"/>
            <a:ext cx="3429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Removing spending and largest purchase raises MAE to 19.97 cents.</a:t>
            </a:r>
          </a:p>
        </p:txBody>
      </p:sp>
      <p:sp>
        <p:nvSpPr>
          <p:cNvPr id="5" name="scope-caution">
            <a:extLst xmlns:a="http://schemas.openxmlformats.org/drawingml/2006/main">
              <a:ext uri="{FF2B5EF4-FFF2-40B4-BE49-F238E27FC236}">
                <a16:creationId xmlns:a16="http://schemas.microsoft.com/office/drawing/2014/main" id="{8AA84B37-1E95-4B8C-952A-3B4F41C1AEE8}"/>
              </a:ext>
            </a:extLst>
          </p:cNvPr>
          <p:cNvSpPr>
            <a:spLocks xmlns:a="http://schemas.openxmlformats.org/drawingml/2006/main" noGrp="1"/>
          </p:cNvSpPr>
          <p:nvPr/>
        </p:nvSpPr>
        <p:spPr>
          <a:xfrm xmlns:a="http://schemas.openxmlformats.org/drawingml/2006/main">
            <a:off x="8105775" y="4676775"/>
            <a:ext cx="3429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Inputs and target come from the same trades.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Price differences can reflect market choice and timing.</a:t>
            </a:r>
          </a:p>
        </p:txBody>
      </p:sp>
      <p:sp>
        <p:nvSpPr>
          <p:cNvPr id="6" name="attribution-caution">
            <a:extLst xmlns:a="http://schemas.openxmlformats.org/drawingml/2006/main">
              <a:ext uri="{FF2B5EF4-FFF2-40B4-BE49-F238E27FC236}">
                <a16:creationId xmlns:a16="http://schemas.microsoft.com/office/drawing/2014/main" id="{4D18B851-587F-409A-B97B-04A75D4D06F6}"/>
              </a:ext>
            </a:extLst>
          </p:cNvPr>
          <p:cNvSpPr>
            <a:spLocks xmlns:a="http://schemas.openxmlformats.org/drawingml/2006/main" noGrp="1"/>
          </p:cNvSpPr>
          <p:nvPr/>
        </p:nvSpPr>
        <p:spPr>
          <a:xfrm xmlns:a="http://schemas.openxmlformats.org/drawingml/2006/main">
            <a:off x="609600" y="60674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Correlated inputs limit attribution. Importance gives no effect direction.</a:t>
            </a:r>
          </a:p>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These results do not establish profit, trading skill, or causal effects.</a:t>
            </a:r>
          </a:p>
        </p:txBody>
      </p:sp>
    </p:spTree>
    <p:extLst>
      <p:ext uri="{BB962C8B-B14F-4D97-AF65-F5344CB8AC3E}">
        <p14:creationId xmlns:p14="http://schemas.microsoft.com/office/powerpoint/2010/main" val="16842516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questions">
            <a:extLst xmlns:a="http://schemas.openxmlformats.org/drawingml/2006/main">
              <a:ext uri="{FF2B5EF4-FFF2-40B4-BE49-F238E27FC236}">
                <a16:creationId xmlns:a16="http://schemas.microsoft.com/office/drawing/2014/main" id="{04AA0EE7-EDCA-4266-B045-68BB2F15D1FD}"/>
              </a:ext>
            </a:extLst>
          </p:cNvPr>
          <p:cNvSpPr>
            <a:spLocks xmlns:a="http://schemas.openxmlformats.org/drawingml/2006/main" noGrp="1"/>
          </p:cNvSpPr>
          <p:nvPr/>
        </p:nvSpPr>
        <p:spPr>
          <a:xfrm xmlns:a="http://schemas.openxmlformats.org/drawingml/2006/main">
            <a:off x="609600" y="193357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Questions</a:t>
            </a:r>
          </a:p>
        </p:txBody>
      </p:sp>
      <p:sp>
        <p:nvSpPr>
          <p:cNvPr id="2" name="discussion">
            <a:extLst xmlns:a="http://schemas.openxmlformats.org/drawingml/2006/main">
              <a:ext uri="{FF2B5EF4-FFF2-40B4-BE49-F238E27FC236}">
                <a16:creationId xmlns:a16="http://schemas.microsoft.com/office/drawing/2014/main" id="{3EF21DD4-9B67-4E63-9969-7F52D9ABBDD1}"/>
              </a:ext>
            </a:extLst>
          </p:cNvPr>
          <p:cNvSpPr>
            <a:spLocks xmlns:a="http://schemas.openxmlformats.org/drawingml/2006/main" noGrp="1"/>
          </p:cNvSpPr>
          <p:nvPr/>
        </p:nvSpPr>
        <p:spPr>
          <a:xfrm xmlns:a="http://schemas.openxmlformats.org/drawingml/2006/main">
            <a:off x="609600" y="31623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315C8C"/>
                </a:solidFill>
                <a:latin typeface="Arial"/>
                <a:ea typeface="Arial"/>
                <a:cs typeface="Arial"/>
              </a:defRPr>
            </a:defPPr>
            <a:lvl1pPr algn="l">
              <a:defRPr sz="2475" b="0">
                <a:solidFill>
                  <a:srgbClr val="315C8C"/>
                </a:solidFill>
                <a:latin typeface="Arial"/>
                <a:ea typeface="Arial"/>
                <a:cs typeface="Arial"/>
              </a:defRPr>
            </a:lvl1pPr>
            <a:lvl2pPr algn="l">
              <a:defRPr sz="2475" b="0">
                <a:solidFill>
                  <a:srgbClr val="315C8C"/>
                </a:solidFill>
                <a:latin typeface="Arial"/>
                <a:ea typeface="Arial"/>
                <a:cs typeface="Arial"/>
              </a:defRPr>
            </a:lvl2pPr>
            <a:lvl3pPr algn="l">
              <a:defRPr sz="2475" b="0">
                <a:solidFill>
                  <a:srgbClr val="315C8C"/>
                </a:solidFill>
                <a:latin typeface="Arial"/>
                <a:ea typeface="Arial"/>
                <a:cs typeface="Arial"/>
              </a:defRPr>
            </a:lvl3pPr>
            <a:lvl4pPr algn="l">
              <a:defRPr sz="2475" b="0">
                <a:solidFill>
                  <a:srgbClr val="315C8C"/>
                </a:solidFill>
                <a:latin typeface="Arial"/>
                <a:ea typeface="Arial"/>
                <a:cs typeface="Arial"/>
              </a:defRPr>
            </a:lvl4pPr>
            <a:lvl5pPr algn="l">
              <a:defRPr sz="2475" b="0">
                <a:solidFill>
                  <a:srgbClr val="315C8C"/>
                </a:solidFill>
                <a:latin typeface="Arial"/>
                <a:ea typeface="Arial"/>
                <a:cs typeface="Arial"/>
              </a:defRPr>
            </a:lvl5pPr>
            <a:lvl6pPr algn="l">
              <a:defRPr sz="2475" b="0">
                <a:solidFill>
                  <a:srgbClr val="315C8C"/>
                </a:solidFill>
                <a:latin typeface="Arial"/>
                <a:ea typeface="Arial"/>
                <a:cs typeface="Arial"/>
              </a:defRPr>
            </a:lvl6pPr>
            <a:lvl7pPr algn="l">
              <a:defRPr sz="2475" b="0">
                <a:solidFill>
                  <a:srgbClr val="315C8C"/>
                </a:solidFill>
                <a:latin typeface="Arial"/>
                <a:ea typeface="Arial"/>
                <a:cs typeface="Arial"/>
              </a:defRPr>
            </a:lvl7pPr>
            <a:lvl8pPr algn="l">
              <a:defRPr sz="2475" b="0">
                <a:solidFill>
                  <a:srgbClr val="315C8C"/>
                </a:solidFill>
                <a:latin typeface="Arial"/>
                <a:ea typeface="Arial"/>
                <a:cs typeface="Arial"/>
              </a:defRPr>
            </a:lvl8pPr>
            <a:lvl9pPr algn="l">
              <a:defRPr sz="2475" b="0">
                <a:solidFill>
                  <a:srgbClr val="315C8C"/>
                </a:solidFill>
                <a:latin typeface="Arial"/>
                <a:ea typeface="Arial"/>
                <a:cs typeface="Arial"/>
              </a:defRPr>
            </a:lvl9pPr>
          </a:lstStyle>
          <a:p xmlns:a="http://schemas.openxmlformats.org/drawingml/2006/main">
            <a:pPr algn="l">
              <a:defRPr sz="2475" b="0">
                <a:solidFill>
                  <a:srgbClr val="315C8C"/>
                </a:solidFill>
                <a:latin typeface="Arial"/>
                <a:ea typeface="Arial"/>
                <a:cs typeface="Arial"/>
              </a:defRPr>
            </a:pPr>
            <a:r>
              <a:rPr sz="2475" b="0">
                <a:solidFill>
                  <a:srgbClr val="315C8C"/>
                </a:solidFill>
                <a:latin typeface="Arial"/>
                <a:ea typeface="Arial"/>
                <a:cs typeface="Arial"/>
              </a:rPr>
              <a:t>Market calibration and wallet behavior</a:t>
            </a:r>
          </a:p>
        </p:txBody>
      </p:sp>
      <p:sp>
        <p:nvSpPr>
          <p:cNvPr id="3" name="team">
            <a:extLst xmlns:a="http://schemas.openxmlformats.org/drawingml/2006/main">
              <a:ext uri="{FF2B5EF4-FFF2-40B4-BE49-F238E27FC236}">
                <a16:creationId xmlns:a16="http://schemas.microsoft.com/office/drawing/2014/main" id="{913BB848-6C18-473E-AE06-E7DDB9A23A99}"/>
              </a:ext>
            </a:extLst>
          </p:cNvPr>
          <p:cNvSpPr>
            <a:spLocks xmlns:a="http://schemas.openxmlformats.org/drawingml/2006/main" noGrp="1"/>
          </p:cNvSpPr>
          <p:nvPr/>
        </p:nvSpPr>
        <p:spPr>
          <a:xfrm xmlns:a="http://schemas.openxmlformats.org/drawingml/2006/main">
            <a:off x="609600" y="54578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27085"/>
                </a:solidFill>
                <a:latin typeface="Arial"/>
                <a:ea typeface="Arial"/>
                <a:cs typeface="Arial"/>
              </a:defRPr>
            </a:defPPr>
            <a:lvl1pPr algn="l">
              <a:defRPr sz="2025" b="0">
                <a:solidFill>
                  <a:srgbClr val="627085"/>
                </a:solidFill>
                <a:latin typeface="Arial"/>
                <a:ea typeface="Arial"/>
                <a:cs typeface="Arial"/>
              </a:defRPr>
            </a:lvl1pPr>
            <a:lvl2pPr algn="l">
              <a:defRPr sz="2025" b="0">
                <a:solidFill>
                  <a:srgbClr val="627085"/>
                </a:solidFill>
                <a:latin typeface="Arial"/>
                <a:ea typeface="Arial"/>
                <a:cs typeface="Arial"/>
              </a:defRPr>
            </a:lvl2pPr>
            <a:lvl3pPr algn="l">
              <a:defRPr sz="2025" b="0">
                <a:solidFill>
                  <a:srgbClr val="627085"/>
                </a:solidFill>
                <a:latin typeface="Arial"/>
                <a:ea typeface="Arial"/>
                <a:cs typeface="Arial"/>
              </a:defRPr>
            </a:lvl3pPr>
            <a:lvl4pPr algn="l">
              <a:defRPr sz="2025" b="0">
                <a:solidFill>
                  <a:srgbClr val="627085"/>
                </a:solidFill>
                <a:latin typeface="Arial"/>
                <a:ea typeface="Arial"/>
                <a:cs typeface="Arial"/>
              </a:defRPr>
            </a:lvl4pPr>
            <a:lvl5pPr algn="l">
              <a:defRPr sz="2025" b="0">
                <a:solidFill>
                  <a:srgbClr val="627085"/>
                </a:solidFill>
                <a:latin typeface="Arial"/>
                <a:ea typeface="Arial"/>
                <a:cs typeface="Arial"/>
              </a:defRPr>
            </a:lvl5pPr>
            <a:lvl6pPr algn="l">
              <a:defRPr sz="2025" b="0">
                <a:solidFill>
                  <a:srgbClr val="627085"/>
                </a:solidFill>
                <a:latin typeface="Arial"/>
                <a:ea typeface="Arial"/>
                <a:cs typeface="Arial"/>
              </a:defRPr>
            </a:lvl6pPr>
            <a:lvl7pPr algn="l">
              <a:defRPr sz="2025" b="0">
                <a:solidFill>
                  <a:srgbClr val="627085"/>
                </a:solidFill>
                <a:latin typeface="Arial"/>
                <a:ea typeface="Arial"/>
                <a:cs typeface="Arial"/>
              </a:defRPr>
            </a:lvl7pPr>
            <a:lvl8pPr algn="l">
              <a:defRPr sz="2025" b="0">
                <a:solidFill>
                  <a:srgbClr val="627085"/>
                </a:solidFill>
                <a:latin typeface="Arial"/>
                <a:ea typeface="Arial"/>
                <a:cs typeface="Arial"/>
              </a:defRPr>
            </a:lvl8pPr>
            <a:lvl9pPr algn="l">
              <a:defRPr sz="2025" b="0">
                <a:solidFill>
                  <a:srgbClr val="627085"/>
                </a:solidFill>
                <a:latin typeface="Arial"/>
                <a:ea typeface="Arial"/>
                <a:cs typeface="Arial"/>
              </a:defRPr>
            </a:lvl9pPr>
          </a:lstStyle>
          <a:p xmlns:a="http://schemas.openxmlformats.org/drawingml/2006/main">
            <a:pPr algn="l">
              <a:defRPr sz="2025" b="0">
                <a:solidFill>
                  <a:srgbClr val="627085"/>
                </a:solidFill>
                <a:latin typeface="Arial"/>
                <a:ea typeface="Arial"/>
                <a:cs typeface="Arial"/>
              </a:defRPr>
            </a:pPr>
            <a:r>
              <a:rPr sz="2025" b="0">
                <a:solidFill>
                  <a:srgbClr val="627085"/>
                </a:solidFill>
                <a:latin typeface="Arial"/>
                <a:ea typeface="Arial"/>
                <a:cs typeface="Arial"/>
              </a:rPr>
              <a:t>Leo Wong   /   Aaron Wen   /   Jiahong Chen</a:t>
            </a:r>
          </a:p>
        </p:txBody>
      </p:sp>
    </p:spTree>
    <p:extLst>
      <p:ext uri="{BB962C8B-B14F-4D97-AF65-F5344CB8AC3E}">
        <p14:creationId xmlns:p14="http://schemas.microsoft.com/office/powerpoint/2010/main" val="12745517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1EC75CE-BED5-4B3D-983B-840AA2B2C77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Additional market checks</a:t>
            </a:r>
          </a:p>
        </p:txBody>
      </p:sp>
      <p:graphicFrame>
        <p:nvGraphicFramePr>
          <p:cNvPr id="2" name="">
            <a:extLst xmlns:a="http://schemas.openxmlformats.org/drawingml/2006/main">
              <a:ext uri="{FF2B5EF4-FFF2-40B4-BE49-F238E27FC236}">
                <a16:creationId xmlns:a16="http://schemas.microsoft.com/office/drawing/2014/main" id="{C008543C-8427-4094-935B-82605D21C98C}"/>
              </a:ext>
            </a:extLst>
          </p:cNvPr>
          <p:cNvGraphicFramePr/>
          <p:nvPr/>
        </p:nvGraphicFramePr>
        <p:xfrm>
          <a:off xmlns:a="http://schemas.openxmlformats.org/drawingml/2006/main" x="609600" y="1457325"/>
          <a:ext xmlns:a="http://schemas.openxmlformats.org/drawingml/2006/main" cx="5048250" cy="1866900"/>
        </p:xfrm>
        <a:graphic xmlns:a="http://schemas.openxmlformats.org/drawingml/2006/main">
          <a:graphicData uri="http://schemas.openxmlformats.org/drawingml/2006/table">
            <a:tbl>
              <a:tblPr/>
              <a:tblGrid>
                <a:gridCol w="2457450"/>
                <a:gridCol w="1295400"/>
                <a:gridCol w="1295400"/>
              </a:tblGrid>
              <a:tr h="495300">
                <a:tc>
                  <a:txBody>
                    <a:bodyPr lIns="152400" tIns="95250" rIns="133350" bIns="95250"/>
                    <a:lstStyle/>
                    <a:p>
                      <a:r>
                        <a:rPr sz="1875" b="1">
                          <a:solidFill>
                            <a:srgbClr val="FFFFFF"/>
                          </a:solidFill>
                          <a:latin typeface="Arial"/>
                          <a:ea typeface="Arial"/>
                          <a:cs typeface="Arial"/>
                        </a:rPr>
                        <a:t>Split</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Events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Markets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875" b="0">
                          <a:solidFill>
                            <a:srgbClr val="263449"/>
                          </a:solidFill>
                          <a:latin typeface="Arial"/>
                          <a:ea typeface="Arial"/>
                          <a:cs typeface="Arial"/>
                        </a:rPr>
                        <a:t>Training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841</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3,215</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875" b="0">
                          <a:solidFill>
                            <a:srgbClr val="263449"/>
                          </a:solidFill>
                          <a:latin typeface="Arial"/>
                          <a:ea typeface="Arial"/>
                          <a:cs typeface="Arial"/>
                        </a:rPr>
                        <a:t>Test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860</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3,511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plit-explanation">
            <a:extLst xmlns:a="http://schemas.openxmlformats.org/drawingml/2006/main">
              <a:ext uri="{FF2B5EF4-FFF2-40B4-BE49-F238E27FC236}">
                <a16:creationId xmlns:a16="http://schemas.microsoft.com/office/drawing/2014/main" id="{BB239B74-2F00-47FE-A1D2-7F486F56835C}"/>
              </a:ext>
            </a:extLst>
          </p:cNvPr>
          <p:cNvSpPr>
            <a:spLocks xmlns:a="http://schemas.openxmlformats.org/drawingml/2006/main" noGrp="1"/>
          </p:cNvSpPr>
          <p:nvPr/>
        </p:nvSpPr>
        <p:spPr>
          <a:xfrm xmlns:a="http://schemas.openxmlformats.org/drawingml/2006/main">
            <a:off x="609600" y="357187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Training events close before September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Events crossing that date belong entirely to test.</a:t>
            </a:r>
          </a:p>
        </p:txBody>
      </p:sp>
      <p:sp>
        <p:nvSpPr>
          <p:cNvPr id="4" name="mid-range-heading">
            <a:extLst xmlns:a="http://schemas.openxmlformats.org/drawingml/2006/main">
              <a:ext uri="{FF2B5EF4-FFF2-40B4-BE49-F238E27FC236}">
                <a16:creationId xmlns:a16="http://schemas.microsoft.com/office/drawing/2014/main" id="{B3214713-3716-43C5-972B-EC4696FFF117}"/>
              </a:ext>
            </a:extLst>
          </p:cNvPr>
          <p:cNvSpPr>
            <a:spLocks xmlns:a="http://schemas.openxmlformats.org/drawingml/2006/main" noGrp="1"/>
          </p:cNvSpPr>
          <p:nvPr/>
        </p:nvSpPr>
        <p:spPr>
          <a:xfrm xmlns:a="http://schemas.openxmlformats.org/drawingml/2006/main">
            <a:off x="609600" y="48958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C8C"/>
                </a:solidFill>
                <a:latin typeface="Arial"/>
                <a:ea typeface="Arial"/>
                <a:cs typeface="Arial"/>
              </a:defRPr>
            </a:defPPr>
            <a:lvl1pPr algn="l">
              <a:defRPr sz="2100" b="1">
                <a:solidFill>
                  <a:srgbClr val="315C8C"/>
                </a:solidFill>
                <a:latin typeface="Arial"/>
                <a:ea typeface="Arial"/>
                <a:cs typeface="Arial"/>
              </a:defRPr>
            </a:lvl1pPr>
            <a:lvl2pPr algn="l">
              <a:defRPr sz="2100" b="1">
                <a:solidFill>
                  <a:srgbClr val="315C8C"/>
                </a:solidFill>
                <a:latin typeface="Arial"/>
                <a:ea typeface="Arial"/>
                <a:cs typeface="Arial"/>
              </a:defRPr>
            </a:lvl2pPr>
            <a:lvl3pPr algn="l">
              <a:defRPr sz="2100" b="1">
                <a:solidFill>
                  <a:srgbClr val="315C8C"/>
                </a:solidFill>
                <a:latin typeface="Arial"/>
                <a:ea typeface="Arial"/>
                <a:cs typeface="Arial"/>
              </a:defRPr>
            </a:lvl3pPr>
            <a:lvl4pPr algn="l">
              <a:defRPr sz="2100" b="1">
                <a:solidFill>
                  <a:srgbClr val="315C8C"/>
                </a:solidFill>
                <a:latin typeface="Arial"/>
                <a:ea typeface="Arial"/>
                <a:cs typeface="Arial"/>
              </a:defRPr>
            </a:lvl4pPr>
            <a:lvl5pPr algn="l">
              <a:defRPr sz="2100" b="1">
                <a:solidFill>
                  <a:srgbClr val="315C8C"/>
                </a:solidFill>
                <a:latin typeface="Arial"/>
                <a:ea typeface="Arial"/>
                <a:cs typeface="Arial"/>
              </a:defRPr>
            </a:lvl5pPr>
            <a:lvl6pPr algn="l">
              <a:defRPr sz="2100" b="1">
                <a:solidFill>
                  <a:srgbClr val="315C8C"/>
                </a:solidFill>
                <a:latin typeface="Arial"/>
                <a:ea typeface="Arial"/>
                <a:cs typeface="Arial"/>
              </a:defRPr>
            </a:lvl6pPr>
            <a:lvl7pPr algn="l">
              <a:defRPr sz="2100" b="1">
                <a:solidFill>
                  <a:srgbClr val="315C8C"/>
                </a:solidFill>
                <a:latin typeface="Arial"/>
                <a:ea typeface="Arial"/>
                <a:cs typeface="Arial"/>
              </a:defRPr>
            </a:lvl7pPr>
            <a:lvl8pPr algn="l">
              <a:defRPr sz="2100" b="1">
                <a:solidFill>
                  <a:srgbClr val="315C8C"/>
                </a:solidFill>
                <a:latin typeface="Arial"/>
                <a:ea typeface="Arial"/>
                <a:cs typeface="Arial"/>
              </a:defRPr>
            </a:lvl8pPr>
            <a:lvl9pPr algn="l">
              <a:defRPr sz="2100" b="1">
                <a:solidFill>
                  <a:srgbClr val="315C8C"/>
                </a:solidFill>
                <a:latin typeface="Arial"/>
                <a:ea typeface="Arial"/>
                <a:cs typeface="Arial"/>
              </a:defRPr>
            </a:lvl9pPr>
          </a:lstStyle>
          <a:p xmlns:a="http://schemas.openxmlformats.org/drawingml/2006/main">
            <a:pPr algn="l">
              <a:defRPr sz="2100" b="1">
                <a:solidFill>
                  <a:srgbClr val="315C8C"/>
                </a:solidFill>
                <a:latin typeface="Arial"/>
                <a:ea typeface="Arial"/>
                <a:cs typeface="Arial"/>
              </a:defRPr>
            </a:pPr>
            <a:r>
              <a:rPr sz="2100" b="1">
                <a:solidFill>
                  <a:srgbClr val="315C8C"/>
                </a:solidFill>
                <a:latin typeface="Arial"/>
                <a:ea typeface="Arial"/>
                <a:cs typeface="Arial"/>
              </a:rPr>
              <a:t>Mid-range prices: 5¢ to 95¢</a:t>
            </a:r>
          </a:p>
        </p:txBody>
      </p:sp>
      <p:sp>
        <p:nvSpPr>
          <p:cNvPr id="5" name="mid-range-values">
            <a:extLst xmlns:a="http://schemas.openxmlformats.org/drawingml/2006/main">
              <a:ext uri="{FF2B5EF4-FFF2-40B4-BE49-F238E27FC236}">
                <a16:creationId xmlns:a16="http://schemas.microsoft.com/office/drawing/2014/main" id="{647AD7E6-BD35-4C53-9CEF-3B7746157F75}"/>
              </a:ext>
            </a:extLst>
          </p:cNvPr>
          <p:cNvSpPr>
            <a:spLocks xmlns:a="http://schemas.openxmlformats.org/drawingml/2006/main" noGrp="1"/>
          </p:cNvSpPr>
          <p:nvPr/>
        </p:nvSpPr>
        <p:spPr>
          <a:xfrm xmlns:a="http://schemas.openxmlformats.org/drawingml/2006/main">
            <a:off x="609600" y="5476875"/>
            <a:ext cx="5048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24h test Brier: market 0.148, models 0.150.</a:t>
            </a:r>
          </a:p>
        </p:txBody>
      </p:sp>
      <p:graphicFrame>
        <p:nvGraphicFramePr>
          <p:cNvPr id="6" name="">
            <a:extLst xmlns:a="http://schemas.openxmlformats.org/drawingml/2006/main">
              <a:ext uri="{FF2B5EF4-FFF2-40B4-BE49-F238E27FC236}">
                <a16:creationId xmlns:a16="http://schemas.microsoft.com/office/drawing/2014/main" id="{D59E8775-211D-4EF3-8177-E1787524D34B}"/>
              </a:ext>
            </a:extLst>
          </p:cNvPr>
          <p:cNvGraphicFramePr/>
          <p:nvPr/>
        </p:nvGraphicFramePr>
        <p:xfrm>
          <a:off xmlns:a="http://schemas.openxmlformats.org/drawingml/2006/main" x="6343650" y="1457325"/>
          <a:ext xmlns:a="http://schemas.openxmlformats.org/drawingml/2006/main" cx="5238750" cy="3009900"/>
        </p:xfrm>
        <a:graphic xmlns:a="http://schemas.openxmlformats.org/drawingml/2006/main">
          <a:graphicData uri="http://schemas.openxmlformats.org/drawingml/2006/table">
            <a:tbl>
              <a:tblPr/>
              <a:tblGrid>
                <a:gridCol w="3238500"/>
                <a:gridCol w="2000250"/>
              </a:tblGrid>
              <a:tr h="495300">
                <a:tc>
                  <a:txBody>
                    <a:bodyPr lIns="152400" tIns="95250" rIns="133350" bIns="95250"/>
                    <a:lstStyle/>
                    <a:p>
                      <a:r>
                        <a:rPr sz="1875" b="1">
                          <a:solidFill>
                            <a:srgbClr val="FFFFFF"/>
                          </a:solidFill>
                          <a:latin typeface="Arial"/>
                          <a:ea typeface="Arial"/>
                          <a:cs typeface="Arial"/>
                        </a:rPr>
                        <a:t>Category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24h slope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28650">
                <a:tc>
                  <a:txBody>
                    <a:bodyPr lIns="152400" tIns="95250" rIns="133350" bIns="95250"/>
                    <a:lstStyle/>
                    <a:p>
                      <a:r>
                        <a:rPr sz="1875" b="0">
                          <a:solidFill>
                            <a:srgbClr val="263449"/>
                          </a:solidFill>
                          <a:latin typeface="Arial"/>
                          <a:ea typeface="Arial"/>
                          <a:cs typeface="Arial"/>
                        </a:rPr>
                        <a:t>Politics</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1.03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Technology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Entertainment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Economy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0.92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7" name="category-interval">
            <a:extLst xmlns:a="http://schemas.openxmlformats.org/drawingml/2006/main">
              <a:ext uri="{FF2B5EF4-FFF2-40B4-BE49-F238E27FC236}">
                <a16:creationId xmlns:a16="http://schemas.microsoft.com/office/drawing/2014/main" id="{2781C005-A168-4FE3-9474-B886D2EBE23B}"/>
              </a:ext>
            </a:extLst>
          </p:cNvPr>
          <p:cNvSpPr>
            <a:spLocks xmlns:a="http://schemas.openxmlformats.org/drawingml/2006/main" noGrp="1"/>
          </p:cNvSpPr>
          <p:nvPr/>
        </p:nvSpPr>
        <p:spPr>
          <a:xfrm xmlns:a="http://schemas.openxmlformats.org/drawingml/2006/main">
            <a:off x="6343650" y="48958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Only Entertainment’s interval is just above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1.00 to 1.29, rounded).</a:t>
            </a:r>
          </a:p>
        </p:txBody>
      </p:sp>
    </p:spTree>
    <p:extLst>
      <p:ext uri="{BB962C8B-B14F-4D97-AF65-F5344CB8AC3E}">
        <p14:creationId xmlns:p14="http://schemas.microsoft.com/office/powerpoint/2010/main" val="445271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2026-10-28T18:45:20.8810000Z</dcterms:created>
  <dcterms:modified xsi:type="dcterms:W3CDTF">2026-10-28T18:45:20.8810000Z</dcterms:modified>
</coreProperties>
</file>