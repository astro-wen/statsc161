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772677dcfc1d4419" Type="http://schemas.openxmlformats.org/officeDocument/2006/relationships/extended-properties" Target="docProps/app.xml"/><Relationship Id="R8d87dafe026a48bc" Type="http://schemas.openxmlformats.org/officeDocument/2006/relationships/officeDocument" Target="ppt/presentation.xml"/><Relationship Id="Rc5e807d6457a4b85"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dea4aaae68a042f0"/>
  </p:sldMasterIdLst>
  <p:sldIdLst>
    <p:sldId xmlns:r="http://schemas.openxmlformats.org/officeDocument/2006/relationships" id="256" r:id="Rf615f5ed55314443"/>
    <p:sldId xmlns:r="http://schemas.openxmlformats.org/officeDocument/2006/relationships" id="257" r:id="Rdd3c64d783a343f9"/>
    <p:sldId xmlns:r="http://schemas.openxmlformats.org/officeDocument/2006/relationships" id="258" r:id="R81856251b7114fab"/>
    <p:sldId xmlns:r="http://schemas.openxmlformats.org/officeDocument/2006/relationships" id="259" r:id="R0b87917674f241ad"/>
    <p:sldId xmlns:r="http://schemas.openxmlformats.org/officeDocument/2006/relationships" id="260" r:id="Rdbb4b7dc987f486e"/>
    <p:sldId xmlns:r="http://schemas.openxmlformats.org/officeDocument/2006/relationships" id="261" r:id="Rfdf53b204e2d41e8"/>
    <p:sldId xmlns:r="http://schemas.openxmlformats.org/officeDocument/2006/relationships" id="262" r:id="Rb3203ab0c5f941af"/>
    <p:sldId xmlns:r="http://schemas.openxmlformats.org/officeDocument/2006/relationships" id="263" r:id="Rb1437ffee7b44fb7"/>
    <p:sldId xmlns:r="http://schemas.openxmlformats.org/officeDocument/2006/relationships" id="264" r:id="R6003a8a84b3346cf"/>
    <p:sldId xmlns:r="http://schemas.openxmlformats.org/officeDocument/2006/relationships" id="265" r:id="R299b340e96d24241"/>
    <p:sldId xmlns:r="http://schemas.openxmlformats.org/officeDocument/2006/relationships" id="266" r:id="R1956a215f7784356"/>
    <p:sldId xmlns:r="http://schemas.openxmlformats.org/officeDocument/2006/relationships" id="267" r:id="R7c2f8b332d5e45df"/>
    <p:sldId xmlns:r="http://schemas.openxmlformats.org/officeDocument/2006/relationships" id="268" r:id="R533ac520b8a54cb6"/>
    <p:sldId xmlns:r="http://schemas.openxmlformats.org/officeDocument/2006/relationships" id="269" r:id="R26ead0f4df5d4a54"/>
    <p:sldId xmlns:r="http://schemas.openxmlformats.org/officeDocument/2006/relationships" id="270" r:id="Re2a0512d3efb48bd"/>
    <p:sldId xmlns:r="http://schemas.openxmlformats.org/officeDocument/2006/relationships" id="271" r:id="R713b619207ff433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07607871aa4389" Type="http://schemas.openxmlformats.org/officeDocument/2006/relationships/theme" Target="theme/theme1.xml"/><Relationship Id="R0b87917674f241ad" Type="http://schemas.openxmlformats.org/officeDocument/2006/relationships/slide" Target="slides/slide4.xml"/><Relationship Id="R1956a215f7784356" Type="http://schemas.openxmlformats.org/officeDocument/2006/relationships/slide" Target="slides/slide11.xml"/><Relationship Id="R26ead0f4df5d4a54" Type="http://schemas.openxmlformats.org/officeDocument/2006/relationships/slide" Target="slides/slide14.xml"/><Relationship Id="R299b340e96d24241" Type="http://schemas.openxmlformats.org/officeDocument/2006/relationships/slide" Target="slides/slide10.xml"/><Relationship Id="R533ac520b8a54cb6" Type="http://schemas.openxmlformats.org/officeDocument/2006/relationships/slide" Target="slides/slide13.xml"/><Relationship Id="R6003a8a84b3346cf" Type="http://schemas.openxmlformats.org/officeDocument/2006/relationships/slide" Target="slides/slide9.xml"/><Relationship Id="R713b619207ff4335" Type="http://schemas.openxmlformats.org/officeDocument/2006/relationships/slide" Target="slides/slide16.xml"/><Relationship Id="R7c2f8b332d5e45df" Type="http://schemas.openxmlformats.org/officeDocument/2006/relationships/slide" Target="slides/slide12.xml"/><Relationship Id="R81856251b7114fab" Type="http://schemas.openxmlformats.org/officeDocument/2006/relationships/slide" Target="slides/slide3.xml"/><Relationship Id="Rb1437ffee7b44fb7" Type="http://schemas.openxmlformats.org/officeDocument/2006/relationships/slide" Target="slides/slide8.xml"/><Relationship Id="Rb3203ab0c5f941af" Type="http://schemas.openxmlformats.org/officeDocument/2006/relationships/slide" Target="slides/slide7.xml"/><Relationship Id="Rbf9826966d754554" Type="http://schemas.openxmlformats.org/officeDocument/2006/relationships/tableStyles" Target="tableStyles.xml"/><Relationship Id="Rd23cbca7a6e64f28" Type="http://schemas.openxmlformats.org/officeDocument/2006/relationships/presProps" Target="presProps.xml"/><Relationship Id="Rdbb4b7dc987f486e" Type="http://schemas.openxmlformats.org/officeDocument/2006/relationships/slide" Target="slides/slide5.xml"/><Relationship Id="Rdd3c64d783a343f9" Type="http://schemas.openxmlformats.org/officeDocument/2006/relationships/slide" Target="slides/slide2.xml"/><Relationship Id="Rdea4aaae68a042f0" Type="http://schemas.openxmlformats.org/officeDocument/2006/relationships/slideMaster" Target="slideMasters/slideMaster1.xml"/><Relationship Id="Re2a0512d3efb48bd" Type="http://schemas.openxmlformats.org/officeDocument/2006/relationships/slide" Target="slides/slide15.xml"/><Relationship Id="Rf615f5ed55314443" Type="http://schemas.openxmlformats.org/officeDocument/2006/relationships/slide" Target="slides/slide1.xml"/><Relationship Id="Rfdf53b204e2d41e8" Type="http://schemas.openxmlformats.org/officeDocument/2006/relationships/slide" Target="slides/slide6.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 (0:30). Hi everyone, we are Leo, Aaron and Jiahong. Polymarket is a prediction market where a share pays one dollar if an event happens. Our question: is the price a good probability, and can a model do better than the crowd?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 (0:30). Two parts. Aaron looks at market prices: are they calibrated, and can recalibration or boosting beat them? Jiahong looks at wallets: which traits predict the price a wallet pays? For the final we combine both to look for informed trading, and to spot an informed trader we first need to know how good the price already 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 (0:45). Four papers frame our work. Thaler and Ziemba surveyed racetrack and lottery betting and the pricing anomalies there. Snowberg and Wolfers describe the favorite-longshot bias: long shots are bet too much and favorites too little. Wolfers and Zitzewitz conclude that prediction markets are usually fairly accurate. Page and Clemen ask our exact question and find prices are reasonably calibrated near expiry but biased for events far away. Aaron tests whether Polymarket in 2026 behaves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(0:30). Thank you, Leo. Let's start with prices as probabilities. A Yes share pays one dollar if the event occurs. If p is your belief and c is the price, your expected profit is p minus c, so the price settles at the crowd's belief. This gives us two questions. First, calibration: among events priced at 30 percent, do about 30 percent resolve Yes? Second, model comparison: can a model improve on the price using information available at the time?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(0:35). Here is our data. First, we have 7,479 resolved Yes/No markets in politics, technology, entertainment and economy, closing from June to October 2026. Second, we read prices from 4.1 million trades, using the last trade 7 days, 3 days, 24 hours and 6 hours before close. For evaluation, we use calibration curves and Brier scores. Finally, the order book covers 22 percent of these markets, and where both exist, the correlation is 0.92.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(0:40). Now to our main result. On the left, each dot is a group of markets with a similar price one day before close, and its height shows how often those events actually happened. If the market were perfectly calibrated, the dots would sit on the dashed diagonal. And they do: when the market says 30 percent, it happens about 30 percent of the time. On the right, the same pattern holds in all four categories. The shaded band is a 95 percent interval, and we resample whole events, since markets in one event are linked. For example, only one film can win Best Picture.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(0:40). Next, the favorite-longshot bias. We measure it with a calibration slope, where 1 is perfect and above 1 means long shots are overpriced. First, with all prices, the slope 6 hours before close is 1.08, with a 95 percent interval of 1.01 to 1.16. Second, after dropping prices below 2 cents and above 98 cents, it falls to 1.00. And as the chart shows, monthly slopes range from 0.93 to 1.09, and every interval includes 1. So the estimated bias is small.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(0:20). This slide shows accuracy near market close. Lower Brier scores mean more accurate probabilities. The overall score falls from 0.074 at 7 days to 0.038 at 6 hours. Politics shows the largest improvement, and economy keeps the largest error from 3 days to 6 hours.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(0:45). Can models improve on market prices? We trained on events before September and tested on 860 events from September and October. We compare three forecasts. First, the market price, with a Brier score of 0.0513. Second, logistic recalibration, which adjusts the price, at 0.0518. Third, gradient boosting, which combines many decision trees with extra features, also at 0.0518. So neither model improves on market prices in this test.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(0:40). To summarize our market findings. First, prices broadly match observed outcomes in all four categories. Second, the favorite-longshot bias is small and varies across months. Third, our models do not improve on prices in the September to October test. We have two limits: early resolution changes the meaning of 24 hours before close, and we evaluate one test period. Next, Jiahong will look at the prices traders choose to pay.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Our question is how well wallet trading characteristics predict average purchase price, and whether gradient boosting improves on linear regression. The dataset has 55,952 wallets, one row per wallet. The target is the volume-weighted price of the shares each wallet bought. The histogram shows training wallets. We keep all wallets and exclude the confirmed flag. This cohort comes from five selected event groups, so we describe the wallets in this dataset. A higher or lower purchase price does not by itself tell us whether the wallet made a profit.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We reserve twenty percent of wallets for final evaluation with one fixed random split: 44,761 training wallets and 11,191 test wallets. Every method gets exactly the same test wallets. Five-fold validation happens entirely inside training. We compare a mean baseline, an additive linear regression, and histogram gradient boosting, which can capture nonlinear patterns and interactions. Five skewed predictors use log of one plus the value. We choose boosting settings from a six-configuration grid using validation error, and the test set stays outside model selection.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On the held-out wallets, the mean baseline has an average absolute error of 22.14 cents per share. Linear regression reduces this to 19.78 cents, and gradient boosting to 16.74 cents. That is a 15.4 percent improvement over linear regression: 3.04 cents, with a paired wallet-bootstrap interval from 2.86 to 3.23 cents. Boosting also has a higher R squared, 0.368 against 0.197. The intervals assume independent wallets, which may be imperfect because wallets can trade in the same markets.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To interpret the model, we shuffle one predictor at a time and measure how much test error rises. Trade count matters most, about 6.32 cents. Spending, largest purchase and number of markets also contribute. This shows what the model relies on, not whether an input raises or lowers the price, and correlated inputs make attribution hard. Removing spending and largest purchase raises boosting error from 16.74 to 19.97 cents, so the money summaries add information. We cannot infer profit, trading skill or causal effects from this.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Likely questions and short answers are on the backup slide and in reports/midterm/slide_script.md.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Train/test: no event is on both sides. Mid-range prices: neither model beats the market on 5 to 95 cent prices either. Category slopes: with four categories tested, one borderline interval is not unusual by chance. Other likely questions: why trade prices (the book covered only about 22% of markets; correlation 0.92 where both exist); why resample by event (markets in one event are dependent); why Brier and not accuracy (it is a proper scoring rule; accuracy treats 51% and 99% as the same call).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75e9e3ac30cd4287"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d05c0c5c70b472f"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a5a1c3127ae0467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c334cb8e7fa14ffb"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9dd848489b114914"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a7b10705158d447c"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2F8440A-1D83-41D4-A039-BDF76EE118D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9D394F4-4C37-461E-814D-F5E210FC73A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D4EE006-7593-41C8-A611-2911AF51934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1AE78B5-F49F-4975-8198-F144384E940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BE9ABB8-D19C-421C-9F03-F0374ABCDFF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2365DAE-0166-4C77-B76D-8572895C261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F6AA0E2-8FE2-4B2C-8EED-83D76FCCBD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2B85B46-FBD0-4F89-867E-A2A9E2B6D5B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01F810D-A48E-46E5-B4CC-93BB0C4E81A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BA9F984-9A0F-4EE1-9C8D-F508361BD3F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ed12ea3737a4b78" Type="http://schemas.openxmlformats.org/officeDocument/2006/relationships/slideLayout" Target="../slideLayouts/slideLayout4.xml"/><Relationship Id="R4eab576cb70a408d" Type="http://schemas.openxmlformats.org/officeDocument/2006/relationships/slideLayout" Target="../slideLayouts/slideLayout1.xml"/><Relationship Id="R5837265699a34904" Type="http://schemas.openxmlformats.org/officeDocument/2006/relationships/slideLayout" Target="../slideLayouts/slideLayout3.xml"/><Relationship Id="R602a4c66cb9e4a20" Type="http://schemas.openxmlformats.org/officeDocument/2006/relationships/slideLayout" Target="../slideLayouts/slideLayout6.xml"/><Relationship Id="Ra01f0ec208fe4fd4" Type="http://schemas.openxmlformats.org/officeDocument/2006/relationships/slideLayout" Target="../slideLayouts/slideLayout2.xml"/><Relationship Id="Rce5e19433f934f6d" Type="http://schemas.openxmlformats.org/officeDocument/2006/relationships/theme" Target="theme/theme2.xml"/><Relationship Id="Ree8df184110143fe"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eab576cb70a408d"/>
    <p:sldLayoutId xmlns:r="http://schemas.openxmlformats.org/officeDocument/2006/relationships" id="2147483650" r:id="Ra01f0ec208fe4fd4"/>
    <p:sldLayoutId xmlns:r="http://schemas.openxmlformats.org/officeDocument/2006/relationships" id="2147483651" r:id="R5837265699a34904"/>
    <p:sldLayoutId xmlns:r="http://schemas.openxmlformats.org/officeDocument/2006/relationships" id="2147483652" r:id="R3ed12ea3737a4b78"/>
    <p:sldLayoutId xmlns:r="http://schemas.openxmlformats.org/officeDocument/2006/relationships" id="2147483653" r:id="Ree8df184110143fe"/>
    <p:sldLayoutId xmlns:r="http://schemas.openxmlformats.org/officeDocument/2006/relationships" id="2147483654" r:id="R602a4c66cb9e4a2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c89285dd29a41e6"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de42c01f92864630"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5b7242b9c64b4d0b"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ef7d1e30ef8a4bcb"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c8d2e9627273496f"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1ab20aa281ec41b6" Type="http://schemas.openxmlformats.org/officeDocument/2006/relationships/slideLayout" Target="../slideLayouts/slideLayout6.xml"/><Relationship Id="R3a676c7c09064ca6" Type="http://schemas.openxmlformats.org/officeDocument/2006/relationships/image" Target="../media/image2.png"/><Relationship Id="Rfab095b425a0475c" Type="http://schemas.openxmlformats.org/officeDocument/2006/relationships/image" Target="../media/image.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ca09e0ece59a4889" Type="http://schemas.openxmlformats.org/officeDocument/2006/relationships/image" Target="../media/image3.png"/><Relationship Id="Re8aa7621c0dd443a" Type="http://schemas.openxmlformats.org/officeDocument/2006/relationships/slideLayout" Target="../slideLayouts/slideLayout6.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e9d8f5fcc4640e9" Type="http://schemas.openxmlformats.org/officeDocument/2006/relationships/slideLayout" Target="../slideLayouts/slideLayout6.xml"/><Relationship Id="R95364801969b4a5a"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50849729a5fa4316" Type="http://schemas.openxmlformats.org/officeDocument/2006/relationships/slideLayout" Target="../slideLayouts/slideLayout6.xml"/><Relationship Id="Rcd95c24935f14665"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0af531a2745341a2"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76d326458b184489" Type="http://schemas.openxmlformats.org/officeDocument/2006/relationships/chart" Target="charts/chart1.xml"/><Relationship Id="Rd649ea04c81046a8" Type="http://schemas.openxmlformats.org/officeDocument/2006/relationships/slideLayout" Target="../slideLayouts/slideLayout6.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98ea05b64d1422d"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5b1f1df39664e70" Type="http://schemas.openxmlformats.org/officeDocument/2006/relationships/slideLayout" Target="../slideLayouts/slideLayout6.xml"/><Relationship Id="Ref374d6475f445b9" Type="http://schemas.openxmlformats.org/officeDocument/2006/relationships/chart" Target="charts/char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34da2edff8c04812" Type="http://schemas.openxmlformats.org/officeDocument/2006/relationships/slideLayout" Target="../slideLayouts/slideLayout6.xml"/><Relationship Id="R36f325cbc1d44c2a" Type="http://schemas.openxmlformats.org/officeDocument/2006/relationships/chart" Target="charts/char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c6fac35df369428e"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40d66096814f4f15" Type="http://schemas.openxmlformats.org/officeDocument/2006/relationships/slideLayout" Target="../slideLayouts/slideLayout6.xml"/><Relationship Id="rId2" Type="http://schemas.openxmlformats.org/officeDocument/2006/relationships/notesSlide" Target="../notesSlides/notesSlide16.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_rels/chart3.xml.rels><?xml version='1.0' encoding='UTF-8' standalone='yes'?>
<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950" b="1">
                <a:solidFill>
                  <a:srgbClr val="263449"/>
                </a:solidFill>
              </a:rPr>
              <a:t>Training price distribution</a:t>
            </a:r>
          </a:p>
        </c:rich>
      </c:tx>
      <c:overlay val="0"/>
      <c:txPr>
        <a:bodyPr xmlns:a="http://schemas.openxmlformats.org/drawingml/2006/main" anchorCtr="1"/>
        <a:lstStyle xmlns:a="http://schemas.openxmlformats.org/drawingml/2006/main"/>
        <a:p xmlns:a="http://schemas.openxmlformats.org/drawingml/2006/main">
          <a:pPr>
            <a:defRPr sz="1950" b="1">
              <a:solidFill>
                <a:srgbClr val="263449"/>
              </a:solidFill>
            </a:defRPr>
          </a:pPr>
        </a:p>
      </c:txPr>
    </c:title>
    <c:plotArea>
      <c:barChart>
        <c:barDir val="col"/>
        <c:varyColors val="0"/>
        <c:ser>
          <c:idx val="0"/>
          <c:order val="0"/>
          <c:tx>
            <c:v>Share of training wallets</c:v>
          </c:tx>
          <c:spPr>
            <a:solidFill xmlns:a="http://schemas.openxmlformats.org/drawingml/2006/main">
              <a:srgbClr val="315C8C"/>
            </a:solidFill>
          </c:spPr>
          <c:invertIfNegative val="0"/>
          <c:cat>
            <c:strRef>
              <c:f>'Chart Data'!$A$2:$A$6</c:f>
              <c:strCache>
                <c:ptCount val="5"/>
                <c:pt idx="0">
                  <c:v>0.0–0.2</c:v>
                </c:pt>
                <c:pt idx="1">
                  <c:v>0.2–0.4</c:v>
                </c:pt>
                <c:pt idx="2">
                  <c:v>0.4–0.6</c:v>
                </c:pt>
                <c:pt idx="3">
                  <c:v>0.6–0.8</c:v>
                </c:pt>
                <c:pt idx="4">
                  <c:v>0.8–1.0</c:v>
                </c:pt>
              </c:strCache>
            </c:strRef>
          </c:cat>
          <c:val>
            <c:numRef>
              <c:f>'Chart Data'!$B$2:$B$6</c:f>
              <c:numCache>
                <c:formatCode>0%</c:formatCode>
                <c:ptCount val="5"/>
                <c:pt idx="0">
                  <c:v>0.0946359554</c:v>
                </c:pt>
                <c:pt idx="1">
                  <c:v>0.0764504814</c:v>
                </c:pt>
                <c:pt idx="2">
                  <c:v>0.1594915216</c:v>
                </c:pt>
                <c:pt idx="3">
                  <c:v>0.2650521659</c:v>
                </c:pt>
                <c:pt idx="4">
                  <c:v>0.4043698755</c:v>
                </c:pt>
              </c:numCache>
            </c:numRef>
          </c:val>
        </c:ser>
        <c:dLbls>
          <c:showLegendKey val="0"/>
          <c:showVal val="0"/>
          <c:showCatName val="0"/>
          <c:showSerName val="0"/>
          <c:showPercent val="0"/>
          <c:showBubbleSize val="0"/>
          <c:showLeaderLines val="0"/>
        </c:dLbls>
        <c:gapWidth val="18"/>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t>Average purchase price ($)</a:t>
                </a:r>
              </a:p>
            </c:rich>
          </c:tx>
          <c:overlay val="0"/>
        </c:title>
        <c:numFmt formatCode="General"/>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72768"/>
      </c:catAx>
      <c:valAx>
        <c:axId val="48672768"/>
        <c:scaling>
          <c:orientation val="minMax"/>
          <c:max val="0.5"/>
          <c:min val="0"/>
        </c:scaling>
        <c:delete val="0"/>
        <c:axPos val="l"/>
        <c:majorGridlines>
          <c:spPr>
            <a:ln xmlns:a="http://schemas.openxmlformats.org/drawingml/2006/main" w="9525">
              <a:solidFill>
                <a:srgbClr val="E8ECF1"/>
              </a:solidFill>
            </a:ln>
          </c:spPr>
        </c:majorGridlines>
        <c:numFmt formatCode="0%"/>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50112"/>
        <c:crossBetween val="between"/>
        <c:majorUnit val="0.1"/>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950" b="1">
                <a:solidFill>
                  <a:srgbClr val="263449"/>
                </a:solidFill>
              </a:rPr>
              <a:t>Test MAE in cents per share</a:t>
            </a:r>
          </a:p>
        </c:rich>
      </c:tx>
      <c:overlay val="0"/>
      <c:txPr>
        <a:bodyPr xmlns:a="http://schemas.openxmlformats.org/drawingml/2006/main" anchorCtr="1"/>
        <a:lstStyle xmlns:a="http://schemas.openxmlformats.org/drawingml/2006/main"/>
        <a:p xmlns:a="http://schemas.openxmlformats.org/drawingml/2006/main">
          <a:pPr>
            <a:defRPr sz="1950" b="1">
              <a:solidFill>
                <a:srgbClr val="263449"/>
              </a:solidFill>
            </a:defRPr>
          </a:pPr>
        </a:p>
      </c:txPr>
    </c:title>
    <c:plotArea>
      <c:barChart>
        <c:barDir val="col"/>
        <c:varyColors val="0"/>
        <c:ser>
          <c:idx val="0"/>
          <c:order val="0"/>
          <c:tx>
            <c:v>MAE</c:v>
          </c:tx>
          <c:spPr>
            <a:solidFill xmlns:a="http://schemas.openxmlformats.org/drawingml/2006/main">
              <a:srgbClr val="315C8C"/>
            </a:solidFill>
          </c:spPr>
          <c:invertIfNegative val="0"/>
          <c:dPt>
            <c:idx val="0"/>
            <c:invertIfNegative val="0"/>
            <c:spPr>
              <a:solidFill xmlns:a="http://schemas.openxmlformats.org/drawingml/2006/main">
                <a:srgbClr val="9AA4B2"/>
              </a:solidFill>
            </c:spPr>
          </c:dPt>
          <c:dPt>
            <c:idx val="1"/>
            <c:invertIfNegative val="0"/>
            <c:spPr>
              <a:solidFill xmlns:a="http://schemas.openxmlformats.org/drawingml/2006/main">
                <a:srgbClr val="315C8C"/>
              </a:solidFill>
            </c:spPr>
          </c:dPt>
          <c:dPt>
            <c:idx val="2"/>
            <c:invertIfNegative val="0"/>
            <c:spPr>
              <a:solidFill xmlns:a="http://schemas.openxmlformats.org/drawingml/2006/main">
                <a:srgbClr val="DF7137"/>
              </a:solidFill>
            </c:spPr>
          </c:dPt>
          <c:cat>
            <c:strRef>
              <c:f>'Chart Data'!$A$2:$A$4</c:f>
              <c:strCache>
                <c:ptCount val="3"/>
                <c:pt idx="0">
                  <c:v>Mean baseline</c:v>
                </c:pt>
                <c:pt idx="1">
                  <c:v>Linear regression</c:v>
                </c:pt>
                <c:pt idx="2">
                  <c:v>Gradient boosting</c:v>
                </c:pt>
              </c:strCache>
            </c:strRef>
          </c:cat>
          <c:val>
            <c:numRef>
              <c:f>'Chart Data'!$B$2:$B$4</c:f>
              <c:numCache>
                <c:formatCode>0</c:formatCode>
                <c:ptCount val="3"/>
                <c:pt idx="0">
                  <c:v>22.14207059</c:v>
                </c:pt>
                <c:pt idx="1">
                  <c:v>19.78049482</c:v>
                </c:pt>
                <c:pt idx="2">
                  <c:v>16.73620722</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75" b="1">
                  <a:solidFill>
                    <a:srgbClr val="263449"/>
                  </a:solidFil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449"/>
                </a:solidFill>
              </a:defRPr>
            </a:pPr>
          </a:p>
        </c:txPr>
        <c:crossAx val="48672768"/>
      </c:catAx>
      <c:valAx>
        <c:axId val="48672768"/>
        <c:scaling>
          <c:orientation val="minMax"/>
          <c:max val="27"/>
          <c:min val="0"/>
        </c:scaling>
        <c:delete val="0"/>
        <c:axPos val="l"/>
        <c:majorGridlines>
          <c:spPr>
            <a:ln xmlns:a="http://schemas.openxmlformats.org/drawingml/2006/main" w="9525">
              <a:solidFill>
                <a:srgbClr val="E8ECF1"/>
              </a:solidFill>
            </a:ln>
          </c:spPr>
        </c:majorGridlines>
        <c:numFmt formatCode="0"/>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50112"/>
        <c:crossBetween val="between"/>
        <c:majorUnit val="5"/>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solidFill>
                  <a:srgbClr val="263449"/>
                </a:solidFill>
              </a:rPr>
              <a:t>Increase in MAE after shuffling (cents)</a:t>
            </a:r>
          </a:p>
        </c:rich>
      </c:tx>
      <c:overlay val="0"/>
      <c:txPr>
        <a:bodyPr xmlns:a="http://schemas.openxmlformats.org/drawingml/2006/main" anchorCtr="1"/>
        <a:lstStyle xmlns:a="http://schemas.openxmlformats.org/drawingml/2006/main"/>
        <a:p xmlns:a="http://schemas.openxmlformats.org/drawingml/2006/main">
          <a:pPr>
            <a:defRPr sz="1875" b="1">
              <a:solidFill>
                <a:srgbClr val="263449"/>
              </a:solidFill>
            </a:defRPr>
          </a:pPr>
        </a:p>
      </c:txPr>
    </c:title>
    <c:plotArea>
      <c:barChart>
        <c:barDir val="bar"/>
        <c:varyColors val="0"/>
        <c:ser>
          <c:idx val="0"/>
          <c:order val="0"/>
          <c:tx>
            <c:v>Increase in MAE</c:v>
          </c:tx>
          <c:spPr>
            <a:solidFill xmlns:a="http://schemas.openxmlformats.org/drawingml/2006/main">
              <a:srgbClr val="315C8C"/>
            </a:solidFill>
          </c:spPr>
          <c:invertIfNegative val="0"/>
          <c:cat>
            <c:strRef>
              <c:f>'Chart Data'!$A$2:$A$7</c:f>
              <c:strCache>
                <c:ptCount val="6"/>
                <c:pt idx="0">
                  <c:v>Concentration</c:v>
                </c:pt>
                <c:pt idx="1">
                  <c:v>Observed span</c:v>
                </c:pt>
                <c:pt idx="2">
                  <c:v>Markets traded</c:v>
                </c:pt>
                <c:pt idx="3">
                  <c:v>Largest purchase</c:v>
                </c:pt>
                <c:pt idx="4">
                  <c:v>Total spending</c:v>
                </c:pt>
                <c:pt idx="5">
                  <c:v>Trade count</c:v>
                </c:pt>
              </c:strCache>
            </c:strRef>
          </c:cat>
          <c:val>
            <c:numRef>
              <c:f>'Chart Data'!$B$2:$B$7</c:f>
              <c:numCache>
                <c:formatCode>General</c:formatCode>
                <c:ptCount val="6"/>
                <c:pt idx="0">
                  <c:v>0.69712797</c:v>
                </c:pt>
                <c:pt idx="1">
                  <c:v>2.16132634</c:v>
                </c:pt>
                <c:pt idx="2">
                  <c:v>3.43561925</c:v>
                </c:pt>
                <c:pt idx="3">
                  <c:v>3.4705788</c:v>
                </c:pt>
                <c:pt idx="4">
                  <c:v>3.7638681</c:v>
                </c:pt>
                <c:pt idx="5">
                  <c:v>6.31779541</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b="1">
                  <a:solidFill>
                    <a:srgbClr val="263449"/>
                  </a:solidFill>
                </a:defRPr>
              </a:pPr>
            </a:p>
          </c:txPr>
          <c:dLblPos val="outEnd"/>
          <c:showLegendKey val="0"/>
          <c:showVal val="1"/>
          <c:showCatName val="0"/>
          <c:showSerName val="0"/>
          <c:showPercent val="0"/>
          <c:showBubbleSize val="0"/>
          <c:showLeaderLines val="0"/>
        </c:dLbls>
        <c:gapWidth val="62"/>
        <c:axId val="48650112"/>
        <c:axId val="48672768"/>
      </c:barChart>
      <c:catAx>
        <c:axId val="48650112"/>
        <c:scaling>
          <c:orientation val="minMax"/>
        </c:scaling>
        <c:delete val="0"/>
        <c:axPos val="l"/>
        <c:majorGridlines>
          <c:spPr>
            <a:ln xmlns:a="http://schemas.openxmlformats.org/drawingml/2006/main" w="9525">
              <a:solidFill>
                <a:srgbClr val="E8ECF1"/>
              </a:solidFill>
            </a:ln>
          </c:spPr>
        </c:majorGridlines>
        <c:numFmt formatCode="0.0"/>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650">
                <a:solidFill>
                  <a:srgbClr val="263449"/>
                </a:solidFil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1E4E2DF3-2402-4A48-87B2-805058D562B1}"/>
              </a:ext>
            </a:extLst>
          </p:cNvPr>
          <p:cNvSpPr>
            <a:spLocks xmlns:a="http://schemas.openxmlformats.org/drawingml/2006/main" noGrp="1"/>
          </p:cNvSpPr>
          <p:nvPr/>
        </p:nvSpPr>
        <p:spPr>
          <a:xfrm xmlns:a="http://schemas.openxmlformats.org/drawingml/2006/main">
            <a:off x="609600" y="6096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315C8C"/>
                </a:solidFill>
                <a:latin typeface="Arial"/>
                <a:ea typeface="Arial"/>
                <a:cs typeface="Arial"/>
              </a:defRPr>
            </a:defPPr>
            <a:lvl1pPr algn="l">
              <a:defRPr sz="1800" b="1">
                <a:solidFill>
                  <a:srgbClr val="315C8C"/>
                </a:solidFill>
                <a:latin typeface="Arial"/>
                <a:ea typeface="Arial"/>
                <a:cs typeface="Arial"/>
              </a:defRPr>
            </a:lvl1pPr>
            <a:lvl2pPr algn="l">
              <a:defRPr sz="1800" b="1">
                <a:solidFill>
                  <a:srgbClr val="315C8C"/>
                </a:solidFill>
                <a:latin typeface="Arial"/>
                <a:ea typeface="Arial"/>
                <a:cs typeface="Arial"/>
              </a:defRPr>
            </a:lvl2pPr>
            <a:lvl3pPr algn="l">
              <a:defRPr sz="1800" b="1">
                <a:solidFill>
                  <a:srgbClr val="315C8C"/>
                </a:solidFill>
                <a:latin typeface="Arial"/>
                <a:ea typeface="Arial"/>
                <a:cs typeface="Arial"/>
              </a:defRPr>
            </a:lvl3pPr>
            <a:lvl4pPr algn="l">
              <a:defRPr sz="1800" b="1">
                <a:solidFill>
                  <a:srgbClr val="315C8C"/>
                </a:solidFill>
                <a:latin typeface="Arial"/>
                <a:ea typeface="Arial"/>
                <a:cs typeface="Arial"/>
              </a:defRPr>
            </a:lvl4pPr>
            <a:lvl5pPr algn="l">
              <a:defRPr sz="1800" b="1">
                <a:solidFill>
                  <a:srgbClr val="315C8C"/>
                </a:solidFill>
                <a:latin typeface="Arial"/>
                <a:ea typeface="Arial"/>
                <a:cs typeface="Arial"/>
              </a:defRPr>
            </a:lvl5pPr>
            <a:lvl6pPr algn="l">
              <a:defRPr sz="1800" b="1">
                <a:solidFill>
                  <a:srgbClr val="315C8C"/>
                </a:solidFill>
                <a:latin typeface="Arial"/>
                <a:ea typeface="Arial"/>
                <a:cs typeface="Arial"/>
              </a:defRPr>
            </a:lvl6pPr>
            <a:lvl7pPr algn="l">
              <a:defRPr sz="1800" b="1">
                <a:solidFill>
                  <a:srgbClr val="315C8C"/>
                </a:solidFill>
                <a:latin typeface="Arial"/>
                <a:ea typeface="Arial"/>
                <a:cs typeface="Arial"/>
              </a:defRPr>
            </a:lvl7pPr>
            <a:lvl8pPr algn="l">
              <a:defRPr sz="1800" b="1">
                <a:solidFill>
                  <a:srgbClr val="315C8C"/>
                </a:solidFill>
                <a:latin typeface="Arial"/>
                <a:ea typeface="Arial"/>
                <a:cs typeface="Arial"/>
              </a:defRPr>
            </a:lvl8pPr>
            <a:lvl9pPr algn="l">
              <a:defRPr sz="1800" b="1">
                <a:solidFill>
                  <a:srgbClr val="315C8C"/>
                </a:solidFill>
                <a:latin typeface="Arial"/>
                <a:ea typeface="Arial"/>
                <a:cs typeface="Arial"/>
              </a:defRPr>
            </a:lvl9pPr>
          </a:lstStyle>
          <a:p xmlns:a="http://schemas.openxmlformats.org/drawingml/2006/main">
            <a:pPr algn="l">
              <a:defRPr sz="1800" b="1">
                <a:solidFill>
                  <a:srgbClr val="315C8C"/>
                </a:solidFill>
                <a:latin typeface="Arial"/>
                <a:ea typeface="Arial"/>
                <a:cs typeface="Arial"/>
              </a:defRPr>
            </a:pPr>
            <a:r>
              <a:rPr sz="1800" b="1">
                <a:solidFill>
                  <a:srgbClr val="315C8C"/>
                </a:solidFill>
                <a:latin typeface="Arial"/>
                <a:ea typeface="Arial"/>
                <a:cs typeface="Arial"/>
              </a:rPr>
              <a:t>UCLA STATS C161 / C261</a:t>
            </a:r>
          </a:p>
        </p:txBody>
      </p:sp>
      <p:sp>
        <p:nvSpPr>
          <p:cNvPr id="2" name="title">
            <a:extLst xmlns:a="http://schemas.openxmlformats.org/drawingml/2006/main">
              <a:ext uri="{FF2B5EF4-FFF2-40B4-BE49-F238E27FC236}">
                <a16:creationId xmlns:a16="http://schemas.microsoft.com/office/drawing/2014/main" id="{64E54047-51F2-4D75-BE41-29EF20CBB3A8}"/>
              </a:ext>
            </a:extLst>
          </p:cNvPr>
          <p:cNvSpPr>
            <a:spLocks xmlns:a="http://schemas.openxmlformats.org/drawingml/2006/main" noGrp="1"/>
          </p:cNvSpPr>
          <p:nvPr/>
        </p:nvSpPr>
        <p:spPr>
          <a:xfrm xmlns:a="http://schemas.openxmlformats.org/drawingml/2006/main">
            <a:off x="609600" y="18383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263449"/>
                </a:solidFill>
                <a:latin typeface="Arial"/>
                <a:ea typeface="Arial"/>
                <a:cs typeface="Arial"/>
              </a:defRPr>
            </a:defPPr>
            <a:lvl1pPr algn="l">
              <a:defRPr sz="4800" b="1">
                <a:solidFill>
                  <a:srgbClr val="263449"/>
                </a:solidFill>
                <a:latin typeface="Arial"/>
                <a:ea typeface="Arial"/>
                <a:cs typeface="Arial"/>
              </a:defRPr>
            </a:lvl1pPr>
            <a:lvl2pPr algn="l">
              <a:defRPr sz="4800" b="1">
                <a:solidFill>
                  <a:srgbClr val="263449"/>
                </a:solidFill>
                <a:latin typeface="Arial"/>
                <a:ea typeface="Arial"/>
                <a:cs typeface="Arial"/>
              </a:defRPr>
            </a:lvl2pPr>
            <a:lvl3pPr algn="l">
              <a:defRPr sz="4800" b="1">
                <a:solidFill>
                  <a:srgbClr val="263449"/>
                </a:solidFill>
                <a:latin typeface="Arial"/>
                <a:ea typeface="Arial"/>
                <a:cs typeface="Arial"/>
              </a:defRPr>
            </a:lvl3pPr>
            <a:lvl4pPr algn="l">
              <a:defRPr sz="4800" b="1">
                <a:solidFill>
                  <a:srgbClr val="263449"/>
                </a:solidFill>
                <a:latin typeface="Arial"/>
                <a:ea typeface="Arial"/>
                <a:cs typeface="Arial"/>
              </a:defRPr>
            </a:lvl4pPr>
            <a:lvl5pPr algn="l">
              <a:defRPr sz="4800" b="1">
                <a:solidFill>
                  <a:srgbClr val="263449"/>
                </a:solidFill>
                <a:latin typeface="Arial"/>
                <a:ea typeface="Arial"/>
                <a:cs typeface="Arial"/>
              </a:defRPr>
            </a:lvl5pPr>
            <a:lvl6pPr algn="l">
              <a:defRPr sz="4800" b="1">
                <a:solidFill>
                  <a:srgbClr val="263449"/>
                </a:solidFill>
                <a:latin typeface="Arial"/>
                <a:ea typeface="Arial"/>
                <a:cs typeface="Arial"/>
              </a:defRPr>
            </a:lvl6pPr>
            <a:lvl7pPr algn="l">
              <a:defRPr sz="4800" b="1">
                <a:solidFill>
                  <a:srgbClr val="263449"/>
                </a:solidFill>
                <a:latin typeface="Arial"/>
                <a:ea typeface="Arial"/>
                <a:cs typeface="Arial"/>
              </a:defRPr>
            </a:lvl7pPr>
            <a:lvl8pPr algn="l">
              <a:defRPr sz="4800" b="1">
                <a:solidFill>
                  <a:srgbClr val="263449"/>
                </a:solidFill>
                <a:latin typeface="Arial"/>
                <a:ea typeface="Arial"/>
                <a:cs typeface="Arial"/>
              </a:defRPr>
            </a:lvl8pPr>
            <a:lvl9pPr algn="l">
              <a:defRPr sz="4800" b="1">
                <a:solidFill>
                  <a:srgbClr val="263449"/>
                </a:solidFill>
                <a:latin typeface="Arial"/>
                <a:ea typeface="Arial"/>
                <a:cs typeface="Arial"/>
              </a:defRPr>
            </a:lvl9pPr>
          </a:lstStyle>
          <a:p xmlns:a="http://schemas.openxmlformats.org/drawingml/2006/main">
            <a:pPr algn="l">
              <a:defRPr sz="4800" b="1">
                <a:solidFill>
                  <a:srgbClr val="263449"/>
                </a:solidFill>
                <a:latin typeface="Arial"/>
                <a:ea typeface="Arial"/>
                <a:cs typeface="Arial"/>
              </a:defRPr>
            </a:pPr>
            <a:r>
              <a:rPr sz="4800" b="1">
                <a:solidFill>
                  <a:srgbClr val="263449"/>
                </a:solidFill>
                <a:latin typeface="Arial"/>
                <a:ea typeface="Arial"/>
                <a:cs typeface="Arial"/>
              </a:rPr>
              <a:t>Can AI Beat the Crowd?</a:t>
            </a:r>
          </a:p>
        </p:txBody>
      </p:sp>
      <p:sp>
        <p:nvSpPr>
          <p:cNvPr id="3" name="question">
            <a:extLst xmlns:a="http://schemas.openxmlformats.org/drawingml/2006/main">
              <a:ext uri="{FF2B5EF4-FFF2-40B4-BE49-F238E27FC236}">
                <a16:creationId xmlns:a16="http://schemas.microsoft.com/office/drawing/2014/main" id="{8F39C763-FE12-4077-9457-A493170E70A1}"/>
              </a:ext>
            </a:extLst>
          </p:cNvPr>
          <p:cNvSpPr>
            <a:spLocks xmlns:a="http://schemas.openxmlformats.org/drawingml/2006/main" noGrp="1"/>
          </p:cNvSpPr>
          <p:nvPr/>
        </p:nvSpPr>
        <p:spPr>
          <a:xfrm xmlns:a="http://schemas.openxmlformats.org/drawingml/2006/main">
            <a:off x="609600" y="3067050"/>
            <a:ext cx="10477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263449"/>
                </a:solidFill>
                <a:latin typeface="Arial"/>
                <a:ea typeface="Arial"/>
                <a:cs typeface="Arial"/>
              </a:defRPr>
            </a:defPPr>
            <a:lvl1pPr algn="l">
              <a:defRPr sz="2625" b="0">
                <a:solidFill>
                  <a:srgbClr val="263449"/>
                </a:solidFill>
                <a:latin typeface="Arial"/>
                <a:ea typeface="Arial"/>
                <a:cs typeface="Arial"/>
              </a:defRPr>
            </a:lvl1pPr>
            <a:lvl2pPr algn="l">
              <a:defRPr sz="2625" b="0">
                <a:solidFill>
                  <a:srgbClr val="263449"/>
                </a:solidFill>
                <a:latin typeface="Arial"/>
                <a:ea typeface="Arial"/>
                <a:cs typeface="Arial"/>
              </a:defRPr>
            </a:lvl2pPr>
            <a:lvl3pPr algn="l">
              <a:defRPr sz="2625" b="0">
                <a:solidFill>
                  <a:srgbClr val="263449"/>
                </a:solidFill>
                <a:latin typeface="Arial"/>
                <a:ea typeface="Arial"/>
                <a:cs typeface="Arial"/>
              </a:defRPr>
            </a:lvl3pPr>
            <a:lvl4pPr algn="l">
              <a:defRPr sz="2625" b="0">
                <a:solidFill>
                  <a:srgbClr val="263449"/>
                </a:solidFill>
                <a:latin typeface="Arial"/>
                <a:ea typeface="Arial"/>
                <a:cs typeface="Arial"/>
              </a:defRPr>
            </a:lvl4pPr>
            <a:lvl5pPr algn="l">
              <a:defRPr sz="2625" b="0">
                <a:solidFill>
                  <a:srgbClr val="263449"/>
                </a:solidFill>
                <a:latin typeface="Arial"/>
                <a:ea typeface="Arial"/>
                <a:cs typeface="Arial"/>
              </a:defRPr>
            </a:lvl5pPr>
            <a:lvl6pPr algn="l">
              <a:defRPr sz="2625" b="0">
                <a:solidFill>
                  <a:srgbClr val="263449"/>
                </a:solidFill>
                <a:latin typeface="Arial"/>
                <a:ea typeface="Arial"/>
                <a:cs typeface="Arial"/>
              </a:defRPr>
            </a:lvl6pPr>
            <a:lvl7pPr algn="l">
              <a:defRPr sz="2625" b="0">
                <a:solidFill>
                  <a:srgbClr val="263449"/>
                </a:solidFill>
                <a:latin typeface="Arial"/>
                <a:ea typeface="Arial"/>
                <a:cs typeface="Arial"/>
              </a:defRPr>
            </a:lvl7pPr>
            <a:lvl8pPr algn="l">
              <a:defRPr sz="2625" b="0">
                <a:solidFill>
                  <a:srgbClr val="263449"/>
                </a:solidFill>
                <a:latin typeface="Arial"/>
                <a:ea typeface="Arial"/>
                <a:cs typeface="Arial"/>
              </a:defRPr>
            </a:lvl8pPr>
            <a:lvl9pPr algn="l">
              <a:defRPr sz="2625" b="0">
                <a:solidFill>
                  <a:srgbClr val="263449"/>
                </a:solidFill>
                <a:latin typeface="Arial"/>
                <a:ea typeface="Arial"/>
                <a:cs typeface="Arial"/>
              </a:defRPr>
            </a:lvl9pPr>
          </a:lstStyle>
          <a:p xmlns:a="http://schemas.openxmlformats.org/drawingml/2006/main">
            <a:pPr algn="l">
              <a:defRPr sz="2625" b="0">
                <a:solidFill>
                  <a:srgbClr val="263449"/>
                </a:solidFill>
                <a:latin typeface="Arial"/>
                <a:ea typeface="Arial"/>
                <a:cs typeface="Arial"/>
              </a:defRPr>
            </a:pPr>
            <a:r>
              <a:rPr sz="2625" b="0">
                <a:solidFill>
                  <a:srgbClr val="263449"/>
                </a:solidFill>
                <a:latin typeface="Arial"/>
                <a:ea typeface="Arial"/>
                <a:cs typeface="Arial"/>
              </a:rPr>
              <a:t>Are prediction-market prices good probabilities,</a:t>
            </a:r>
          </a:p>
          <a:p xmlns:a="http://schemas.openxmlformats.org/drawingml/2006/main">
            <a:pPr algn="l">
              <a:defRPr sz="2625" b="0">
                <a:solidFill>
                  <a:srgbClr val="263449"/>
                </a:solidFill>
                <a:latin typeface="Arial"/>
                <a:ea typeface="Arial"/>
                <a:cs typeface="Arial"/>
              </a:defRPr>
            </a:pPr>
            <a:r>
              <a:rPr sz="2625" b="0">
                <a:solidFill>
                  <a:srgbClr val="263449"/>
                </a:solidFill>
                <a:latin typeface="Arial"/>
                <a:ea typeface="Arial"/>
                <a:cs typeface="Arial"/>
              </a:rPr>
              <a:t>and can a model do better?</a:t>
            </a:r>
          </a:p>
        </p:txBody>
      </p:sp>
      <p:sp>
        <p:nvSpPr>
          <p:cNvPr id="4" name="authors">
            <a:extLst xmlns:a="http://schemas.openxmlformats.org/drawingml/2006/main">
              <a:ext uri="{FF2B5EF4-FFF2-40B4-BE49-F238E27FC236}">
                <a16:creationId xmlns:a16="http://schemas.microsoft.com/office/drawing/2014/main" id="{678A7F1E-21D9-44E9-88A5-430956A7FABB}"/>
              </a:ext>
            </a:extLst>
          </p:cNvPr>
          <p:cNvSpPr>
            <a:spLocks xmlns:a="http://schemas.openxmlformats.org/drawingml/2006/main" noGrp="1"/>
          </p:cNvSpPr>
          <p:nvPr/>
        </p:nvSpPr>
        <p:spPr>
          <a:xfrm xmlns:a="http://schemas.openxmlformats.org/drawingml/2006/main">
            <a:off x="609600" y="53149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315C8C"/>
                </a:solidFill>
                <a:latin typeface="Arial"/>
                <a:ea typeface="Arial"/>
                <a:cs typeface="Arial"/>
              </a:defRPr>
            </a:defPPr>
            <a:lvl1pPr algn="l">
              <a:defRPr sz="2025" b="0">
                <a:solidFill>
                  <a:srgbClr val="315C8C"/>
                </a:solidFill>
                <a:latin typeface="Arial"/>
                <a:ea typeface="Arial"/>
                <a:cs typeface="Arial"/>
              </a:defRPr>
            </a:lvl1pPr>
            <a:lvl2pPr algn="l">
              <a:defRPr sz="2025" b="0">
                <a:solidFill>
                  <a:srgbClr val="315C8C"/>
                </a:solidFill>
                <a:latin typeface="Arial"/>
                <a:ea typeface="Arial"/>
                <a:cs typeface="Arial"/>
              </a:defRPr>
            </a:lvl2pPr>
            <a:lvl3pPr algn="l">
              <a:defRPr sz="2025" b="0">
                <a:solidFill>
                  <a:srgbClr val="315C8C"/>
                </a:solidFill>
                <a:latin typeface="Arial"/>
                <a:ea typeface="Arial"/>
                <a:cs typeface="Arial"/>
              </a:defRPr>
            </a:lvl3pPr>
            <a:lvl4pPr algn="l">
              <a:defRPr sz="2025" b="0">
                <a:solidFill>
                  <a:srgbClr val="315C8C"/>
                </a:solidFill>
                <a:latin typeface="Arial"/>
                <a:ea typeface="Arial"/>
                <a:cs typeface="Arial"/>
              </a:defRPr>
            </a:lvl4pPr>
            <a:lvl5pPr algn="l">
              <a:defRPr sz="2025" b="0">
                <a:solidFill>
                  <a:srgbClr val="315C8C"/>
                </a:solidFill>
                <a:latin typeface="Arial"/>
                <a:ea typeface="Arial"/>
                <a:cs typeface="Arial"/>
              </a:defRPr>
            </a:lvl5pPr>
            <a:lvl6pPr algn="l">
              <a:defRPr sz="2025" b="0">
                <a:solidFill>
                  <a:srgbClr val="315C8C"/>
                </a:solidFill>
                <a:latin typeface="Arial"/>
                <a:ea typeface="Arial"/>
                <a:cs typeface="Arial"/>
              </a:defRPr>
            </a:lvl6pPr>
            <a:lvl7pPr algn="l">
              <a:defRPr sz="2025" b="0">
                <a:solidFill>
                  <a:srgbClr val="315C8C"/>
                </a:solidFill>
                <a:latin typeface="Arial"/>
                <a:ea typeface="Arial"/>
                <a:cs typeface="Arial"/>
              </a:defRPr>
            </a:lvl7pPr>
            <a:lvl8pPr algn="l">
              <a:defRPr sz="2025" b="0">
                <a:solidFill>
                  <a:srgbClr val="315C8C"/>
                </a:solidFill>
                <a:latin typeface="Arial"/>
                <a:ea typeface="Arial"/>
                <a:cs typeface="Arial"/>
              </a:defRPr>
            </a:lvl8pPr>
            <a:lvl9pPr algn="l">
              <a:defRPr sz="2025" b="0">
                <a:solidFill>
                  <a:srgbClr val="315C8C"/>
                </a:solidFill>
                <a:latin typeface="Arial"/>
                <a:ea typeface="Arial"/>
                <a:cs typeface="Arial"/>
              </a:defRPr>
            </a:lvl9pPr>
          </a:lstStyle>
          <a:p xmlns:a="http://schemas.openxmlformats.org/drawingml/2006/main">
            <a:pPr algn="l">
              <a:defRPr sz="2025" b="0">
                <a:solidFill>
                  <a:srgbClr val="315C8C"/>
                </a:solidFill>
                <a:latin typeface="Arial"/>
                <a:ea typeface="Arial"/>
                <a:cs typeface="Arial"/>
              </a:defRPr>
            </a:pPr>
            <a:r>
              <a:rPr sz="2025" b="0">
                <a:solidFill>
                  <a:srgbClr val="315C8C"/>
                </a:solidFill>
                <a:latin typeface="Arial"/>
                <a:ea typeface="Arial"/>
                <a:cs typeface="Arial"/>
              </a:rPr>
              <a:t>Leo Wong   /   Aaron Wen   /   Jiahong Chen</a:t>
            </a:r>
          </a:p>
        </p:txBody>
      </p:sp>
      <p:sp>
        <p:nvSpPr>
          <p:cNvPr id="5" name="project">
            <a:extLst xmlns:a="http://schemas.openxmlformats.org/drawingml/2006/main">
              <a:ext uri="{FF2B5EF4-FFF2-40B4-BE49-F238E27FC236}">
                <a16:creationId xmlns:a16="http://schemas.microsoft.com/office/drawing/2014/main" id="{5CDBC4C0-1487-434F-A615-5B5F20575C5D}"/>
              </a:ext>
            </a:extLst>
          </p:cNvPr>
          <p:cNvSpPr>
            <a:spLocks xmlns:a="http://schemas.openxmlformats.org/drawingml/2006/main" noGrp="1"/>
          </p:cNvSpPr>
          <p:nvPr/>
        </p:nvSpPr>
        <p:spPr>
          <a:xfrm xmlns:a="http://schemas.openxmlformats.org/drawingml/2006/main">
            <a:off x="609600" y="58864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27085"/>
                </a:solidFill>
                <a:latin typeface="Arial"/>
                <a:ea typeface="Arial"/>
                <a:cs typeface="Arial"/>
              </a:defRPr>
            </a:defPPr>
            <a:lvl1pPr algn="l">
              <a:defRPr sz="1725" b="0">
                <a:solidFill>
                  <a:srgbClr val="627085"/>
                </a:solidFill>
                <a:latin typeface="Arial"/>
                <a:ea typeface="Arial"/>
                <a:cs typeface="Arial"/>
              </a:defRPr>
            </a:lvl1pPr>
            <a:lvl2pPr algn="l">
              <a:defRPr sz="1725" b="0">
                <a:solidFill>
                  <a:srgbClr val="627085"/>
                </a:solidFill>
                <a:latin typeface="Arial"/>
                <a:ea typeface="Arial"/>
                <a:cs typeface="Arial"/>
              </a:defRPr>
            </a:lvl2pPr>
            <a:lvl3pPr algn="l">
              <a:defRPr sz="1725" b="0">
                <a:solidFill>
                  <a:srgbClr val="627085"/>
                </a:solidFill>
                <a:latin typeface="Arial"/>
                <a:ea typeface="Arial"/>
                <a:cs typeface="Arial"/>
              </a:defRPr>
            </a:lvl3pPr>
            <a:lvl4pPr algn="l">
              <a:defRPr sz="1725" b="0">
                <a:solidFill>
                  <a:srgbClr val="627085"/>
                </a:solidFill>
                <a:latin typeface="Arial"/>
                <a:ea typeface="Arial"/>
                <a:cs typeface="Arial"/>
              </a:defRPr>
            </a:lvl4pPr>
            <a:lvl5pPr algn="l">
              <a:defRPr sz="1725" b="0">
                <a:solidFill>
                  <a:srgbClr val="627085"/>
                </a:solidFill>
                <a:latin typeface="Arial"/>
                <a:ea typeface="Arial"/>
                <a:cs typeface="Arial"/>
              </a:defRPr>
            </a:lvl5pPr>
            <a:lvl6pPr algn="l">
              <a:defRPr sz="1725" b="0">
                <a:solidFill>
                  <a:srgbClr val="627085"/>
                </a:solidFill>
                <a:latin typeface="Arial"/>
                <a:ea typeface="Arial"/>
                <a:cs typeface="Arial"/>
              </a:defRPr>
            </a:lvl6pPr>
            <a:lvl7pPr algn="l">
              <a:defRPr sz="1725" b="0">
                <a:solidFill>
                  <a:srgbClr val="627085"/>
                </a:solidFill>
                <a:latin typeface="Arial"/>
                <a:ea typeface="Arial"/>
                <a:cs typeface="Arial"/>
              </a:defRPr>
            </a:lvl7pPr>
            <a:lvl8pPr algn="l">
              <a:defRPr sz="1725" b="0">
                <a:solidFill>
                  <a:srgbClr val="627085"/>
                </a:solidFill>
                <a:latin typeface="Arial"/>
                <a:ea typeface="Arial"/>
                <a:cs typeface="Arial"/>
              </a:defRPr>
            </a:lvl8pPr>
            <a:lvl9pPr algn="l">
              <a:defRPr sz="1725" b="0">
                <a:solidFill>
                  <a:srgbClr val="627085"/>
                </a:solidFill>
                <a:latin typeface="Arial"/>
                <a:ea typeface="Arial"/>
                <a:cs typeface="Arial"/>
              </a:defRPr>
            </a:lvl9pPr>
          </a:lstStyle>
          <a:p xmlns:a="http://schemas.openxmlformats.org/drawingml/2006/main">
            <a:pPr algn="l">
              <a:defRPr sz="1725" b="0">
                <a:solidFill>
                  <a:srgbClr val="627085"/>
                </a:solidFill>
                <a:latin typeface="Arial"/>
                <a:ea typeface="Arial"/>
                <a:cs typeface="Arial"/>
              </a:defRPr>
            </a:pPr>
            <a:r>
              <a:rPr sz="1725" b="0">
                <a:solidFill>
                  <a:srgbClr val="627085"/>
                </a:solidFill>
                <a:latin typeface="Arial"/>
                <a:ea typeface="Arial"/>
                <a:cs typeface="Arial"/>
              </a:rPr>
              <a:t>Polymarket midterm project</a:t>
            </a:r>
          </a:p>
        </p:txBody>
      </p:sp>
    </p:spTree>
    <p:extLst>
      <p:ext uri="{BB962C8B-B14F-4D97-AF65-F5344CB8AC3E}">
        <p14:creationId xmlns:p14="http://schemas.microsoft.com/office/powerpoint/2010/main" val="114221440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E124931F-A1C4-49B2-AE5D-A6F88232637B}"/>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prices and wallet behavior</a:t>
            </a:r>
          </a:p>
        </p:txBody>
      </p:sp>
      <p:sp>
        <p:nvSpPr>
          <p:cNvPr id="2" name="market-heading">
            <a:extLst xmlns:a="http://schemas.openxmlformats.org/drawingml/2006/main">
              <a:ext uri="{FF2B5EF4-FFF2-40B4-BE49-F238E27FC236}">
                <a16:creationId xmlns:a16="http://schemas.microsoft.com/office/drawing/2014/main" id="{B950B2F8-6644-4C1B-B0E5-A8C21C7F9E09}"/>
              </a:ext>
            </a:extLst>
          </p:cNvPr>
          <p:cNvSpPr>
            <a:spLocks xmlns:a="http://schemas.openxmlformats.org/drawingml/2006/main" noGrp="1"/>
          </p:cNvSpPr>
          <p:nvPr/>
        </p:nvSpPr>
        <p:spPr>
          <a:xfrm xmlns:a="http://schemas.openxmlformats.org/drawingml/2006/main">
            <a:off x="609600" y="1562100"/>
            <a:ext cx="4857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315C8C"/>
                </a:solidFill>
                <a:latin typeface="Arial"/>
                <a:ea typeface="Arial"/>
                <a:cs typeface="Arial"/>
              </a:defRPr>
            </a:defPPr>
            <a:lvl1pPr algn="l">
              <a:defRPr sz="2475" b="1">
                <a:solidFill>
                  <a:srgbClr val="315C8C"/>
                </a:solidFill>
                <a:latin typeface="Arial"/>
                <a:ea typeface="Arial"/>
                <a:cs typeface="Arial"/>
              </a:defRPr>
            </a:lvl1pPr>
            <a:lvl2pPr algn="l">
              <a:defRPr sz="2475" b="1">
                <a:solidFill>
                  <a:srgbClr val="315C8C"/>
                </a:solidFill>
                <a:latin typeface="Arial"/>
                <a:ea typeface="Arial"/>
                <a:cs typeface="Arial"/>
              </a:defRPr>
            </a:lvl2pPr>
            <a:lvl3pPr algn="l">
              <a:defRPr sz="2475" b="1">
                <a:solidFill>
                  <a:srgbClr val="315C8C"/>
                </a:solidFill>
                <a:latin typeface="Arial"/>
                <a:ea typeface="Arial"/>
                <a:cs typeface="Arial"/>
              </a:defRPr>
            </a:lvl3pPr>
            <a:lvl4pPr algn="l">
              <a:defRPr sz="2475" b="1">
                <a:solidFill>
                  <a:srgbClr val="315C8C"/>
                </a:solidFill>
                <a:latin typeface="Arial"/>
                <a:ea typeface="Arial"/>
                <a:cs typeface="Arial"/>
              </a:defRPr>
            </a:lvl4pPr>
            <a:lvl5pPr algn="l">
              <a:defRPr sz="2475" b="1">
                <a:solidFill>
                  <a:srgbClr val="315C8C"/>
                </a:solidFill>
                <a:latin typeface="Arial"/>
                <a:ea typeface="Arial"/>
                <a:cs typeface="Arial"/>
              </a:defRPr>
            </a:lvl5pPr>
            <a:lvl6pPr algn="l">
              <a:defRPr sz="2475" b="1">
                <a:solidFill>
                  <a:srgbClr val="315C8C"/>
                </a:solidFill>
                <a:latin typeface="Arial"/>
                <a:ea typeface="Arial"/>
                <a:cs typeface="Arial"/>
              </a:defRPr>
            </a:lvl6pPr>
            <a:lvl7pPr algn="l">
              <a:defRPr sz="2475" b="1">
                <a:solidFill>
                  <a:srgbClr val="315C8C"/>
                </a:solidFill>
                <a:latin typeface="Arial"/>
                <a:ea typeface="Arial"/>
                <a:cs typeface="Arial"/>
              </a:defRPr>
            </a:lvl7pPr>
            <a:lvl8pPr algn="l">
              <a:defRPr sz="2475" b="1">
                <a:solidFill>
                  <a:srgbClr val="315C8C"/>
                </a:solidFill>
                <a:latin typeface="Arial"/>
                <a:ea typeface="Arial"/>
                <a:cs typeface="Arial"/>
              </a:defRPr>
            </a:lvl8pPr>
            <a:lvl9pPr algn="l">
              <a:defRPr sz="2475" b="1">
                <a:solidFill>
                  <a:srgbClr val="315C8C"/>
                </a:solidFill>
                <a:latin typeface="Arial"/>
                <a:ea typeface="Arial"/>
                <a:cs typeface="Arial"/>
              </a:defRPr>
            </a:lvl9pPr>
          </a:lstStyle>
          <a:p xmlns:a="http://schemas.openxmlformats.org/drawingml/2006/main">
            <a:pPr algn="l">
              <a:defRPr sz="2475" b="1">
                <a:solidFill>
                  <a:srgbClr val="315C8C"/>
                </a:solidFill>
                <a:latin typeface="Arial"/>
                <a:ea typeface="Arial"/>
                <a:cs typeface="Arial"/>
              </a:defRPr>
            </a:pPr>
            <a:r>
              <a:rPr sz="2475" b="1">
                <a:solidFill>
                  <a:srgbClr val="315C8C"/>
                </a:solidFill>
                <a:latin typeface="Arial"/>
                <a:ea typeface="Arial"/>
                <a:cs typeface="Arial"/>
              </a:rPr>
              <a:t>Market prices</a:t>
            </a:r>
          </a:p>
        </p:txBody>
      </p:sp>
      <p:sp>
        <p:nvSpPr>
          <p:cNvPr id="3" name="market-question">
            <a:extLst xmlns:a="http://schemas.openxmlformats.org/drawingml/2006/main">
              <a:ext uri="{FF2B5EF4-FFF2-40B4-BE49-F238E27FC236}">
                <a16:creationId xmlns:a16="http://schemas.microsoft.com/office/drawing/2014/main" id="{A7189A7A-892D-44EF-B724-D499E2EB8D98}"/>
              </a:ext>
            </a:extLst>
          </p:cNvPr>
          <p:cNvSpPr>
            <a:spLocks xmlns:a="http://schemas.openxmlformats.org/drawingml/2006/main" noGrp="1"/>
          </p:cNvSpPr>
          <p:nvPr/>
        </p:nvSpPr>
        <p:spPr>
          <a:xfrm xmlns:a="http://schemas.openxmlformats.org/drawingml/2006/main">
            <a:off x="609600" y="2238375"/>
            <a:ext cx="4857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Do market prices match observed outcomes?</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Can recalibration or boosting improve accuracy?</a:t>
            </a:r>
          </a:p>
        </p:txBody>
      </p:sp>
      <p:sp>
        <p:nvSpPr>
          <p:cNvPr id="4" name="wallet-heading">
            <a:extLst xmlns:a="http://schemas.openxmlformats.org/drawingml/2006/main">
              <a:ext uri="{FF2B5EF4-FFF2-40B4-BE49-F238E27FC236}">
                <a16:creationId xmlns:a16="http://schemas.microsoft.com/office/drawing/2014/main" id="{9796D4A0-55FB-408E-9ECD-28715BAB9BA1}"/>
              </a:ext>
            </a:extLst>
          </p:cNvPr>
          <p:cNvSpPr>
            <a:spLocks xmlns:a="http://schemas.openxmlformats.org/drawingml/2006/main" noGrp="1"/>
          </p:cNvSpPr>
          <p:nvPr/>
        </p:nvSpPr>
        <p:spPr>
          <a:xfrm xmlns:a="http://schemas.openxmlformats.org/drawingml/2006/main">
            <a:off x="6343650" y="1562100"/>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315C8C"/>
                </a:solidFill>
                <a:latin typeface="Arial"/>
                <a:ea typeface="Arial"/>
                <a:cs typeface="Arial"/>
              </a:defRPr>
            </a:defPPr>
            <a:lvl1pPr algn="l">
              <a:defRPr sz="2475" b="1">
                <a:solidFill>
                  <a:srgbClr val="315C8C"/>
                </a:solidFill>
                <a:latin typeface="Arial"/>
                <a:ea typeface="Arial"/>
                <a:cs typeface="Arial"/>
              </a:defRPr>
            </a:lvl1pPr>
            <a:lvl2pPr algn="l">
              <a:defRPr sz="2475" b="1">
                <a:solidFill>
                  <a:srgbClr val="315C8C"/>
                </a:solidFill>
                <a:latin typeface="Arial"/>
                <a:ea typeface="Arial"/>
                <a:cs typeface="Arial"/>
              </a:defRPr>
            </a:lvl2pPr>
            <a:lvl3pPr algn="l">
              <a:defRPr sz="2475" b="1">
                <a:solidFill>
                  <a:srgbClr val="315C8C"/>
                </a:solidFill>
                <a:latin typeface="Arial"/>
                <a:ea typeface="Arial"/>
                <a:cs typeface="Arial"/>
              </a:defRPr>
            </a:lvl3pPr>
            <a:lvl4pPr algn="l">
              <a:defRPr sz="2475" b="1">
                <a:solidFill>
                  <a:srgbClr val="315C8C"/>
                </a:solidFill>
                <a:latin typeface="Arial"/>
                <a:ea typeface="Arial"/>
                <a:cs typeface="Arial"/>
              </a:defRPr>
            </a:lvl4pPr>
            <a:lvl5pPr algn="l">
              <a:defRPr sz="2475" b="1">
                <a:solidFill>
                  <a:srgbClr val="315C8C"/>
                </a:solidFill>
                <a:latin typeface="Arial"/>
                <a:ea typeface="Arial"/>
                <a:cs typeface="Arial"/>
              </a:defRPr>
            </a:lvl5pPr>
            <a:lvl6pPr algn="l">
              <a:defRPr sz="2475" b="1">
                <a:solidFill>
                  <a:srgbClr val="315C8C"/>
                </a:solidFill>
                <a:latin typeface="Arial"/>
                <a:ea typeface="Arial"/>
                <a:cs typeface="Arial"/>
              </a:defRPr>
            </a:lvl6pPr>
            <a:lvl7pPr algn="l">
              <a:defRPr sz="2475" b="1">
                <a:solidFill>
                  <a:srgbClr val="315C8C"/>
                </a:solidFill>
                <a:latin typeface="Arial"/>
                <a:ea typeface="Arial"/>
                <a:cs typeface="Arial"/>
              </a:defRPr>
            </a:lvl7pPr>
            <a:lvl8pPr algn="l">
              <a:defRPr sz="2475" b="1">
                <a:solidFill>
                  <a:srgbClr val="315C8C"/>
                </a:solidFill>
                <a:latin typeface="Arial"/>
                <a:ea typeface="Arial"/>
                <a:cs typeface="Arial"/>
              </a:defRPr>
            </a:lvl8pPr>
            <a:lvl9pPr algn="l">
              <a:defRPr sz="2475" b="1">
                <a:solidFill>
                  <a:srgbClr val="315C8C"/>
                </a:solidFill>
                <a:latin typeface="Arial"/>
                <a:ea typeface="Arial"/>
                <a:cs typeface="Arial"/>
              </a:defRPr>
            </a:lvl9pPr>
          </a:lstStyle>
          <a:p xmlns:a="http://schemas.openxmlformats.org/drawingml/2006/main">
            <a:pPr algn="l">
              <a:defRPr sz="2475" b="1">
                <a:solidFill>
                  <a:srgbClr val="315C8C"/>
                </a:solidFill>
                <a:latin typeface="Arial"/>
                <a:ea typeface="Arial"/>
                <a:cs typeface="Arial"/>
              </a:defRPr>
            </a:pPr>
            <a:r>
              <a:rPr sz="2475" b="1">
                <a:solidFill>
                  <a:srgbClr val="315C8C"/>
                </a:solidFill>
                <a:latin typeface="Arial"/>
                <a:ea typeface="Arial"/>
                <a:cs typeface="Arial"/>
              </a:rPr>
              <a:t>Wallet behavior</a:t>
            </a:r>
          </a:p>
        </p:txBody>
      </p:sp>
      <p:sp>
        <p:nvSpPr>
          <p:cNvPr id="5" name="wallet-question">
            <a:extLst xmlns:a="http://schemas.openxmlformats.org/drawingml/2006/main">
              <a:ext uri="{FF2B5EF4-FFF2-40B4-BE49-F238E27FC236}">
                <a16:creationId xmlns:a16="http://schemas.microsoft.com/office/drawing/2014/main" id="{C4661CF1-5C7E-4265-911D-F72D569015CE}"/>
              </a:ext>
            </a:extLst>
          </p:cNvPr>
          <p:cNvSpPr>
            <a:spLocks xmlns:a="http://schemas.openxmlformats.org/drawingml/2006/main" noGrp="1"/>
          </p:cNvSpPr>
          <p:nvPr/>
        </p:nvSpPr>
        <p:spPr>
          <a:xfrm xmlns:a="http://schemas.openxmlformats.org/drawingml/2006/main">
            <a:off x="6343650" y="2238375"/>
            <a:ext cx="5238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How well do wallet traits predict average purchase price?</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Does boosting improve on linear regression?</a:t>
            </a:r>
          </a:p>
        </p:txBody>
      </p:sp>
      <p:sp>
        <p:nvSpPr>
          <p:cNvPr id="6" name="scope-and-source">
            <a:extLst xmlns:a="http://schemas.openxmlformats.org/drawingml/2006/main">
              <a:ext uri="{FF2B5EF4-FFF2-40B4-BE49-F238E27FC236}">
                <a16:creationId xmlns:a16="http://schemas.microsoft.com/office/drawing/2014/main" id="{7F86CF89-3993-47E2-BECF-92E8B0797AD4}"/>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Final project direction: combine market and wallet evidence to investigate informed trading.</a:t>
            </a:r>
          </a:p>
        </p:txBody>
      </p:sp>
    </p:spTree>
    <p:extLst>
      <p:ext uri="{BB962C8B-B14F-4D97-AF65-F5344CB8AC3E}">
        <p14:creationId xmlns:p14="http://schemas.microsoft.com/office/powerpoint/2010/main" val="147603021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slide-title">
            <a:extLst xmlns:a="http://schemas.openxmlformats.org/drawingml/2006/main">
              <a:ext uri="{FF2B5EF4-FFF2-40B4-BE49-F238E27FC236}">
                <a16:creationId xmlns:a16="http://schemas.microsoft.com/office/drawing/2014/main" id="{6D7D9C63-C3D0-46EE-B860-38B9E3AB0BE9}"/>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Prior research</a:t>
            </a:r>
          </a:p>
        </p:txBody>
      </p:sp>
      <p:graphicFrame>
        <p:nvGraphicFramePr>
          <p:cNvPr id="2" name="">
            <a:extLst xmlns:a="http://schemas.openxmlformats.org/drawingml/2006/main">
              <a:ext uri="{FF2B5EF4-FFF2-40B4-BE49-F238E27FC236}">
                <a16:creationId xmlns:a16="http://schemas.microsoft.com/office/drawing/2014/main" id="{AADD52BE-FD52-4195-BAD6-4AA8FB665C37}"/>
              </a:ext>
            </a:extLst>
          </p:cNvPr>
          <p:cNvGraphicFramePr/>
          <p:nvPr/>
        </p:nvGraphicFramePr>
        <p:xfrm>
          <a:off xmlns:a="http://schemas.openxmlformats.org/drawingml/2006/main" x="609600" y="1419225"/>
          <a:ext xmlns:a="http://schemas.openxmlformats.org/drawingml/2006/main" cx="10972800" cy="3733800"/>
        </p:xfrm>
        <a:graphic xmlns:a="http://schemas.openxmlformats.org/drawingml/2006/main">
          <a:graphicData uri="http://schemas.openxmlformats.org/drawingml/2006/table">
            <a:tbl>
              <a:tblPr/>
              <a:tblGrid>
                <a:gridCol w="4343400"/>
                <a:gridCol w="6629400"/>
              </a:tblGrid>
              <a:tr h="495300">
                <a:tc>
                  <a:txBody>
                    <a:bodyPr lIns="152400" tIns="95250" rIns="133350" bIns="95250"/>
                    <a:lstStyle/>
                    <a:p>
                      <a:r>
                        <a:rPr sz="1875" b="1">
                          <a:solidFill>
                            <a:srgbClr val="FFFFFF"/>
                          </a:solidFill>
                          <a:latin typeface="Arial"/>
                          <a:ea typeface="Arial"/>
                          <a:cs typeface="Arial"/>
                        </a:rPr>
                        <a:t>Study</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Main finding</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809625">
                <a:tc>
                  <a:txBody>
                    <a:bodyPr lIns="152400" tIns="95250" rIns="133350" bIns="95250"/>
                    <a:lstStyle/>
                    <a:p>
                      <a:r>
                        <a:rPr sz="1875" b="0">
                          <a:solidFill>
                            <a:srgbClr val="263449"/>
                          </a:solidFill>
                          <a:latin typeface="Arial"/>
                          <a:ea typeface="Arial"/>
                          <a:cs typeface="Arial"/>
                        </a:rPr>
                        <a:t>Thaler &amp; Ziemba (1988)</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Betting markets can show pricing anomalies.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09625">
                <a:tc>
                  <a:txBody>
                    <a:bodyPr lIns="152400" tIns="95250" rIns="133350" bIns="95250"/>
                    <a:lstStyle/>
                    <a:p>
                      <a:r>
                        <a:rPr sz="1875" b="0">
                          <a:solidFill>
                            <a:srgbClr val="263449"/>
                          </a:solidFill>
                          <a:latin typeface="Arial"/>
                          <a:ea typeface="Arial"/>
                          <a:cs typeface="Arial"/>
                        </a:rPr>
                        <a:t>Snowberg &amp; Wolfers (2010)</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Longshots tend to be overbet and favorites underbet.</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09625">
                <a:tc>
                  <a:txBody>
                    <a:bodyPr lIns="152400" tIns="95250" rIns="133350" bIns="95250"/>
                    <a:lstStyle/>
                    <a:p>
                      <a:r>
                        <a:rPr sz="1875" b="0">
                          <a:solidFill>
                            <a:srgbClr val="263449"/>
                          </a:solidFill>
                          <a:latin typeface="Arial"/>
                          <a:ea typeface="Arial"/>
                          <a:cs typeface="Arial"/>
                        </a:rPr>
                        <a:t>Wolfers &amp; Zitzewitz (2004)</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Prediction markets often produce accurate forecasts.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09625">
                <a:tc>
                  <a:txBody>
                    <a:bodyPr lIns="152400" tIns="95250" rIns="133350" bIns="95250"/>
                    <a:lstStyle/>
                    <a:p>
                      <a:r>
                        <a:rPr sz="1875" b="0">
                          <a:solidFill>
                            <a:srgbClr val="263449"/>
                          </a:solidFill>
                          <a:latin typeface="Arial"/>
                          <a:ea typeface="Arial"/>
                          <a:cs typeface="Arial"/>
                        </a:rPr>
                        <a:t>Page &amp; Clemen (2013)</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Calibration tends to improve closer to expiry.</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3" name="scope-and-source">
            <a:extLst xmlns:a="http://schemas.openxmlformats.org/drawingml/2006/main">
              <a:ext uri="{FF2B5EF4-FFF2-40B4-BE49-F238E27FC236}">
                <a16:creationId xmlns:a16="http://schemas.microsoft.com/office/drawing/2014/main" id="{EAC97D5F-E5D6-461F-A439-C41C02E5EED9}"/>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Sources: JEP 2(2):161–174; JPE 118(4):723–746; JEP 18(2):107–126; Economic Journal 123(568):491–513</a:t>
            </a:r>
          </a:p>
        </p:txBody>
      </p:sp>
    </p:spTree>
    <p:extLst>
      <p:ext uri="{BB962C8B-B14F-4D97-AF65-F5344CB8AC3E}">
        <p14:creationId xmlns:p14="http://schemas.microsoft.com/office/powerpoint/2010/main" val="174320816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427A5B56-DF85-42E8-85FF-7A4482185211}"/>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Prices as probabilities</a:t>
            </a:r>
          </a:p>
        </p:txBody>
      </p:sp>
      <p:sp>
        <p:nvSpPr>
          <p:cNvPr id="2" name="expected-profit">
            <a:extLst xmlns:a="http://schemas.openxmlformats.org/drawingml/2006/main">
              <a:ext uri="{FF2B5EF4-FFF2-40B4-BE49-F238E27FC236}">
                <a16:creationId xmlns:a16="http://schemas.microsoft.com/office/drawing/2014/main" id="{3F567C40-99BE-4243-ACA8-0A5E9ECB8FBC}"/>
              </a:ext>
            </a:extLst>
          </p:cNvPr>
          <p:cNvSpPr>
            <a:spLocks xmlns:a="http://schemas.openxmlformats.org/drawingml/2006/main" noGrp="1"/>
          </p:cNvSpPr>
          <p:nvPr/>
        </p:nvSpPr>
        <p:spPr>
          <a:xfrm xmlns:a="http://schemas.openxmlformats.org/drawingml/2006/main">
            <a:off x="609600" y="1600200"/>
            <a:ext cx="5810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315C8C"/>
                </a:solidFill>
                <a:latin typeface="Arial"/>
                <a:ea typeface="Arial"/>
                <a:cs typeface="Arial"/>
              </a:defRPr>
            </a:defPPr>
            <a:lvl1pPr algn="l">
              <a:defRPr sz="4050" b="1">
                <a:solidFill>
                  <a:srgbClr val="315C8C"/>
                </a:solidFill>
                <a:latin typeface="Arial"/>
                <a:ea typeface="Arial"/>
                <a:cs typeface="Arial"/>
              </a:defRPr>
            </a:lvl1pPr>
            <a:lvl2pPr algn="l">
              <a:defRPr sz="4050" b="1">
                <a:solidFill>
                  <a:srgbClr val="315C8C"/>
                </a:solidFill>
                <a:latin typeface="Arial"/>
                <a:ea typeface="Arial"/>
                <a:cs typeface="Arial"/>
              </a:defRPr>
            </a:lvl2pPr>
            <a:lvl3pPr algn="l">
              <a:defRPr sz="4050" b="1">
                <a:solidFill>
                  <a:srgbClr val="315C8C"/>
                </a:solidFill>
                <a:latin typeface="Arial"/>
                <a:ea typeface="Arial"/>
                <a:cs typeface="Arial"/>
              </a:defRPr>
            </a:lvl3pPr>
            <a:lvl4pPr algn="l">
              <a:defRPr sz="4050" b="1">
                <a:solidFill>
                  <a:srgbClr val="315C8C"/>
                </a:solidFill>
                <a:latin typeface="Arial"/>
                <a:ea typeface="Arial"/>
                <a:cs typeface="Arial"/>
              </a:defRPr>
            </a:lvl4pPr>
            <a:lvl5pPr algn="l">
              <a:defRPr sz="4050" b="1">
                <a:solidFill>
                  <a:srgbClr val="315C8C"/>
                </a:solidFill>
                <a:latin typeface="Arial"/>
                <a:ea typeface="Arial"/>
                <a:cs typeface="Arial"/>
              </a:defRPr>
            </a:lvl5pPr>
            <a:lvl6pPr algn="l">
              <a:defRPr sz="4050" b="1">
                <a:solidFill>
                  <a:srgbClr val="315C8C"/>
                </a:solidFill>
                <a:latin typeface="Arial"/>
                <a:ea typeface="Arial"/>
                <a:cs typeface="Arial"/>
              </a:defRPr>
            </a:lvl6pPr>
            <a:lvl7pPr algn="l">
              <a:defRPr sz="4050" b="1">
                <a:solidFill>
                  <a:srgbClr val="315C8C"/>
                </a:solidFill>
                <a:latin typeface="Arial"/>
                <a:ea typeface="Arial"/>
                <a:cs typeface="Arial"/>
              </a:defRPr>
            </a:lvl7pPr>
            <a:lvl8pPr algn="l">
              <a:defRPr sz="4050" b="1">
                <a:solidFill>
                  <a:srgbClr val="315C8C"/>
                </a:solidFill>
                <a:latin typeface="Arial"/>
                <a:ea typeface="Arial"/>
                <a:cs typeface="Arial"/>
              </a:defRPr>
            </a:lvl8pPr>
            <a:lvl9pPr algn="l">
              <a:defRPr sz="4050" b="1">
                <a:solidFill>
                  <a:srgbClr val="315C8C"/>
                </a:solidFill>
                <a:latin typeface="Arial"/>
                <a:ea typeface="Arial"/>
                <a:cs typeface="Arial"/>
              </a:defRPr>
            </a:lvl9pPr>
          </a:lstStyle>
          <a:p xmlns:a="http://schemas.openxmlformats.org/drawingml/2006/main">
            <a:pPr algn="l">
              <a:defRPr sz="4050" b="1">
                <a:solidFill>
                  <a:srgbClr val="315C8C"/>
                </a:solidFill>
                <a:latin typeface="Arial"/>
                <a:ea typeface="Arial"/>
                <a:cs typeface="Arial"/>
              </a:defRPr>
            </a:pPr>
            <a:r>
              <a:rPr sz="4050" b="1">
                <a:solidFill>
                  <a:srgbClr val="315C8C"/>
                </a:solidFill>
                <a:latin typeface="Arial"/>
                <a:ea typeface="Arial"/>
                <a:cs typeface="Arial"/>
              </a:rPr>
              <a:t>E[profit] = p − c</a:t>
            </a:r>
          </a:p>
        </p:txBody>
      </p:sp>
      <p:sp>
        <p:nvSpPr>
          <p:cNvPr id="3" name="formula-context">
            <a:extLst xmlns:a="http://schemas.openxmlformats.org/drawingml/2006/main">
              <a:ext uri="{FF2B5EF4-FFF2-40B4-BE49-F238E27FC236}">
                <a16:creationId xmlns:a16="http://schemas.microsoft.com/office/drawing/2014/main" id="{5207B84F-5EA9-4318-93FE-C246F7C5D341}"/>
              </a:ext>
            </a:extLst>
          </p:cNvPr>
          <p:cNvSpPr>
            <a:spLocks xmlns:a="http://schemas.openxmlformats.org/drawingml/2006/main" noGrp="1"/>
          </p:cNvSpPr>
          <p:nvPr/>
        </p:nvSpPr>
        <p:spPr>
          <a:xfrm xmlns:a="http://schemas.openxmlformats.org/drawingml/2006/main">
            <a:off x="609600" y="2752725"/>
            <a:ext cx="5238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A Yes share pays $1 if the event occurs.</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p is your belief. c is the price.</a:t>
            </a:r>
          </a:p>
        </p:txBody>
      </p:sp>
      <p:sp>
        <p:nvSpPr>
          <p:cNvPr id="4" name="calibration">
            <a:extLst xmlns:a="http://schemas.openxmlformats.org/drawingml/2006/main">
              <a:ext uri="{FF2B5EF4-FFF2-40B4-BE49-F238E27FC236}">
                <a16:creationId xmlns:a16="http://schemas.microsoft.com/office/drawing/2014/main" id="{2DB29834-4D40-428D-BDBB-4EA756362118}"/>
              </a:ext>
            </a:extLst>
          </p:cNvPr>
          <p:cNvSpPr>
            <a:spLocks xmlns:a="http://schemas.openxmlformats.org/drawingml/2006/main" noGrp="1"/>
          </p:cNvSpPr>
          <p:nvPr/>
        </p:nvSpPr>
        <p:spPr>
          <a:xfrm xmlns:a="http://schemas.openxmlformats.org/drawingml/2006/main">
            <a:off x="6667500" y="159067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Calibration</a:t>
            </a:r>
          </a:p>
        </p:txBody>
      </p:sp>
      <p:sp>
        <p:nvSpPr>
          <p:cNvPr id="5" name="calibration-explainer">
            <a:extLst xmlns:a="http://schemas.openxmlformats.org/drawingml/2006/main">
              <a:ext uri="{FF2B5EF4-FFF2-40B4-BE49-F238E27FC236}">
                <a16:creationId xmlns:a16="http://schemas.microsoft.com/office/drawing/2014/main" id="{333D8355-F650-4C43-827C-BD40B5265B28}"/>
              </a:ext>
            </a:extLst>
          </p:cNvPr>
          <p:cNvSpPr>
            <a:spLocks xmlns:a="http://schemas.openxmlformats.org/drawingml/2006/main" noGrp="1"/>
          </p:cNvSpPr>
          <p:nvPr/>
        </p:nvSpPr>
        <p:spPr>
          <a:xfrm xmlns:a="http://schemas.openxmlformats.org/drawingml/2006/main">
            <a:off x="6667500" y="2209800"/>
            <a:ext cx="4914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Among events priced at 30%,</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do about 30% resolve Yes?</a:t>
            </a:r>
          </a:p>
        </p:txBody>
      </p:sp>
      <p:sp>
        <p:nvSpPr>
          <p:cNvPr id="6" name="prediction">
            <a:extLst xmlns:a="http://schemas.openxmlformats.org/drawingml/2006/main">
              <a:ext uri="{FF2B5EF4-FFF2-40B4-BE49-F238E27FC236}">
                <a16:creationId xmlns:a16="http://schemas.microsoft.com/office/drawing/2014/main" id="{865A2398-CE1D-4457-97CC-8B4AAC1AD56B}"/>
              </a:ext>
            </a:extLst>
          </p:cNvPr>
          <p:cNvSpPr>
            <a:spLocks xmlns:a="http://schemas.openxmlformats.org/drawingml/2006/main" noGrp="1"/>
          </p:cNvSpPr>
          <p:nvPr/>
        </p:nvSpPr>
        <p:spPr>
          <a:xfrm xmlns:a="http://schemas.openxmlformats.org/drawingml/2006/main">
            <a:off x="6667500" y="372427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Model comparison</a:t>
            </a:r>
          </a:p>
        </p:txBody>
      </p:sp>
      <p:sp>
        <p:nvSpPr>
          <p:cNvPr id="7" name="prediction-explainer">
            <a:extLst xmlns:a="http://schemas.openxmlformats.org/drawingml/2006/main">
              <a:ext uri="{FF2B5EF4-FFF2-40B4-BE49-F238E27FC236}">
                <a16:creationId xmlns:a16="http://schemas.microsoft.com/office/drawing/2014/main" id="{6CAB4F0D-A2B2-4540-8797-7C5F07C8F139}"/>
              </a:ext>
            </a:extLst>
          </p:cNvPr>
          <p:cNvSpPr>
            <a:spLocks xmlns:a="http://schemas.openxmlformats.org/drawingml/2006/main" noGrp="1"/>
          </p:cNvSpPr>
          <p:nvPr/>
        </p:nvSpPr>
        <p:spPr>
          <a:xfrm xmlns:a="http://schemas.openxmlformats.org/drawingml/2006/main">
            <a:off x="6667500" y="4343400"/>
            <a:ext cx="49149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Can a model improve on the price</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using information available at the time?</a:t>
            </a:r>
          </a:p>
        </p:txBody>
      </p:sp>
      <p:sp>
        <p:nvSpPr>
          <p:cNvPr id="8" name="scope-and-source">
            <a:extLst xmlns:a="http://schemas.openxmlformats.org/drawingml/2006/main">
              <a:ext uri="{FF2B5EF4-FFF2-40B4-BE49-F238E27FC236}">
                <a16:creationId xmlns:a16="http://schemas.microsoft.com/office/drawing/2014/main" id="{291FFEDE-A93C-4EF1-9216-7D38F75AFBF8}"/>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Expected profit is per share before trading costs.</a:t>
            </a:r>
          </a:p>
        </p:txBody>
      </p:sp>
    </p:spTree>
    <p:extLst>
      <p:ext uri="{BB962C8B-B14F-4D97-AF65-F5344CB8AC3E}">
        <p14:creationId xmlns:p14="http://schemas.microsoft.com/office/powerpoint/2010/main" val="162723830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5D329DB3-7295-436F-A0BA-F2197924B8F9}"/>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data and evaluation</a:t>
            </a:r>
          </a:p>
        </p:txBody>
      </p:sp>
      <p:sp>
        <p:nvSpPr>
          <p:cNvPr id="2" name="market-total">
            <a:extLst xmlns:a="http://schemas.openxmlformats.org/drawingml/2006/main">
              <a:ext uri="{FF2B5EF4-FFF2-40B4-BE49-F238E27FC236}">
                <a16:creationId xmlns:a16="http://schemas.microsoft.com/office/drawing/2014/main" id="{5A7EFAD6-FAC6-4FB5-85D0-BA04CCD5E30B}"/>
              </a:ext>
            </a:extLst>
          </p:cNvPr>
          <p:cNvSpPr>
            <a:spLocks xmlns:a="http://schemas.openxmlformats.org/drawingml/2006/main" noGrp="1"/>
          </p:cNvSpPr>
          <p:nvPr/>
        </p:nvSpPr>
        <p:spPr>
          <a:xfrm xmlns:a="http://schemas.openxmlformats.org/drawingml/2006/main">
            <a:off x="609600" y="1381125"/>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315C8C"/>
                </a:solidFill>
                <a:latin typeface="Arial"/>
                <a:ea typeface="Arial"/>
                <a:cs typeface="Arial"/>
              </a:defRPr>
            </a:defPPr>
            <a:lvl1pPr algn="l">
              <a:defRPr sz="2925" b="1">
                <a:solidFill>
                  <a:srgbClr val="315C8C"/>
                </a:solidFill>
                <a:latin typeface="Arial"/>
                <a:ea typeface="Arial"/>
                <a:cs typeface="Arial"/>
              </a:defRPr>
            </a:lvl1pPr>
            <a:lvl2pPr algn="l">
              <a:defRPr sz="2925" b="1">
                <a:solidFill>
                  <a:srgbClr val="315C8C"/>
                </a:solidFill>
                <a:latin typeface="Arial"/>
                <a:ea typeface="Arial"/>
                <a:cs typeface="Arial"/>
              </a:defRPr>
            </a:lvl2pPr>
            <a:lvl3pPr algn="l">
              <a:defRPr sz="2925" b="1">
                <a:solidFill>
                  <a:srgbClr val="315C8C"/>
                </a:solidFill>
                <a:latin typeface="Arial"/>
                <a:ea typeface="Arial"/>
                <a:cs typeface="Arial"/>
              </a:defRPr>
            </a:lvl3pPr>
            <a:lvl4pPr algn="l">
              <a:defRPr sz="2925" b="1">
                <a:solidFill>
                  <a:srgbClr val="315C8C"/>
                </a:solidFill>
                <a:latin typeface="Arial"/>
                <a:ea typeface="Arial"/>
                <a:cs typeface="Arial"/>
              </a:defRPr>
            </a:lvl4pPr>
            <a:lvl5pPr algn="l">
              <a:defRPr sz="2925" b="1">
                <a:solidFill>
                  <a:srgbClr val="315C8C"/>
                </a:solidFill>
                <a:latin typeface="Arial"/>
                <a:ea typeface="Arial"/>
                <a:cs typeface="Arial"/>
              </a:defRPr>
            </a:lvl5pPr>
            <a:lvl6pPr algn="l">
              <a:defRPr sz="2925" b="1">
                <a:solidFill>
                  <a:srgbClr val="315C8C"/>
                </a:solidFill>
                <a:latin typeface="Arial"/>
                <a:ea typeface="Arial"/>
                <a:cs typeface="Arial"/>
              </a:defRPr>
            </a:lvl6pPr>
            <a:lvl7pPr algn="l">
              <a:defRPr sz="2925" b="1">
                <a:solidFill>
                  <a:srgbClr val="315C8C"/>
                </a:solidFill>
                <a:latin typeface="Arial"/>
                <a:ea typeface="Arial"/>
                <a:cs typeface="Arial"/>
              </a:defRPr>
            </a:lvl7pPr>
            <a:lvl8pPr algn="l">
              <a:defRPr sz="2925" b="1">
                <a:solidFill>
                  <a:srgbClr val="315C8C"/>
                </a:solidFill>
                <a:latin typeface="Arial"/>
                <a:ea typeface="Arial"/>
                <a:cs typeface="Arial"/>
              </a:defRPr>
            </a:lvl8pPr>
            <a:lvl9pPr algn="l">
              <a:defRPr sz="2925" b="1">
                <a:solidFill>
                  <a:srgbClr val="315C8C"/>
                </a:solidFill>
                <a:latin typeface="Arial"/>
                <a:ea typeface="Arial"/>
                <a:cs typeface="Arial"/>
              </a:defRPr>
            </a:lvl9pPr>
          </a:lstStyle>
          <a:p xmlns:a="http://schemas.openxmlformats.org/drawingml/2006/main">
            <a:pPr algn="l">
              <a:defRPr sz="2925" b="1">
                <a:solidFill>
                  <a:srgbClr val="315C8C"/>
                </a:solidFill>
                <a:latin typeface="Arial"/>
                <a:ea typeface="Arial"/>
                <a:cs typeface="Arial"/>
              </a:defRPr>
            </a:pPr>
            <a:r>
              <a:rPr sz="2925" b="1">
                <a:solidFill>
                  <a:srgbClr val="315C8C"/>
                </a:solidFill>
                <a:latin typeface="Arial"/>
                <a:ea typeface="Arial"/>
                <a:cs typeface="Arial"/>
              </a:rPr>
              <a:t>7,479 markets</a:t>
            </a:r>
          </a:p>
        </p:txBody>
      </p:sp>
      <p:sp>
        <p:nvSpPr>
          <p:cNvPr id="3" name="market-sample">
            <a:extLst xmlns:a="http://schemas.openxmlformats.org/drawingml/2006/main">
              <a:ext uri="{FF2B5EF4-FFF2-40B4-BE49-F238E27FC236}">
                <a16:creationId xmlns:a16="http://schemas.microsoft.com/office/drawing/2014/main" id="{942A2BBE-C1D7-49D5-9F09-F9307D78251E}"/>
              </a:ext>
            </a:extLst>
          </p:cNvPr>
          <p:cNvSpPr>
            <a:spLocks xmlns:a="http://schemas.openxmlformats.org/drawingml/2006/main" noGrp="1"/>
          </p:cNvSpPr>
          <p:nvPr/>
        </p:nvSpPr>
        <p:spPr>
          <a:xfrm xmlns:a="http://schemas.openxmlformats.org/drawingml/2006/main">
            <a:off x="609600" y="2095500"/>
            <a:ext cx="5429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449"/>
                </a:solidFill>
                <a:latin typeface="Arial"/>
                <a:ea typeface="Arial"/>
                <a:cs typeface="Arial"/>
              </a:defRPr>
            </a:defPPr>
            <a:lvl1pPr algn="l">
              <a:defRPr sz="2025" b="0">
                <a:solidFill>
                  <a:srgbClr val="263449"/>
                </a:solidFill>
                <a:latin typeface="Arial"/>
                <a:ea typeface="Arial"/>
                <a:cs typeface="Arial"/>
              </a:defRPr>
            </a:lvl1pPr>
            <a:lvl2pPr algn="l">
              <a:defRPr sz="2025" b="0">
                <a:solidFill>
                  <a:srgbClr val="263449"/>
                </a:solidFill>
                <a:latin typeface="Arial"/>
                <a:ea typeface="Arial"/>
                <a:cs typeface="Arial"/>
              </a:defRPr>
            </a:lvl2pPr>
            <a:lvl3pPr algn="l">
              <a:defRPr sz="2025" b="0">
                <a:solidFill>
                  <a:srgbClr val="263449"/>
                </a:solidFill>
                <a:latin typeface="Arial"/>
                <a:ea typeface="Arial"/>
                <a:cs typeface="Arial"/>
              </a:defRPr>
            </a:lvl3pPr>
            <a:lvl4pPr algn="l">
              <a:defRPr sz="2025" b="0">
                <a:solidFill>
                  <a:srgbClr val="263449"/>
                </a:solidFill>
                <a:latin typeface="Arial"/>
                <a:ea typeface="Arial"/>
                <a:cs typeface="Arial"/>
              </a:defRPr>
            </a:lvl4pPr>
            <a:lvl5pPr algn="l">
              <a:defRPr sz="2025" b="0">
                <a:solidFill>
                  <a:srgbClr val="263449"/>
                </a:solidFill>
                <a:latin typeface="Arial"/>
                <a:ea typeface="Arial"/>
                <a:cs typeface="Arial"/>
              </a:defRPr>
            </a:lvl5pPr>
            <a:lvl6pPr algn="l">
              <a:defRPr sz="2025" b="0">
                <a:solidFill>
                  <a:srgbClr val="263449"/>
                </a:solidFill>
                <a:latin typeface="Arial"/>
                <a:ea typeface="Arial"/>
                <a:cs typeface="Arial"/>
              </a:defRPr>
            </a:lvl6pPr>
            <a:lvl7pPr algn="l">
              <a:defRPr sz="2025" b="0">
                <a:solidFill>
                  <a:srgbClr val="263449"/>
                </a:solidFill>
                <a:latin typeface="Arial"/>
                <a:ea typeface="Arial"/>
                <a:cs typeface="Arial"/>
              </a:defRPr>
            </a:lvl7pPr>
            <a:lvl8pPr algn="l">
              <a:defRPr sz="2025" b="0">
                <a:solidFill>
                  <a:srgbClr val="263449"/>
                </a:solidFill>
                <a:latin typeface="Arial"/>
                <a:ea typeface="Arial"/>
                <a:cs typeface="Arial"/>
              </a:defRPr>
            </a:lvl8pPr>
            <a:lvl9pPr algn="l">
              <a:defRPr sz="2025" b="0">
                <a:solidFill>
                  <a:srgbClr val="263449"/>
                </a:solidFill>
                <a:latin typeface="Arial"/>
                <a:ea typeface="Arial"/>
                <a:cs typeface="Arial"/>
              </a:defRPr>
            </a:lvl9pPr>
          </a:lstStyle>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Resolved Yes/No markets</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Politics, Technology, Entertainment, Economy</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Markets closing June–October 2026</a:t>
            </a:r>
          </a:p>
        </p:txBody>
      </p:sp>
      <p:sp>
        <p:nvSpPr>
          <p:cNvPr id="4" name="trade-total">
            <a:extLst xmlns:a="http://schemas.openxmlformats.org/drawingml/2006/main">
              <a:ext uri="{FF2B5EF4-FFF2-40B4-BE49-F238E27FC236}">
                <a16:creationId xmlns:a16="http://schemas.microsoft.com/office/drawing/2014/main" id="{20C60087-4DFA-42A8-8378-01130FEF491E}"/>
              </a:ext>
            </a:extLst>
          </p:cNvPr>
          <p:cNvSpPr>
            <a:spLocks xmlns:a="http://schemas.openxmlformats.org/drawingml/2006/main" noGrp="1"/>
          </p:cNvSpPr>
          <p:nvPr/>
        </p:nvSpPr>
        <p:spPr>
          <a:xfrm xmlns:a="http://schemas.openxmlformats.org/drawingml/2006/main">
            <a:off x="609600" y="4010025"/>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315C8C"/>
                </a:solidFill>
                <a:latin typeface="Arial"/>
                <a:ea typeface="Arial"/>
                <a:cs typeface="Arial"/>
              </a:defRPr>
            </a:defPPr>
            <a:lvl1pPr algn="l">
              <a:defRPr sz="2925" b="1">
                <a:solidFill>
                  <a:srgbClr val="315C8C"/>
                </a:solidFill>
                <a:latin typeface="Arial"/>
                <a:ea typeface="Arial"/>
                <a:cs typeface="Arial"/>
              </a:defRPr>
            </a:lvl1pPr>
            <a:lvl2pPr algn="l">
              <a:defRPr sz="2925" b="1">
                <a:solidFill>
                  <a:srgbClr val="315C8C"/>
                </a:solidFill>
                <a:latin typeface="Arial"/>
                <a:ea typeface="Arial"/>
                <a:cs typeface="Arial"/>
              </a:defRPr>
            </a:lvl2pPr>
            <a:lvl3pPr algn="l">
              <a:defRPr sz="2925" b="1">
                <a:solidFill>
                  <a:srgbClr val="315C8C"/>
                </a:solidFill>
                <a:latin typeface="Arial"/>
                <a:ea typeface="Arial"/>
                <a:cs typeface="Arial"/>
              </a:defRPr>
            </a:lvl3pPr>
            <a:lvl4pPr algn="l">
              <a:defRPr sz="2925" b="1">
                <a:solidFill>
                  <a:srgbClr val="315C8C"/>
                </a:solidFill>
                <a:latin typeface="Arial"/>
                <a:ea typeface="Arial"/>
                <a:cs typeface="Arial"/>
              </a:defRPr>
            </a:lvl4pPr>
            <a:lvl5pPr algn="l">
              <a:defRPr sz="2925" b="1">
                <a:solidFill>
                  <a:srgbClr val="315C8C"/>
                </a:solidFill>
                <a:latin typeface="Arial"/>
                <a:ea typeface="Arial"/>
                <a:cs typeface="Arial"/>
              </a:defRPr>
            </a:lvl5pPr>
            <a:lvl6pPr algn="l">
              <a:defRPr sz="2925" b="1">
                <a:solidFill>
                  <a:srgbClr val="315C8C"/>
                </a:solidFill>
                <a:latin typeface="Arial"/>
                <a:ea typeface="Arial"/>
                <a:cs typeface="Arial"/>
              </a:defRPr>
            </a:lvl6pPr>
            <a:lvl7pPr algn="l">
              <a:defRPr sz="2925" b="1">
                <a:solidFill>
                  <a:srgbClr val="315C8C"/>
                </a:solidFill>
                <a:latin typeface="Arial"/>
                <a:ea typeface="Arial"/>
                <a:cs typeface="Arial"/>
              </a:defRPr>
            </a:lvl7pPr>
            <a:lvl8pPr algn="l">
              <a:defRPr sz="2925" b="1">
                <a:solidFill>
                  <a:srgbClr val="315C8C"/>
                </a:solidFill>
                <a:latin typeface="Arial"/>
                <a:ea typeface="Arial"/>
                <a:cs typeface="Arial"/>
              </a:defRPr>
            </a:lvl8pPr>
            <a:lvl9pPr algn="l">
              <a:defRPr sz="2925" b="1">
                <a:solidFill>
                  <a:srgbClr val="315C8C"/>
                </a:solidFill>
                <a:latin typeface="Arial"/>
                <a:ea typeface="Arial"/>
                <a:cs typeface="Arial"/>
              </a:defRPr>
            </a:lvl9pPr>
          </a:lstStyle>
          <a:p xmlns:a="http://schemas.openxmlformats.org/drawingml/2006/main">
            <a:pPr algn="l">
              <a:defRPr sz="2925" b="1">
                <a:solidFill>
                  <a:srgbClr val="315C8C"/>
                </a:solidFill>
                <a:latin typeface="Arial"/>
                <a:ea typeface="Arial"/>
                <a:cs typeface="Arial"/>
              </a:defRPr>
            </a:pPr>
            <a:r>
              <a:rPr sz="2925" b="1">
                <a:solidFill>
                  <a:srgbClr val="315C8C"/>
                </a:solidFill>
                <a:latin typeface="Arial"/>
                <a:ea typeface="Arial"/>
                <a:cs typeface="Arial"/>
              </a:rPr>
              <a:t>4.1M trades</a:t>
            </a:r>
          </a:p>
        </p:txBody>
      </p:sp>
      <p:sp>
        <p:nvSpPr>
          <p:cNvPr id="5" name="horizons">
            <a:extLst xmlns:a="http://schemas.openxmlformats.org/drawingml/2006/main">
              <a:ext uri="{FF2B5EF4-FFF2-40B4-BE49-F238E27FC236}">
                <a16:creationId xmlns:a16="http://schemas.microsoft.com/office/drawing/2014/main" id="{7F72331D-F865-443A-8129-AB0D4C0B40FA}"/>
              </a:ext>
            </a:extLst>
          </p:cNvPr>
          <p:cNvSpPr>
            <a:spLocks xmlns:a="http://schemas.openxmlformats.org/drawingml/2006/main" noGrp="1"/>
          </p:cNvSpPr>
          <p:nvPr/>
        </p:nvSpPr>
        <p:spPr>
          <a:xfrm xmlns:a="http://schemas.openxmlformats.org/drawingml/2006/main">
            <a:off x="609600" y="4724400"/>
            <a:ext cx="5429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449"/>
                </a:solidFill>
                <a:latin typeface="Arial"/>
                <a:ea typeface="Arial"/>
                <a:cs typeface="Arial"/>
              </a:defRPr>
            </a:defPPr>
            <a:lvl1pPr algn="l">
              <a:defRPr sz="2025" b="0">
                <a:solidFill>
                  <a:srgbClr val="263449"/>
                </a:solidFill>
                <a:latin typeface="Arial"/>
                <a:ea typeface="Arial"/>
                <a:cs typeface="Arial"/>
              </a:defRPr>
            </a:lvl1pPr>
            <a:lvl2pPr algn="l">
              <a:defRPr sz="2025" b="0">
                <a:solidFill>
                  <a:srgbClr val="263449"/>
                </a:solidFill>
                <a:latin typeface="Arial"/>
                <a:ea typeface="Arial"/>
                <a:cs typeface="Arial"/>
              </a:defRPr>
            </a:lvl2pPr>
            <a:lvl3pPr algn="l">
              <a:defRPr sz="2025" b="0">
                <a:solidFill>
                  <a:srgbClr val="263449"/>
                </a:solidFill>
                <a:latin typeface="Arial"/>
                <a:ea typeface="Arial"/>
                <a:cs typeface="Arial"/>
              </a:defRPr>
            </a:lvl3pPr>
            <a:lvl4pPr algn="l">
              <a:defRPr sz="2025" b="0">
                <a:solidFill>
                  <a:srgbClr val="263449"/>
                </a:solidFill>
                <a:latin typeface="Arial"/>
                <a:ea typeface="Arial"/>
                <a:cs typeface="Arial"/>
              </a:defRPr>
            </a:lvl4pPr>
            <a:lvl5pPr algn="l">
              <a:defRPr sz="2025" b="0">
                <a:solidFill>
                  <a:srgbClr val="263449"/>
                </a:solidFill>
                <a:latin typeface="Arial"/>
                <a:ea typeface="Arial"/>
                <a:cs typeface="Arial"/>
              </a:defRPr>
            </a:lvl5pPr>
            <a:lvl6pPr algn="l">
              <a:defRPr sz="2025" b="0">
                <a:solidFill>
                  <a:srgbClr val="263449"/>
                </a:solidFill>
                <a:latin typeface="Arial"/>
                <a:ea typeface="Arial"/>
                <a:cs typeface="Arial"/>
              </a:defRPr>
            </a:lvl6pPr>
            <a:lvl7pPr algn="l">
              <a:defRPr sz="2025" b="0">
                <a:solidFill>
                  <a:srgbClr val="263449"/>
                </a:solidFill>
                <a:latin typeface="Arial"/>
                <a:ea typeface="Arial"/>
                <a:cs typeface="Arial"/>
              </a:defRPr>
            </a:lvl7pPr>
            <a:lvl8pPr algn="l">
              <a:defRPr sz="2025" b="0">
                <a:solidFill>
                  <a:srgbClr val="263449"/>
                </a:solidFill>
                <a:latin typeface="Arial"/>
                <a:ea typeface="Arial"/>
                <a:cs typeface="Arial"/>
              </a:defRPr>
            </a:lvl8pPr>
            <a:lvl9pPr algn="l">
              <a:defRPr sz="2025" b="0">
                <a:solidFill>
                  <a:srgbClr val="263449"/>
                </a:solidFill>
                <a:latin typeface="Arial"/>
                <a:ea typeface="Arial"/>
                <a:cs typeface="Arial"/>
              </a:defRPr>
            </a:lvl9pPr>
          </a:lstStyle>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Last trade before 6h, 24h, 3d, and 7d</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before market close</a:t>
            </a:r>
          </a:p>
        </p:txBody>
      </p:sp>
      <p:sp>
        <p:nvSpPr>
          <p:cNvPr id="6" name="evaluation-heading">
            <a:extLst xmlns:a="http://schemas.openxmlformats.org/drawingml/2006/main">
              <a:ext uri="{FF2B5EF4-FFF2-40B4-BE49-F238E27FC236}">
                <a16:creationId xmlns:a16="http://schemas.microsoft.com/office/drawing/2014/main" id="{BADA9AF8-0DB6-49DA-95E0-834C3A2407B6}"/>
              </a:ext>
            </a:extLst>
          </p:cNvPr>
          <p:cNvSpPr>
            <a:spLocks xmlns:a="http://schemas.openxmlformats.org/drawingml/2006/main" noGrp="1"/>
          </p:cNvSpPr>
          <p:nvPr/>
        </p:nvSpPr>
        <p:spPr>
          <a:xfrm xmlns:a="http://schemas.openxmlformats.org/drawingml/2006/main">
            <a:off x="6667500" y="1428750"/>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Evaluation</a:t>
            </a:r>
          </a:p>
        </p:txBody>
      </p:sp>
      <p:sp>
        <p:nvSpPr>
          <p:cNvPr id="7" name="evaluation">
            <a:extLst xmlns:a="http://schemas.openxmlformats.org/drawingml/2006/main">
              <a:ext uri="{FF2B5EF4-FFF2-40B4-BE49-F238E27FC236}">
                <a16:creationId xmlns:a16="http://schemas.microsoft.com/office/drawing/2014/main" id="{37A48D14-CB3D-4002-A9F6-CE73C67EEFFE}"/>
              </a:ext>
            </a:extLst>
          </p:cNvPr>
          <p:cNvSpPr>
            <a:spLocks xmlns:a="http://schemas.openxmlformats.org/drawingml/2006/main" noGrp="1"/>
          </p:cNvSpPr>
          <p:nvPr/>
        </p:nvSpPr>
        <p:spPr>
          <a:xfrm xmlns:a="http://schemas.openxmlformats.org/drawingml/2006/main">
            <a:off x="6667500" y="2095500"/>
            <a:ext cx="49149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63449"/>
                </a:solidFill>
                <a:latin typeface="Arial"/>
                <a:ea typeface="Arial"/>
                <a:cs typeface="Arial"/>
              </a:defRPr>
            </a:defPPr>
            <a:lvl1pPr algn="l">
              <a:defRPr sz="2100" b="0">
                <a:solidFill>
                  <a:srgbClr val="263449"/>
                </a:solidFill>
                <a:latin typeface="Arial"/>
                <a:ea typeface="Arial"/>
                <a:cs typeface="Arial"/>
              </a:defRPr>
            </a:lvl1pPr>
            <a:lvl2pPr algn="l">
              <a:defRPr sz="2100" b="0">
                <a:solidFill>
                  <a:srgbClr val="263449"/>
                </a:solidFill>
                <a:latin typeface="Arial"/>
                <a:ea typeface="Arial"/>
                <a:cs typeface="Arial"/>
              </a:defRPr>
            </a:lvl2pPr>
            <a:lvl3pPr algn="l">
              <a:defRPr sz="2100" b="0">
                <a:solidFill>
                  <a:srgbClr val="263449"/>
                </a:solidFill>
                <a:latin typeface="Arial"/>
                <a:ea typeface="Arial"/>
                <a:cs typeface="Arial"/>
              </a:defRPr>
            </a:lvl3pPr>
            <a:lvl4pPr algn="l">
              <a:defRPr sz="2100" b="0">
                <a:solidFill>
                  <a:srgbClr val="263449"/>
                </a:solidFill>
                <a:latin typeface="Arial"/>
                <a:ea typeface="Arial"/>
                <a:cs typeface="Arial"/>
              </a:defRPr>
            </a:lvl4pPr>
            <a:lvl5pPr algn="l">
              <a:defRPr sz="2100" b="0">
                <a:solidFill>
                  <a:srgbClr val="263449"/>
                </a:solidFill>
                <a:latin typeface="Arial"/>
                <a:ea typeface="Arial"/>
                <a:cs typeface="Arial"/>
              </a:defRPr>
            </a:lvl5pPr>
            <a:lvl6pPr algn="l">
              <a:defRPr sz="2100" b="0">
                <a:solidFill>
                  <a:srgbClr val="263449"/>
                </a:solidFill>
                <a:latin typeface="Arial"/>
                <a:ea typeface="Arial"/>
                <a:cs typeface="Arial"/>
              </a:defRPr>
            </a:lvl6pPr>
            <a:lvl7pPr algn="l">
              <a:defRPr sz="2100" b="0">
                <a:solidFill>
                  <a:srgbClr val="263449"/>
                </a:solidFill>
                <a:latin typeface="Arial"/>
                <a:ea typeface="Arial"/>
                <a:cs typeface="Arial"/>
              </a:defRPr>
            </a:lvl7pPr>
            <a:lvl8pPr algn="l">
              <a:defRPr sz="2100" b="0">
                <a:solidFill>
                  <a:srgbClr val="263449"/>
                </a:solidFill>
                <a:latin typeface="Arial"/>
                <a:ea typeface="Arial"/>
                <a:cs typeface="Arial"/>
              </a:defRPr>
            </a:lvl8pPr>
            <a:lvl9pPr algn="l">
              <a:defRPr sz="2100" b="0">
                <a:solidFill>
                  <a:srgbClr val="263449"/>
                </a:solidFill>
                <a:latin typeface="Arial"/>
                <a:ea typeface="Arial"/>
                <a:cs typeface="Arial"/>
              </a:defRPr>
            </a:lvl9pPr>
          </a:lstStyle>
          <a:p xmlns:a="http://schemas.openxmlformats.org/drawingml/2006/main">
            <a:pPr algn="l">
              <a:defRPr sz="2100" b="0">
                <a:solidFill>
                  <a:srgbClr val="263449"/>
                </a:solidFill>
                <a:latin typeface="Arial"/>
                <a:ea typeface="Arial"/>
                <a:cs typeface="Arial"/>
              </a:defRPr>
            </a:pPr>
            <a:r>
              <a:rPr sz="2100" b="0">
                <a:solidFill>
                  <a:srgbClr val="263449"/>
                </a:solidFill>
                <a:latin typeface="Arial"/>
                <a:ea typeface="Arial"/>
                <a:cs typeface="Arial"/>
              </a:rPr>
              <a:t>Compare prices with resolved outcomes.</a:t>
            </a:r>
          </a:p>
          <a:p xmlns:a="http://schemas.openxmlformats.org/drawingml/2006/main">
            <a:pPr algn="l">
              <a:defRPr sz="2100" b="0">
                <a:solidFill>
                  <a:srgbClr val="263449"/>
                </a:solidFill>
                <a:latin typeface="Arial"/>
                <a:ea typeface="Arial"/>
                <a:cs typeface="Arial"/>
              </a:defRPr>
            </a:pPr>
            <a:r>
              <a:rPr sz="2100" b="0">
                <a:solidFill>
                  <a:srgbClr val="263449"/>
                </a:solidFill>
                <a:latin typeface="Arial"/>
                <a:ea typeface="Arial"/>
                <a:cs typeface="Arial"/>
              </a:rPr>
              <a:t>Use calibration curves and Brier scores.</a:t>
            </a:r>
          </a:p>
          <a:p xmlns:a="http://schemas.openxmlformats.org/drawingml/2006/main">
            <a:pPr algn="l">
              <a:defRPr sz="2100" b="0">
                <a:solidFill>
                  <a:srgbClr val="263449"/>
                </a:solidFill>
                <a:latin typeface="Arial"/>
                <a:ea typeface="Arial"/>
                <a:cs typeface="Arial"/>
              </a:defRPr>
            </a:pPr>
            <a:r>
              <a:rPr sz="2100" b="0">
                <a:solidFill>
                  <a:srgbClr val="263449"/>
                </a:solidFill>
                <a:latin typeface="Arial"/>
                <a:ea typeface="Arial"/>
                <a:cs typeface="Arial"/>
              </a:rPr>
              <a:t>Resample whole events for uncertainty.</a:t>
            </a:r>
          </a:p>
        </p:txBody>
      </p:sp>
      <p:sp>
        <p:nvSpPr>
          <p:cNvPr id="8" name="book-validation">
            <a:extLst xmlns:a="http://schemas.openxmlformats.org/drawingml/2006/main">
              <a:ext uri="{FF2B5EF4-FFF2-40B4-BE49-F238E27FC236}">
                <a16:creationId xmlns:a16="http://schemas.microsoft.com/office/drawing/2014/main" id="{61178BB9-185E-4C9C-86E1-C1258E5FE1F3}"/>
              </a:ext>
            </a:extLst>
          </p:cNvPr>
          <p:cNvSpPr>
            <a:spLocks xmlns:a="http://schemas.openxmlformats.org/drawingml/2006/main" noGrp="1"/>
          </p:cNvSpPr>
          <p:nvPr/>
        </p:nvSpPr>
        <p:spPr>
          <a:xfrm xmlns:a="http://schemas.openxmlformats.org/drawingml/2006/main">
            <a:off x="6667500" y="41052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63449"/>
                </a:solidFill>
                <a:latin typeface="Arial"/>
                <a:ea typeface="Arial"/>
                <a:cs typeface="Arial"/>
              </a:defRPr>
            </a:defPPr>
            <a:lvl1pPr algn="l">
              <a:defRPr sz="2175" b="1">
                <a:solidFill>
                  <a:srgbClr val="263449"/>
                </a:solidFill>
                <a:latin typeface="Arial"/>
                <a:ea typeface="Arial"/>
                <a:cs typeface="Arial"/>
              </a:defRPr>
            </a:lvl1pPr>
            <a:lvl2pPr algn="l">
              <a:defRPr sz="2175" b="1">
                <a:solidFill>
                  <a:srgbClr val="263449"/>
                </a:solidFill>
                <a:latin typeface="Arial"/>
                <a:ea typeface="Arial"/>
                <a:cs typeface="Arial"/>
              </a:defRPr>
            </a:lvl2pPr>
            <a:lvl3pPr algn="l">
              <a:defRPr sz="2175" b="1">
                <a:solidFill>
                  <a:srgbClr val="263449"/>
                </a:solidFill>
                <a:latin typeface="Arial"/>
                <a:ea typeface="Arial"/>
                <a:cs typeface="Arial"/>
              </a:defRPr>
            </a:lvl3pPr>
            <a:lvl4pPr algn="l">
              <a:defRPr sz="2175" b="1">
                <a:solidFill>
                  <a:srgbClr val="263449"/>
                </a:solidFill>
                <a:latin typeface="Arial"/>
                <a:ea typeface="Arial"/>
                <a:cs typeface="Arial"/>
              </a:defRPr>
            </a:lvl4pPr>
            <a:lvl5pPr algn="l">
              <a:defRPr sz="2175" b="1">
                <a:solidFill>
                  <a:srgbClr val="263449"/>
                </a:solidFill>
                <a:latin typeface="Arial"/>
                <a:ea typeface="Arial"/>
                <a:cs typeface="Arial"/>
              </a:defRPr>
            </a:lvl5pPr>
            <a:lvl6pPr algn="l">
              <a:defRPr sz="2175" b="1">
                <a:solidFill>
                  <a:srgbClr val="263449"/>
                </a:solidFill>
                <a:latin typeface="Arial"/>
                <a:ea typeface="Arial"/>
                <a:cs typeface="Arial"/>
              </a:defRPr>
            </a:lvl6pPr>
            <a:lvl7pPr algn="l">
              <a:defRPr sz="2175" b="1">
                <a:solidFill>
                  <a:srgbClr val="263449"/>
                </a:solidFill>
                <a:latin typeface="Arial"/>
                <a:ea typeface="Arial"/>
                <a:cs typeface="Arial"/>
              </a:defRPr>
            </a:lvl7pPr>
            <a:lvl8pPr algn="l">
              <a:defRPr sz="2175" b="1">
                <a:solidFill>
                  <a:srgbClr val="263449"/>
                </a:solidFill>
                <a:latin typeface="Arial"/>
                <a:ea typeface="Arial"/>
                <a:cs typeface="Arial"/>
              </a:defRPr>
            </a:lvl8pPr>
            <a:lvl9pPr algn="l">
              <a:defRPr sz="2175" b="1">
                <a:solidFill>
                  <a:srgbClr val="263449"/>
                </a:solidFill>
                <a:latin typeface="Arial"/>
                <a:ea typeface="Arial"/>
                <a:cs typeface="Arial"/>
              </a:defRPr>
            </a:lvl9pPr>
          </a:lstStyle>
          <a:p xmlns:a="http://schemas.openxmlformats.org/drawingml/2006/main">
            <a:pPr algn="l">
              <a:defRPr sz="2175" b="1">
                <a:solidFill>
                  <a:srgbClr val="263449"/>
                </a:solidFill>
                <a:latin typeface="Arial"/>
                <a:ea typeface="Arial"/>
                <a:cs typeface="Arial"/>
              </a:defRPr>
            </a:pPr>
            <a:r>
              <a:rPr sz="2175" b="1">
                <a:solidFill>
                  <a:srgbClr val="263449"/>
                </a:solidFill>
                <a:latin typeface="Arial"/>
                <a:ea typeface="Arial"/>
                <a:cs typeface="Arial"/>
              </a:rPr>
              <a:t>Order-book check</a:t>
            </a:r>
          </a:p>
        </p:txBody>
      </p:sp>
      <p:sp>
        <p:nvSpPr>
          <p:cNvPr id="9" name="book-detail">
            <a:extLst xmlns:a="http://schemas.openxmlformats.org/drawingml/2006/main">
              <a:ext uri="{FF2B5EF4-FFF2-40B4-BE49-F238E27FC236}">
                <a16:creationId xmlns:a16="http://schemas.microsoft.com/office/drawing/2014/main" id="{3F407B61-548C-4223-BDC3-075370FACC76}"/>
              </a:ext>
            </a:extLst>
          </p:cNvPr>
          <p:cNvSpPr>
            <a:spLocks xmlns:a="http://schemas.openxmlformats.org/drawingml/2006/main" noGrp="1"/>
          </p:cNvSpPr>
          <p:nvPr/>
        </p:nvSpPr>
        <p:spPr>
          <a:xfrm xmlns:a="http://schemas.openxmlformats.org/drawingml/2006/main">
            <a:off x="6667500" y="4676775"/>
            <a:ext cx="49149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63449"/>
                </a:solidFill>
                <a:latin typeface="Arial"/>
                <a:ea typeface="Arial"/>
                <a:cs typeface="Arial"/>
              </a:defRPr>
            </a:defPPr>
            <a:lvl1pPr algn="l">
              <a:defRPr sz="1950" b="0">
                <a:solidFill>
                  <a:srgbClr val="263449"/>
                </a:solidFill>
                <a:latin typeface="Arial"/>
                <a:ea typeface="Arial"/>
                <a:cs typeface="Arial"/>
              </a:defRPr>
            </a:lvl1pPr>
            <a:lvl2pPr algn="l">
              <a:defRPr sz="1950" b="0">
                <a:solidFill>
                  <a:srgbClr val="263449"/>
                </a:solidFill>
                <a:latin typeface="Arial"/>
                <a:ea typeface="Arial"/>
                <a:cs typeface="Arial"/>
              </a:defRPr>
            </a:lvl2pPr>
            <a:lvl3pPr algn="l">
              <a:defRPr sz="1950" b="0">
                <a:solidFill>
                  <a:srgbClr val="263449"/>
                </a:solidFill>
                <a:latin typeface="Arial"/>
                <a:ea typeface="Arial"/>
                <a:cs typeface="Arial"/>
              </a:defRPr>
            </a:lvl3pPr>
            <a:lvl4pPr algn="l">
              <a:defRPr sz="1950" b="0">
                <a:solidFill>
                  <a:srgbClr val="263449"/>
                </a:solidFill>
                <a:latin typeface="Arial"/>
                <a:ea typeface="Arial"/>
                <a:cs typeface="Arial"/>
              </a:defRPr>
            </a:lvl4pPr>
            <a:lvl5pPr algn="l">
              <a:defRPr sz="1950" b="0">
                <a:solidFill>
                  <a:srgbClr val="263449"/>
                </a:solidFill>
                <a:latin typeface="Arial"/>
                <a:ea typeface="Arial"/>
                <a:cs typeface="Arial"/>
              </a:defRPr>
            </a:lvl5pPr>
            <a:lvl6pPr algn="l">
              <a:defRPr sz="1950" b="0">
                <a:solidFill>
                  <a:srgbClr val="263449"/>
                </a:solidFill>
                <a:latin typeface="Arial"/>
                <a:ea typeface="Arial"/>
                <a:cs typeface="Arial"/>
              </a:defRPr>
            </a:lvl6pPr>
            <a:lvl7pPr algn="l">
              <a:defRPr sz="1950" b="0">
                <a:solidFill>
                  <a:srgbClr val="263449"/>
                </a:solidFill>
                <a:latin typeface="Arial"/>
                <a:ea typeface="Arial"/>
                <a:cs typeface="Arial"/>
              </a:defRPr>
            </a:lvl7pPr>
            <a:lvl8pPr algn="l">
              <a:defRPr sz="1950" b="0">
                <a:solidFill>
                  <a:srgbClr val="263449"/>
                </a:solidFill>
                <a:latin typeface="Arial"/>
                <a:ea typeface="Arial"/>
                <a:cs typeface="Arial"/>
              </a:defRPr>
            </a:lvl8pPr>
            <a:lvl9pPr algn="l">
              <a:defRPr sz="1950" b="0">
                <a:solidFill>
                  <a:srgbClr val="263449"/>
                </a:solidFill>
                <a:latin typeface="Arial"/>
                <a:ea typeface="Arial"/>
                <a:cs typeface="Arial"/>
              </a:defRPr>
            </a:lvl9pPr>
          </a:lstStyle>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Covers 22% of markets. Where both exist:</a:t>
            </a:r>
          </a:p>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correlation 0.92, median gap 0.9¢.</a:t>
            </a:r>
          </a:p>
        </p:txBody>
      </p:sp>
      <p:sp>
        <p:nvSpPr>
          <p:cNvPr id="10" name="scope-and-source">
            <a:extLst xmlns:a="http://schemas.openxmlformats.org/drawingml/2006/main">
              <a:ext uri="{FF2B5EF4-FFF2-40B4-BE49-F238E27FC236}">
                <a16:creationId xmlns:a16="http://schemas.microsoft.com/office/drawing/2014/main" id="{2E845833-7803-4BEF-9EAA-558D2513D91B}"/>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Categories come from Polymarket event tags. Brier score is the mean squared gap between price and outcome.</a:t>
            </a:r>
          </a:p>
        </p:txBody>
      </p:sp>
    </p:spTree>
    <p:extLst>
      <p:ext uri="{BB962C8B-B14F-4D97-AF65-F5344CB8AC3E}">
        <p14:creationId xmlns:p14="http://schemas.microsoft.com/office/powerpoint/2010/main" val="70126012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75EB7930-1168-4A52-B3D7-61C09DCEF219}"/>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calibration</a:t>
            </a:r>
          </a:p>
        </p:txBody>
      </p:sp>
      <p:pic>
        <p:nvPicPr>
          <p:cNvPr id="2" name="">
            <a:extLst xmlns:a="http://schemas.openxmlformats.org/drawingml/2006/main">
              <a:ext uri="{FF2B5EF4-FFF2-40B4-BE49-F238E27FC236}">
                <a16:creationId xmlns:a16="http://schemas.microsoft.com/office/drawing/2014/main" id="{0D2C7B76-D1DC-4CEE-B28D-FBC938F67329}"/>
              </a:ext>
            </a:extLst>
          </p:cNvPr>
          <p:cNvPicPr>
            <a:picLocks xmlns:a="http://schemas.openxmlformats.org/drawingml/2006/main" noChangeAspect="1"/>
          </p:cNvPicPr>
          <p:nvPr/>
        </p:nvPicPr>
        <p:blipFill>
          <a:blip xmlns:r="http://schemas.openxmlformats.org/officeDocument/2006/relationships" xmlns:a="http://schemas.openxmlformats.org/drawingml/2006/main" r:embed="Rfab095b425a0475c"/>
          <a:stretch xmlns:a="http://schemas.openxmlformats.org/drawingml/2006/main"/>
        </p:blipFill>
        <p:spPr>
          <a:xfrm xmlns:a="http://schemas.openxmlformats.org/drawingml/2006/main">
            <a:off x="609600" y="1326761"/>
            <a:ext cx="4057650" cy="4490228"/>
          </a:xfrm>
          <a:prstGeom xmlns:a="http://schemas.openxmlformats.org/drawingml/2006/main" prst="rect">
            <a:avLst/>
          </a:prstGeom>
        </p:spPr>
      </p:pic>
      <p:pic>
        <p:nvPicPr>
          <p:cNvPr id="3" name="">
            <a:extLst xmlns:a="http://schemas.openxmlformats.org/drawingml/2006/main">
              <a:ext uri="{FF2B5EF4-FFF2-40B4-BE49-F238E27FC236}">
                <a16:creationId xmlns:a16="http://schemas.microsoft.com/office/drawing/2014/main" id="{59DCA3DD-6085-41C1-853C-F17E1E6F743A}"/>
              </a:ext>
            </a:extLst>
          </p:cNvPr>
          <p:cNvPicPr>
            <a:picLocks xmlns:a="http://schemas.openxmlformats.org/drawingml/2006/main" noChangeAspect="1"/>
          </p:cNvPicPr>
          <p:nvPr/>
        </p:nvPicPr>
        <p:blipFill>
          <a:blip xmlns:r="http://schemas.openxmlformats.org/officeDocument/2006/relationships" xmlns:a="http://schemas.openxmlformats.org/drawingml/2006/main" r:embed="R3a676c7c09064ca6"/>
          <a:stretch xmlns:a="http://schemas.openxmlformats.org/drawingml/2006/main"/>
        </p:blipFill>
        <p:spPr>
          <a:xfrm xmlns:a="http://schemas.openxmlformats.org/drawingml/2006/main">
            <a:off x="5048250" y="1381158"/>
            <a:ext cx="6534150" cy="2324035"/>
          </a:xfrm>
          <a:prstGeom xmlns:a="http://schemas.openxmlformats.org/drawingml/2006/main" prst="rect">
            <a:avLst/>
          </a:prstGeom>
        </p:spPr>
      </p:pic>
      <p:sp>
        <p:nvSpPr>
          <p:cNvPr id="4" name="calibration-takeaway">
            <a:extLst xmlns:a="http://schemas.openxmlformats.org/drawingml/2006/main">
              <a:ext uri="{FF2B5EF4-FFF2-40B4-BE49-F238E27FC236}">
                <a16:creationId xmlns:a16="http://schemas.microsoft.com/office/drawing/2014/main" id="{EA5F681B-D98D-4B8B-80FC-7853A64EAEE0}"/>
              </a:ext>
            </a:extLst>
          </p:cNvPr>
          <p:cNvSpPr>
            <a:spLocks xmlns:a="http://schemas.openxmlformats.org/drawingml/2006/main" noGrp="1"/>
          </p:cNvSpPr>
          <p:nvPr/>
        </p:nvSpPr>
        <p:spPr>
          <a:xfrm xmlns:a="http://schemas.openxmlformats.org/drawingml/2006/main">
            <a:off x="5210175" y="4143375"/>
            <a:ext cx="619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315C8C"/>
                </a:solidFill>
                <a:latin typeface="Arial"/>
                <a:ea typeface="Arial"/>
                <a:cs typeface="Arial"/>
              </a:defRPr>
            </a:defPPr>
            <a:lvl1pPr algn="l">
              <a:defRPr sz="2400" b="1">
                <a:solidFill>
                  <a:srgbClr val="315C8C"/>
                </a:solidFill>
                <a:latin typeface="Arial"/>
                <a:ea typeface="Arial"/>
                <a:cs typeface="Arial"/>
              </a:defRPr>
            </a:lvl1pPr>
            <a:lvl2pPr algn="l">
              <a:defRPr sz="2400" b="1">
                <a:solidFill>
                  <a:srgbClr val="315C8C"/>
                </a:solidFill>
                <a:latin typeface="Arial"/>
                <a:ea typeface="Arial"/>
                <a:cs typeface="Arial"/>
              </a:defRPr>
            </a:lvl2pPr>
            <a:lvl3pPr algn="l">
              <a:defRPr sz="2400" b="1">
                <a:solidFill>
                  <a:srgbClr val="315C8C"/>
                </a:solidFill>
                <a:latin typeface="Arial"/>
                <a:ea typeface="Arial"/>
                <a:cs typeface="Arial"/>
              </a:defRPr>
            </a:lvl3pPr>
            <a:lvl4pPr algn="l">
              <a:defRPr sz="2400" b="1">
                <a:solidFill>
                  <a:srgbClr val="315C8C"/>
                </a:solidFill>
                <a:latin typeface="Arial"/>
                <a:ea typeface="Arial"/>
                <a:cs typeface="Arial"/>
              </a:defRPr>
            </a:lvl4pPr>
            <a:lvl5pPr algn="l">
              <a:defRPr sz="2400" b="1">
                <a:solidFill>
                  <a:srgbClr val="315C8C"/>
                </a:solidFill>
                <a:latin typeface="Arial"/>
                <a:ea typeface="Arial"/>
                <a:cs typeface="Arial"/>
              </a:defRPr>
            </a:lvl5pPr>
            <a:lvl6pPr algn="l">
              <a:defRPr sz="2400" b="1">
                <a:solidFill>
                  <a:srgbClr val="315C8C"/>
                </a:solidFill>
                <a:latin typeface="Arial"/>
                <a:ea typeface="Arial"/>
                <a:cs typeface="Arial"/>
              </a:defRPr>
            </a:lvl6pPr>
            <a:lvl7pPr algn="l">
              <a:defRPr sz="2400" b="1">
                <a:solidFill>
                  <a:srgbClr val="315C8C"/>
                </a:solidFill>
                <a:latin typeface="Arial"/>
                <a:ea typeface="Arial"/>
                <a:cs typeface="Arial"/>
              </a:defRPr>
            </a:lvl7pPr>
            <a:lvl8pPr algn="l">
              <a:defRPr sz="2400" b="1">
                <a:solidFill>
                  <a:srgbClr val="315C8C"/>
                </a:solidFill>
                <a:latin typeface="Arial"/>
                <a:ea typeface="Arial"/>
                <a:cs typeface="Arial"/>
              </a:defRPr>
            </a:lvl8pPr>
            <a:lvl9pPr algn="l">
              <a:defRPr sz="2400" b="1">
                <a:solidFill>
                  <a:srgbClr val="315C8C"/>
                </a:solidFill>
                <a:latin typeface="Arial"/>
                <a:ea typeface="Arial"/>
                <a:cs typeface="Arial"/>
              </a:defRPr>
            </a:lvl9pPr>
          </a:lstStyle>
          <a:p xmlns:a="http://schemas.openxmlformats.org/drawingml/2006/main">
            <a:pPr algn="l">
              <a:defRPr sz="2400" b="1">
                <a:solidFill>
                  <a:srgbClr val="315C8C"/>
                </a:solidFill>
                <a:latin typeface="Arial"/>
                <a:ea typeface="Arial"/>
                <a:cs typeface="Arial"/>
              </a:defRPr>
            </a:pPr>
            <a:r>
              <a:rPr sz="2400" b="1">
                <a:solidFill>
                  <a:srgbClr val="315C8C"/>
                </a:solidFill>
                <a:latin typeface="Arial"/>
                <a:ea typeface="Arial"/>
                <a:cs typeface="Arial"/>
              </a:rPr>
              <a:t>Observed outcomes broadly track</a:t>
            </a:r>
          </a:p>
          <a:p xmlns:a="http://schemas.openxmlformats.org/drawingml/2006/main">
            <a:pPr algn="l">
              <a:defRPr sz="2400" b="1">
                <a:solidFill>
                  <a:srgbClr val="315C8C"/>
                </a:solidFill>
                <a:latin typeface="Arial"/>
                <a:ea typeface="Arial"/>
                <a:cs typeface="Arial"/>
              </a:defRPr>
            </a:pPr>
            <a:r>
              <a:rPr sz="2400" b="1">
                <a:solidFill>
                  <a:srgbClr val="315C8C"/>
                </a:solidFill>
                <a:latin typeface="Arial"/>
                <a:ea typeface="Arial"/>
                <a:cs typeface="Arial"/>
              </a:rPr>
              <a:t>market probabilities.</a:t>
            </a:r>
          </a:p>
        </p:txBody>
      </p:sp>
      <p:sp>
        <p:nvSpPr>
          <p:cNvPr id="5" name="calibration-meaning">
            <a:extLst xmlns:a="http://schemas.openxmlformats.org/drawingml/2006/main">
              <a:ext uri="{FF2B5EF4-FFF2-40B4-BE49-F238E27FC236}">
                <a16:creationId xmlns:a16="http://schemas.microsoft.com/office/drawing/2014/main" id="{F554878D-48F1-4356-93C6-9A1E70D9BF81}"/>
              </a:ext>
            </a:extLst>
          </p:cNvPr>
          <p:cNvSpPr>
            <a:spLocks xmlns:a="http://schemas.openxmlformats.org/drawingml/2006/main" noGrp="1"/>
          </p:cNvSpPr>
          <p:nvPr/>
        </p:nvSpPr>
        <p:spPr>
          <a:xfrm xmlns:a="http://schemas.openxmlformats.org/drawingml/2006/main">
            <a:off x="5210175" y="5181600"/>
            <a:ext cx="619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449"/>
                </a:solidFill>
                <a:latin typeface="Arial"/>
                <a:ea typeface="Arial"/>
                <a:cs typeface="Arial"/>
              </a:defRPr>
            </a:defPPr>
            <a:lvl1pPr algn="l">
              <a:defRPr sz="2025" b="0">
                <a:solidFill>
                  <a:srgbClr val="263449"/>
                </a:solidFill>
                <a:latin typeface="Arial"/>
                <a:ea typeface="Arial"/>
                <a:cs typeface="Arial"/>
              </a:defRPr>
            </a:lvl1pPr>
            <a:lvl2pPr algn="l">
              <a:defRPr sz="2025" b="0">
                <a:solidFill>
                  <a:srgbClr val="263449"/>
                </a:solidFill>
                <a:latin typeface="Arial"/>
                <a:ea typeface="Arial"/>
                <a:cs typeface="Arial"/>
              </a:defRPr>
            </a:lvl2pPr>
            <a:lvl3pPr algn="l">
              <a:defRPr sz="2025" b="0">
                <a:solidFill>
                  <a:srgbClr val="263449"/>
                </a:solidFill>
                <a:latin typeface="Arial"/>
                <a:ea typeface="Arial"/>
                <a:cs typeface="Arial"/>
              </a:defRPr>
            </a:lvl3pPr>
            <a:lvl4pPr algn="l">
              <a:defRPr sz="2025" b="0">
                <a:solidFill>
                  <a:srgbClr val="263449"/>
                </a:solidFill>
                <a:latin typeface="Arial"/>
                <a:ea typeface="Arial"/>
                <a:cs typeface="Arial"/>
              </a:defRPr>
            </a:lvl4pPr>
            <a:lvl5pPr algn="l">
              <a:defRPr sz="2025" b="0">
                <a:solidFill>
                  <a:srgbClr val="263449"/>
                </a:solidFill>
                <a:latin typeface="Arial"/>
                <a:ea typeface="Arial"/>
                <a:cs typeface="Arial"/>
              </a:defRPr>
            </a:lvl5pPr>
            <a:lvl6pPr algn="l">
              <a:defRPr sz="2025" b="0">
                <a:solidFill>
                  <a:srgbClr val="263449"/>
                </a:solidFill>
                <a:latin typeface="Arial"/>
                <a:ea typeface="Arial"/>
                <a:cs typeface="Arial"/>
              </a:defRPr>
            </a:lvl6pPr>
            <a:lvl7pPr algn="l">
              <a:defRPr sz="2025" b="0">
                <a:solidFill>
                  <a:srgbClr val="263449"/>
                </a:solidFill>
                <a:latin typeface="Arial"/>
                <a:ea typeface="Arial"/>
                <a:cs typeface="Arial"/>
              </a:defRPr>
            </a:lvl7pPr>
            <a:lvl8pPr algn="l">
              <a:defRPr sz="2025" b="0">
                <a:solidFill>
                  <a:srgbClr val="263449"/>
                </a:solidFill>
                <a:latin typeface="Arial"/>
                <a:ea typeface="Arial"/>
                <a:cs typeface="Arial"/>
              </a:defRPr>
            </a:lvl8pPr>
            <a:lvl9pPr algn="l">
              <a:defRPr sz="2025" b="0">
                <a:solidFill>
                  <a:srgbClr val="263449"/>
                </a:solidFill>
                <a:latin typeface="Arial"/>
                <a:ea typeface="Arial"/>
                <a:cs typeface="Arial"/>
              </a:defRPr>
            </a:lvl9pPr>
          </a:lstStyle>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Events priced near 30% resolve Yes</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about 30% of the time.</a:t>
            </a:r>
          </a:p>
        </p:txBody>
      </p:sp>
      <p:sp>
        <p:nvSpPr>
          <p:cNvPr id="6" name="scope-and-source">
            <a:extLst xmlns:a="http://schemas.openxmlformats.org/drawingml/2006/main">
              <a:ext uri="{FF2B5EF4-FFF2-40B4-BE49-F238E27FC236}">
                <a16:creationId xmlns:a16="http://schemas.microsoft.com/office/drawing/2014/main" id="{377BA25B-3EFB-4BA9-9F2D-B21347702B44}"/>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24 hours before close. 5,805 markets across 1,610 events. Shaded bands: event-bootstrap 95% intervals.</a:t>
            </a:r>
          </a:p>
        </p:txBody>
      </p:sp>
    </p:spTree>
    <p:extLst>
      <p:ext uri="{BB962C8B-B14F-4D97-AF65-F5344CB8AC3E}">
        <p14:creationId xmlns:p14="http://schemas.microsoft.com/office/powerpoint/2010/main" val="151419498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85520494-C2CB-40E7-A9F3-48AA2F3A1010}"/>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Favorite–longshot bias</a:t>
            </a:r>
          </a:p>
        </p:txBody>
      </p:sp>
      <p:pic>
        <p:nvPicPr>
          <p:cNvPr id="2" name="">
            <a:extLst xmlns:a="http://schemas.openxmlformats.org/drawingml/2006/main">
              <a:ext uri="{FF2B5EF4-FFF2-40B4-BE49-F238E27FC236}">
                <a16:creationId xmlns:a16="http://schemas.microsoft.com/office/drawing/2014/main" id="{ED44A8F7-1905-4828-AA9C-EDCD3F72A2D9}"/>
              </a:ext>
            </a:extLst>
          </p:cNvPr>
          <p:cNvPicPr>
            <a:picLocks xmlns:a="http://schemas.openxmlformats.org/drawingml/2006/main" noChangeAspect="1"/>
          </p:cNvPicPr>
          <p:nvPr/>
        </p:nvPicPr>
        <p:blipFill>
          <a:blip xmlns:r="http://schemas.openxmlformats.org/officeDocument/2006/relationships" xmlns:a="http://schemas.openxmlformats.org/drawingml/2006/main" r:embed="Rca09e0ece59a4889"/>
          <a:stretch xmlns:a="http://schemas.openxmlformats.org/drawingml/2006/main"/>
        </p:blipFill>
        <p:spPr>
          <a:xfrm xmlns:a="http://schemas.openxmlformats.org/drawingml/2006/main">
            <a:off x="609939" y="1362075"/>
            <a:ext cx="7047822" cy="4772025"/>
          </a:xfrm>
          <a:prstGeom xmlns:a="http://schemas.openxmlformats.org/drawingml/2006/main" prst="rect">
            <a:avLst/>
          </a:prstGeom>
        </p:spPr>
      </p:pic>
      <p:sp>
        <p:nvSpPr>
          <p:cNvPr id="3" name="raw-slope">
            <a:extLst xmlns:a="http://schemas.openxmlformats.org/drawingml/2006/main">
              <a:ext uri="{FF2B5EF4-FFF2-40B4-BE49-F238E27FC236}">
                <a16:creationId xmlns:a16="http://schemas.microsoft.com/office/drawing/2014/main" id="{674411A5-2AEB-42E7-B23F-BB4B6B693BB8}"/>
              </a:ext>
            </a:extLst>
          </p:cNvPr>
          <p:cNvSpPr>
            <a:spLocks xmlns:a="http://schemas.openxmlformats.org/drawingml/2006/main" noGrp="1"/>
          </p:cNvSpPr>
          <p:nvPr/>
        </p:nvSpPr>
        <p:spPr>
          <a:xfrm xmlns:a="http://schemas.openxmlformats.org/drawingml/2006/main">
            <a:off x="8220075" y="1476375"/>
            <a:ext cx="333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DF7137"/>
                </a:solidFill>
                <a:latin typeface="Arial"/>
                <a:ea typeface="Arial"/>
                <a:cs typeface="Arial"/>
              </a:defRPr>
            </a:defPPr>
            <a:lvl1pPr algn="l">
              <a:defRPr sz="4500" b="1">
                <a:solidFill>
                  <a:srgbClr val="DF7137"/>
                </a:solidFill>
                <a:latin typeface="Arial"/>
                <a:ea typeface="Arial"/>
                <a:cs typeface="Arial"/>
              </a:defRPr>
            </a:lvl1pPr>
            <a:lvl2pPr algn="l">
              <a:defRPr sz="4500" b="1">
                <a:solidFill>
                  <a:srgbClr val="DF7137"/>
                </a:solidFill>
                <a:latin typeface="Arial"/>
                <a:ea typeface="Arial"/>
                <a:cs typeface="Arial"/>
              </a:defRPr>
            </a:lvl2pPr>
            <a:lvl3pPr algn="l">
              <a:defRPr sz="4500" b="1">
                <a:solidFill>
                  <a:srgbClr val="DF7137"/>
                </a:solidFill>
                <a:latin typeface="Arial"/>
                <a:ea typeface="Arial"/>
                <a:cs typeface="Arial"/>
              </a:defRPr>
            </a:lvl3pPr>
            <a:lvl4pPr algn="l">
              <a:defRPr sz="4500" b="1">
                <a:solidFill>
                  <a:srgbClr val="DF7137"/>
                </a:solidFill>
                <a:latin typeface="Arial"/>
                <a:ea typeface="Arial"/>
                <a:cs typeface="Arial"/>
              </a:defRPr>
            </a:lvl4pPr>
            <a:lvl5pPr algn="l">
              <a:defRPr sz="4500" b="1">
                <a:solidFill>
                  <a:srgbClr val="DF7137"/>
                </a:solidFill>
                <a:latin typeface="Arial"/>
                <a:ea typeface="Arial"/>
                <a:cs typeface="Arial"/>
              </a:defRPr>
            </a:lvl5pPr>
            <a:lvl6pPr algn="l">
              <a:defRPr sz="4500" b="1">
                <a:solidFill>
                  <a:srgbClr val="DF7137"/>
                </a:solidFill>
                <a:latin typeface="Arial"/>
                <a:ea typeface="Arial"/>
                <a:cs typeface="Arial"/>
              </a:defRPr>
            </a:lvl6pPr>
            <a:lvl7pPr algn="l">
              <a:defRPr sz="4500" b="1">
                <a:solidFill>
                  <a:srgbClr val="DF7137"/>
                </a:solidFill>
                <a:latin typeface="Arial"/>
                <a:ea typeface="Arial"/>
                <a:cs typeface="Arial"/>
              </a:defRPr>
            </a:lvl7pPr>
            <a:lvl8pPr algn="l">
              <a:defRPr sz="4500" b="1">
                <a:solidFill>
                  <a:srgbClr val="DF7137"/>
                </a:solidFill>
                <a:latin typeface="Arial"/>
                <a:ea typeface="Arial"/>
                <a:cs typeface="Arial"/>
              </a:defRPr>
            </a:lvl8pPr>
            <a:lvl9pPr algn="l">
              <a:defRPr sz="4500" b="1">
                <a:solidFill>
                  <a:srgbClr val="DF7137"/>
                </a:solidFill>
                <a:latin typeface="Arial"/>
                <a:ea typeface="Arial"/>
                <a:cs typeface="Arial"/>
              </a:defRPr>
            </a:lvl9pPr>
          </a:lstStyle>
          <a:p xmlns:a="http://schemas.openxmlformats.org/drawingml/2006/main">
            <a:pPr algn="l">
              <a:defRPr sz="4500" b="1">
                <a:solidFill>
                  <a:srgbClr val="DF7137"/>
                </a:solidFill>
                <a:latin typeface="Arial"/>
                <a:ea typeface="Arial"/>
                <a:cs typeface="Arial"/>
              </a:defRPr>
            </a:pPr>
            <a:r>
              <a:rPr sz="4500" b="1">
                <a:solidFill>
                  <a:srgbClr val="DF7137"/>
                </a:solidFill>
                <a:latin typeface="Arial"/>
                <a:ea typeface="Arial"/>
                <a:cs typeface="Arial"/>
              </a:rPr>
              <a:t>1.08</a:t>
            </a:r>
          </a:p>
        </p:txBody>
      </p:sp>
      <p:sp>
        <p:nvSpPr>
          <p:cNvPr id="4" name="raw-slope-description">
            <a:extLst xmlns:a="http://schemas.openxmlformats.org/drawingml/2006/main">
              <a:ext uri="{FF2B5EF4-FFF2-40B4-BE49-F238E27FC236}">
                <a16:creationId xmlns:a16="http://schemas.microsoft.com/office/drawing/2014/main" id="{0BA33C95-1CCB-4AD7-AD03-02260636ED41}"/>
              </a:ext>
            </a:extLst>
          </p:cNvPr>
          <p:cNvSpPr>
            <a:spLocks xmlns:a="http://schemas.openxmlformats.org/drawingml/2006/main" noGrp="1"/>
          </p:cNvSpPr>
          <p:nvPr/>
        </p:nvSpPr>
        <p:spPr>
          <a:xfrm xmlns:a="http://schemas.openxmlformats.org/drawingml/2006/main">
            <a:off x="8220075" y="2352675"/>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6h calibration slope, all prices</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95% interval: 1.01 to 1.16</a:t>
            </a:r>
          </a:p>
        </p:txBody>
      </p:sp>
      <p:sp>
        <p:nvSpPr>
          <p:cNvPr id="5" name="trimmed-slope">
            <a:extLst xmlns:a="http://schemas.openxmlformats.org/drawingml/2006/main">
              <a:ext uri="{FF2B5EF4-FFF2-40B4-BE49-F238E27FC236}">
                <a16:creationId xmlns:a16="http://schemas.microsoft.com/office/drawing/2014/main" id="{704FC841-278A-4277-8886-8483105BB0F2}"/>
              </a:ext>
            </a:extLst>
          </p:cNvPr>
          <p:cNvSpPr>
            <a:spLocks xmlns:a="http://schemas.openxmlformats.org/drawingml/2006/main" noGrp="1"/>
          </p:cNvSpPr>
          <p:nvPr/>
        </p:nvSpPr>
        <p:spPr>
          <a:xfrm xmlns:a="http://schemas.openxmlformats.org/drawingml/2006/main">
            <a:off x="8220075" y="3514725"/>
            <a:ext cx="333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315C8C"/>
                </a:solidFill>
                <a:latin typeface="Arial"/>
                <a:ea typeface="Arial"/>
                <a:cs typeface="Arial"/>
              </a:defRPr>
            </a:defPPr>
            <a:lvl1pPr algn="l">
              <a:defRPr sz="4500" b="1">
                <a:solidFill>
                  <a:srgbClr val="315C8C"/>
                </a:solidFill>
                <a:latin typeface="Arial"/>
                <a:ea typeface="Arial"/>
                <a:cs typeface="Arial"/>
              </a:defRPr>
            </a:lvl1pPr>
            <a:lvl2pPr algn="l">
              <a:defRPr sz="4500" b="1">
                <a:solidFill>
                  <a:srgbClr val="315C8C"/>
                </a:solidFill>
                <a:latin typeface="Arial"/>
                <a:ea typeface="Arial"/>
                <a:cs typeface="Arial"/>
              </a:defRPr>
            </a:lvl2pPr>
            <a:lvl3pPr algn="l">
              <a:defRPr sz="4500" b="1">
                <a:solidFill>
                  <a:srgbClr val="315C8C"/>
                </a:solidFill>
                <a:latin typeface="Arial"/>
                <a:ea typeface="Arial"/>
                <a:cs typeface="Arial"/>
              </a:defRPr>
            </a:lvl3pPr>
            <a:lvl4pPr algn="l">
              <a:defRPr sz="4500" b="1">
                <a:solidFill>
                  <a:srgbClr val="315C8C"/>
                </a:solidFill>
                <a:latin typeface="Arial"/>
                <a:ea typeface="Arial"/>
                <a:cs typeface="Arial"/>
              </a:defRPr>
            </a:lvl4pPr>
            <a:lvl5pPr algn="l">
              <a:defRPr sz="4500" b="1">
                <a:solidFill>
                  <a:srgbClr val="315C8C"/>
                </a:solidFill>
                <a:latin typeface="Arial"/>
                <a:ea typeface="Arial"/>
                <a:cs typeface="Arial"/>
              </a:defRPr>
            </a:lvl5pPr>
            <a:lvl6pPr algn="l">
              <a:defRPr sz="4500" b="1">
                <a:solidFill>
                  <a:srgbClr val="315C8C"/>
                </a:solidFill>
                <a:latin typeface="Arial"/>
                <a:ea typeface="Arial"/>
                <a:cs typeface="Arial"/>
              </a:defRPr>
            </a:lvl6pPr>
            <a:lvl7pPr algn="l">
              <a:defRPr sz="4500" b="1">
                <a:solidFill>
                  <a:srgbClr val="315C8C"/>
                </a:solidFill>
                <a:latin typeface="Arial"/>
                <a:ea typeface="Arial"/>
                <a:cs typeface="Arial"/>
              </a:defRPr>
            </a:lvl7pPr>
            <a:lvl8pPr algn="l">
              <a:defRPr sz="4500" b="1">
                <a:solidFill>
                  <a:srgbClr val="315C8C"/>
                </a:solidFill>
                <a:latin typeface="Arial"/>
                <a:ea typeface="Arial"/>
                <a:cs typeface="Arial"/>
              </a:defRPr>
            </a:lvl8pPr>
            <a:lvl9pPr algn="l">
              <a:defRPr sz="4500" b="1">
                <a:solidFill>
                  <a:srgbClr val="315C8C"/>
                </a:solidFill>
                <a:latin typeface="Arial"/>
                <a:ea typeface="Arial"/>
                <a:cs typeface="Arial"/>
              </a:defRPr>
            </a:lvl9pPr>
          </a:lstStyle>
          <a:p xmlns:a="http://schemas.openxmlformats.org/drawingml/2006/main">
            <a:pPr algn="l">
              <a:defRPr sz="4500" b="1">
                <a:solidFill>
                  <a:srgbClr val="315C8C"/>
                </a:solidFill>
                <a:latin typeface="Arial"/>
                <a:ea typeface="Arial"/>
                <a:cs typeface="Arial"/>
              </a:defRPr>
            </a:pPr>
            <a:r>
              <a:rPr sz="4500" b="1">
                <a:solidFill>
                  <a:srgbClr val="315C8C"/>
                </a:solidFill>
                <a:latin typeface="Arial"/>
                <a:ea typeface="Arial"/>
                <a:cs typeface="Arial"/>
              </a:rPr>
              <a:t>1.00</a:t>
            </a:r>
          </a:p>
        </p:txBody>
      </p:sp>
      <p:sp>
        <p:nvSpPr>
          <p:cNvPr id="6" name="trimmed-slope-description">
            <a:extLst xmlns:a="http://schemas.openxmlformats.org/drawingml/2006/main">
              <a:ext uri="{FF2B5EF4-FFF2-40B4-BE49-F238E27FC236}">
                <a16:creationId xmlns:a16="http://schemas.microsoft.com/office/drawing/2014/main" id="{47127163-A231-4004-A210-2D7B67116BE8}"/>
              </a:ext>
            </a:extLst>
          </p:cNvPr>
          <p:cNvSpPr>
            <a:spLocks xmlns:a="http://schemas.openxmlformats.org/drawingml/2006/main" noGrp="1"/>
          </p:cNvSpPr>
          <p:nvPr/>
        </p:nvSpPr>
        <p:spPr>
          <a:xfrm xmlns:a="http://schemas.openxmlformats.org/drawingml/2006/main">
            <a:off x="8220075" y="4381500"/>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After dropping prices</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below 2¢ and above 98¢</a:t>
            </a:r>
          </a:p>
        </p:txBody>
      </p:sp>
      <p:sp>
        <p:nvSpPr>
          <p:cNvPr id="7" name="scope-and-source">
            <a:extLst xmlns:a="http://schemas.openxmlformats.org/drawingml/2006/main">
              <a:ext uri="{FF2B5EF4-FFF2-40B4-BE49-F238E27FC236}">
                <a16:creationId xmlns:a16="http://schemas.microsoft.com/office/drawing/2014/main" id="{CDE07209-23C1-43F2-AFAA-9E5847D05103}"/>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The estimated bias is small. At 24h, monthly slopes range from 0.93 to 1.09, and every interval includes 1.</a:t>
            </a:r>
          </a:p>
        </p:txBody>
      </p:sp>
    </p:spTree>
    <p:extLst>
      <p:ext uri="{BB962C8B-B14F-4D97-AF65-F5344CB8AC3E}">
        <p14:creationId xmlns:p14="http://schemas.microsoft.com/office/powerpoint/2010/main" val="84419853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9A0A8FAF-B479-4B44-BA04-44AAC0AC48AF}"/>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Accuracy near market close</a:t>
            </a:r>
          </a:p>
        </p:txBody>
      </p:sp>
      <p:pic>
        <p:nvPicPr>
          <p:cNvPr id="2" name="">
            <a:extLst xmlns:a="http://schemas.openxmlformats.org/drawingml/2006/main">
              <a:ext uri="{FF2B5EF4-FFF2-40B4-BE49-F238E27FC236}">
                <a16:creationId xmlns:a16="http://schemas.microsoft.com/office/drawing/2014/main" id="{C6765546-30A7-4837-9829-5BDF1B671FAF}"/>
              </a:ext>
            </a:extLst>
          </p:cNvPr>
          <p:cNvPicPr>
            <a:picLocks xmlns:a="http://schemas.openxmlformats.org/drawingml/2006/main" noChangeAspect="1"/>
          </p:cNvPicPr>
          <p:nvPr/>
        </p:nvPicPr>
        <p:blipFill>
          <a:blip xmlns:r="http://schemas.openxmlformats.org/officeDocument/2006/relationships" xmlns:a="http://schemas.openxmlformats.org/drawingml/2006/main" r:embed="R95364801969b4a5a"/>
          <a:stretch xmlns:a="http://schemas.openxmlformats.org/drawingml/2006/main"/>
        </p:blipFill>
        <p:spPr>
          <a:xfrm xmlns:a="http://schemas.openxmlformats.org/drawingml/2006/main">
            <a:off x="609600" y="1404224"/>
            <a:ext cx="7086600" cy="4449603"/>
          </a:xfrm>
          <a:prstGeom xmlns:a="http://schemas.openxmlformats.org/drawingml/2006/main" prst="rect">
            <a:avLst/>
          </a:prstGeom>
        </p:spPr>
      </p:pic>
      <p:sp>
        <p:nvSpPr>
          <p:cNvPr id="3" name="seven-day-score">
            <a:extLst xmlns:a="http://schemas.openxmlformats.org/drawingml/2006/main">
              <a:ext uri="{FF2B5EF4-FFF2-40B4-BE49-F238E27FC236}">
                <a16:creationId xmlns:a16="http://schemas.microsoft.com/office/drawing/2014/main" id="{F990FDDB-51B3-4D80-8B4D-704E8026FA43}"/>
              </a:ext>
            </a:extLst>
          </p:cNvPr>
          <p:cNvSpPr>
            <a:spLocks xmlns:a="http://schemas.openxmlformats.org/drawingml/2006/main" noGrp="1"/>
          </p:cNvSpPr>
          <p:nvPr/>
        </p:nvSpPr>
        <p:spPr>
          <a:xfrm xmlns:a="http://schemas.openxmlformats.org/drawingml/2006/main">
            <a:off x="8305800" y="1552575"/>
            <a:ext cx="32766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425" b="1">
                <a:solidFill>
                  <a:srgbClr val="315C8C"/>
                </a:solidFill>
                <a:latin typeface="Arial"/>
                <a:ea typeface="Arial"/>
                <a:cs typeface="Arial"/>
              </a:defRPr>
            </a:defPPr>
            <a:lvl1pPr algn="l">
              <a:defRPr sz="4425" b="1">
                <a:solidFill>
                  <a:srgbClr val="315C8C"/>
                </a:solidFill>
                <a:latin typeface="Arial"/>
                <a:ea typeface="Arial"/>
                <a:cs typeface="Arial"/>
              </a:defRPr>
            </a:lvl1pPr>
            <a:lvl2pPr algn="l">
              <a:defRPr sz="4425" b="1">
                <a:solidFill>
                  <a:srgbClr val="315C8C"/>
                </a:solidFill>
                <a:latin typeface="Arial"/>
                <a:ea typeface="Arial"/>
                <a:cs typeface="Arial"/>
              </a:defRPr>
            </a:lvl2pPr>
            <a:lvl3pPr algn="l">
              <a:defRPr sz="4425" b="1">
                <a:solidFill>
                  <a:srgbClr val="315C8C"/>
                </a:solidFill>
                <a:latin typeface="Arial"/>
                <a:ea typeface="Arial"/>
                <a:cs typeface="Arial"/>
              </a:defRPr>
            </a:lvl3pPr>
            <a:lvl4pPr algn="l">
              <a:defRPr sz="4425" b="1">
                <a:solidFill>
                  <a:srgbClr val="315C8C"/>
                </a:solidFill>
                <a:latin typeface="Arial"/>
                <a:ea typeface="Arial"/>
                <a:cs typeface="Arial"/>
              </a:defRPr>
            </a:lvl4pPr>
            <a:lvl5pPr algn="l">
              <a:defRPr sz="4425" b="1">
                <a:solidFill>
                  <a:srgbClr val="315C8C"/>
                </a:solidFill>
                <a:latin typeface="Arial"/>
                <a:ea typeface="Arial"/>
                <a:cs typeface="Arial"/>
              </a:defRPr>
            </a:lvl5pPr>
            <a:lvl6pPr algn="l">
              <a:defRPr sz="4425" b="1">
                <a:solidFill>
                  <a:srgbClr val="315C8C"/>
                </a:solidFill>
                <a:latin typeface="Arial"/>
                <a:ea typeface="Arial"/>
                <a:cs typeface="Arial"/>
              </a:defRPr>
            </a:lvl6pPr>
            <a:lvl7pPr algn="l">
              <a:defRPr sz="4425" b="1">
                <a:solidFill>
                  <a:srgbClr val="315C8C"/>
                </a:solidFill>
                <a:latin typeface="Arial"/>
                <a:ea typeface="Arial"/>
                <a:cs typeface="Arial"/>
              </a:defRPr>
            </a:lvl7pPr>
            <a:lvl8pPr algn="l">
              <a:defRPr sz="4425" b="1">
                <a:solidFill>
                  <a:srgbClr val="315C8C"/>
                </a:solidFill>
                <a:latin typeface="Arial"/>
                <a:ea typeface="Arial"/>
                <a:cs typeface="Arial"/>
              </a:defRPr>
            </a:lvl8pPr>
            <a:lvl9pPr algn="l">
              <a:defRPr sz="4425" b="1">
                <a:solidFill>
                  <a:srgbClr val="315C8C"/>
                </a:solidFill>
                <a:latin typeface="Arial"/>
                <a:ea typeface="Arial"/>
                <a:cs typeface="Arial"/>
              </a:defRPr>
            </a:lvl9pPr>
          </a:lstStyle>
          <a:p xmlns:a="http://schemas.openxmlformats.org/drawingml/2006/main">
            <a:pPr algn="l">
              <a:defRPr sz="4425" b="1">
                <a:solidFill>
                  <a:srgbClr val="315C8C"/>
                </a:solidFill>
                <a:latin typeface="Arial"/>
                <a:ea typeface="Arial"/>
                <a:cs typeface="Arial"/>
              </a:defRPr>
            </a:pPr>
            <a:r>
              <a:rPr sz="4425" b="1">
                <a:solidFill>
                  <a:srgbClr val="315C8C"/>
                </a:solidFill>
                <a:latin typeface="Arial"/>
                <a:ea typeface="Arial"/>
                <a:cs typeface="Arial"/>
              </a:rPr>
              <a:t>0.074</a:t>
            </a:r>
          </a:p>
        </p:txBody>
      </p:sp>
      <p:sp>
        <p:nvSpPr>
          <p:cNvPr id="4" name="seven-day-label">
            <a:extLst xmlns:a="http://schemas.openxmlformats.org/drawingml/2006/main">
              <a:ext uri="{FF2B5EF4-FFF2-40B4-BE49-F238E27FC236}">
                <a16:creationId xmlns:a16="http://schemas.microsoft.com/office/drawing/2014/main" id="{E37FAD6F-B874-4DAF-93C7-73B78A1978FE}"/>
              </a:ext>
            </a:extLst>
          </p:cNvPr>
          <p:cNvSpPr>
            <a:spLocks xmlns:a="http://schemas.openxmlformats.org/drawingml/2006/main" noGrp="1"/>
          </p:cNvSpPr>
          <p:nvPr/>
        </p:nvSpPr>
        <p:spPr>
          <a:xfrm xmlns:a="http://schemas.openxmlformats.org/drawingml/2006/main">
            <a:off x="8305800" y="2362200"/>
            <a:ext cx="327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Overall Brier score at 7 days</a:t>
            </a:r>
          </a:p>
        </p:txBody>
      </p:sp>
      <p:sp>
        <p:nvSpPr>
          <p:cNvPr id="5" name="six-hour-score">
            <a:extLst xmlns:a="http://schemas.openxmlformats.org/drawingml/2006/main">
              <a:ext uri="{FF2B5EF4-FFF2-40B4-BE49-F238E27FC236}">
                <a16:creationId xmlns:a16="http://schemas.microsoft.com/office/drawing/2014/main" id="{FFD75705-F1DF-4558-AA6D-B7B3E16095FF}"/>
              </a:ext>
            </a:extLst>
          </p:cNvPr>
          <p:cNvSpPr>
            <a:spLocks xmlns:a="http://schemas.openxmlformats.org/drawingml/2006/main" noGrp="1"/>
          </p:cNvSpPr>
          <p:nvPr/>
        </p:nvSpPr>
        <p:spPr>
          <a:xfrm xmlns:a="http://schemas.openxmlformats.org/drawingml/2006/main">
            <a:off x="8305800" y="3286125"/>
            <a:ext cx="32766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425" b="1">
                <a:solidFill>
                  <a:srgbClr val="315C8C"/>
                </a:solidFill>
                <a:latin typeface="Arial"/>
                <a:ea typeface="Arial"/>
                <a:cs typeface="Arial"/>
              </a:defRPr>
            </a:defPPr>
            <a:lvl1pPr algn="l">
              <a:defRPr sz="4425" b="1">
                <a:solidFill>
                  <a:srgbClr val="315C8C"/>
                </a:solidFill>
                <a:latin typeface="Arial"/>
                <a:ea typeface="Arial"/>
                <a:cs typeface="Arial"/>
              </a:defRPr>
            </a:lvl1pPr>
            <a:lvl2pPr algn="l">
              <a:defRPr sz="4425" b="1">
                <a:solidFill>
                  <a:srgbClr val="315C8C"/>
                </a:solidFill>
                <a:latin typeface="Arial"/>
                <a:ea typeface="Arial"/>
                <a:cs typeface="Arial"/>
              </a:defRPr>
            </a:lvl2pPr>
            <a:lvl3pPr algn="l">
              <a:defRPr sz="4425" b="1">
                <a:solidFill>
                  <a:srgbClr val="315C8C"/>
                </a:solidFill>
                <a:latin typeface="Arial"/>
                <a:ea typeface="Arial"/>
                <a:cs typeface="Arial"/>
              </a:defRPr>
            </a:lvl3pPr>
            <a:lvl4pPr algn="l">
              <a:defRPr sz="4425" b="1">
                <a:solidFill>
                  <a:srgbClr val="315C8C"/>
                </a:solidFill>
                <a:latin typeface="Arial"/>
                <a:ea typeface="Arial"/>
                <a:cs typeface="Arial"/>
              </a:defRPr>
            </a:lvl4pPr>
            <a:lvl5pPr algn="l">
              <a:defRPr sz="4425" b="1">
                <a:solidFill>
                  <a:srgbClr val="315C8C"/>
                </a:solidFill>
                <a:latin typeface="Arial"/>
                <a:ea typeface="Arial"/>
                <a:cs typeface="Arial"/>
              </a:defRPr>
            </a:lvl5pPr>
            <a:lvl6pPr algn="l">
              <a:defRPr sz="4425" b="1">
                <a:solidFill>
                  <a:srgbClr val="315C8C"/>
                </a:solidFill>
                <a:latin typeface="Arial"/>
                <a:ea typeface="Arial"/>
                <a:cs typeface="Arial"/>
              </a:defRPr>
            </a:lvl6pPr>
            <a:lvl7pPr algn="l">
              <a:defRPr sz="4425" b="1">
                <a:solidFill>
                  <a:srgbClr val="315C8C"/>
                </a:solidFill>
                <a:latin typeface="Arial"/>
                <a:ea typeface="Arial"/>
                <a:cs typeface="Arial"/>
              </a:defRPr>
            </a:lvl7pPr>
            <a:lvl8pPr algn="l">
              <a:defRPr sz="4425" b="1">
                <a:solidFill>
                  <a:srgbClr val="315C8C"/>
                </a:solidFill>
                <a:latin typeface="Arial"/>
                <a:ea typeface="Arial"/>
                <a:cs typeface="Arial"/>
              </a:defRPr>
            </a:lvl8pPr>
            <a:lvl9pPr algn="l">
              <a:defRPr sz="4425" b="1">
                <a:solidFill>
                  <a:srgbClr val="315C8C"/>
                </a:solidFill>
                <a:latin typeface="Arial"/>
                <a:ea typeface="Arial"/>
                <a:cs typeface="Arial"/>
              </a:defRPr>
            </a:lvl9pPr>
          </a:lstStyle>
          <a:p xmlns:a="http://schemas.openxmlformats.org/drawingml/2006/main">
            <a:pPr algn="l">
              <a:defRPr sz="4425" b="1">
                <a:solidFill>
                  <a:srgbClr val="315C8C"/>
                </a:solidFill>
                <a:latin typeface="Arial"/>
                <a:ea typeface="Arial"/>
                <a:cs typeface="Arial"/>
              </a:defRPr>
            </a:pPr>
            <a:r>
              <a:rPr sz="4425" b="1">
                <a:solidFill>
                  <a:srgbClr val="315C8C"/>
                </a:solidFill>
                <a:latin typeface="Arial"/>
                <a:ea typeface="Arial"/>
                <a:cs typeface="Arial"/>
              </a:rPr>
              <a:t>0.038</a:t>
            </a:r>
          </a:p>
        </p:txBody>
      </p:sp>
      <p:sp>
        <p:nvSpPr>
          <p:cNvPr id="6" name="six-hour-label">
            <a:extLst xmlns:a="http://schemas.openxmlformats.org/drawingml/2006/main">
              <a:ext uri="{FF2B5EF4-FFF2-40B4-BE49-F238E27FC236}">
                <a16:creationId xmlns:a16="http://schemas.microsoft.com/office/drawing/2014/main" id="{0BB8E474-AE91-4FAC-A5B9-B8FED1CF89CE}"/>
              </a:ext>
            </a:extLst>
          </p:cNvPr>
          <p:cNvSpPr>
            <a:spLocks xmlns:a="http://schemas.openxmlformats.org/drawingml/2006/main" noGrp="1"/>
          </p:cNvSpPr>
          <p:nvPr/>
        </p:nvSpPr>
        <p:spPr>
          <a:xfrm xmlns:a="http://schemas.openxmlformats.org/drawingml/2006/main">
            <a:off x="8305800" y="4095750"/>
            <a:ext cx="327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Overall Brier score at 6 hours</a:t>
            </a:r>
          </a:p>
        </p:txBody>
      </p:sp>
      <p:sp>
        <p:nvSpPr>
          <p:cNvPr id="7" name="category-pattern">
            <a:extLst xmlns:a="http://schemas.openxmlformats.org/drawingml/2006/main">
              <a:ext uri="{FF2B5EF4-FFF2-40B4-BE49-F238E27FC236}">
                <a16:creationId xmlns:a16="http://schemas.microsoft.com/office/drawing/2014/main" id="{13DCE8C8-58F0-4333-9293-331602ADC26C}"/>
              </a:ext>
            </a:extLst>
          </p:cNvPr>
          <p:cNvSpPr>
            <a:spLocks xmlns:a="http://schemas.openxmlformats.org/drawingml/2006/main" noGrp="1"/>
          </p:cNvSpPr>
          <p:nvPr/>
        </p:nvSpPr>
        <p:spPr>
          <a:xfrm xmlns:a="http://schemas.openxmlformats.org/drawingml/2006/main">
            <a:off x="8305800" y="5010150"/>
            <a:ext cx="3276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Economy retains the largest</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error from 3 days to 6 hours.</a:t>
            </a:r>
          </a:p>
        </p:txBody>
      </p:sp>
      <p:sp>
        <p:nvSpPr>
          <p:cNvPr id="8" name="scope-and-source">
            <a:extLst xmlns:a="http://schemas.openxmlformats.org/drawingml/2006/main">
              <a:ext uri="{FF2B5EF4-FFF2-40B4-BE49-F238E27FC236}">
                <a16:creationId xmlns:a16="http://schemas.microsoft.com/office/drawing/2014/main" id="{92F92CCF-88B4-4A50-8099-169208471264}"/>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Lower Brier scores mean more accurate probabilities. Politics shows the largest improvement.</a:t>
            </a:r>
          </a:p>
        </p:txBody>
      </p:sp>
    </p:spTree>
    <p:extLst>
      <p:ext uri="{BB962C8B-B14F-4D97-AF65-F5344CB8AC3E}">
        <p14:creationId xmlns:p14="http://schemas.microsoft.com/office/powerpoint/2010/main" val="3229512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0FA1FC72-93F8-41AA-B60E-BB4B964FF48F}"/>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Can models improve on market prices?</a:t>
            </a:r>
          </a:p>
        </p:txBody>
      </p:sp>
      <p:pic>
        <p:nvPicPr>
          <p:cNvPr id="2" name="">
            <a:extLst xmlns:a="http://schemas.openxmlformats.org/drawingml/2006/main">
              <a:ext uri="{FF2B5EF4-FFF2-40B4-BE49-F238E27FC236}">
                <a16:creationId xmlns:a16="http://schemas.microsoft.com/office/drawing/2014/main" id="{EFD58E66-2A91-45C0-9330-2068CE33C614}"/>
              </a:ext>
            </a:extLst>
          </p:cNvPr>
          <p:cNvPicPr>
            <a:picLocks xmlns:a="http://schemas.openxmlformats.org/drawingml/2006/main" noChangeAspect="1"/>
          </p:cNvPicPr>
          <p:nvPr/>
        </p:nvPicPr>
        <p:blipFill>
          <a:blip xmlns:r="http://schemas.openxmlformats.org/officeDocument/2006/relationships" xmlns:a="http://schemas.openxmlformats.org/drawingml/2006/main" r:embed="Rcd95c24935f14665"/>
          <a:stretch xmlns:a="http://schemas.openxmlformats.org/drawingml/2006/main"/>
        </p:blipFill>
        <p:spPr>
          <a:xfrm xmlns:a="http://schemas.openxmlformats.org/drawingml/2006/main">
            <a:off x="609600" y="1478003"/>
            <a:ext cx="6610350" cy="4454443"/>
          </a:xfrm>
          <a:prstGeom xmlns:a="http://schemas.openxmlformats.org/drawingml/2006/main" prst="rect">
            <a:avLst/>
          </a:prstGeom>
        </p:spPr>
      </p:pic>
      <p:graphicFrame>
        <p:nvGraphicFramePr>
          <p:cNvPr id="3" name="">
            <a:extLst xmlns:a="http://schemas.openxmlformats.org/drawingml/2006/main">
              <a:ext uri="{FF2B5EF4-FFF2-40B4-BE49-F238E27FC236}">
                <a16:creationId xmlns:a16="http://schemas.microsoft.com/office/drawing/2014/main" id="{B552FE4C-FCB4-4454-91A2-19978423AF4E}"/>
              </a:ext>
            </a:extLst>
          </p:cNvPr>
          <p:cNvGraphicFramePr/>
          <p:nvPr/>
        </p:nvGraphicFramePr>
        <p:xfrm>
          <a:off xmlns:a="http://schemas.openxmlformats.org/drawingml/2006/main" x="7667625" y="1552575"/>
          <a:ext xmlns:a="http://schemas.openxmlformats.org/drawingml/2006/main" cx="3914775" cy="2695575"/>
        </p:xfrm>
        <a:graphic xmlns:a="http://schemas.openxmlformats.org/drawingml/2006/main">
          <a:graphicData uri="http://schemas.openxmlformats.org/drawingml/2006/table">
            <a:tbl>
              <a:tblPr/>
              <a:tblGrid>
                <a:gridCol w="2657475"/>
                <a:gridCol w="1257300"/>
              </a:tblGrid>
              <a:tr h="495300">
                <a:tc>
                  <a:txBody>
                    <a:bodyPr lIns="152400" tIns="95250" rIns="133350" bIns="95250"/>
                    <a:lstStyle/>
                    <a:p>
                      <a:r>
                        <a:rPr sz="1725" b="1">
                          <a:solidFill>
                            <a:srgbClr val="FFFFFF"/>
                          </a:solidFill>
                          <a:latin typeface="Arial"/>
                          <a:ea typeface="Arial"/>
                          <a:cs typeface="Arial"/>
                        </a:rPr>
                        <a:t>Model</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725" b="1">
                          <a:solidFill>
                            <a:srgbClr val="FFFFFF"/>
                          </a:solidFill>
                          <a:latin typeface="Arial"/>
                          <a:ea typeface="Arial"/>
                          <a:cs typeface="Arial"/>
                        </a:rPr>
                        <a:t>24h Brier</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685800">
                <a:tc>
                  <a:txBody>
                    <a:bodyPr lIns="152400" tIns="95250" rIns="133350" bIns="95250"/>
                    <a:lstStyle/>
                    <a:p>
                      <a:r>
                        <a:rPr sz="1725" b="0">
                          <a:solidFill>
                            <a:srgbClr val="263449"/>
                          </a:solidFill>
                          <a:latin typeface="Arial"/>
                          <a:ea typeface="Arial"/>
                          <a:cs typeface="Arial"/>
                        </a:rPr>
                        <a:t>Market price</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725" b="0">
                          <a:solidFill>
                            <a:srgbClr val="263449"/>
                          </a:solidFill>
                          <a:latin typeface="Arial"/>
                          <a:ea typeface="Arial"/>
                          <a:cs typeface="Arial"/>
                        </a:rPr>
                        <a:t>0.0513</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28675">
                <a:tc>
                  <a:txBody>
                    <a:bodyPr lIns="152400" tIns="95250" rIns="133350" bIns="95250"/>
                    <a:lstStyle/>
                    <a:p>
                      <a:r>
                        <a:rPr sz="1725" b="0">
                          <a:solidFill>
                            <a:srgbClr val="263449"/>
                          </a:solidFill>
                          <a:latin typeface="Arial"/>
                          <a:ea typeface="Arial"/>
                          <a:cs typeface="Arial"/>
                        </a:rPr>
                        <a:t>Logistic recalibration</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725" b="0">
                          <a:solidFill>
                            <a:srgbClr val="263449"/>
                          </a:solidFill>
                          <a:latin typeface="Arial"/>
                          <a:ea typeface="Arial"/>
                          <a:cs typeface="Arial"/>
                        </a:rPr>
                        <a:t>0.0518</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85800">
                <a:tc>
                  <a:txBody>
                    <a:bodyPr lIns="152400" tIns="95250" rIns="133350" bIns="95250"/>
                    <a:lstStyle/>
                    <a:p>
                      <a:r>
                        <a:rPr sz="1725" b="0">
                          <a:solidFill>
                            <a:srgbClr val="263449"/>
                          </a:solidFill>
                          <a:latin typeface="Arial"/>
                          <a:ea typeface="Arial"/>
                          <a:cs typeface="Arial"/>
                        </a:rPr>
                        <a:t>Gradient boosting</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725" b="0">
                          <a:solidFill>
                            <a:srgbClr val="263449"/>
                          </a:solidFill>
                          <a:latin typeface="Arial"/>
                          <a:ea typeface="Arial"/>
                          <a:cs typeface="Arial"/>
                        </a:rPr>
                        <a:t>0.0518</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4" name="comparison-takeaway">
            <a:extLst xmlns:a="http://schemas.openxmlformats.org/drawingml/2006/main">
              <a:ext uri="{FF2B5EF4-FFF2-40B4-BE49-F238E27FC236}">
                <a16:creationId xmlns:a16="http://schemas.microsoft.com/office/drawing/2014/main" id="{CD42B080-8BB0-4E2C-BAA8-0956C8ABECCA}"/>
              </a:ext>
            </a:extLst>
          </p:cNvPr>
          <p:cNvSpPr>
            <a:spLocks xmlns:a="http://schemas.openxmlformats.org/drawingml/2006/main" noGrp="1"/>
          </p:cNvSpPr>
          <p:nvPr/>
        </p:nvSpPr>
        <p:spPr>
          <a:xfrm xmlns:a="http://schemas.openxmlformats.org/drawingml/2006/main">
            <a:off x="7667625" y="4562475"/>
            <a:ext cx="3914775"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C8C"/>
                </a:solidFill>
                <a:latin typeface="Arial"/>
                <a:ea typeface="Arial"/>
                <a:cs typeface="Arial"/>
              </a:defRPr>
            </a:defPPr>
            <a:lvl1pPr algn="l">
              <a:defRPr sz="2175" b="1">
                <a:solidFill>
                  <a:srgbClr val="315C8C"/>
                </a:solidFill>
                <a:latin typeface="Arial"/>
                <a:ea typeface="Arial"/>
                <a:cs typeface="Arial"/>
              </a:defRPr>
            </a:lvl1pPr>
            <a:lvl2pPr algn="l">
              <a:defRPr sz="2175" b="1">
                <a:solidFill>
                  <a:srgbClr val="315C8C"/>
                </a:solidFill>
                <a:latin typeface="Arial"/>
                <a:ea typeface="Arial"/>
                <a:cs typeface="Arial"/>
              </a:defRPr>
            </a:lvl2pPr>
            <a:lvl3pPr algn="l">
              <a:defRPr sz="2175" b="1">
                <a:solidFill>
                  <a:srgbClr val="315C8C"/>
                </a:solidFill>
                <a:latin typeface="Arial"/>
                <a:ea typeface="Arial"/>
                <a:cs typeface="Arial"/>
              </a:defRPr>
            </a:lvl3pPr>
            <a:lvl4pPr algn="l">
              <a:defRPr sz="2175" b="1">
                <a:solidFill>
                  <a:srgbClr val="315C8C"/>
                </a:solidFill>
                <a:latin typeface="Arial"/>
                <a:ea typeface="Arial"/>
                <a:cs typeface="Arial"/>
              </a:defRPr>
            </a:lvl4pPr>
            <a:lvl5pPr algn="l">
              <a:defRPr sz="2175" b="1">
                <a:solidFill>
                  <a:srgbClr val="315C8C"/>
                </a:solidFill>
                <a:latin typeface="Arial"/>
                <a:ea typeface="Arial"/>
                <a:cs typeface="Arial"/>
              </a:defRPr>
            </a:lvl5pPr>
            <a:lvl6pPr algn="l">
              <a:defRPr sz="2175" b="1">
                <a:solidFill>
                  <a:srgbClr val="315C8C"/>
                </a:solidFill>
                <a:latin typeface="Arial"/>
                <a:ea typeface="Arial"/>
                <a:cs typeface="Arial"/>
              </a:defRPr>
            </a:lvl6pPr>
            <a:lvl7pPr algn="l">
              <a:defRPr sz="2175" b="1">
                <a:solidFill>
                  <a:srgbClr val="315C8C"/>
                </a:solidFill>
                <a:latin typeface="Arial"/>
                <a:ea typeface="Arial"/>
                <a:cs typeface="Arial"/>
              </a:defRPr>
            </a:lvl7pPr>
            <a:lvl8pPr algn="l">
              <a:defRPr sz="2175" b="1">
                <a:solidFill>
                  <a:srgbClr val="315C8C"/>
                </a:solidFill>
                <a:latin typeface="Arial"/>
                <a:ea typeface="Arial"/>
                <a:cs typeface="Arial"/>
              </a:defRPr>
            </a:lvl8pPr>
            <a:lvl9pPr algn="l">
              <a:defRPr sz="2175" b="1">
                <a:solidFill>
                  <a:srgbClr val="315C8C"/>
                </a:solidFill>
                <a:latin typeface="Arial"/>
                <a:ea typeface="Arial"/>
                <a:cs typeface="Arial"/>
              </a:defRPr>
            </a:lvl9pPr>
          </a:lstStyle>
          <a:p xmlns:a="http://schemas.openxmlformats.org/drawingml/2006/main">
            <a:pPr algn="l">
              <a:defRPr sz="2175" b="1">
                <a:solidFill>
                  <a:srgbClr val="315C8C"/>
                </a:solidFill>
                <a:latin typeface="Arial"/>
                <a:ea typeface="Arial"/>
                <a:cs typeface="Arial"/>
              </a:defRPr>
            </a:pPr>
            <a:r>
              <a:rPr sz="2175" b="1">
                <a:solidFill>
                  <a:srgbClr val="315C8C"/>
                </a:solidFill>
                <a:latin typeface="Arial"/>
                <a:ea typeface="Arial"/>
                <a:cs typeface="Arial"/>
              </a:rPr>
              <a:t>Neither model improves on</a:t>
            </a:r>
          </a:p>
          <a:p xmlns:a="http://schemas.openxmlformats.org/drawingml/2006/main">
            <a:pPr algn="l">
              <a:defRPr sz="2175" b="1">
                <a:solidFill>
                  <a:srgbClr val="315C8C"/>
                </a:solidFill>
                <a:latin typeface="Arial"/>
                <a:ea typeface="Arial"/>
                <a:cs typeface="Arial"/>
              </a:defRPr>
            </a:pPr>
            <a:r>
              <a:rPr sz="2175" b="1">
                <a:solidFill>
                  <a:srgbClr val="315C8C"/>
                </a:solidFill>
                <a:latin typeface="Arial"/>
                <a:ea typeface="Arial"/>
                <a:cs typeface="Arial"/>
              </a:rPr>
              <a:t>market prices in this test.</a:t>
            </a:r>
          </a:p>
        </p:txBody>
      </p:sp>
      <p:sp>
        <p:nvSpPr>
          <p:cNvPr id="5" name="temporal-split">
            <a:extLst xmlns:a="http://schemas.openxmlformats.org/drawingml/2006/main">
              <a:ext uri="{FF2B5EF4-FFF2-40B4-BE49-F238E27FC236}">
                <a16:creationId xmlns:a16="http://schemas.microsoft.com/office/drawing/2014/main" id="{F3CF2723-0546-4CC1-BABA-E5C6CD5F1C9A}"/>
              </a:ext>
            </a:extLst>
          </p:cNvPr>
          <p:cNvSpPr>
            <a:spLocks xmlns:a="http://schemas.openxmlformats.org/drawingml/2006/main" noGrp="1"/>
          </p:cNvSpPr>
          <p:nvPr/>
        </p:nvSpPr>
        <p:spPr>
          <a:xfrm xmlns:a="http://schemas.openxmlformats.org/drawingml/2006/main">
            <a:off x="7667625" y="5581650"/>
            <a:ext cx="39147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27085"/>
                </a:solidFill>
                <a:latin typeface="Arial"/>
                <a:ea typeface="Arial"/>
                <a:cs typeface="Arial"/>
              </a:defRPr>
            </a:defPPr>
            <a:lvl1pPr algn="l">
              <a:defRPr sz="1575" b="0">
                <a:solidFill>
                  <a:srgbClr val="627085"/>
                </a:solidFill>
                <a:latin typeface="Arial"/>
                <a:ea typeface="Arial"/>
                <a:cs typeface="Arial"/>
              </a:defRPr>
            </a:lvl1pPr>
            <a:lvl2pPr algn="l">
              <a:defRPr sz="1575" b="0">
                <a:solidFill>
                  <a:srgbClr val="627085"/>
                </a:solidFill>
                <a:latin typeface="Arial"/>
                <a:ea typeface="Arial"/>
                <a:cs typeface="Arial"/>
              </a:defRPr>
            </a:lvl2pPr>
            <a:lvl3pPr algn="l">
              <a:defRPr sz="1575" b="0">
                <a:solidFill>
                  <a:srgbClr val="627085"/>
                </a:solidFill>
                <a:latin typeface="Arial"/>
                <a:ea typeface="Arial"/>
                <a:cs typeface="Arial"/>
              </a:defRPr>
            </a:lvl3pPr>
            <a:lvl4pPr algn="l">
              <a:defRPr sz="1575" b="0">
                <a:solidFill>
                  <a:srgbClr val="627085"/>
                </a:solidFill>
                <a:latin typeface="Arial"/>
                <a:ea typeface="Arial"/>
                <a:cs typeface="Arial"/>
              </a:defRPr>
            </a:lvl4pPr>
            <a:lvl5pPr algn="l">
              <a:defRPr sz="1575" b="0">
                <a:solidFill>
                  <a:srgbClr val="627085"/>
                </a:solidFill>
                <a:latin typeface="Arial"/>
                <a:ea typeface="Arial"/>
                <a:cs typeface="Arial"/>
              </a:defRPr>
            </a:lvl5pPr>
            <a:lvl6pPr algn="l">
              <a:defRPr sz="1575" b="0">
                <a:solidFill>
                  <a:srgbClr val="627085"/>
                </a:solidFill>
                <a:latin typeface="Arial"/>
                <a:ea typeface="Arial"/>
                <a:cs typeface="Arial"/>
              </a:defRPr>
            </a:lvl6pPr>
            <a:lvl7pPr algn="l">
              <a:defRPr sz="1575" b="0">
                <a:solidFill>
                  <a:srgbClr val="627085"/>
                </a:solidFill>
                <a:latin typeface="Arial"/>
                <a:ea typeface="Arial"/>
                <a:cs typeface="Arial"/>
              </a:defRPr>
            </a:lvl7pPr>
            <a:lvl8pPr algn="l">
              <a:defRPr sz="1575" b="0">
                <a:solidFill>
                  <a:srgbClr val="627085"/>
                </a:solidFill>
                <a:latin typeface="Arial"/>
                <a:ea typeface="Arial"/>
                <a:cs typeface="Arial"/>
              </a:defRPr>
            </a:lvl8pPr>
            <a:lvl9pPr algn="l">
              <a:defRPr sz="1575" b="0">
                <a:solidFill>
                  <a:srgbClr val="627085"/>
                </a:solidFill>
                <a:latin typeface="Arial"/>
                <a:ea typeface="Arial"/>
                <a:cs typeface="Arial"/>
              </a:defRPr>
            </a:lvl9pPr>
          </a:lstStyle>
          <a:p xmlns:a="http://schemas.openxmlformats.org/drawingml/2006/main">
            <a:pPr algn="l">
              <a:defRPr sz="1575" b="0">
                <a:solidFill>
                  <a:srgbClr val="627085"/>
                </a:solidFill>
                <a:latin typeface="Arial"/>
                <a:ea typeface="Arial"/>
                <a:cs typeface="Arial"/>
              </a:defRPr>
            </a:pPr>
            <a:r>
              <a:rPr sz="1575" b="0">
                <a:solidFill>
                  <a:srgbClr val="627085"/>
                </a:solidFill>
                <a:latin typeface="Arial"/>
                <a:ea typeface="Arial"/>
                <a:cs typeface="Arial"/>
              </a:rPr>
              <a:t>Train: before September</a:t>
            </a:r>
          </a:p>
          <a:p xmlns:a="http://schemas.openxmlformats.org/drawingml/2006/main">
            <a:pPr algn="l">
              <a:defRPr sz="1575" b="0">
                <a:solidFill>
                  <a:srgbClr val="627085"/>
                </a:solidFill>
                <a:latin typeface="Arial"/>
                <a:ea typeface="Arial"/>
                <a:cs typeface="Arial"/>
              </a:defRPr>
            </a:pPr>
            <a:r>
              <a:rPr sz="1575" b="0">
                <a:solidFill>
                  <a:srgbClr val="627085"/>
                </a:solidFill>
                <a:latin typeface="Arial"/>
                <a:ea typeface="Arial"/>
                <a:cs typeface="Arial"/>
              </a:rPr>
              <a:t>Test: 860 September–October events</a:t>
            </a:r>
          </a:p>
        </p:txBody>
      </p:sp>
      <p:sp>
        <p:nvSpPr>
          <p:cNvPr id="6" name="scope-and-source">
            <a:extLst xmlns:a="http://schemas.openxmlformats.org/drawingml/2006/main">
              <a:ext uri="{FF2B5EF4-FFF2-40B4-BE49-F238E27FC236}">
                <a16:creationId xmlns:a16="http://schemas.microsoft.com/office/drawing/2014/main" id="{F0028562-016A-4371-A0F7-EE696C626EA3}"/>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Models use information available at prediction time. In the chart, values above zero indicate worse performance.</a:t>
            </a:r>
          </a:p>
        </p:txBody>
      </p:sp>
    </p:spTree>
    <p:extLst>
      <p:ext uri="{BB962C8B-B14F-4D97-AF65-F5344CB8AC3E}">
        <p14:creationId xmlns:p14="http://schemas.microsoft.com/office/powerpoint/2010/main" val="16662462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94C96A9A-96F9-4AFF-8F57-53735D0B9E7C}"/>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findings and limits</a:t>
            </a:r>
          </a:p>
        </p:txBody>
      </p:sp>
      <p:sp>
        <p:nvSpPr>
          <p:cNvPr id="2" name="finding-1">
            <a:extLst xmlns:a="http://schemas.openxmlformats.org/drawingml/2006/main">
              <a:ext uri="{FF2B5EF4-FFF2-40B4-BE49-F238E27FC236}">
                <a16:creationId xmlns:a16="http://schemas.microsoft.com/office/drawing/2014/main" id="{45AA6F76-DCBA-4CBF-A8AD-6B2FD49ACE9A}"/>
              </a:ext>
            </a:extLst>
          </p:cNvPr>
          <p:cNvSpPr>
            <a:spLocks xmlns:a="http://schemas.openxmlformats.org/drawingml/2006/main" noGrp="1"/>
          </p:cNvSpPr>
          <p:nvPr/>
        </p:nvSpPr>
        <p:spPr>
          <a:xfrm xmlns:a="http://schemas.openxmlformats.org/drawingml/2006/main">
            <a:off x="609600" y="1514475"/>
            <a:ext cx="6286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315C8C"/>
                </a:solidFill>
                <a:latin typeface="Arial"/>
                <a:ea typeface="Arial"/>
                <a:cs typeface="Arial"/>
              </a:defRPr>
            </a:defPPr>
            <a:lvl1pPr algn="l">
              <a:defRPr sz="2250" b="1">
                <a:solidFill>
                  <a:srgbClr val="315C8C"/>
                </a:solidFill>
                <a:latin typeface="Arial"/>
                <a:ea typeface="Arial"/>
                <a:cs typeface="Arial"/>
              </a:defRPr>
            </a:lvl1pPr>
            <a:lvl2pPr algn="l">
              <a:defRPr sz="2250" b="1">
                <a:solidFill>
                  <a:srgbClr val="315C8C"/>
                </a:solidFill>
                <a:latin typeface="Arial"/>
                <a:ea typeface="Arial"/>
                <a:cs typeface="Arial"/>
              </a:defRPr>
            </a:lvl2pPr>
            <a:lvl3pPr algn="l">
              <a:defRPr sz="2250" b="1">
                <a:solidFill>
                  <a:srgbClr val="315C8C"/>
                </a:solidFill>
                <a:latin typeface="Arial"/>
                <a:ea typeface="Arial"/>
                <a:cs typeface="Arial"/>
              </a:defRPr>
            </a:lvl3pPr>
            <a:lvl4pPr algn="l">
              <a:defRPr sz="2250" b="1">
                <a:solidFill>
                  <a:srgbClr val="315C8C"/>
                </a:solidFill>
                <a:latin typeface="Arial"/>
                <a:ea typeface="Arial"/>
                <a:cs typeface="Arial"/>
              </a:defRPr>
            </a:lvl4pPr>
            <a:lvl5pPr algn="l">
              <a:defRPr sz="2250" b="1">
                <a:solidFill>
                  <a:srgbClr val="315C8C"/>
                </a:solidFill>
                <a:latin typeface="Arial"/>
                <a:ea typeface="Arial"/>
                <a:cs typeface="Arial"/>
              </a:defRPr>
            </a:lvl5pPr>
            <a:lvl6pPr algn="l">
              <a:defRPr sz="2250" b="1">
                <a:solidFill>
                  <a:srgbClr val="315C8C"/>
                </a:solidFill>
                <a:latin typeface="Arial"/>
                <a:ea typeface="Arial"/>
                <a:cs typeface="Arial"/>
              </a:defRPr>
            </a:lvl6pPr>
            <a:lvl7pPr algn="l">
              <a:defRPr sz="2250" b="1">
                <a:solidFill>
                  <a:srgbClr val="315C8C"/>
                </a:solidFill>
                <a:latin typeface="Arial"/>
                <a:ea typeface="Arial"/>
                <a:cs typeface="Arial"/>
              </a:defRPr>
            </a:lvl7pPr>
            <a:lvl8pPr algn="l">
              <a:defRPr sz="2250" b="1">
                <a:solidFill>
                  <a:srgbClr val="315C8C"/>
                </a:solidFill>
                <a:latin typeface="Arial"/>
                <a:ea typeface="Arial"/>
                <a:cs typeface="Arial"/>
              </a:defRPr>
            </a:lvl8pPr>
            <a:lvl9pPr algn="l">
              <a:defRPr sz="2250" b="1">
                <a:solidFill>
                  <a:srgbClr val="315C8C"/>
                </a:solidFill>
                <a:latin typeface="Arial"/>
                <a:ea typeface="Arial"/>
                <a:cs typeface="Arial"/>
              </a:defRPr>
            </a:lvl9pPr>
          </a:lstStyle>
          <a:p xmlns:a="http://schemas.openxmlformats.org/drawingml/2006/main">
            <a:pPr algn="l">
              <a:defRPr sz="2250" b="1">
                <a:solidFill>
                  <a:srgbClr val="315C8C"/>
                </a:solidFill>
                <a:latin typeface="Arial"/>
                <a:ea typeface="Arial"/>
                <a:cs typeface="Arial"/>
              </a:defRPr>
            </a:pPr>
            <a:r>
              <a:rPr sz="2250" b="1">
                <a:solidFill>
                  <a:srgbClr val="315C8C"/>
                </a:solidFill>
                <a:latin typeface="Arial"/>
                <a:ea typeface="Arial"/>
                <a:cs typeface="Arial"/>
              </a:rPr>
              <a:t>Prices broadly match observed outcomes</a:t>
            </a:r>
          </a:p>
          <a:p xmlns:a="http://schemas.openxmlformats.org/drawingml/2006/main">
            <a:pPr algn="l">
              <a:defRPr sz="2250" b="1">
                <a:solidFill>
                  <a:srgbClr val="315C8C"/>
                </a:solidFill>
                <a:latin typeface="Arial"/>
                <a:ea typeface="Arial"/>
                <a:cs typeface="Arial"/>
              </a:defRPr>
            </a:pPr>
            <a:r>
              <a:rPr sz="2250" b="1">
                <a:solidFill>
                  <a:srgbClr val="315C8C"/>
                </a:solidFill>
                <a:latin typeface="Arial"/>
                <a:ea typeface="Arial"/>
                <a:cs typeface="Arial"/>
              </a:rPr>
              <a:t>in all four categories.</a:t>
            </a:r>
          </a:p>
        </p:txBody>
      </p:sp>
      <p:sp>
        <p:nvSpPr>
          <p:cNvPr id="3" name="finding-2">
            <a:extLst xmlns:a="http://schemas.openxmlformats.org/drawingml/2006/main">
              <a:ext uri="{FF2B5EF4-FFF2-40B4-BE49-F238E27FC236}">
                <a16:creationId xmlns:a16="http://schemas.microsoft.com/office/drawing/2014/main" id="{13D011C4-1026-4B96-98E5-6E6D3A584D09}"/>
              </a:ext>
            </a:extLst>
          </p:cNvPr>
          <p:cNvSpPr>
            <a:spLocks xmlns:a="http://schemas.openxmlformats.org/drawingml/2006/main" noGrp="1"/>
          </p:cNvSpPr>
          <p:nvPr/>
        </p:nvSpPr>
        <p:spPr>
          <a:xfrm xmlns:a="http://schemas.openxmlformats.org/drawingml/2006/main">
            <a:off x="609600" y="2886075"/>
            <a:ext cx="6286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Favorite–longshot bias is small</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and varies across months.</a:t>
            </a:r>
          </a:p>
        </p:txBody>
      </p:sp>
      <p:sp>
        <p:nvSpPr>
          <p:cNvPr id="4" name="finding-3">
            <a:extLst xmlns:a="http://schemas.openxmlformats.org/drawingml/2006/main">
              <a:ext uri="{FF2B5EF4-FFF2-40B4-BE49-F238E27FC236}">
                <a16:creationId xmlns:a16="http://schemas.microsoft.com/office/drawing/2014/main" id="{8CF631CA-FA5F-4D90-A7CF-DD785B0E2CA0}"/>
              </a:ext>
            </a:extLst>
          </p:cNvPr>
          <p:cNvSpPr>
            <a:spLocks xmlns:a="http://schemas.openxmlformats.org/drawingml/2006/main" noGrp="1"/>
          </p:cNvSpPr>
          <p:nvPr/>
        </p:nvSpPr>
        <p:spPr>
          <a:xfrm xmlns:a="http://schemas.openxmlformats.org/drawingml/2006/main">
            <a:off x="609600" y="4267200"/>
            <a:ext cx="6286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Our models do not improve on prices</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in the September–October test period.</a:t>
            </a:r>
          </a:p>
        </p:txBody>
      </p:sp>
      <p:sp>
        <p:nvSpPr>
          <p:cNvPr id="5" name="limits-label">
            <a:extLst xmlns:a="http://schemas.openxmlformats.org/drawingml/2006/main">
              <a:ext uri="{FF2B5EF4-FFF2-40B4-BE49-F238E27FC236}">
                <a16:creationId xmlns:a16="http://schemas.microsoft.com/office/drawing/2014/main" id="{E70D0CD1-F6A5-4C0B-85CF-CB4D13EF610B}"/>
              </a:ext>
            </a:extLst>
          </p:cNvPr>
          <p:cNvSpPr>
            <a:spLocks xmlns:a="http://schemas.openxmlformats.org/drawingml/2006/main" noGrp="1"/>
          </p:cNvSpPr>
          <p:nvPr/>
        </p:nvSpPr>
        <p:spPr>
          <a:xfrm xmlns:a="http://schemas.openxmlformats.org/drawingml/2006/main">
            <a:off x="7686675" y="1533525"/>
            <a:ext cx="3895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63449"/>
                </a:solidFill>
                <a:latin typeface="Arial"/>
                <a:ea typeface="Arial"/>
                <a:cs typeface="Arial"/>
              </a:defRPr>
            </a:defPPr>
            <a:lvl1pPr algn="l">
              <a:defRPr sz="2250" b="1">
                <a:solidFill>
                  <a:srgbClr val="263449"/>
                </a:solidFill>
                <a:latin typeface="Arial"/>
                <a:ea typeface="Arial"/>
                <a:cs typeface="Arial"/>
              </a:defRPr>
            </a:lvl1pPr>
            <a:lvl2pPr algn="l">
              <a:defRPr sz="2250" b="1">
                <a:solidFill>
                  <a:srgbClr val="263449"/>
                </a:solidFill>
                <a:latin typeface="Arial"/>
                <a:ea typeface="Arial"/>
                <a:cs typeface="Arial"/>
              </a:defRPr>
            </a:lvl2pPr>
            <a:lvl3pPr algn="l">
              <a:defRPr sz="2250" b="1">
                <a:solidFill>
                  <a:srgbClr val="263449"/>
                </a:solidFill>
                <a:latin typeface="Arial"/>
                <a:ea typeface="Arial"/>
                <a:cs typeface="Arial"/>
              </a:defRPr>
            </a:lvl3pPr>
            <a:lvl4pPr algn="l">
              <a:defRPr sz="2250" b="1">
                <a:solidFill>
                  <a:srgbClr val="263449"/>
                </a:solidFill>
                <a:latin typeface="Arial"/>
                <a:ea typeface="Arial"/>
                <a:cs typeface="Arial"/>
              </a:defRPr>
            </a:lvl4pPr>
            <a:lvl5pPr algn="l">
              <a:defRPr sz="2250" b="1">
                <a:solidFill>
                  <a:srgbClr val="263449"/>
                </a:solidFill>
                <a:latin typeface="Arial"/>
                <a:ea typeface="Arial"/>
                <a:cs typeface="Arial"/>
              </a:defRPr>
            </a:lvl5pPr>
            <a:lvl6pPr algn="l">
              <a:defRPr sz="2250" b="1">
                <a:solidFill>
                  <a:srgbClr val="263449"/>
                </a:solidFill>
                <a:latin typeface="Arial"/>
                <a:ea typeface="Arial"/>
                <a:cs typeface="Arial"/>
              </a:defRPr>
            </a:lvl6pPr>
            <a:lvl7pPr algn="l">
              <a:defRPr sz="2250" b="1">
                <a:solidFill>
                  <a:srgbClr val="263449"/>
                </a:solidFill>
                <a:latin typeface="Arial"/>
                <a:ea typeface="Arial"/>
                <a:cs typeface="Arial"/>
              </a:defRPr>
            </a:lvl7pPr>
            <a:lvl8pPr algn="l">
              <a:defRPr sz="2250" b="1">
                <a:solidFill>
                  <a:srgbClr val="263449"/>
                </a:solidFill>
                <a:latin typeface="Arial"/>
                <a:ea typeface="Arial"/>
                <a:cs typeface="Arial"/>
              </a:defRPr>
            </a:lvl8pPr>
            <a:lvl9pPr algn="l">
              <a:defRPr sz="2250" b="1">
                <a:solidFill>
                  <a:srgbClr val="263449"/>
                </a:solidFill>
                <a:latin typeface="Arial"/>
                <a:ea typeface="Arial"/>
                <a:cs typeface="Arial"/>
              </a:defRPr>
            </a:lvl9pPr>
          </a:lstStyle>
          <a:p xmlns:a="http://schemas.openxmlformats.org/drawingml/2006/main">
            <a:pPr algn="l">
              <a:defRPr sz="2250" b="1">
                <a:solidFill>
                  <a:srgbClr val="263449"/>
                </a:solidFill>
                <a:latin typeface="Arial"/>
                <a:ea typeface="Arial"/>
                <a:cs typeface="Arial"/>
              </a:defRPr>
            </a:pPr>
            <a:r>
              <a:rPr sz="2250" b="1">
                <a:solidFill>
                  <a:srgbClr val="263449"/>
                </a:solidFill>
                <a:latin typeface="Arial"/>
                <a:ea typeface="Arial"/>
                <a:cs typeface="Arial"/>
              </a:rPr>
              <a:t>Limits</a:t>
            </a:r>
          </a:p>
        </p:txBody>
      </p:sp>
      <p:sp>
        <p:nvSpPr>
          <p:cNvPr id="6" name="limits">
            <a:extLst xmlns:a="http://schemas.openxmlformats.org/drawingml/2006/main">
              <a:ext uri="{FF2B5EF4-FFF2-40B4-BE49-F238E27FC236}">
                <a16:creationId xmlns:a16="http://schemas.microsoft.com/office/drawing/2014/main" id="{787CD405-AAEB-4015-939E-33441FD8366B}"/>
              </a:ext>
            </a:extLst>
          </p:cNvPr>
          <p:cNvSpPr>
            <a:spLocks xmlns:a="http://schemas.openxmlformats.org/drawingml/2006/main" noGrp="1"/>
          </p:cNvSpPr>
          <p:nvPr/>
        </p:nvSpPr>
        <p:spPr>
          <a:xfrm xmlns:a="http://schemas.openxmlformats.org/drawingml/2006/main">
            <a:off x="7686675" y="2181225"/>
            <a:ext cx="3895725" cy="2295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63449"/>
                </a:solidFill>
                <a:latin typeface="Arial"/>
                <a:ea typeface="Arial"/>
                <a:cs typeface="Arial"/>
              </a:defRPr>
            </a:defPPr>
            <a:lvl1pPr algn="l">
              <a:defRPr sz="1950" b="0">
                <a:solidFill>
                  <a:srgbClr val="263449"/>
                </a:solidFill>
                <a:latin typeface="Arial"/>
                <a:ea typeface="Arial"/>
                <a:cs typeface="Arial"/>
              </a:defRPr>
            </a:lvl1pPr>
            <a:lvl2pPr algn="l">
              <a:defRPr sz="1950" b="0">
                <a:solidFill>
                  <a:srgbClr val="263449"/>
                </a:solidFill>
                <a:latin typeface="Arial"/>
                <a:ea typeface="Arial"/>
                <a:cs typeface="Arial"/>
              </a:defRPr>
            </a:lvl2pPr>
            <a:lvl3pPr algn="l">
              <a:defRPr sz="1950" b="0">
                <a:solidFill>
                  <a:srgbClr val="263449"/>
                </a:solidFill>
                <a:latin typeface="Arial"/>
                <a:ea typeface="Arial"/>
                <a:cs typeface="Arial"/>
              </a:defRPr>
            </a:lvl3pPr>
            <a:lvl4pPr algn="l">
              <a:defRPr sz="1950" b="0">
                <a:solidFill>
                  <a:srgbClr val="263449"/>
                </a:solidFill>
                <a:latin typeface="Arial"/>
                <a:ea typeface="Arial"/>
                <a:cs typeface="Arial"/>
              </a:defRPr>
            </a:lvl4pPr>
            <a:lvl5pPr algn="l">
              <a:defRPr sz="1950" b="0">
                <a:solidFill>
                  <a:srgbClr val="263449"/>
                </a:solidFill>
                <a:latin typeface="Arial"/>
                <a:ea typeface="Arial"/>
                <a:cs typeface="Arial"/>
              </a:defRPr>
            </a:lvl5pPr>
            <a:lvl6pPr algn="l">
              <a:defRPr sz="1950" b="0">
                <a:solidFill>
                  <a:srgbClr val="263449"/>
                </a:solidFill>
                <a:latin typeface="Arial"/>
                <a:ea typeface="Arial"/>
                <a:cs typeface="Arial"/>
              </a:defRPr>
            </a:lvl6pPr>
            <a:lvl7pPr algn="l">
              <a:defRPr sz="1950" b="0">
                <a:solidFill>
                  <a:srgbClr val="263449"/>
                </a:solidFill>
                <a:latin typeface="Arial"/>
                <a:ea typeface="Arial"/>
                <a:cs typeface="Arial"/>
              </a:defRPr>
            </a:lvl7pPr>
            <a:lvl8pPr algn="l">
              <a:defRPr sz="1950" b="0">
                <a:solidFill>
                  <a:srgbClr val="263449"/>
                </a:solidFill>
                <a:latin typeface="Arial"/>
                <a:ea typeface="Arial"/>
                <a:cs typeface="Arial"/>
              </a:defRPr>
            </a:lvl8pPr>
            <a:lvl9pPr algn="l">
              <a:defRPr sz="1950" b="0">
                <a:solidFill>
                  <a:srgbClr val="263449"/>
                </a:solidFill>
                <a:latin typeface="Arial"/>
                <a:ea typeface="Arial"/>
                <a:cs typeface="Arial"/>
              </a:defRPr>
            </a:lvl9pPr>
          </a:lstStyle>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Early resolution changes the</a:t>
            </a:r>
          </a:p>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meaning of “24h before close.”</a:t>
            </a:r>
          </a:p>
          <a:p xmlns:a="http://schemas.openxmlformats.org/drawingml/2006/main">
            <a:r>
              <a:t/>
            </a:r>
          </a:p>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We evaluate one test period.</a:t>
            </a:r>
          </a:p>
        </p:txBody>
      </p:sp>
      <p:sp>
        <p:nvSpPr>
          <p:cNvPr id="7" name="scope-and-source">
            <a:extLst xmlns:a="http://schemas.openxmlformats.org/drawingml/2006/main">
              <a:ext uri="{FF2B5EF4-FFF2-40B4-BE49-F238E27FC236}">
                <a16:creationId xmlns:a16="http://schemas.microsoft.com/office/drawing/2014/main" id="{C4B7BFE6-6F5C-40F8-AC4F-337B854D0DB6}"/>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Wallet question: which characteristics explain differences in the prices traders choose to pay?</a:t>
            </a:r>
          </a:p>
        </p:txBody>
      </p:sp>
    </p:spTree>
    <p:extLst>
      <p:ext uri="{BB962C8B-B14F-4D97-AF65-F5344CB8AC3E}">
        <p14:creationId xmlns:p14="http://schemas.microsoft.com/office/powerpoint/2010/main" val="118950697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ED75D61E-26AF-42BC-97BE-026DEC573D9C}"/>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Question and data</a:t>
            </a:r>
          </a:p>
        </p:txBody>
      </p:sp>
      <p:sp>
        <p:nvSpPr>
          <p:cNvPr id="2" name="research-question">
            <a:extLst xmlns:a="http://schemas.openxmlformats.org/drawingml/2006/main">
              <a:ext uri="{FF2B5EF4-FFF2-40B4-BE49-F238E27FC236}">
                <a16:creationId xmlns:a16="http://schemas.microsoft.com/office/drawing/2014/main" id="{5B66956B-47D0-4B95-9C74-1F622D4B733E}"/>
              </a:ext>
            </a:extLst>
          </p:cNvPr>
          <p:cNvSpPr>
            <a:spLocks xmlns:a="http://schemas.openxmlformats.org/drawingml/2006/main" noGrp="1"/>
          </p:cNvSpPr>
          <p:nvPr/>
        </p:nvSpPr>
        <p:spPr>
          <a:xfrm xmlns:a="http://schemas.openxmlformats.org/drawingml/2006/main">
            <a:off x="609600" y="1371600"/>
            <a:ext cx="485775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How well do wallet characteristics predict average purchase price, and does boosting improve on linear regression?</a:t>
            </a:r>
          </a:p>
        </p:txBody>
      </p:sp>
      <p:sp>
        <p:nvSpPr>
          <p:cNvPr id="3" name="sample-size">
            <a:extLst xmlns:a="http://schemas.openxmlformats.org/drawingml/2006/main">
              <a:ext uri="{FF2B5EF4-FFF2-40B4-BE49-F238E27FC236}">
                <a16:creationId xmlns:a16="http://schemas.microsoft.com/office/drawing/2014/main" id="{8D30FF14-F058-4655-9EFF-8BF73B789439}"/>
              </a:ext>
            </a:extLst>
          </p:cNvPr>
          <p:cNvSpPr>
            <a:spLocks xmlns:a="http://schemas.openxmlformats.org/drawingml/2006/main" noGrp="1"/>
          </p:cNvSpPr>
          <p:nvPr/>
        </p:nvSpPr>
        <p:spPr>
          <a:xfrm xmlns:a="http://schemas.openxmlformats.org/drawingml/2006/main">
            <a:off x="609600" y="337185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C8C"/>
                </a:solidFill>
                <a:latin typeface="Arial"/>
                <a:ea typeface="Arial"/>
                <a:cs typeface="Arial"/>
              </a:defRPr>
            </a:defPPr>
            <a:lvl1pPr algn="l">
              <a:defRPr sz="2550" b="1">
                <a:solidFill>
                  <a:srgbClr val="315C8C"/>
                </a:solidFill>
                <a:latin typeface="Arial"/>
                <a:ea typeface="Arial"/>
                <a:cs typeface="Arial"/>
              </a:defRPr>
            </a:lvl1pPr>
            <a:lvl2pPr algn="l">
              <a:defRPr sz="2550" b="1">
                <a:solidFill>
                  <a:srgbClr val="315C8C"/>
                </a:solidFill>
                <a:latin typeface="Arial"/>
                <a:ea typeface="Arial"/>
                <a:cs typeface="Arial"/>
              </a:defRPr>
            </a:lvl2pPr>
            <a:lvl3pPr algn="l">
              <a:defRPr sz="2550" b="1">
                <a:solidFill>
                  <a:srgbClr val="315C8C"/>
                </a:solidFill>
                <a:latin typeface="Arial"/>
                <a:ea typeface="Arial"/>
                <a:cs typeface="Arial"/>
              </a:defRPr>
            </a:lvl3pPr>
            <a:lvl4pPr algn="l">
              <a:defRPr sz="2550" b="1">
                <a:solidFill>
                  <a:srgbClr val="315C8C"/>
                </a:solidFill>
                <a:latin typeface="Arial"/>
                <a:ea typeface="Arial"/>
                <a:cs typeface="Arial"/>
              </a:defRPr>
            </a:lvl4pPr>
            <a:lvl5pPr algn="l">
              <a:defRPr sz="2550" b="1">
                <a:solidFill>
                  <a:srgbClr val="315C8C"/>
                </a:solidFill>
                <a:latin typeface="Arial"/>
                <a:ea typeface="Arial"/>
                <a:cs typeface="Arial"/>
              </a:defRPr>
            </a:lvl5pPr>
            <a:lvl6pPr algn="l">
              <a:defRPr sz="2550" b="1">
                <a:solidFill>
                  <a:srgbClr val="315C8C"/>
                </a:solidFill>
                <a:latin typeface="Arial"/>
                <a:ea typeface="Arial"/>
                <a:cs typeface="Arial"/>
              </a:defRPr>
            </a:lvl6pPr>
            <a:lvl7pPr algn="l">
              <a:defRPr sz="2550" b="1">
                <a:solidFill>
                  <a:srgbClr val="315C8C"/>
                </a:solidFill>
                <a:latin typeface="Arial"/>
                <a:ea typeface="Arial"/>
                <a:cs typeface="Arial"/>
              </a:defRPr>
            </a:lvl7pPr>
            <a:lvl8pPr algn="l">
              <a:defRPr sz="2550" b="1">
                <a:solidFill>
                  <a:srgbClr val="315C8C"/>
                </a:solidFill>
                <a:latin typeface="Arial"/>
                <a:ea typeface="Arial"/>
                <a:cs typeface="Arial"/>
              </a:defRPr>
            </a:lvl8pPr>
            <a:lvl9pPr algn="l">
              <a:defRPr sz="2550" b="1">
                <a:solidFill>
                  <a:srgbClr val="315C8C"/>
                </a:solidFill>
                <a:latin typeface="Arial"/>
                <a:ea typeface="Arial"/>
                <a:cs typeface="Arial"/>
              </a:defRPr>
            </a:lvl9pPr>
          </a:lstStyle>
          <a:p xmlns:a="http://schemas.openxmlformats.org/drawingml/2006/main">
            <a:pPr algn="l">
              <a:defRPr sz="2550" b="1">
                <a:solidFill>
                  <a:srgbClr val="315C8C"/>
                </a:solidFill>
                <a:latin typeface="Arial"/>
                <a:ea typeface="Arial"/>
                <a:cs typeface="Arial"/>
              </a:defRPr>
            </a:pPr>
            <a:r>
              <a:rPr sz="2550" b="1">
                <a:solidFill>
                  <a:srgbClr val="315C8C"/>
                </a:solidFill>
                <a:latin typeface="Arial"/>
                <a:ea typeface="Arial"/>
                <a:cs typeface="Arial"/>
              </a:rPr>
              <a:t>55,952 wallets</a:t>
            </a:r>
          </a:p>
        </p:txBody>
      </p:sp>
      <p:sp>
        <p:nvSpPr>
          <p:cNvPr id="4" name="data-description">
            <a:extLst xmlns:a="http://schemas.openxmlformats.org/drawingml/2006/main">
              <a:ext uri="{FF2B5EF4-FFF2-40B4-BE49-F238E27FC236}">
                <a16:creationId xmlns:a16="http://schemas.microsoft.com/office/drawing/2014/main" id="{DD87229D-E3FA-47F6-B2A7-6CB04F9E5443}"/>
              </a:ext>
            </a:extLst>
          </p:cNvPr>
          <p:cNvSpPr>
            <a:spLocks xmlns:a="http://schemas.openxmlformats.org/drawingml/2006/main" noGrp="1"/>
          </p:cNvSpPr>
          <p:nvPr/>
        </p:nvSpPr>
        <p:spPr>
          <a:xfrm xmlns:a="http://schemas.openxmlformats.org/drawingml/2006/main">
            <a:off x="609600" y="4029075"/>
            <a:ext cx="500062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One row per wallet</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Target: volume weighted price per share</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All wallets retained. Confirmed flag excluded.</a:t>
            </a:r>
          </a:p>
        </p:txBody>
      </p:sp>
      <p:sp>
        <p:nvSpPr>
          <p:cNvPr id="5" name="cohort-scope">
            <a:extLst xmlns:a="http://schemas.openxmlformats.org/drawingml/2006/main">
              <a:ext uri="{FF2B5EF4-FFF2-40B4-BE49-F238E27FC236}">
                <a16:creationId xmlns:a16="http://schemas.microsoft.com/office/drawing/2014/main" id="{4D95B865-AA69-4A10-86FF-9F7DE8B9170C}"/>
              </a:ext>
            </a:extLst>
          </p:cNvPr>
          <p:cNvSpPr>
            <a:spLocks xmlns:a="http://schemas.openxmlformats.org/drawingml/2006/main" noGrp="1"/>
          </p:cNvSpPr>
          <p:nvPr/>
        </p:nvSpPr>
        <p:spPr>
          <a:xfrm xmlns:a="http://schemas.openxmlformats.org/drawingml/2006/main">
            <a:off x="609600" y="604837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085"/>
                </a:solidFill>
                <a:latin typeface="Arial"/>
                <a:ea typeface="Arial"/>
                <a:cs typeface="Arial"/>
              </a:defRPr>
            </a:defPPr>
            <a:lvl1pPr algn="l">
              <a:defRPr sz="1500" b="0">
                <a:solidFill>
                  <a:srgbClr val="627085"/>
                </a:solidFill>
                <a:latin typeface="Arial"/>
                <a:ea typeface="Arial"/>
                <a:cs typeface="Arial"/>
              </a:defRPr>
            </a:lvl1pPr>
            <a:lvl2pPr algn="l">
              <a:defRPr sz="1500" b="0">
                <a:solidFill>
                  <a:srgbClr val="627085"/>
                </a:solidFill>
                <a:latin typeface="Arial"/>
                <a:ea typeface="Arial"/>
                <a:cs typeface="Arial"/>
              </a:defRPr>
            </a:lvl2pPr>
            <a:lvl3pPr algn="l">
              <a:defRPr sz="1500" b="0">
                <a:solidFill>
                  <a:srgbClr val="627085"/>
                </a:solidFill>
                <a:latin typeface="Arial"/>
                <a:ea typeface="Arial"/>
                <a:cs typeface="Arial"/>
              </a:defRPr>
            </a:lvl3pPr>
            <a:lvl4pPr algn="l">
              <a:defRPr sz="1500" b="0">
                <a:solidFill>
                  <a:srgbClr val="627085"/>
                </a:solidFill>
                <a:latin typeface="Arial"/>
                <a:ea typeface="Arial"/>
                <a:cs typeface="Arial"/>
              </a:defRPr>
            </a:lvl4pPr>
            <a:lvl5pPr algn="l">
              <a:defRPr sz="1500" b="0">
                <a:solidFill>
                  <a:srgbClr val="627085"/>
                </a:solidFill>
                <a:latin typeface="Arial"/>
                <a:ea typeface="Arial"/>
                <a:cs typeface="Arial"/>
              </a:defRPr>
            </a:lvl5pPr>
            <a:lvl6pPr algn="l">
              <a:defRPr sz="1500" b="0">
                <a:solidFill>
                  <a:srgbClr val="627085"/>
                </a:solidFill>
                <a:latin typeface="Arial"/>
                <a:ea typeface="Arial"/>
                <a:cs typeface="Arial"/>
              </a:defRPr>
            </a:lvl6pPr>
            <a:lvl7pPr algn="l">
              <a:defRPr sz="1500" b="0">
                <a:solidFill>
                  <a:srgbClr val="627085"/>
                </a:solidFill>
                <a:latin typeface="Arial"/>
                <a:ea typeface="Arial"/>
                <a:cs typeface="Arial"/>
              </a:defRPr>
            </a:lvl7pPr>
            <a:lvl8pPr algn="l">
              <a:defRPr sz="1500" b="0">
                <a:solidFill>
                  <a:srgbClr val="627085"/>
                </a:solidFill>
                <a:latin typeface="Arial"/>
                <a:ea typeface="Arial"/>
                <a:cs typeface="Arial"/>
              </a:defRPr>
            </a:lvl8pPr>
            <a:lvl9pPr algn="l">
              <a:defRPr sz="1500" b="0">
                <a:solidFill>
                  <a:srgbClr val="627085"/>
                </a:solidFill>
                <a:latin typeface="Arial"/>
                <a:ea typeface="Arial"/>
                <a:cs typeface="Arial"/>
              </a:defRPr>
            </a:lvl9pPr>
          </a:lstStyle>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Selected event cohort. Prices summarize observed trading history.</a:t>
            </a:r>
          </a:p>
        </p:txBody>
      </p:sp>
      <p:graphicFrame>
        <p:nvGraphicFramePr>
          <p:cNvPr id="6" name="Chart">
            <a:extLst xmlns:a="http://schemas.openxmlformats.org/drawingml/2006/main">
              <a:ext uri="{FF2B5EF4-FFF2-40B4-BE49-F238E27FC236}">
                <a16:creationId xmlns:a16="http://schemas.microsoft.com/office/drawing/2014/main" id="{DCFDA92D-4E9A-4554-9287-C125DED5D37C}"/>
              </a:ext>
            </a:extLst>
          </p:cNvPr>
          <p:cNvGraphicFramePr/>
          <p:nvPr/>
        </p:nvGraphicFramePr>
        <p:xfrm>
          <a:off xmlns:a="http://schemas.openxmlformats.org/drawingml/2006/main" x="6057900" y="1362075"/>
          <a:ext xmlns:a="http://schemas.openxmlformats.org/drawingml/2006/main" cx="5524500" cy="3952875"/>
        </p:xfrm>
        <a:graphic xmlns:a="http://schemas.openxmlformats.org/drawingml/2006/main">
          <a:graphicData uri="http://schemas.openxmlformats.org/drawingml/2006/chart">
            <c:chart xmlns:r="http://schemas.openxmlformats.org/officeDocument/2006/relationships" xmlns:c="http://schemas.openxmlformats.org/drawingml/2006/chart" r:id="R76d326458b184489"/>
          </a:graphicData>
        </a:graphic>
      </p:graphicFrame>
    </p:spTree>
    <p:extLst>
      <p:ext uri="{BB962C8B-B14F-4D97-AF65-F5344CB8AC3E}">
        <p14:creationId xmlns:p14="http://schemas.microsoft.com/office/powerpoint/2010/main" val="171951114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DA1D5D9C-7387-46AA-B249-9E05663E2ED5}"/>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Approach</a:t>
            </a:r>
          </a:p>
        </p:txBody>
      </p:sp>
      <p:sp>
        <p:nvSpPr>
          <p:cNvPr id="2" name="split-heading">
            <a:extLst xmlns:a="http://schemas.openxmlformats.org/drawingml/2006/main">
              <a:ext uri="{FF2B5EF4-FFF2-40B4-BE49-F238E27FC236}">
                <a16:creationId xmlns:a16="http://schemas.microsoft.com/office/drawing/2014/main" id="{E3491132-52A4-4847-AC5D-28426487B788}"/>
              </a:ext>
            </a:extLst>
          </p:cNvPr>
          <p:cNvSpPr>
            <a:spLocks xmlns:a="http://schemas.openxmlformats.org/drawingml/2006/main" noGrp="1"/>
          </p:cNvSpPr>
          <p:nvPr/>
        </p:nvSpPr>
        <p:spPr>
          <a:xfrm xmlns:a="http://schemas.openxmlformats.org/drawingml/2006/main">
            <a:off x="609600" y="1362075"/>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63449"/>
                </a:solidFill>
                <a:latin typeface="Arial"/>
                <a:ea typeface="Arial"/>
                <a:cs typeface="Arial"/>
              </a:defRPr>
            </a:defPPr>
            <a:lvl1pPr algn="l">
              <a:defRPr sz="2100" b="1">
                <a:solidFill>
                  <a:srgbClr val="263449"/>
                </a:solidFill>
                <a:latin typeface="Arial"/>
                <a:ea typeface="Arial"/>
                <a:cs typeface="Arial"/>
              </a:defRPr>
            </a:lvl1pPr>
            <a:lvl2pPr algn="l">
              <a:defRPr sz="2100" b="1">
                <a:solidFill>
                  <a:srgbClr val="263449"/>
                </a:solidFill>
                <a:latin typeface="Arial"/>
                <a:ea typeface="Arial"/>
                <a:cs typeface="Arial"/>
              </a:defRPr>
            </a:lvl2pPr>
            <a:lvl3pPr algn="l">
              <a:defRPr sz="2100" b="1">
                <a:solidFill>
                  <a:srgbClr val="263449"/>
                </a:solidFill>
                <a:latin typeface="Arial"/>
                <a:ea typeface="Arial"/>
                <a:cs typeface="Arial"/>
              </a:defRPr>
            </a:lvl3pPr>
            <a:lvl4pPr algn="l">
              <a:defRPr sz="2100" b="1">
                <a:solidFill>
                  <a:srgbClr val="263449"/>
                </a:solidFill>
                <a:latin typeface="Arial"/>
                <a:ea typeface="Arial"/>
                <a:cs typeface="Arial"/>
              </a:defRPr>
            </a:lvl4pPr>
            <a:lvl5pPr algn="l">
              <a:defRPr sz="2100" b="1">
                <a:solidFill>
                  <a:srgbClr val="263449"/>
                </a:solidFill>
                <a:latin typeface="Arial"/>
                <a:ea typeface="Arial"/>
                <a:cs typeface="Arial"/>
              </a:defRPr>
            </a:lvl5pPr>
            <a:lvl6pPr algn="l">
              <a:defRPr sz="2100" b="1">
                <a:solidFill>
                  <a:srgbClr val="263449"/>
                </a:solidFill>
                <a:latin typeface="Arial"/>
                <a:ea typeface="Arial"/>
                <a:cs typeface="Arial"/>
              </a:defRPr>
            </a:lvl6pPr>
            <a:lvl7pPr algn="l">
              <a:defRPr sz="2100" b="1">
                <a:solidFill>
                  <a:srgbClr val="263449"/>
                </a:solidFill>
                <a:latin typeface="Arial"/>
                <a:ea typeface="Arial"/>
                <a:cs typeface="Arial"/>
              </a:defRPr>
            </a:lvl7pPr>
            <a:lvl8pPr algn="l">
              <a:defRPr sz="2100" b="1">
                <a:solidFill>
                  <a:srgbClr val="263449"/>
                </a:solidFill>
                <a:latin typeface="Arial"/>
                <a:ea typeface="Arial"/>
                <a:cs typeface="Arial"/>
              </a:defRPr>
            </a:lvl8pPr>
            <a:lvl9pPr algn="l">
              <a:defRPr sz="2100" b="1">
                <a:solidFill>
                  <a:srgbClr val="263449"/>
                </a:solidFill>
                <a:latin typeface="Arial"/>
                <a:ea typeface="Arial"/>
                <a:cs typeface="Arial"/>
              </a:defRPr>
            </a:lvl9pPr>
          </a:lstStyle>
          <a:p xmlns:a="http://schemas.openxmlformats.org/drawingml/2006/main">
            <a:pPr algn="l">
              <a:defRPr sz="2100" b="1">
                <a:solidFill>
                  <a:srgbClr val="263449"/>
                </a:solidFill>
                <a:latin typeface="Arial"/>
                <a:ea typeface="Arial"/>
                <a:cs typeface="Arial"/>
              </a:defRPr>
            </a:pPr>
            <a:r>
              <a:rPr sz="2100" b="1">
                <a:solidFill>
                  <a:srgbClr val="263449"/>
                </a:solidFill>
                <a:latin typeface="Arial"/>
                <a:ea typeface="Arial"/>
                <a:cs typeface="Arial"/>
              </a:rPr>
              <a:t>One fixed wallet split</a:t>
            </a:r>
          </a:p>
        </p:txBody>
      </p:sp>
      <p:sp>
        <p:nvSpPr>
          <p:cNvPr id="3" name="split-counts">
            <a:extLst xmlns:a="http://schemas.openxmlformats.org/drawingml/2006/main">
              <a:ext uri="{FF2B5EF4-FFF2-40B4-BE49-F238E27FC236}">
                <a16:creationId xmlns:a16="http://schemas.microsoft.com/office/drawing/2014/main" id="{8866C3C9-7038-4CB0-B4F5-FA4D83FBCA48}"/>
              </a:ext>
            </a:extLst>
          </p:cNvPr>
          <p:cNvSpPr>
            <a:spLocks xmlns:a="http://schemas.openxmlformats.org/drawingml/2006/main" noGrp="1"/>
          </p:cNvSpPr>
          <p:nvPr/>
        </p:nvSpPr>
        <p:spPr>
          <a:xfrm xmlns:a="http://schemas.openxmlformats.org/drawingml/2006/main">
            <a:off x="609600" y="1914525"/>
            <a:ext cx="4953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315C8C"/>
                </a:solidFill>
                <a:latin typeface="Arial"/>
                <a:ea typeface="Arial"/>
                <a:cs typeface="Arial"/>
              </a:defRPr>
            </a:defPPr>
            <a:lvl1pPr algn="l">
              <a:defRPr sz="2325" b="0">
                <a:solidFill>
                  <a:srgbClr val="315C8C"/>
                </a:solidFill>
                <a:latin typeface="Arial"/>
                <a:ea typeface="Arial"/>
                <a:cs typeface="Arial"/>
              </a:defRPr>
            </a:lvl1pPr>
            <a:lvl2pPr algn="l">
              <a:defRPr sz="2325" b="0">
                <a:solidFill>
                  <a:srgbClr val="315C8C"/>
                </a:solidFill>
                <a:latin typeface="Arial"/>
                <a:ea typeface="Arial"/>
                <a:cs typeface="Arial"/>
              </a:defRPr>
            </a:lvl2pPr>
            <a:lvl3pPr algn="l">
              <a:defRPr sz="2325" b="0">
                <a:solidFill>
                  <a:srgbClr val="315C8C"/>
                </a:solidFill>
                <a:latin typeface="Arial"/>
                <a:ea typeface="Arial"/>
                <a:cs typeface="Arial"/>
              </a:defRPr>
            </a:lvl3pPr>
            <a:lvl4pPr algn="l">
              <a:defRPr sz="2325" b="0">
                <a:solidFill>
                  <a:srgbClr val="315C8C"/>
                </a:solidFill>
                <a:latin typeface="Arial"/>
                <a:ea typeface="Arial"/>
                <a:cs typeface="Arial"/>
              </a:defRPr>
            </a:lvl4pPr>
            <a:lvl5pPr algn="l">
              <a:defRPr sz="2325" b="0">
                <a:solidFill>
                  <a:srgbClr val="315C8C"/>
                </a:solidFill>
                <a:latin typeface="Arial"/>
                <a:ea typeface="Arial"/>
                <a:cs typeface="Arial"/>
              </a:defRPr>
            </a:lvl5pPr>
            <a:lvl6pPr algn="l">
              <a:defRPr sz="2325" b="0">
                <a:solidFill>
                  <a:srgbClr val="315C8C"/>
                </a:solidFill>
                <a:latin typeface="Arial"/>
                <a:ea typeface="Arial"/>
                <a:cs typeface="Arial"/>
              </a:defRPr>
            </a:lvl6pPr>
            <a:lvl7pPr algn="l">
              <a:defRPr sz="2325" b="0">
                <a:solidFill>
                  <a:srgbClr val="315C8C"/>
                </a:solidFill>
                <a:latin typeface="Arial"/>
                <a:ea typeface="Arial"/>
                <a:cs typeface="Arial"/>
              </a:defRPr>
            </a:lvl7pPr>
            <a:lvl8pPr algn="l">
              <a:defRPr sz="2325" b="0">
                <a:solidFill>
                  <a:srgbClr val="315C8C"/>
                </a:solidFill>
                <a:latin typeface="Arial"/>
                <a:ea typeface="Arial"/>
                <a:cs typeface="Arial"/>
              </a:defRPr>
            </a:lvl8pPr>
            <a:lvl9pPr algn="l">
              <a:defRPr sz="2325" b="0">
                <a:solidFill>
                  <a:srgbClr val="315C8C"/>
                </a:solidFill>
                <a:latin typeface="Arial"/>
                <a:ea typeface="Arial"/>
                <a:cs typeface="Arial"/>
              </a:defRPr>
            </a:lvl9pPr>
          </a:lstStyle>
          <a:p xmlns:a="http://schemas.openxmlformats.org/drawingml/2006/main">
            <a:pPr algn="l">
              <a:defRPr sz="2325" b="0">
                <a:solidFill>
                  <a:srgbClr val="315C8C"/>
                </a:solidFill>
                <a:latin typeface="Arial"/>
                <a:ea typeface="Arial"/>
                <a:cs typeface="Arial"/>
              </a:defRPr>
            </a:pPr>
            <a:r>
              <a:rPr sz="2325" b="0">
                <a:solidFill>
                  <a:srgbClr val="315C8C"/>
                </a:solidFill>
                <a:latin typeface="Arial"/>
                <a:ea typeface="Arial"/>
                <a:cs typeface="Arial"/>
              </a:rPr>
              <a:t>44,761 training wallets</a:t>
            </a:r>
          </a:p>
          <a:p xmlns:a="http://schemas.openxmlformats.org/drawingml/2006/main">
            <a:pPr algn="l">
              <a:defRPr sz="2325" b="0">
                <a:solidFill>
                  <a:srgbClr val="315C8C"/>
                </a:solidFill>
                <a:latin typeface="Arial"/>
                <a:ea typeface="Arial"/>
                <a:cs typeface="Arial"/>
              </a:defRPr>
            </a:pPr>
            <a:r>
              <a:rPr sz="2325" b="0">
                <a:solidFill>
                  <a:srgbClr val="315C8C"/>
                </a:solidFill>
                <a:latin typeface="Arial"/>
                <a:ea typeface="Arial"/>
                <a:cs typeface="Arial"/>
              </a:rPr>
              <a:t>11,191 test wallets</a:t>
            </a:r>
          </a:p>
        </p:txBody>
      </p:sp>
      <p:sp>
        <p:nvSpPr>
          <p:cNvPr id="4" name="validation-heading">
            <a:extLst xmlns:a="http://schemas.openxmlformats.org/drawingml/2006/main">
              <a:ext uri="{FF2B5EF4-FFF2-40B4-BE49-F238E27FC236}">
                <a16:creationId xmlns:a16="http://schemas.microsoft.com/office/drawing/2014/main" id="{B7074653-FA1E-4097-8C59-D3010BCCDE15}"/>
              </a:ext>
            </a:extLst>
          </p:cNvPr>
          <p:cNvSpPr>
            <a:spLocks xmlns:a="http://schemas.openxmlformats.org/drawingml/2006/main" noGrp="1"/>
          </p:cNvSpPr>
          <p:nvPr/>
        </p:nvSpPr>
        <p:spPr>
          <a:xfrm xmlns:a="http://schemas.openxmlformats.org/drawingml/2006/main">
            <a:off x="609600" y="3143250"/>
            <a:ext cx="5095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263449"/>
                </a:solidFill>
                <a:latin typeface="Arial"/>
                <a:ea typeface="Arial"/>
                <a:cs typeface="Arial"/>
              </a:defRPr>
            </a:defPPr>
            <a:lvl1pPr algn="l">
              <a:defRPr sz="2025" b="1">
                <a:solidFill>
                  <a:srgbClr val="263449"/>
                </a:solidFill>
                <a:latin typeface="Arial"/>
                <a:ea typeface="Arial"/>
                <a:cs typeface="Arial"/>
              </a:defRPr>
            </a:lvl1pPr>
            <a:lvl2pPr algn="l">
              <a:defRPr sz="2025" b="1">
                <a:solidFill>
                  <a:srgbClr val="263449"/>
                </a:solidFill>
                <a:latin typeface="Arial"/>
                <a:ea typeface="Arial"/>
                <a:cs typeface="Arial"/>
              </a:defRPr>
            </a:lvl2pPr>
            <a:lvl3pPr algn="l">
              <a:defRPr sz="2025" b="1">
                <a:solidFill>
                  <a:srgbClr val="263449"/>
                </a:solidFill>
                <a:latin typeface="Arial"/>
                <a:ea typeface="Arial"/>
                <a:cs typeface="Arial"/>
              </a:defRPr>
            </a:lvl3pPr>
            <a:lvl4pPr algn="l">
              <a:defRPr sz="2025" b="1">
                <a:solidFill>
                  <a:srgbClr val="263449"/>
                </a:solidFill>
                <a:latin typeface="Arial"/>
                <a:ea typeface="Arial"/>
                <a:cs typeface="Arial"/>
              </a:defRPr>
            </a:lvl4pPr>
            <a:lvl5pPr algn="l">
              <a:defRPr sz="2025" b="1">
                <a:solidFill>
                  <a:srgbClr val="263449"/>
                </a:solidFill>
                <a:latin typeface="Arial"/>
                <a:ea typeface="Arial"/>
                <a:cs typeface="Arial"/>
              </a:defRPr>
            </a:lvl5pPr>
            <a:lvl6pPr algn="l">
              <a:defRPr sz="2025" b="1">
                <a:solidFill>
                  <a:srgbClr val="263449"/>
                </a:solidFill>
                <a:latin typeface="Arial"/>
                <a:ea typeface="Arial"/>
                <a:cs typeface="Arial"/>
              </a:defRPr>
            </a:lvl6pPr>
            <a:lvl7pPr algn="l">
              <a:defRPr sz="2025" b="1">
                <a:solidFill>
                  <a:srgbClr val="263449"/>
                </a:solidFill>
                <a:latin typeface="Arial"/>
                <a:ea typeface="Arial"/>
                <a:cs typeface="Arial"/>
              </a:defRPr>
            </a:lvl7pPr>
            <a:lvl8pPr algn="l">
              <a:defRPr sz="2025" b="1">
                <a:solidFill>
                  <a:srgbClr val="263449"/>
                </a:solidFill>
                <a:latin typeface="Arial"/>
                <a:ea typeface="Arial"/>
                <a:cs typeface="Arial"/>
              </a:defRPr>
            </a:lvl8pPr>
            <a:lvl9pPr algn="l">
              <a:defRPr sz="2025" b="1">
                <a:solidFill>
                  <a:srgbClr val="263449"/>
                </a:solidFill>
                <a:latin typeface="Arial"/>
                <a:ea typeface="Arial"/>
                <a:cs typeface="Arial"/>
              </a:defRPr>
            </a:lvl9pPr>
          </a:lstStyle>
          <a:p xmlns:a="http://schemas.openxmlformats.org/drawingml/2006/main">
            <a:pPr algn="l">
              <a:defRPr sz="2025" b="1">
                <a:solidFill>
                  <a:srgbClr val="263449"/>
                </a:solidFill>
                <a:latin typeface="Arial"/>
                <a:ea typeface="Arial"/>
                <a:cs typeface="Arial"/>
              </a:defRPr>
            </a:pPr>
            <a:r>
              <a:rPr sz="2025" b="1">
                <a:solidFill>
                  <a:srgbClr val="263449"/>
                </a:solidFill>
                <a:latin typeface="Arial"/>
                <a:ea typeface="Arial"/>
                <a:cs typeface="Arial"/>
              </a:rPr>
              <a:t>Model selection within training</a:t>
            </a:r>
          </a:p>
        </p:txBody>
      </p:sp>
      <p:sp>
        <p:nvSpPr>
          <p:cNvPr id="5" name="validation-text">
            <a:extLst xmlns:a="http://schemas.openxmlformats.org/drawingml/2006/main">
              <a:ext uri="{FF2B5EF4-FFF2-40B4-BE49-F238E27FC236}">
                <a16:creationId xmlns:a16="http://schemas.microsoft.com/office/drawing/2014/main" id="{A90C321C-37EF-49A8-A37F-311141452AA0}"/>
              </a:ext>
            </a:extLst>
          </p:cNvPr>
          <p:cNvSpPr>
            <a:spLocks xmlns:a="http://schemas.openxmlformats.org/drawingml/2006/main" noGrp="1"/>
          </p:cNvSpPr>
          <p:nvPr/>
        </p:nvSpPr>
        <p:spPr>
          <a:xfrm xmlns:a="http://schemas.openxmlformats.org/drawingml/2006/main">
            <a:off x="609600" y="3619500"/>
            <a:ext cx="4953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Five-fold validation selects one of six boosting configurations.</a:t>
            </a:r>
          </a:p>
        </p:txBody>
      </p:sp>
      <p:sp>
        <p:nvSpPr>
          <p:cNvPr id="6" name="transformation-text">
            <a:extLst xmlns:a="http://schemas.openxmlformats.org/drawingml/2006/main">
              <a:ext uri="{FF2B5EF4-FFF2-40B4-BE49-F238E27FC236}">
                <a16:creationId xmlns:a16="http://schemas.microsoft.com/office/drawing/2014/main" id="{FC503AA0-73F7-4614-8330-7CABC4A51DFC}"/>
              </a:ext>
            </a:extLst>
          </p:cNvPr>
          <p:cNvSpPr>
            <a:spLocks xmlns:a="http://schemas.openxmlformats.org/drawingml/2006/main" noGrp="1"/>
          </p:cNvSpPr>
          <p:nvPr/>
        </p:nvSpPr>
        <p:spPr>
          <a:xfrm xmlns:a="http://schemas.openxmlformats.org/drawingml/2006/main">
            <a:off x="609600" y="4695825"/>
            <a:ext cx="50958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3449"/>
                </a:solidFill>
                <a:latin typeface="Arial"/>
                <a:ea typeface="Arial"/>
                <a:cs typeface="Arial"/>
              </a:defRPr>
            </a:defPPr>
            <a:lvl1pPr algn="l">
              <a:defRPr sz="1800" b="0">
                <a:solidFill>
                  <a:srgbClr val="263449"/>
                </a:solidFill>
                <a:latin typeface="Arial"/>
                <a:ea typeface="Arial"/>
                <a:cs typeface="Arial"/>
              </a:defRPr>
            </a:lvl1pPr>
            <a:lvl2pPr algn="l">
              <a:defRPr sz="1800" b="0">
                <a:solidFill>
                  <a:srgbClr val="263449"/>
                </a:solidFill>
                <a:latin typeface="Arial"/>
                <a:ea typeface="Arial"/>
                <a:cs typeface="Arial"/>
              </a:defRPr>
            </a:lvl2pPr>
            <a:lvl3pPr algn="l">
              <a:defRPr sz="1800" b="0">
                <a:solidFill>
                  <a:srgbClr val="263449"/>
                </a:solidFill>
                <a:latin typeface="Arial"/>
                <a:ea typeface="Arial"/>
                <a:cs typeface="Arial"/>
              </a:defRPr>
            </a:lvl3pPr>
            <a:lvl4pPr algn="l">
              <a:defRPr sz="1800" b="0">
                <a:solidFill>
                  <a:srgbClr val="263449"/>
                </a:solidFill>
                <a:latin typeface="Arial"/>
                <a:ea typeface="Arial"/>
                <a:cs typeface="Arial"/>
              </a:defRPr>
            </a:lvl4pPr>
            <a:lvl5pPr algn="l">
              <a:defRPr sz="1800" b="0">
                <a:solidFill>
                  <a:srgbClr val="263449"/>
                </a:solidFill>
                <a:latin typeface="Arial"/>
                <a:ea typeface="Arial"/>
                <a:cs typeface="Arial"/>
              </a:defRPr>
            </a:lvl5pPr>
            <a:lvl6pPr algn="l">
              <a:defRPr sz="1800" b="0">
                <a:solidFill>
                  <a:srgbClr val="263449"/>
                </a:solidFill>
                <a:latin typeface="Arial"/>
                <a:ea typeface="Arial"/>
                <a:cs typeface="Arial"/>
              </a:defRPr>
            </a:lvl6pPr>
            <a:lvl7pPr algn="l">
              <a:defRPr sz="1800" b="0">
                <a:solidFill>
                  <a:srgbClr val="263449"/>
                </a:solidFill>
                <a:latin typeface="Arial"/>
                <a:ea typeface="Arial"/>
                <a:cs typeface="Arial"/>
              </a:defRPr>
            </a:lvl7pPr>
            <a:lvl8pPr algn="l">
              <a:defRPr sz="1800" b="0">
                <a:solidFill>
                  <a:srgbClr val="263449"/>
                </a:solidFill>
                <a:latin typeface="Arial"/>
                <a:ea typeface="Arial"/>
                <a:cs typeface="Arial"/>
              </a:defRPr>
            </a:lvl8pPr>
            <a:lvl9pPr algn="l">
              <a:defRPr sz="1800" b="0">
                <a:solidFill>
                  <a:srgbClr val="263449"/>
                </a:solidFill>
                <a:latin typeface="Arial"/>
                <a:ea typeface="Arial"/>
                <a:cs typeface="Arial"/>
              </a:defRPr>
            </a:lvl9pPr>
          </a:lstStyle>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Log-transform five skewed predictors.</a:t>
            </a:r>
          </a:p>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Standardize inputs for linear regression.</a:t>
            </a:r>
          </a:p>
        </p:txBody>
      </p:sp>
      <p:graphicFrame>
        <p:nvGraphicFramePr>
          <p:cNvPr id="7" name="">
            <a:extLst xmlns:a="http://schemas.openxmlformats.org/drawingml/2006/main">
              <a:ext uri="{FF2B5EF4-FFF2-40B4-BE49-F238E27FC236}">
                <a16:creationId xmlns:a16="http://schemas.microsoft.com/office/drawing/2014/main" id="{6A3ABAA4-99F1-4A27-AA26-98BB247B947B}"/>
              </a:ext>
            </a:extLst>
          </p:cNvPr>
          <p:cNvGraphicFramePr/>
          <p:nvPr/>
        </p:nvGraphicFramePr>
        <p:xfrm>
          <a:off xmlns:a="http://schemas.openxmlformats.org/drawingml/2006/main" x="6219825" y="1438275"/>
          <a:ext xmlns:a="http://schemas.openxmlformats.org/drawingml/2006/main" cx="5362575" cy="3114675"/>
        </p:xfrm>
        <a:graphic xmlns:a="http://schemas.openxmlformats.org/drawingml/2006/main">
          <a:graphicData uri="http://schemas.openxmlformats.org/drawingml/2006/table">
            <a:tbl>
              <a:tblPr/>
              <a:tblGrid>
                <a:gridCol w="2124075"/>
                <a:gridCol w="3238500"/>
              </a:tblGrid>
              <a:tr h="485775">
                <a:tc>
                  <a:txBody>
                    <a:bodyPr lIns="123825" tIns="85725" rIns="114300" bIns="85725"/>
                    <a:lstStyle/>
                    <a:p>
                      <a:r>
                        <a:rPr sz="1725" b="1">
                          <a:solidFill>
                            <a:srgbClr val="FFFFFF"/>
                          </a:solidFill>
                          <a:latin typeface="Arial"/>
                          <a:ea typeface="Arial"/>
                          <a:cs typeface="Arial"/>
                        </a:rPr>
                        <a:t>Comparison</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23825" tIns="85725" rIns="114300" bIns="85725"/>
                    <a:lstStyle/>
                    <a:p>
                      <a:r>
                        <a:rPr sz="1725" b="1">
                          <a:solidFill>
                            <a:srgbClr val="FFFFFF"/>
                          </a:solidFill>
                          <a:latin typeface="Arial"/>
                          <a:ea typeface="Arial"/>
                          <a:cs typeface="Arial"/>
                        </a:rPr>
                        <a:t>Prediction rule</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876300">
                <a:tc>
                  <a:txBody>
                    <a:bodyPr lIns="123825" tIns="85725" rIns="114300" bIns="85725"/>
                    <a:lstStyle/>
                    <a:p>
                      <a:r>
                        <a:rPr sz="1725" b="0">
                          <a:solidFill>
                            <a:srgbClr val="263449"/>
                          </a:solidFill>
                          <a:latin typeface="Arial"/>
                          <a:ea typeface="Arial"/>
                          <a:cs typeface="Arial"/>
                        </a:rPr>
                        <a:t>Mean baseline</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23825" tIns="85725" rIns="114300" bIns="85725"/>
                    <a:lstStyle/>
                    <a:p>
                      <a:r>
                        <a:rPr sz="1725" b="0">
                          <a:solidFill>
                            <a:srgbClr val="263449"/>
                          </a:solidFill>
                          <a:latin typeface="Arial"/>
                          <a:ea typeface="Arial"/>
                          <a:cs typeface="Arial"/>
                        </a:rPr>
                        <a:t>Training mean for every wallet</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76300">
                <a:tc>
                  <a:txBody>
                    <a:bodyPr lIns="123825" tIns="85725" rIns="114300" bIns="85725"/>
                    <a:lstStyle/>
                    <a:p>
                      <a:r>
                        <a:rPr sz="1725" b="0">
                          <a:solidFill>
                            <a:srgbClr val="263449"/>
                          </a:solidFill>
                          <a:latin typeface="Arial"/>
                          <a:ea typeface="Arial"/>
                          <a:cs typeface="Arial"/>
                        </a:rPr>
                        <a:t>Linear regression</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23825" tIns="85725" rIns="114300" bIns="85725"/>
                    <a:lstStyle/>
                    <a:p>
                      <a:r>
                        <a:rPr sz="1725" b="0">
                          <a:solidFill>
                            <a:srgbClr val="263449"/>
                          </a:solidFill>
                          <a:latin typeface="Arial"/>
                          <a:ea typeface="Arial"/>
                          <a:cs typeface="Arial"/>
                        </a:rPr>
                        <a:t>Additive associations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76300">
                <a:tc>
                  <a:txBody>
                    <a:bodyPr lIns="123825" tIns="85725" rIns="114300" bIns="85725"/>
                    <a:lstStyle/>
                    <a:p>
                      <a:r>
                        <a:rPr sz="1725" b="0">
                          <a:solidFill>
                            <a:srgbClr val="263449"/>
                          </a:solidFill>
                          <a:latin typeface="Arial"/>
                          <a:ea typeface="Arial"/>
                          <a:cs typeface="Arial"/>
                        </a:rPr>
                        <a:t>Gradient boosting</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23825" tIns="85725" rIns="114300" bIns="85725"/>
                    <a:lstStyle/>
                    <a:p>
                      <a:r>
                        <a:rPr sz="1725" b="0">
                          <a:solidFill>
                            <a:srgbClr val="263449"/>
                          </a:solidFill>
                          <a:latin typeface="Arial"/>
                          <a:ea typeface="Arial"/>
                          <a:cs typeface="Arial"/>
                        </a:rPr>
                        <a:t>Nonlinear patterns and interactions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8" name="predictor-list">
            <a:extLst xmlns:a="http://schemas.openxmlformats.org/drawingml/2006/main">
              <a:ext uri="{FF2B5EF4-FFF2-40B4-BE49-F238E27FC236}">
                <a16:creationId xmlns:a16="http://schemas.microsoft.com/office/drawing/2014/main" id="{79D253A5-6C46-4A2A-B6C1-E1CDE54323CB}"/>
              </a:ext>
            </a:extLst>
          </p:cNvPr>
          <p:cNvSpPr>
            <a:spLocks xmlns:a="http://schemas.openxmlformats.org/drawingml/2006/main" noGrp="1"/>
          </p:cNvSpPr>
          <p:nvPr/>
        </p:nvSpPr>
        <p:spPr>
          <a:xfrm xmlns:a="http://schemas.openxmlformats.org/drawingml/2006/main">
            <a:off x="6219825" y="4810125"/>
            <a:ext cx="53625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263449"/>
                </a:solidFill>
                <a:latin typeface="Arial"/>
                <a:ea typeface="Arial"/>
                <a:cs typeface="Arial"/>
              </a:defRPr>
            </a:defPPr>
            <a:lvl1pPr algn="l">
              <a:defRPr sz="1725" b="0">
                <a:solidFill>
                  <a:srgbClr val="263449"/>
                </a:solidFill>
                <a:latin typeface="Arial"/>
                <a:ea typeface="Arial"/>
                <a:cs typeface="Arial"/>
              </a:defRPr>
            </a:lvl1pPr>
            <a:lvl2pPr algn="l">
              <a:defRPr sz="1725" b="0">
                <a:solidFill>
                  <a:srgbClr val="263449"/>
                </a:solidFill>
                <a:latin typeface="Arial"/>
                <a:ea typeface="Arial"/>
                <a:cs typeface="Arial"/>
              </a:defRPr>
            </a:lvl2pPr>
            <a:lvl3pPr algn="l">
              <a:defRPr sz="1725" b="0">
                <a:solidFill>
                  <a:srgbClr val="263449"/>
                </a:solidFill>
                <a:latin typeface="Arial"/>
                <a:ea typeface="Arial"/>
                <a:cs typeface="Arial"/>
              </a:defRPr>
            </a:lvl3pPr>
            <a:lvl4pPr algn="l">
              <a:defRPr sz="1725" b="0">
                <a:solidFill>
                  <a:srgbClr val="263449"/>
                </a:solidFill>
                <a:latin typeface="Arial"/>
                <a:ea typeface="Arial"/>
                <a:cs typeface="Arial"/>
              </a:defRPr>
            </a:lvl4pPr>
            <a:lvl5pPr algn="l">
              <a:defRPr sz="1725" b="0">
                <a:solidFill>
                  <a:srgbClr val="263449"/>
                </a:solidFill>
                <a:latin typeface="Arial"/>
                <a:ea typeface="Arial"/>
                <a:cs typeface="Arial"/>
              </a:defRPr>
            </a:lvl5pPr>
            <a:lvl6pPr algn="l">
              <a:defRPr sz="1725" b="0">
                <a:solidFill>
                  <a:srgbClr val="263449"/>
                </a:solidFill>
                <a:latin typeface="Arial"/>
                <a:ea typeface="Arial"/>
                <a:cs typeface="Arial"/>
              </a:defRPr>
            </a:lvl6pPr>
            <a:lvl7pPr algn="l">
              <a:defRPr sz="1725" b="0">
                <a:solidFill>
                  <a:srgbClr val="263449"/>
                </a:solidFill>
                <a:latin typeface="Arial"/>
                <a:ea typeface="Arial"/>
                <a:cs typeface="Arial"/>
              </a:defRPr>
            </a:lvl7pPr>
            <a:lvl8pPr algn="l">
              <a:defRPr sz="1725" b="0">
                <a:solidFill>
                  <a:srgbClr val="263449"/>
                </a:solidFill>
                <a:latin typeface="Arial"/>
                <a:ea typeface="Arial"/>
                <a:cs typeface="Arial"/>
              </a:defRPr>
            </a:lvl8pPr>
            <a:lvl9pPr algn="l">
              <a:defRPr sz="1725" b="0">
                <a:solidFill>
                  <a:srgbClr val="263449"/>
                </a:solidFill>
                <a:latin typeface="Arial"/>
                <a:ea typeface="Arial"/>
                <a:cs typeface="Arial"/>
              </a:defRPr>
            </a:lvl9pPr>
          </a:lstStyle>
          <a:p xmlns:a="http://schemas.openxmlformats.org/drawingml/2006/main">
            <a:pPr algn="l">
              <a:defRPr sz="1725" b="0">
                <a:solidFill>
                  <a:srgbClr val="263449"/>
                </a:solidFill>
                <a:latin typeface="Arial"/>
                <a:ea typeface="Arial"/>
                <a:cs typeface="Arial"/>
              </a:defRPr>
            </a:pPr>
            <a:r>
              <a:rPr sz="1725" b="0">
                <a:solidFill>
                  <a:srgbClr val="263449"/>
                </a:solidFill>
                <a:latin typeface="Arial"/>
                <a:ea typeface="Arial"/>
                <a:cs typeface="Arial"/>
              </a:rPr>
              <a:t>Inputs: trade count, markets traded, observed span, concentration, spending, largest purchase.</a:t>
            </a:r>
          </a:p>
        </p:txBody>
      </p:sp>
      <p:sp>
        <p:nvSpPr>
          <p:cNvPr id="9" name="evaluation-rule">
            <a:extLst xmlns:a="http://schemas.openxmlformats.org/drawingml/2006/main">
              <a:ext uri="{FF2B5EF4-FFF2-40B4-BE49-F238E27FC236}">
                <a16:creationId xmlns:a16="http://schemas.microsoft.com/office/drawing/2014/main" id="{54568A6C-56ED-495D-9FFA-A33E835AC0A2}"/>
              </a:ext>
            </a:extLst>
          </p:cNvPr>
          <p:cNvSpPr>
            <a:spLocks xmlns:a="http://schemas.openxmlformats.org/drawingml/2006/main" noGrp="1"/>
          </p:cNvSpPr>
          <p:nvPr/>
        </p:nvSpPr>
        <p:spPr>
          <a:xfrm xmlns:a="http://schemas.openxmlformats.org/drawingml/2006/main">
            <a:off x="609600" y="61055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085"/>
                </a:solidFill>
                <a:latin typeface="Arial"/>
                <a:ea typeface="Arial"/>
                <a:cs typeface="Arial"/>
              </a:defRPr>
            </a:defPPr>
            <a:lvl1pPr algn="l">
              <a:defRPr sz="1500" b="0">
                <a:solidFill>
                  <a:srgbClr val="627085"/>
                </a:solidFill>
                <a:latin typeface="Arial"/>
                <a:ea typeface="Arial"/>
                <a:cs typeface="Arial"/>
              </a:defRPr>
            </a:lvl1pPr>
            <a:lvl2pPr algn="l">
              <a:defRPr sz="1500" b="0">
                <a:solidFill>
                  <a:srgbClr val="627085"/>
                </a:solidFill>
                <a:latin typeface="Arial"/>
                <a:ea typeface="Arial"/>
                <a:cs typeface="Arial"/>
              </a:defRPr>
            </a:lvl2pPr>
            <a:lvl3pPr algn="l">
              <a:defRPr sz="1500" b="0">
                <a:solidFill>
                  <a:srgbClr val="627085"/>
                </a:solidFill>
                <a:latin typeface="Arial"/>
                <a:ea typeface="Arial"/>
                <a:cs typeface="Arial"/>
              </a:defRPr>
            </a:lvl3pPr>
            <a:lvl4pPr algn="l">
              <a:defRPr sz="1500" b="0">
                <a:solidFill>
                  <a:srgbClr val="627085"/>
                </a:solidFill>
                <a:latin typeface="Arial"/>
                <a:ea typeface="Arial"/>
                <a:cs typeface="Arial"/>
              </a:defRPr>
            </a:lvl4pPr>
            <a:lvl5pPr algn="l">
              <a:defRPr sz="1500" b="0">
                <a:solidFill>
                  <a:srgbClr val="627085"/>
                </a:solidFill>
                <a:latin typeface="Arial"/>
                <a:ea typeface="Arial"/>
                <a:cs typeface="Arial"/>
              </a:defRPr>
            </a:lvl5pPr>
            <a:lvl6pPr algn="l">
              <a:defRPr sz="1500" b="0">
                <a:solidFill>
                  <a:srgbClr val="627085"/>
                </a:solidFill>
                <a:latin typeface="Arial"/>
                <a:ea typeface="Arial"/>
                <a:cs typeface="Arial"/>
              </a:defRPr>
            </a:lvl6pPr>
            <a:lvl7pPr algn="l">
              <a:defRPr sz="1500" b="0">
                <a:solidFill>
                  <a:srgbClr val="627085"/>
                </a:solidFill>
                <a:latin typeface="Arial"/>
                <a:ea typeface="Arial"/>
                <a:cs typeface="Arial"/>
              </a:defRPr>
            </a:lvl7pPr>
            <a:lvl8pPr algn="l">
              <a:defRPr sz="1500" b="0">
                <a:solidFill>
                  <a:srgbClr val="627085"/>
                </a:solidFill>
                <a:latin typeface="Arial"/>
                <a:ea typeface="Arial"/>
                <a:cs typeface="Arial"/>
              </a:defRPr>
            </a:lvl8pPr>
            <a:lvl9pPr algn="l">
              <a:defRPr sz="1500" b="0">
                <a:solidFill>
                  <a:srgbClr val="627085"/>
                </a:solidFill>
                <a:latin typeface="Arial"/>
                <a:ea typeface="Arial"/>
                <a:cs typeface="Arial"/>
              </a:defRPr>
            </a:lvl9pPr>
          </a:lstStyle>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Same test wallets for every model. Primary metric: MAE. Secondary checks: RMSE and R².</a:t>
            </a:r>
          </a:p>
        </p:txBody>
      </p:sp>
    </p:spTree>
    <p:extLst>
      <p:ext uri="{BB962C8B-B14F-4D97-AF65-F5344CB8AC3E}">
        <p14:creationId xmlns:p14="http://schemas.microsoft.com/office/powerpoint/2010/main" val="174432542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1D7240C8-C1AC-463D-B5C8-E6F3B2ED2262}"/>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Results</a:t>
            </a:r>
          </a:p>
        </p:txBody>
      </p:sp>
      <p:graphicFrame>
        <p:nvGraphicFramePr>
          <p:cNvPr id="2" name="Chart">
            <a:extLst xmlns:a="http://schemas.openxmlformats.org/drawingml/2006/main">
              <a:ext uri="{FF2B5EF4-FFF2-40B4-BE49-F238E27FC236}">
                <a16:creationId xmlns:a16="http://schemas.microsoft.com/office/drawing/2014/main" id="{A5A03845-069B-4204-B177-32E49E933C9F}"/>
              </a:ext>
            </a:extLst>
          </p:cNvPr>
          <p:cNvGraphicFramePr/>
          <p:nvPr/>
        </p:nvGraphicFramePr>
        <p:xfrm>
          <a:off xmlns:a="http://schemas.openxmlformats.org/drawingml/2006/main" x="609600" y="1304925"/>
          <a:ext xmlns:a="http://schemas.openxmlformats.org/drawingml/2006/main" cx="7372350" cy="3762375"/>
        </p:xfrm>
        <a:graphic xmlns:a="http://schemas.openxmlformats.org/drawingml/2006/main">
          <a:graphicData uri="http://schemas.openxmlformats.org/drawingml/2006/chart">
            <c:chart xmlns:r="http://schemas.openxmlformats.org/officeDocument/2006/relationships" xmlns:c="http://schemas.openxmlformats.org/drawingml/2006/chart" r:id="Ref374d6475f445b9"/>
          </a:graphicData>
        </a:graphic>
      </p:graphicFrame>
      <p:sp>
        <p:nvSpPr>
          <p:cNvPr id="3" name="relative-improvement">
            <a:extLst xmlns:a="http://schemas.openxmlformats.org/drawingml/2006/main">
              <a:ext uri="{FF2B5EF4-FFF2-40B4-BE49-F238E27FC236}">
                <a16:creationId xmlns:a16="http://schemas.microsoft.com/office/drawing/2014/main" id="{12BBB6DE-63D0-424F-A47E-A3D3033917EC}"/>
              </a:ext>
            </a:extLst>
          </p:cNvPr>
          <p:cNvSpPr>
            <a:spLocks xmlns:a="http://schemas.openxmlformats.org/drawingml/2006/main" noGrp="1"/>
          </p:cNvSpPr>
          <p:nvPr/>
        </p:nvSpPr>
        <p:spPr>
          <a:xfrm xmlns:a="http://schemas.openxmlformats.org/drawingml/2006/main">
            <a:off x="8429625" y="1495425"/>
            <a:ext cx="3143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550" b="1">
                <a:solidFill>
                  <a:srgbClr val="DF7137"/>
                </a:solidFill>
                <a:latin typeface="Arial"/>
                <a:ea typeface="Arial"/>
                <a:cs typeface="Arial"/>
              </a:defRPr>
            </a:defPPr>
            <a:lvl1pPr algn="l">
              <a:defRPr sz="5550" b="1">
                <a:solidFill>
                  <a:srgbClr val="DF7137"/>
                </a:solidFill>
                <a:latin typeface="Arial"/>
                <a:ea typeface="Arial"/>
                <a:cs typeface="Arial"/>
              </a:defRPr>
            </a:lvl1pPr>
            <a:lvl2pPr algn="l">
              <a:defRPr sz="5550" b="1">
                <a:solidFill>
                  <a:srgbClr val="DF7137"/>
                </a:solidFill>
                <a:latin typeface="Arial"/>
                <a:ea typeface="Arial"/>
                <a:cs typeface="Arial"/>
              </a:defRPr>
            </a:lvl2pPr>
            <a:lvl3pPr algn="l">
              <a:defRPr sz="5550" b="1">
                <a:solidFill>
                  <a:srgbClr val="DF7137"/>
                </a:solidFill>
                <a:latin typeface="Arial"/>
                <a:ea typeface="Arial"/>
                <a:cs typeface="Arial"/>
              </a:defRPr>
            </a:lvl3pPr>
            <a:lvl4pPr algn="l">
              <a:defRPr sz="5550" b="1">
                <a:solidFill>
                  <a:srgbClr val="DF7137"/>
                </a:solidFill>
                <a:latin typeface="Arial"/>
                <a:ea typeface="Arial"/>
                <a:cs typeface="Arial"/>
              </a:defRPr>
            </a:lvl4pPr>
            <a:lvl5pPr algn="l">
              <a:defRPr sz="5550" b="1">
                <a:solidFill>
                  <a:srgbClr val="DF7137"/>
                </a:solidFill>
                <a:latin typeface="Arial"/>
                <a:ea typeface="Arial"/>
                <a:cs typeface="Arial"/>
              </a:defRPr>
            </a:lvl5pPr>
            <a:lvl6pPr algn="l">
              <a:defRPr sz="5550" b="1">
                <a:solidFill>
                  <a:srgbClr val="DF7137"/>
                </a:solidFill>
                <a:latin typeface="Arial"/>
                <a:ea typeface="Arial"/>
                <a:cs typeface="Arial"/>
              </a:defRPr>
            </a:lvl6pPr>
            <a:lvl7pPr algn="l">
              <a:defRPr sz="5550" b="1">
                <a:solidFill>
                  <a:srgbClr val="DF7137"/>
                </a:solidFill>
                <a:latin typeface="Arial"/>
                <a:ea typeface="Arial"/>
                <a:cs typeface="Arial"/>
              </a:defRPr>
            </a:lvl7pPr>
            <a:lvl8pPr algn="l">
              <a:defRPr sz="5550" b="1">
                <a:solidFill>
                  <a:srgbClr val="DF7137"/>
                </a:solidFill>
                <a:latin typeface="Arial"/>
                <a:ea typeface="Arial"/>
                <a:cs typeface="Arial"/>
              </a:defRPr>
            </a:lvl8pPr>
            <a:lvl9pPr algn="l">
              <a:defRPr sz="5550" b="1">
                <a:solidFill>
                  <a:srgbClr val="DF7137"/>
                </a:solidFill>
                <a:latin typeface="Arial"/>
                <a:ea typeface="Arial"/>
                <a:cs typeface="Arial"/>
              </a:defRPr>
            </a:lvl9pPr>
          </a:lstStyle>
          <a:p xmlns:a="http://schemas.openxmlformats.org/drawingml/2006/main">
            <a:pPr algn="l">
              <a:defRPr sz="5550" b="1">
                <a:solidFill>
                  <a:srgbClr val="DF7137"/>
                </a:solidFill>
                <a:latin typeface="Arial"/>
                <a:ea typeface="Arial"/>
                <a:cs typeface="Arial"/>
              </a:defRPr>
            </a:pPr>
            <a:r>
              <a:rPr sz="5550" b="1">
                <a:solidFill>
                  <a:srgbClr val="DF7137"/>
                </a:solidFill>
                <a:latin typeface="Arial"/>
                <a:ea typeface="Arial"/>
                <a:cs typeface="Arial"/>
              </a:rPr>
              <a:t>15.4%</a:t>
            </a:r>
          </a:p>
        </p:txBody>
      </p:sp>
      <p:sp>
        <p:nvSpPr>
          <p:cNvPr id="4" name="relative-improvement-label">
            <a:extLst xmlns:a="http://schemas.openxmlformats.org/drawingml/2006/main">
              <a:ext uri="{FF2B5EF4-FFF2-40B4-BE49-F238E27FC236}">
                <a16:creationId xmlns:a16="http://schemas.microsoft.com/office/drawing/2014/main" id="{1F0CBCBE-BFB9-43A7-94F9-9658E7137C68}"/>
              </a:ext>
            </a:extLst>
          </p:cNvPr>
          <p:cNvSpPr>
            <a:spLocks xmlns:a="http://schemas.openxmlformats.org/drawingml/2006/main" noGrp="1"/>
          </p:cNvSpPr>
          <p:nvPr/>
        </p:nvSpPr>
        <p:spPr>
          <a:xfrm xmlns:a="http://schemas.openxmlformats.org/drawingml/2006/main">
            <a:off x="8429625" y="2533650"/>
            <a:ext cx="3143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lower MAE than</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linear regression</a:t>
            </a:r>
          </a:p>
        </p:txBody>
      </p:sp>
      <p:sp>
        <p:nvSpPr>
          <p:cNvPr id="5" name="r-squared">
            <a:extLst xmlns:a="http://schemas.openxmlformats.org/drawingml/2006/main">
              <a:ext uri="{FF2B5EF4-FFF2-40B4-BE49-F238E27FC236}">
                <a16:creationId xmlns:a16="http://schemas.microsoft.com/office/drawing/2014/main" id="{B975CDBC-83F1-44AC-A643-0A05B8103DFF}"/>
              </a:ext>
            </a:extLst>
          </p:cNvPr>
          <p:cNvSpPr>
            <a:spLocks xmlns:a="http://schemas.openxmlformats.org/drawingml/2006/main" noGrp="1"/>
          </p:cNvSpPr>
          <p:nvPr/>
        </p:nvSpPr>
        <p:spPr>
          <a:xfrm xmlns:a="http://schemas.openxmlformats.org/drawingml/2006/main">
            <a:off x="8429625" y="3819525"/>
            <a:ext cx="3143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75" b="1">
                <a:solidFill>
                  <a:srgbClr val="315C8C"/>
                </a:solidFill>
                <a:latin typeface="Arial"/>
                <a:ea typeface="Arial"/>
                <a:cs typeface="Arial"/>
              </a:defRPr>
            </a:defPPr>
            <a:lvl1pPr algn="l">
              <a:defRPr sz="2775" b="1">
                <a:solidFill>
                  <a:srgbClr val="315C8C"/>
                </a:solidFill>
                <a:latin typeface="Arial"/>
                <a:ea typeface="Arial"/>
                <a:cs typeface="Arial"/>
              </a:defRPr>
            </a:lvl1pPr>
            <a:lvl2pPr algn="l">
              <a:defRPr sz="2775" b="1">
                <a:solidFill>
                  <a:srgbClr val="315C8C"/>
                </a:solidFill>
                <a:latin typeface="Arial"/>
                <a:ea typeface="Arial"/>
                <a:cs typeface="Arial"/>
              </a:defRPr>
            </a:lvl2pPr>
            <a:lvl3pPr algn="l">
              <a:defRPr sz="2775" b="1">
                <a:solidFill>
                  <a:srgbClr val="315C8C"/>
                </a:solidFill>
                <a:latin typeface="Arial"/>
                <a:ea typeface="Arial"/>
                <a:cs typeface="Arial"/>
              </a:defRPr>
            </a:lvl3pPr>
            <a:lvl4pPr algn="l">
              <a:defRPr sz="2775" b="1">
                <a:solidFill>
                  <a:srgbClr val="315C8C"/>
                </a:solidFill>
                <a:latin typeface="Arial"/>
                <a:ea typeface="Arial"/>
                <a:cs typeface="Arial"/>
              </a:defRPr>
            </a:lvl4pPr>
            <a:lvl5pPr algn="l">
              <a:defRPr sz="2775" b="1">
                <a:solidFill>
                  <a:srgbClr val="315C8C"/>
                </a:solidFill>
                <a:latin typeface="Arial"/>
                <a:ea typeface="Arial"/>
                <a:cs typeface="Arial"/>
              </a:defRPr>
            </a:lvl5pPr>
            <a:lvl6pPr algn="l">
              <a:defRPr sz="2775" b="1">
                <a:solidFill>
                  <a:srgbClr val="315C8C"/>
                </a:solidFill>
                <a:latin typeface="Arial"/>
                <a:ea typeface="Arial"/>
                <a:cs typeface="Arial"/>
              </a:defRPr>
            </a:lvl6pPr>
            <a:lvl7pPr algn="l">
              <a:defRPr sz="2775" b="1">
                <a:solidFill>
                  <a:srgbClr val="315C8C"/>
                </a:solidFill>
                <a:latin typeface="Arial"/>
                <a:ea typeface="Arial"/>
                <a:cs typeface="Arial"/>
              </a:defRPr>
            </a:lvl7pPr>
            <a:lvl8pPr algn="l">
              <a:defRPr sz="2775" b="1">
                <a:solidFill>
                  <a:srgbClr val="315C8C"/>
                </a:solidFill>
                <a:latin typeface="Arial"/>
                <a:ea typeface="Arial"/>
                <a:cs typeface="Arial"/>
              </a:defRPr>
            </a:lvl8pPr>
            <a:lvl9pPr algn="l">
              <a:defRPr sz="2775" b="1">
                <a:solidFill>
                  <a:srgbClr val="315C8C"/>
                </a:solidFill>
                <a:latin typeface="Arial"/>
                <a:ea typeface="Arial"/>
                <a:cs typeface="Arial"/>
              </a:defRPr>
            </a:lvl9pPr>
          </a:lstStyle>
          <a:p xmlns:a="http://schemas.openxmlformats.org/drawingml/2006/main">
            <a:pPr algn="l">
              <a:defRPr sz="2775" b="1">
                <a:solidFill>
                  <a:srgbClr val="315C8C"/>
                </a:solidFill>
                <a:latin typeface="Arial"/>
                <a:ea typeface="Arial"/>
                <a:cs typeface="Arial"/>
              </a:defRPr>
            </a:pPr>
            <a:r>
              <a:rPr sz="2775" b="1">
                <a:solidFill>
                  <a:srgbClr val="315C8C"/>
                </a:solidFill>
                <a:latin typeface="Arial"/>
                <a:ea typeface="Arial"/>
                <a:cs typeface="Arial"/>
              </a:rPr>
              <a:t>R² 0.368</a:t>
            </a:r>
          </a:p>
        </p:txBody>
      </p:sp>
      <p:sp>
        <p:nvSpPr>
          <p:cNvPr id="6" name="r-squared-reference">
            <a:extLst xmlns:a="http://schemas.openxmlformats.org/drawingml/2006/main">
              <a:ext uri="{FF2B5EF4-FFF2-40B4-BE49-F238E27FC236}">
                <a16:creationId xmlns:a16="http://schemas.microsoft.com/office/drawing/2014/main" id="{672E76EA-789A-4EA2-976B-6D96C61EF822}"/>
              </a:ext>
            </a:extLst>
          </p:cNvPr>
          <p:cNvSpPr>
            <a:spLocks xmlns:a="http://schemas.openxmlformats.org/drawingml/2006/main" noGrp="1"/>
          </p:cNvSpPr>
          <p:nvPr/>
        </p:nvSpPr>
        <p:spPr>
          <a:xfrm xmlns:a="http://schemas.openxmlformats.org/drawingml/2006/main">
            <a:off x="8429625" y="4381500"/>
            <a:ext cx="314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263449"/>
                </a:solidFill>
                <a:latin typeface="Arial"/>
                <a:ea typeface="Arial"/>
                <a:cs typeface="Arial"/>
              </a:defRPr>
            </a:defPPr>
            <a:lvl1pPr algn="l">
              <a:defRPr sz="1725" b="0">
                <a:solidFill>
                  <a:srgbClr val="263449"/>
                </a:solidFill>
                <a:latin typeface="Arial"/>
                <a:ea typeface="Arial"/>
                <a:cs typeface="Arial"/>
              </a:defRPr>
            </a:lvl1pPr>
            <a:lvl2pPr algn="l">
              <a:defRPr sz="1725" b="0">
                <a:solidFill>
                  <a:srgbClr val="263449"/>
                </a:solidFill>
                <a:latin typeface="Arial"/>
                <a:ea typeface="Arial"/>
                <a:cs typeface="Arial"/>
              </a:defRPr>
            </a:lvl2pPr>
            <a:lvl3pPr algn="l">
              <a:defRPr sz="1725" b="0">
                <a:solidFill>
                  <a:srgbClr val="263449"/>
                </a:solidFill>
                <a:latin typeface="Arial"/>
                <a:ea typeface="Arial"/>
                <a:cs typeface="Arial"/>
              </a:defRPr>
            </a:lvl3pPr>
            <a:lvl4pPr algn="l">
              <a:defRPr sz="1725" b="0">
                <a:solidFill>
                  <a:srgbClr val="263449"/>
                </a:solidFill>
                <a:latin typeface="Arial"/>
                <a:ea typeface="Arial"/>
                <a:cs typeface="Arial"/>
              </a:defRPr>
            </a:lvl4pPr>
            <a:lvl5pPr algn="l">
              <a:defRPr sz="1725" b="0">
                <a:solidFill>
                  <a:srgbClr val="263449"/>
                </a:solidFill>
                <a:latin typeface="Arial"/>
                <a:ea typeface="Arial"/>
                <a:cs typeface="Arial"/>
              </a:defRPr>
            </a:lvl5pPr>
            <a:lvl6pPr algn="l">
              <a:defRPr sz="1725" b="0">
                <a:solidFill>
                  <a:srgbClr val="263449"/>
                </a:solidFill>
                <a:latin typeface="Arial"/>
                <a:ea typeface="Arial"/>
                <a:cs typeface="Arial"/>
              </a:defRPr>
            </a:lvl6pPr>
            <a:lvl7pPr algn="l">
              <a:defRPr sz="1725" b="0">
                <a:solidFill>
                  <a:srgbClr val="263449"/>
                </a:solidFill>
                <a:latin typeface="Arial"/>
                <a:ea typeface="Arial"/>
                <a:cs typeface="Arial"/>
              </a:defRPr>
            </a:lvl7pPr>
            <a:lvl8pPr algn="l">
              <a:defRPr sz="1725" b="0">
                <a:solidFill>
                  <a:srgbClr val="263449"/>
                </a:solidFill>
                <a:latin typeface="Arial"/>
                <a:ea typeface="Arial"/>
                <a:cs typeface="Arial"/>
              </a:defRPr>
            </a:lvl8pPr>
            <a:lvl9pPr algn="l">
              <a:defRPr sz="1725" b="0">
                <a:solidFill>
                  <a:srgbClr val="263449"/>
                </a:solidFill>
                <a:latin typeface="Arial"/>
                <a:ea typeface="Arial"/>
                <a:cs typeface="Arial"/>
              </a:defRPr>
            </a:lvl9pPr>
          </a:lstStyle>
          <a:p xmlns:a="http://schemas.openxmlformats.org/drawingml/2006/main">
            <a:pPr algn="l">
              <a:defRPr sz="1725" b="0">
                <a:solidFill>
                  <a:srgbClr val="263449"/>
                </a:solidFill>
                <a:latin typeface="Arial"/>
                <a:ea typeface="Arial"/>
                <a:cs typeface="Arial"/>
              </a:defRPr>
            </a:pPr>
            <a:r>
              <a:rPr sz="1725" b="0">
                <a:solidFill>
                  <a:srgbClr val="263449"/>
                </a:solidFill>
                <a:latin typeface="Arial"/>
                <a:ea typeface="Arial"/>
                <a:cs typeface="Arial"/>
              </a:rPr>
              <a:t>vs 0.197 for linear regression</a:t>
            </a:r>
          </a:p>
        </p:txBody>
      </p:sp>
      <p:sp>
        <p:nvSpPr>
          <p:cNvPr id="7" name="paired-interval">
            <a:extLst xmlns:a="http://schemas.openxmlformats.org/drawingml/2006/main">
              <a:ext uri="{FF2B5EF4-FFF2-40B4-BE49-F238E27FC236}">
                <a16:creationId xmlns:a16="http://schemas.microsoft.com/office/drawing/2014/main" id="{B237F38F-EBE7-4F91-B3B7-832433557688}"/>
              </a:ext>
            </a:extLst>
          </p:cNvPr>
          <p:cNvSpPr>
            <a:spLocks xmlns:a="http://schemas.openxmlformats.org/drawingml/2006/main" noGrp="1"/>
          </p:cNvSpPr>
          <p:nvPr/>
        </p:nvSpPr>
        <p:spPr>
          <a:xfrm xmlns:a="http://schemas.openxmlformats.org/drawingml/2006/main">
            <a:off x="609600" y="541972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Absolute MAE reduction: 3.04 cents</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95% paired bootstrap interval: 2.86 to 3.23 cents</a:t>
            </a:r>
          </a:p>
        </p:txBody>
      </p:sp>
      <p:sp>
        <p:nvSpPr>
          <p:cNvPr id="8" name="test-evaluation-footnote">
            <a:extLst xmlns:a="http://schemas.openxmlformats.org/drawingml/2006/main">
              <a:ext uri="{FF2B5EF4-FFF2-40B4-BE49-F238E27FC236}">
                <a16:creationId xmlns:a16="http://schemas.microsoft.com/office/drawing/2014/main" id="{50F518D3-AD76-4F38-91BF-1B08E98D41A0}"/>
              </a:ext>
            </a:extLst>
          </p:cNvPr>
          <p:cNvSpPr>
            <a:spLocks xmlns:a="http://schemas.openxmlformats.org/drawingml/2006/main" noGrp="1"/>
          </p:cNvSpPr>
          <p:nvPr/>
        </p:nvSpPr>
        <p:spPr>
          <a:xfrm xmlns:a="http://schemas.openxmlformats.org/drawingml/2006/main">
            <a:off x="609600" y="63436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27085"/>
                </a:solidFill>
                <a:latin typeface="Arial"/>
                <a:ea typeface="Arial"/>
                <a:cs typeface="Arial"/>
              </a:defRPr>
            </a:defPPr>
            <a:lvl1pPr algn="l">
              <a:defRPr sz="1350" b="0">
                <a:solidFill>
                  <a:srgbClr val="627085"/>
                </a:solidFill>
                <a:latin typeface="Arial"/>
                <a:ea typeface="Arial"/>
                <a:cs typeface="Arial"/>
              </a:defRPr>
            </a:lvl1pPr>
            <a:lvl2pPr algn="l">
              <a:defRPr sz="1350" b="0">
                <a:solidFill>
                  <a:srgbClr val="627085"/>
                </a:solidFill>
                <a:latin typeface="Arial"/>
                <a:ea typeface="Arial"/>
                <a:cs typeface="Arial"/>
              </a:defRPr>
            </a:lvl2pPr>
            <a:lvl3pPr algn="l">
              <a:defRPr sz="1350" b="0">
                <a:solidFill>
                  <a:srgbClr val="627085"/>
                </a:solidFill>
                <a:latin typeface="Arial"/>
                <a:ea typeface="Arial"/>
                <a:cs typeface="Arial"/>
              </a:defRPr>
            </a:lvl3pPr>
            <a:lvl4pPr algn="l">
              <a:defRPr sz="1350" b="0">
                <a:solidFill>
                  <a:srgbClr val="627085"/>
                </a:solidFill>
                <a:latin typeface="Arial"/>
                <a:ea typeface="Arial"/>
                <a:cs typeface="Arial"/>
              </a:defRPr>
            </a:lvl4pPr>
            <a:lvl5pPr algn="l">
              <a:defRPr sz="1350" b="0">
                <a:solidFill>
                  <a:srgbClr val="627085"/>
                </a:solidFill>
                <a:latin typeface="Arial"/>
                <a:ea typeface="Arial"/>
                <a:cs typeface="Arial"/>
              </a:defRPr>
            </a:lvl5pPr>
            <a:lvl6pPr algn="l">
              <a:defRPr sz="1350" b="0">
                <a:solidFill>
                  <a:srgbClr val="627085"/>
                </a:solidFill>
                <a:latin typeface="Arial"/>
                <a:ea typeface="Arial"/>
                <a:cs typeface="Arial"/>
              </a:defRPr>
            </a:lvl6pPr>
            <a:lvl7pPr algn="l">
              <a:defRPr sz="1350" b="0">
                <a:solidFill>
                  <a:srgbClr val="627085"/>
                </a:solidFill>
                <a:latin typeface="Arial"/>
                <a:ea typeface="Arial"/>
                <a:cs typeface="Arial"/>
              </a:defRPr>
            </a:lvl7pPr>
            <a:lvl8pPr algn="l">
              <a:defRPr sz="1350" b="0">
                <a:solidFill>
                  <a:srgbClr val="627085"/>
                </a:solidFill>
                <a:latin typeface="Arial"/>
                <a:ea typeface="Arial"/>
                <a:cs typeface="Arial"/>
              </a:defRPr>
            </a:lvl8pPr>
            <a:lvl9pPr algn="l">
              <a:defRPr sz="1350" b="0">
                <a:solidFill>
                  <a:srgbClr val="627085"/>
                </a:solidFill>
                <a:latin typeface="Arial"/>
                <a:ea typeface="Arial"/>
                <a:cs typeface="Arial"/>
              </a:defRPr>
            </a:lvl9pPr>
          </a:lstStyle>
          <a:p xmlns:a="http://schemas.openxmlformats.org/drawingml/2006/main">
            <a:pPr algn="l">
              <a:defRPr sz="1350" b="0">
                <a:solidFill>
                  <a:srgbClr val="627085"/>
                </a:solidFill>
                <a:latin typeface="Arial"/>
                <a:ea typeface="Arial"/>
                <a:cs typeface="Arial"/>
              </a:defRPr>
            </a:pPr>
            <a:r>
              <a:rPr sz="1350" b="0">
                <a:solidFill>
                  <a:srgbClr val="627085"/>
                </a:solidFill>
                <a:latin typeface="Arial"/>
                <a:ea typeface="Arial"/>
                <a:cs typeface="Arial"/>
              </a:rPr>
              <a:t>11,191 test wallets. Bootstrap intervals condition on the fitted models and assume wallet independence.</a:t>
            </a:r>
          </a:p>
        </p:txBody>
      </p:sp>
    </p:spTree>
    <p:extLst>
      <p:ext uri="{BB962C8B-B14F-4D97-AF65-F5344CB8AC3E}">
        <p14:creationId xmlns:p14="http://schemas.microsoft.com/office/powerpoint/2010/main" val="12402945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33722161-C0BB-44CF-8CDA-8F2EF9387621}"/>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Interpretation</a:t>
            </a:r>
          </a:p>
        </p:txBody>
      </p:sp>
      <p:graphicFrame>
        <p:nvGraphicFramePr>
          <p:cNvPr id="2" name="Chart">
            <a:extLst xmlns:a="http://schemas.openxmlformats.org/drawingml/2006/main">
              <a:ext uri="{FF2B5EF4-FFF2-40B4-BE49-F238E27FC236}">
                <a16:creationId xmlns:a16="http://schemas.microsoft.com/office/drawing/2014/main" id="{AB827B3F-684F-403C-BD48-3831C3367B8A}"/>
              </a:ext>
            </a:extLst>
          </p:cNvPr>
          <p:cNvGraphicFramePr/>
          <p:nvPr/>
        </p:nvGraphicFramePr>
        <p:xfrm>
          <a:off xmlns:a="http://schemas.openxmlformats.org/drawingml/2006/main" x="533400" y="1381125"/>
          <a:ext xmlns:a="http://schemas.openxmlformats.org/drawingml/2006/main" cx="7124700" cy="4181475"/>
        </p:xfrm>
        <a:graphic xmlns:a="http://schemas.openxmlformats.org/drawingml/2006/main">
          <a:graphicData uri="http://schemas.openxmlformats.org/drawingml/2006/chart">
            <c:chart xmlns:r="http://schemas.openxmlformats.org/officeDocument/2006/relationships" xmlns:c="http://schemas.openxmlformats.org/drawingml/2006/chart" r:id="R36f325cbc1d44c2a"/>
          </a:graphicData>
        </a:graphic>
      </p:graphicFrame>
      <p:sp>
        <p:nvSpPr>
          <p:cNvPr id="3" name="reliance-takeaway">
            <a:extLst xmlns:a="http://schemas.openxmlformats.org/drawingml/2006/main">
              <a:ext uri="{FF2B5EF4-FFF2-40B4-BE49-F238E27FC236}">
                <a16:creationId xmlns:a16="http://schemas.microsoft.com/office/drawing/2014/main" id="{0B7383E1-2AB8-4521-B4D2-FC549CB0C6DD}"/>
              </a:ext>
            </a:extLst>
          </p:cNvPr>
          <p:cNvSpPr>
            <a:spLocks xmlns:a="http://schemas.openxmlformats.org/drawingml/2006/main" noGrp="1"/>
          </p:cNvSpPr>
          <p:nvPr/>
        </p:nvSpPr>
        <p:spPr>
          <a:xfrm xmlns:a="http://schemas.openxmlformats.org/drawingml/2006/main">
            <a:off x="8105775" y="1533525"/>
            <a:ext cx="3429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Trade count has the strongest model reliance.</a:t>
            </a:r>
          </a:p>
        </p:txBody>
      </p:sp>
      <p:sp>
        <p:nvSpPr>
          <p:cNvPr id="4" name="ablation-takeaway">
            <a:extLst xmlns:a="http://schemas.openxmlformats.org/drawingml/2006/main">
              <a:ext uri="{FF2B5EF4-FFF2-40B4-BE49-F238E27FC236}">
                <a16:creationId xmlns:a16="http://schemas.microsoft.com/office/drawing/2014/main" id="{5BB4BB36-9BB2-45CF-A4A6-FD088C01E86D}"/>
              </a:ext>
            </a:extLst>
          </p:cNvPr>
          <p:cNvSpPr>
            <a:spLocks xmlns:a="http://schemas.openxmlformats.org/drawingml/2006/main" noGrp="1"/>
          </p:cNvSpPr>
          <p:nvPr/>
        </p:nvSpPr>
        <p:spPr>
          <a:xfrm xmlns:a="http://schemas.openxmlformats.org/drawingml/2006/main">
            <a:off x="8105775" y="3086100"/>
            <a:ext cx="3429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Removing spending and largest purchase raises MAE to 19.97 cents.</a:t>
            </a:r>
          </a:p>
        </p:txBody>
      </p:sp>
      <p:sp>
        <p:nvSpPr>
          <p:cNvPr id="5" name="scope-caution">
            <a:extLst xmlns:a="http://schemas.openxmlformats.org/drawingml/2006/main">
              <a:ext uri="{FF2B5EF4-FFF2-40B4-BE49-F238E27FC236}">
                <a16:creationId xmlns:a16="http://schemas.microsoft.com/office/drawing/2014/main" id="{8AA84B37-1E95-4B8C-952A-3B4F41C1AEE8}"/>
              </a:ext>
            </a:extLst>
          </p:cNvPr>
          <p:cNvSpPr>
            <a:spLocks xmlns:a="http://schemas.openxmlformats.org/drawingml/2006/main" noGrp="1"/>
          </p:cNvSpPr>
          <p:nvPr/>
        </p:nvSpPr>
        <p:spPr>
          <a:xfrm xmlns:a="http://schemas.openxmlformats.org/drawingml/2006/main">
            <a:off x="8105775" y="4676775"/>
            <a:ext cx="3429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3449"/>
                </a:solidFill>
                <a:latin typeface="Arial"/>
                <a:ea typeface="Arial"/>
                <a:cs typeface="Arial"/>
              </a:defRPr>
            </a:defPPr>
            <a:lvl1pPr algn="l">
              <a:defRPr sz="1800" b="0">
                <a:solidFill>
                  <a:srgbClr val="263449"/>
                </a:solidFill>
                <a:latin typeface="Arial"/>
                <a:ea typeface="Arial"/>
                <a:cs typeface="Arial"/>
              </a:defRPr>
            </a:lvl1pPr>
            <a:lvl2pPr algn="l">
              <a:defRPr sz="1800" b="0">
                <a:solidFill>
                  <a:srgbClr val="263449"/>
                </a:solidFill>
                <a:latin typeface="Arial"/>
                <a:ea typeface="Arial"/>
                <a:cs typeface="Arial"/>
              </a:defRPr>
            </a:lvl2pPr>
            <a:lvl3pPr algn="l">
              <a:defRPr sz="1800" b="0">
                <a:solidFill>
                  <a:srgbClr val="263449"/>
                </a:solidFill>
                <a:latin typeface="Arial"/>
                <a:ea typeface="Arial"/>
                <a:cs typeface="Arial"/>
              </a:defRPr>
            </a:lvl3pPr>
            <a:lvl4pPr algn="l">
              <a:defRPr sz="1800" b="0">
                <a:solidFill>
                  <a:srgbClr val="263449"/>
                </a:solidFill>
                <a:latin typeface="Arial"/>
                <a:ea typeface="Arial"/>
                <a:cs typeface="Arial"/>
              </a:defRPr>
            </a:lvl4pPr>
            <a:lvl5pPr algn="l">
              <a:defRPr sz="1800" b="0">
                <a:solidFill>
                  <a:srgbClr val="263449"/>
                </a:solidFill>
                <a:latin typeface="Arial"/>
                <a:ea typeface="Arial"/>
                <a:cs typeface="Arial"/>
              </a:defRPr>
            </a:lvl5pPr>
            <a:lvl6pPr algn="l">
              <a:defRPr sz="1800" b="0">
                <a:solidFill>
                  <a:srgbClr val="263449"/>
                </a:solidFill>
                <a:latin typeface="Arial"/>
                <a:ea typeface="Arial"/>
                <a:cs typeface="Arial"/>
              </a:defRPr>
            </a:lvl6pPr>
            <a:lvl7pPr algn="l">
              <a:defRPr sz="1800" b="0">
                <a:solidFill>
                  <a:srgbClr val="263449"/>
                </a:solidFill>
                <a:latin typeface="Arial"/>
                <a:ea typeface="Arial"/>
                <a:cs typeface="Arial"/>
              </a:defRPr>
            </a:lvl7pPr>
            <a:lvl8pPr algn="l">
              <a:defRPr sz="1800" b="0">
                <a:solidFill>
                  <a:srgbClr val="263449"/>
                </a:solidFill>
                <a:latin typeface="Arial"/>
                <a:ea typeface="Arial"/>
                <a:cs typeface="Arial"/>
              </a:defRPr>
            </a:lvl8pPr>
            <a:lvl9pPr algn="l">
              <a:defRPr sz="1800" b="0">
                <a:solidFill>
                  <a:srgbClr val="263449"/>
                </a:solidFill>
                <a:latin typeface="Arial"/>
                <a:ea typeface="Arial"/>
                <a:cs typeface="Arial"/>
              </a:defRPr>
            </a:lvl9pPr>
          </a:lstStyle>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Inputs and target come from the same trades.</a:t>
            </a:r>
          </a:p>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Price differences can reflect market choice and timing.</a:t>
            </a:r>
          </a:p>
        </p:txBody>
      </p:sp>
      <p:sp>
        <p:nvSpPr>
          <p:cNvPr id="6" name="attribution-caution">
            <a:extLst xmlns:a="http://schemas.openxmlformats.org/drawingml/2006/main">
              <a:ext uri="{FF2B5EF4-FFF2-40B4-BE49-F238E27FC236}">
                <a16:creationId xmlns:a16="http://schemas.microsoft.com/office/drawing/2014/main" id="{4D18B851-587F-409A-B97B-04A75D4D06F6}"/>
              </a:ext>
            </a:extLst>
          </p:cNvPr>
          <p:cNvSpPr>
            <a:spLocks xmlns:a="http://schemas.openxmlformats.org/drawingml/2006/main" noGrp="1"/>
          </p:cNvSpPr>
          <p:nvPr/>
        </p:nvSpPr>
        <p:spPr>
          <a:xfrm xmlns:a="http://schemas.openxmlformats.org/drawingml/2006/main">
            <a:off x="609600" y="606742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085"/>
                </a:solidFill>
                <a:latin typeface="Arial"/>
                <a:ea typeface="Arial"/>
                <a:cs typeface="Arial"/>
              </a:defRPr>
            </a:defPPr>
            <a:lvl1pPr algn="l">
              <a:defRPr sz="1500" b="0">
                <a:solidFill>
                  <a:srgbClr val="627085"/>
                </a:solidFill>
                <a:latin typeface="Arial"/>
                <a:ea typeface="Arial"/>
                <a:cs typeface="Arial"/>
              </a:defRPr>
            </a:lvl1pPr>
            <a:lvl2pPr algn="l">
              <a:defRPr sz="1500" b="0">
                <a:solidFill>
                  <a:srgbClr val="627085"/>
                </a:solidFill>
                <a:latin typeface="Arial"/>
                <a:ea typeface="Arial"/>
                <a:cs typeface="Arial"/>
              </a:defRPr>
            </a:lvl2pPr>
            <a:lvl3pPr algn="l">
              <a:defRPr sz="1500" b="0">
                <a:solidFill>
                  <a:srgbClr val="627085"/>
                </a:solidFill>
                <a:latin typeface="Arial"/>
                <a:ea typeface="Arial"/>
                <a:cs typeface="Arial"/>
              </a:defRPr>
            </a:lvl3pPr>
            <a:lvl4pPr algn="l">
              <a:defRPr sz="1500" b="0">
                <a:solidFill>
                  <a:srgbClr val="627085"/>
                </a:solidFill>
                <a:latin typeface="Arial"/>
                <a:ea typeface="Arial"/>
                <a:cs typeface="Arial"/>
              </a:defRPr>
            </a:lvl4pPr>
            <a:lvl5pPr algn="l">
              <a:defRPr sz="1500" b="0">
                <a:solidFill>
                  <a:srgbClr val="627085"/>
                </a:solidFill>
                <a:latin typeface="Arial"/>
                <a:ea typeface="Arial"/>
                <a:cs typeface="Arial"/>
              </a:defRPr>
            </a:lvl5pPr>
            <a:lvl6pPr algn="l">
              <a:defRPr sz="1500" b="0">
                <a:solidFill>
                  <a:srgbClr val="627085"/>
                </a:solidFill>
                <a:latin typeface="Arial"/>
                <a:ea typeface="Arial"/>
                <a:cs typeface="Arial"/>
              </a:defRPr>
            </a:lvl6pPr>
            <a:lvl7pPr algn="l">
              <a:defRPr sz="1500" b="0">
                <a:solidFill>
                  <a:srgbClr val="627085"/>
                </a:solidFill>
                <a:latin typeface="Arial"/>
                <a:ea typeface="Arial"/>
                <a:cs typeface="Arial"/>
              </a:defRPr>
            </a:lvl7pPr>
            <a:lvl8pPr algn="l">
              <a:defRPr sz="1500" b="0">
                <a:solidFill>
                  <a:srgbClr val="627085"/>
                </a:solidFill>
                <a:latin typeface="Arial"/>
                <a:ea typeface="Arial"/>
                <a:cs typeface="Arial"/>
              </a:defRPr>
            </a:lvl8pPr>
            <a:lvl9pPr algn="l">
              <a:defRPr sz="1500" b="0">
                <a:solidFill>
                  <a:srgbClr val="627085"/>
                </a:solidFill>
                <a:latin typeface="Arial"/>
                <a:ea typeface="Arial"/>
                <a:cs typeface="Arial"/>
              </a:defRPr>
            </a:lvl9pPr>
          </a:lstStyle>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Correlated inputs limit attribution. Importance gives no effect direction.</a:t>
            </a:r>
          </a:p>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These results do not establish profit, trading skill, or causal effects.</a:t>
            </a:r>
          </a:p>
        </p:txBody>
      </p:sp>
    </p:spTree>
    <p:extLst>
      <p:ext uri="{BB962C8B-B14F-4D97-AF65-F5344CB8AC3E}">
        <p14:creationId xmlns:p14="http://schemas.microsoft.com/office/powerpoint/2010/main" val="168425165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questions">
            <a:extLst xmlns:a="http://schemas.openxmlformats.org/drawingml/2006/main">
              <a:ext uri="{FF2B5EF4-FFF2-40B4-BE49-F238E27FC236}">
                <a16:creationId xmlns:a16="http://schemas.microsoft.com/office/drawing/2014/main" id="{04AA0EE7-EDCA-4266-B045-68BB2F15D1FD}"/>
              </a:ext>
            </a:extLst>
          </p:cNvPr>
          <p:cNvSpPr>
            <a:spLocks xmlns:a="http://schemas.openxmlformats.org/drawingml/2006/main" noGrp="1"/>
          </p:cNvSpPr>
          <p:nvPr/>
        </p:nvSpPr>
        <p:spPr>
          <a:xfrm xmlns:a="http://schemas.openxmlformats.org/drawingml/2006/main">
            <a:off x="609600" y="193357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263449"/>
                </a:solidFill>
                <a:latin typeface="Arial"/>
                <a:ea typeface="Arial"/>
                <a:cs typeface="Arial"/>
              </a:defRPr>
            </a:defPPr>
            <a:lvl1pPr algn="l">
              <a:defRPr sz="4800" b="1">
                <a:solidFill>
                  <a:srgbClr val="263449"/>
                </a:solidFill>
                <a:latin typeface="Arial"/>
                <a:ea typeface="Arial"/>
                <a:cs typeface="Arial"/>
              </a:defRPr>
            </a:lvl1pPr>
            <a:lvl2pPr algn="l">
              <a:defRPr sz="4800" b="1">
                <a:solidFill>
                  <a:srgbClr val="263449"/>
                </a:solidFill>
                <a:latin typeface="Arial"/>
                <a:ea typeface="Arial"/>
                <a:cs typeface="Arial"/>
              </a:defRPr>
            </a:lvl2pPr>
            <a:lvl3pPr algn="l">
              <a:defRPr sz="4800" b="1">
                <a:solidFill>
                  <a:srgbClr val="263449"/>
                </a:solidFill>
                <a:latin typeface="Arial"/>
                <a:ea typeface="Arial"/>
                <a:cs typeface="Arial"/>
              </a:defRPr>
            </a:lvl3pPr>
            <a:lvl4pPr algn="l">
              <a:defRPr sz="4800" b="1">
                <a:solidFill>
                  <a:srgbClr val="263449"/>
                </a:solidFill>
                <a:latin typeface="Arial"/>
                <a:ea typeface="Arial"/>
                <a:cs typeface="Arial"/>
              </a:defRPr>
            </a:lvl4pPr>
            <a:lvl5pPr algn="l">
              <a:defRPr sz="4800" b="1">
                <a:solidFill>
                  <a:srgbClr val="263449"/>
                </a:solidFill>
                <a:latin typeface="Arial"/>
                <a:ea typeface="Arial"/>
                <a:cs typeface="Arial"/>
              </a:defRPr>
            </a:lvl5pPr>
            <a:lvl6pPr algn="l">
              <a:defRPr sz="4800" b="1">
                <a:solidFill>
                  <a:srgbClr val="263449"/>
                </a:solidFill>
                <a:latin typeface="Arial"/>
                <a:ea typeface="Arial"/>
                <a:cs typeface="Arial"/>
              </a:defRPr>
            </a:lvl6pPr>
            <a:lvl7pPr algn="l">
              <a:defRPr sz="4800" b="1">
                <a:solidFill>
                  <a:srgbClr val="263449"/>
                </a:solidFill>
                <a:latin typeface="Arial"/>
                <a:ea typeface="Arial"/>
                <a:cs typeface="Arial"/>
              </a:defRPr>
            </a:lvl7pPr>
            <a:lvl8pPr algn="l">
              <a:defRPr sz="4800" b="1">
                <a:solidFill>
                  <a:srgbClr val="263449"/>
                </a:solidFill>
                <a:latin typeface="Arial"/>
                <a:ea typeface="Arial"/>
                <a:cs typeface="Arial"/>
              </a:defRPr>
            </a:lvl8pPr>
            <a:lvl9pPr algn="l">
              <a:defRPr sz="4800" b="1">
                <a:solidFill>
                  <a:srgbClr val="263449"/>
                </a:solidFill>
                <a:latin typeface="Arial"/>
                <a:ea typeface="Arial"/>
                <a:cs typeface="Arial"/>
              </a:defRPr>
            </a:lvl9pPr>
          </a:lstStyle>
          <a:p xmlns:a="http://schemas.openxmlformats.org/drawingml/2006/main">
            <a:pPr algn="l">
              <a:defRPr sz="4800" b="1">
                <a:solidFill>
                  <a:srgbClr val="263449"/>
                </a:solidFill>
                <a:latin typeface="Arial"/>
                <a:ea typeface="Arial"/>
                <a:cs typeface="Arial"/>
              </a:defRPr>
            </a:pPr>
            <a:r>
              <a:rPr sz="4800" b="1">
                <a:solidFill>
                  <a:srgbClr val="263449"/>
                </a:solidFill>
                <a:latin typeface="Arial"/>
                <a:ea typeface="Arial"/>
                <a:cs typeface="Arial"/>
              </a:rPr>
              <a:t>Questions</a:t>
            </a:r>
          </a:p>
        </p:txBody>
      </p:sp>
      <p:sp>
        <p:nvSpPr>
          <p:cNvPr id="2" name="discussion">
            <a:extLst xmlns:a="http://schemas.openxmlformats.org/drawingml/2006/main">
              <a:ext uri="{FF2B5EF4-FFF2-40B4-BE49-F238E27FC236}">
                <a16:creationId xmlns:a16="http://schemas.microsoft.com/office/drawing/2014/main" id="{3EF21DD4-9B67-4E63-9969-7F52D9ABBDD1}"/>
              </a:ext>
            </a:extLst>
          </p:cNvPr>
          <p:cNvSpPr>
            <a:spLocks xmlns:a="http://schemas.openxmlformats.org/drawingml/2006/main" noGrp="1"/>
          </p:cNvSpPr>
          <p:nvPr/>
        </p:nvSpPr>
        <p:spPr>
          <a:xfrm xmlns:a="http://schemas.openxmlformats.org/drawingml/2006/main">
            <a:off x="609600" y="31623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0">
                <a:solidFill>
                  <a:srgbClr val="315C8C"/>
                </a:solidFill>
                <a:latin typeface="Arial"/>
                <a:ea typeface="Arial"/>
                <a:cs typeface="Arial"/>
              </a:defRPr>
            </a:defPPr>
            <a:lvl1pPr algn="l">
              <a:defRPr sz="2475" b="0">
                <a:solidFill>
                  <a:srgbClr val="315C8C"/>
                </a:solidFill>
                <a:latin typeface="Arial"/>
                <a:ea typeface="Arial"/>
                <a:cs typeface="Arial"/>
              </a:defRPr>
            </a:lvl1pPr>
            <a:lvl2pPr algn="l">
              <a:defRPr sz="2475" b="0">
                <a:solidFill>
                  <a:srgbClr val="315C8C"/>
                </a:solidFill>
                <a:latin typeface="Arial"/>
                <a:ea typeface="Arial"/>
                <a:cs typeface="Arial"/>
              </a:defRPr>
            </a:lvl2pPr>
            <a:lvl3pPr algn="l">
              <a:defRPr sz="2475" b="0">
                <a:solidFill>
                  <a:srgbClr val="315C8C"/>
                </a:solidFill>
                <a:latin typeface="Arial"/>
                <a:ea typeface="Arial"/>
                <a:cs typeface="Arial"/>
              </a:defRPr>
            </a:lvl3pPr>
            <a:lvl4pPr algn="l">
              <a:defRPr sz="2475" b="0">
                <a:solidFill>
                  <a:srgbClr val="315C8C"/>
                </a:solidFill>
                <a:latin typeface="Arial"/>
                <a:ea typeface="Arial"/>
                <a:cs typeface="Arial"/>
              </a:defRPr>
            </a:lvl4pPr>
            <a:lvl5pPr algn="l">
              <a:defRPr sz="2475" b="0">
                <a:solidFill>
                  <a:srgbClr val="315C8C"/>
                </a:solidFill>
                <a:latin typeface="Arial"/>
                <a:ea typeface="Arial"/>
                <a:cs typeface="Arial"/>
              </a:defRPr>
            </a:lvl5pPr>
            <a:lvl6pPr algn="l">
              <a:defRPr sz="2475" b="0">
                <a:solidFill>
                  <a:srgbClr val="315C8C"/>
                </a:solidFill>
                <a:latin typeface="Arial"/>
                <a:ea typeface="Arial"/>
                <a:cs typeface="Arial"/>
              </a:defRPr>
            </a:lvl6pPr>
            <a:lvl7pPr algn="l">
              <a:defRPr sz="2475" b="0">
                <a:solidFill>
                  <a:srgbClr val="315C8C"/>
                </a:solidFill>
                <a:latin typeface="Arial"/>
                <a:ea typeface="Arial"/>
                <a:cs typeface="Arial"/>
              </a:defRPr>
            </a:lvl7pPr>
            <a:lvl8pPr algn="l">
              <a:defRPr sz="2475" b="0">
                <a:solidFill>
                  <a:srgbClr val="315C8C"/>
                </a:solidFill>
                <a:latin typeface="Arial"/>
                <a:ea typeface="Arial"/>
                <a:cs typeface="Arial"/>
              </a:defRPr>
            </a:lvl8pPr>
            <a:lvl9pPr algn="l">
              <a:defRPr sz="2475" b="0">
                <a:solidFill>
                  <a:srgbClr val="315C8C"/>
                </a:solidFill>
                <a:latin typeface="Arial"/>
                <a:ea typeface="Arial"/>
                <a:cs typeface="Arial"/>
              </a:defRPr>
            </a:lvl9pPr>
          </a:lstStyle>
          <a:p xmlns:a="http://schemas.openxmlformats.org/drawingml/2006/main">
            <a:pPr algn="l">
              <a:defRPr sz="2475" b="0">
                <a:solidFill>
                  <a:srgbClr val="315C8C"/>
                </a:solidFill>
                <a:latin typeface="Arial"/>
                <a:ea typeface="Arial"/>
                <a:cs typeface="Arial"/>
              </a:defRPr>
            </a:pPr>
            <a:r>
              <a:rPr sz="2475" b="0">
                <a:solidFill>
                  <a:srgbClr val="315C8C"/>
                </a:solidFill>
                <a:latin typeface="Arial"/>
                <a:ea typeface="Arial"/>
                <a:cs typeface="Arial"/>
              </a:rPr>
              <a:t>Market calibration and wallet behavior</a:t>
            </a:r>
          </a:p>
        </p:txBody>
      </p:sp>
      <p:sp>
        <p:nvSpPr>
          <p:cNvPr id="3" name="team">
            <a:extLst xmlns:a="http://schemas.openxmlformats.org/drawingml/2006/main">
              <a:ext uri="{FF2B5EF4-FFF2-40B4-BE49-F238E27FC236}">
                <a16:creationId xmlns:a16="http://schemas.microsoft.com/office/drawing/2014/main" id="{913BB848-6C18-473E-AE06-E7DDB9A23A99}"/>
              </a:ext>
            </a:extLst>
          </p:cNvPr>
          <p:cNvSpPr>
            <a:spLocks xmlns:a="http://schemas.openxmlformats.org/drawingml/2006/main" noGrp="1"/>
          </p:cNvSpPr>
          <p:nvPr/>
        </p:nvSpPr>
        <p:spPr>
          <a:xfrm xmlns:a="http://schemas.openxmlformats.org/drawingml/2006/main">
            <a:off x="609600" y="54578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27085"/>
                </a:solidFill>
                <a:latin typeface="Arial"/>
                <a:ea typeface="Arial"/>
                <a:cs typeface="Arial"/>
              </a:defRPr>
            </a:defPPr>
            <a:lvl1pPr algn="l">
              <a:defRPr sz="2025" b="0">
                <a:solidFill>
                  <a:srgbClr val="627085"/>
                </a:solidFill>
                <a:latin typeface="Arial"/>
                <a:ea typeface="Arial"/>
                <a:cs typeface="Arial"/>
              </a:defRPr>
            </a:lvl1pPr>
            <a:lvl2pPr algn="l">
              <a:defRPr sz="2025" b="0">
                <a:solidFill>
                  <a:srgbClr val="627085"/>
                </a:solidFill>
                <a:latin typeface="Arial"/>
                <a:ea typeface="Arial"/>
                <a:cs typeface="Arial"/>
              </a:defRPr>
            </a:lvl2pPr>
            <a:lvl3pPr algn="l">
              <a:defRPr sz="2025" b="0">
                <a:solidFill>
                  <a:srgbClr val="627085"/>
                </a:solidFill>
                <a:latin typeface="Arial"/>
                <a:ea typeface="Arial"/>
                <a:cs typeface="Arial"/>
              </a:defRPr>
            </a:lvl3pPr>
            <a:lvl4pPr algn="l">
              <a:defRPr sz="2025" b="0">
                <a:solidFill>
                  <a:srgbClr val="627085"/>
                </a:solidFill>
                <a:latin typeface="Arial"/>
                <a:ea typeface="Arial"/>
                <a:cs typeface="Arial"/>
              </a:defRPr>
            </a:lvl4pPr>
            <a:lvl5pPr algn="l">
              <a:defRPr sz="2025" b="0">
                <a:solidFill>
                  <a:srgbClr val="627085"/>
                </a:solidFill>
                <a:latin typeface="Arial"/>
                <a:ea typeface="Arial"/>
                <a:cs typeface="Arial"/>
              </a:defRPr>
            </a:lvl5pPr>
            <a:lvl6pPr algn="l">
              <a:defRPr sz="2025" b="0">
                <a:solidFill>
                  <a:srgbClr val="627085"/>
                </a:solidFill>
                <a:latin typeface="Arial"/>
                <a:ea typeface="Arial"/>
                <a:cs typeface="Arial"/>
              </a:defRPr>
            </a:lvl6pPr>
            <a:lvl7pPr algn="l">
              <a:defRPr sz="2025" b="0">
                <a:solidFill>
                  <a:srgbClr val="627085"/>
                </a:solidFill>
                <a:latin typeface="Arial"/>
                <a:ea typeface="Arial"/>
                <a:cs typeface="Arial"/>
              </a:defRPr>
            </a:lvl7pPr>
            <a:lvl8pPr algn="l">
              <a:defRPr sz="2025" b="0">
                <a:solidFill>
                  <a:srgbClr val="627085"/>
                </a:solidFill>
                <a:latin typeface="Arial"/>
                <a:ea typeface="Arial"/>
                <a:cs typeface="Arial"/>
              </a:defRPr>
            </a:lvl8pPr>
            <a:lvl9pPr algn="l">
              <a:defRPr sz="2025" b="0">
                <a:solidFill>
                  <a:srgbClr val="627085"/>
                </a:solidFill>
                <a:latin typeface="Arial"/>
                <a:ea typeface="Arial"/>
                <a:cs typeface="Arial"/>
              </a:defRPr>
            </a:lvl9pPr>
          </a:lstStyle>
          <a:p xmlns:a="http://schemas.openxmlformats.org/drawingml/2006/main">
            <a:pPr algn="l">
              <a:defRPr sz="2025" b="0">
                <a:solidFill>
                  <a:srgbClr val="627085"/>
                </a:solidFill>
                <a:latin typeface="Arial"/>
                <a:ea typeface="Arial"/>
                <a:cs typeface="Arial"/>
              </a:defRPr>
            </a:pPr>
            <a:r>
              <a:rPr sz="2025" b="0">
                <a:solidFill>
                  <a:srgbClr val="627085"/>
                </a:solidFill>
                <a:latin typeface="Arial"/>
                <a:ea typeface="Arial"/>
                <a:cs typeface="Arial"/>
              </a:rPr>
              <a:t>Leo Wong   /   Aaron Wen   /   Jiahong Chen</a:t>
            </a:r>
          </a:p>
        </p:txBody>
      </p:sp>
    </p:spTree>
    <p:extLst>
      <p:ext uri="{BB962C8B-B14F-4D97-AF65-F5344CB8AC3E}">
        <p14:creationId xmlns:p14="http://schemas.microsoft.com/office/powerpoint/2010/main" val="127455174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81EC75CE-BED5-4B3D-983B-840AA2B2C772}"/>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Additional market checks</a:t>
            </a:r>
          </a:p>
        </p:txBody>
      </p:sp>
      <p:graphicFrame>
        <p:nvGraphicFramePr>
          <p:cNvPr id="2" name="">
            <a:extLst xmlns:a="http://schemas.openxmlformats.org/drawingml/2006/main">
              <a:ext uri="{FF2B5EF4-FFF2-40B4-BE49-F238E27FC236}">
                <a16:creationId xmlns:a16="http://schemas.microsoft.com/office/drawing/2014/main" id="{C008543C-8427-4094-935B-82605D21C98C}"/>
              </a:ext>
            </a:extLst>
          </p:cNvPr>
          <p:cNvGraphicFramePr/>
          <p:nvPr/>
        </p:nvGraphicFramePr>
        <p:xfrm>
          <a:off xmlns:a="http://schemas.openxmlformats.org/drawingml/2006/main" x="609600" y="1457325"/>
          <a:ext xmlns:a="http://schemas.openxmlformats.org/drawingml/2006/main" cx="5048250" cy="1866900"/>
        </p:xfrm>
        <a:graphic xmlns:a="http://schemas.openxmlformats.org/drawingml/2006/main">
          <a:graphicData uri="http://schemas.openxmlformats.org/drawingml/2006/table">
            <a:tbl>
              <a:tblPr/>
              <a:tblGrid>
                <a:gridCol w="2457450"/>
                <a:gridCol w="1295400"/>
                <a:gridCol w="1295400"/>
              </a:tblGrid>
              <a:tr h="495300">
                <a:tc>
                  <a:txBody>
                    <a:bodyPr lIns="152400" tIns="95250" rIns="133350" bIns="95250"/>
                    <a:lstStyle/>
                    <a:p>
                      <a:r>
                        <a:rPr sz="1875" b="1">
                          <a:solidFill>
                            <a:srgbClr val="FFFFFF"/>
                          </a:solidFill>
                          <a:latin typeface="Arial"/>
                          <a:ea typeface="Arial"/>
                          <a:cs typeface="Arial"/>
                        </a:rPr>
                        <a:t>Split</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Events</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Markets</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685800">
                <a:tc>
                  <a:txBody>
                    <a:bodyPr lIns="152400" tIns="95250" rIns="133350" bIns="95250"/>
                    <a:lstStyle/>
                    <a:p>
                      <a:r>
                        <a:rPr sz="1875" b="0">
                          <a:solidFill>
                            <a:srgbClr val="263449"/>
                          </a:solidFill>
                          <a:latin typeface="Arial"/>
                          <a:ea typeface="Arial"/>
                          <a:cs typeface="Arial"/>
                        </a:rPr>
                        <a:t>Training</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841</a:t>
                      </a:r>
                    </a:p>
                  </a:txBody>
                  <a:tcPr marL="91440" marR="91440" marT="45720" marB="45720" anchor="ctr">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3,215</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85800">
                <a:tc>
                  <a:txBody>
                    <a:bodyPr lIns="152400" tIns="95250" rIns="133350" bIns="95250"/>
                    <a:lstStyle/>
                    <a:p>
                      <a:r>
                        <a:rPr sz="1875" b="0">
                          <a:solidFill>
                            <a:srgbClr val="263449"/>
                          </a:solidFill>
                          <a:latin typeface="Arial"/>
                          <a:ea typeface="Arial"/>
                          <a:cs typeface="Arial"/>
                        </a:rPr>
                        <a:t>Test</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860</a:t>
                      </a:r>
                    </a:p>
                  </a:txBody>
                  <a:tcPr marL="91440" marR="91440" marT="45720" marB="45720" anchor="ctr">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3,511</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3" name="split-explanation">
            <a:extLst xmlns:a="http://schemas.openxmlformats.org/drawingml/2006/main">
              <a:ext uri="{FF2B5EF4-FFF2-40B4-BE49-F238E27FC236}">
                <a16:creationId xmlns:a16="http://schemas.microsoft.com/office/drawing/2014/main" id="{BB239B74-2F00-47FE-A1D2-7F486F56835C}"/>
              </a:ext>
            </a:extLst>
          </p:cNvPr>
          <p:cNvSpPr>
            <a:spLocks xmlns:a="http://schemas.openxmlformats.org/drawingml/2006/main" noGrp="1"/>
          </p:cNvSpPr>
          <p:nvPr/>
        </p:nvSpPr>
        <p:spPr>
          <a:xfrm xmlns:a="http://schemas.openxmlformats.org/drawingml/2006/main">
            <a:off x="609600" y="3571875"/>
            <a:ext cx="5048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Training events close before September 1.</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Events crossing that date belong entirely to test.</a:t>
            </a:r>
          </a:p>
        </p:txBody>
      </p:sp>
      <p:sp>
        <p:nvSpPr>
          <p:cNvPr id="4" name="mid-range-heading">
            <a:extLst xmlns:a="http://schemas.openxmlformats.org/drawingml/2006/main">
              <a:ext uri="{FF2B5EF4-FFF2-40B4-BE49-F238E27FC236}">
                <a16:creationId xmlns:a16="http://schemas.microsoft.com/office/drawing/2014/main" id="{B3214713-3716-43C5-972B-EC4696FFF117}"/>
              </a:ext>
            </a:extLst>
          </p:cNvPr>
          <p:cNvSpPr>
            <a:spLocks xmlns:a="http://schemas.openxmlformats.org/drawingml/2006/main" noGrp="1"/>
          </p:cNvSpPr>
          <p:nvPr/>
        </p:nvSpPr>
        <p:spPr>
          <a:xfrm xmlns:a="http://schemas.openxmlformats.org/drawingml/2006/main">
            <a:off x="609600" y="489585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315C8C"/>
                </a:solidFill>
                <a:latin typeface="Arial"/>
                <a:ea typeface="Arial"/>
                <a:cs typeface="Arial"/>
              </a:defRPr>
            </a:defPPr>
            <a:lvl1pPr algn="l">
              <a:defRPr sz="2100" b="1">
                <a:solidFill>
                  <a:srgbClr val="315C8C"/>
                </a:solidFill>
                <a:latin typeface="Arial"/>
                <a:ea typeface="Arial"/>
                <a:cs typeface="Arial"/>
              </a:defRPr>
            </a:lvl1pPr>
            <a:lvl2pPr algn="l">
              <a:defRPr sz="2100" b="1">
                <a:solidFill>
                  <a:srgbClr val="315C8C"/>
                </a:solidFill>
                <a:latin typeface="Arial"/>
                <a:ea typeface="Arial"/>
                <a:cs typeface="Arial"/>
              </a:defRPr>
            </a:lvl2pPr>
            <a:lvl3pPr algn="l">
              <a:defRPr sz="2100" b="1">
                <a:solidFill>
                  <a:srgbClr val="315C8C"/>
                </a:solidFill>
                <a:latin typeface="Arial"/>
                <a:ea typeface="Arial"/>
                <a:cs typeface="Arial"/>
              </a:defRPr>
            </a:lvl3pPr>
            <a:lvl4pPr algn="l">
              <a:defRPr sz="2100" b="1">
                <a:solidFill>
                  <a:srgbClr val="315C8C"/>
                </a:solidFill>
                <a:latin typeface="Arial"/>
                <a:ea typeface="Arial"/>
                <a:cs typeface="Arial"/>
              </a:defRPr>
            </a:lvl4pPr>
            <a:lvl5pPr algn="l">
              <a:defRPr sz="2100" b="1">
                <a:solidFill>
                  <a:srgbClr val="315C8C"/>
                </a:solidFill>
                <a:latin typeface="Arial"/>
                <a:ea typeface="Arial"/>
                <a:cs typeface="Arial"/>
              </a:defRPr>
            </a:lvl5pPr>
            <a:lvl6pPr algn="l">
              <a:defRPr sz="2100" b="1">
                <a:solidFill>
                  <a:srgbClr val="315C8C"/>
                </a:solidFill>
                <a:latin typeface="Arial"/>
                <a:ea typeface="Arial"/>
                <a:cs typeface="Arial"/>
              </a:defRPr>
            </a:lvl6pPr>
            <a:lvl7pPr algn="l">
              <a:defRPr sz="2100" b="1">
                <a:solidFill>
                  <a:srgbClr val="315C8C"/>
                </a:solidFill>
                <a:latin typeface="Arial"/>
                <a:ea typeface="Arial"/>
                <a:cs typeface="Arial"/>
              </a:defRPr>
            </a:lvl7pPr>
            <a:lvl8pPr algn="l">
              <a:defRPr sz="2100" b="1">
                <a:solidFill>
                  <a:srgbClr val="315C8C"/>
                </a:solidFill>
                <a:latin typeface="Arial"/>
                <a:ea typeface="Arial"/>
                <a:cs typeface="Arial"/>
              </a:defRPr>
            </a:lvl8pPr>
            <a:lvl9pPr algn="l">
              <a:defRPr sz="2100" b="1">
                <a:solidFill>
                  <a:srgbClr val="315C8C"/>
                </a:solidFill>
                <a:latin typeface="Arial"/>
                <a:ea typeface="Arial"/>
                <a:cs typeface="Arial"/>
              </a:defRPr>
            </a:lvl9pPr>
          </a:lstStyle>
          <a:p xmlns:a="http://schemas.openxmlformats.org/drawingml/2006/main">
            <a:pPr algn="l">
              <a:defRPr sz="2100" b="1">
                <a:solidFill>
                  <a:srgbClr val="315C8C"/>
                </a:solidFill>
                <a:latin typeface="Arial"/>
                <a:ea typeface="Arial"/>
                <a:cs typeface="Arial"/>
              </a:defRPr>
            </a:pPr>
            <a:r>
              <a:rPr sz="2100" b="1">
                <a:solidFill>
                  <a:srgbClr val="315C8C"/>
                </a:solidFill>
                <a:latin typeface="Arial"/>
                <a:ea typeface="Arial"/>
                <a:cs typeface="Arial"/>
              </a:rPr>
              <a:t>Mid-range prices: 5¢ to 95¢</a:t>
            </a:r>
          </a:p>
        </p:txBody>
      </p:sp>
      <p:sp>
        <p:nvSpPr>
          <p:cNvPr id="5" name="mid-range-values">
            <a:extLst xmlns:a="http://schemas.openxmlformats.org/drawingml/2006/main">
              <a:ext uri="{FF2B5EF4-FFF2-40B4-BE49-F238E27FC236}">
                <a16:creationId xmlns:a16="http://schemas.microsoft.com/office/drawing/2014/main" id="{647AD7E6-BD35-4C53-9CEF-3B7746157F75}"/>
              </a:ext>
            </a:extLst>
          </p:cNvPr>
          <p:cNvSpPr>
            <a:spLocks xmlns:a="http://schemas.openxmlformats.org/drawingml/2006/main" noGrp="1"/>
          </p:cNvSpPr>
          <p:nvPr/>
        </p:nvSpPr>
        <p:spPr>
          <a:xfrm xmlns:a="http://schemas.openxmlformats.org/drawingml/2006/main">
            <a:off x="609600" y="5476875"/>
            <a:ext cx="5048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24h test Brier: market 0.148, models 0.150.</a:t>
            </a:r>
          </a:p>
        </p:txBody>
      </p:sp>
      <p:graphicFrame>
        <p:nvGraphicFramePr>
          <p:cNvPr id="6" name="">
            <a:extLst xmlns:a="http://schemas.openxmlformats.org/drawingml/2006/main">
              <a:ext uri="{FF2B5EF4-FFF2-40B4-BE49-F238E27FC236}">
                <a16:creationId xmlns:a16="http://schemas.microsoft.com/office/drawing/2014/main" id="{D59E8775-211D-4EF3-8177-E1787524D34B}"/>
              </a:ext>
            </a:extLst>
          </p:cNvPr>
          <p:cNvGraphicFramePr/>
          <p:nvPr/>
        </p:nvGraphicFramePr>
        <p:xfrm>
          <a:off xmlns:a="http://schemas.openxmlformats.org/drawingml/2006/main" x="6343650" y="1457325"/>
          <a:ext xmlns:a="http://schemas.openxmlformats.org/drawingml/2006/main" cx="5238750" cy="3009900"/>
        </p:xfrm>
        <a:graphic xmlns:a="http://schemas.openxmlformats.org/drawingml/2006/main">
          <a:graphicData uri="http://schemas.openxmlformats.org/drawingml/2006/table">
            <a:tbl>
              <a:tblPr/>
              <a:tblGrid>
                <a:gridCol w="3238500"/>
                <a:gridCol w="2000250"/>
              </a:tblGrid>
              <a:tr h="495300">
                <a:tc>
                  <a:txBody>
                    <a:bodyPr lIns="152400" tIns="95250" rIns="133350" bIns="95250"/>
                    <a:lstStyle/>
                    <a:p>
                      <a:r>
                        <a:rPr sz="1875" b="1">
                          <a:solidFill>
                            <a:srgbClr val="FFFFFF"/>
                          </a:solidFill>
                          <a:latin typeface="Arial"/>
                          <a:ea typeface="Arial"/>
                          <a:cs typeface="Arial"/>
                        </a:rPr>
                        <a:t>Category</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24h slope</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628650">
                <a:tc>
                  <a:txBody>
                    <a:bodyPr lIns="152400" tIns="95250" rIns="133350" bIns="95250"/>
                    <a:lstStyle/>
                    <a:p>
                      <a:r>
                        <a:rPr sz="1875" b="0">
                          <a:solidFill>
                            <a:srgbClr val="263449"/>
                          </a:solidFill>
                          <a:latin typeface="Arial"/>
                          <a:ea typeface="Arial"/>
                          <a:cs typeface="Arial"/>
                        </a:rPr>
                        <a:t>Politics</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1.03</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28650">
                <a:tc>
                  <a:txBody>
                    <a:bodyPr lIns="152400" tIns="95250" rIns="133350" bIns="95250"/>
                    <a:lstStyle/>
                    <a:p>
                      <a:r>
                        <a:rPr sz="1875" b="0">
                          <a:solidFill>
                            <a:srgbClr val="263449"/>
                          </a:solidFill>
                          <a:latin typeface="Arial"/>
                          <a:ea typeface="Arial"/>
                          <a:cs typeface="Arial"/>
                        </a:rPr>
                        <a:t>Technology</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1.11</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28650">
                <a:tc>
                  <a:txBody>
                    <a:bodyPr lIns="152400" tIns="95250" rIns="133350" bIns="95250"/>
                    <a:lstStyle/>
                    <a:p>
                      <a:r>
                        <a:rPr sz="1875" b="0">
                          <a:solidFill>
                            <a:srgbClr val="263449"/>
                          </a:solidFill>
                          <a:latin typeface="Arial"/>
                          <a:ea typeface="Arial"/>
                          <a:cs typeface="Arial"/>
                        </a:rPr>
                        <a:t>Entertainment</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1.12</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28650">
                <a:tc>
                  <a:txBody>
                    <a:bodyPr lIns="152400" tIns="95250" rIns="133350" bIns="95250"/>
                    <a:lstStyle/>
                    <a:p>
                      <a:r>
                        <a:rPr sz="1875" b="0">
                          <a:solidFill>
                            <a:srgbClr val="263449"/>
                          </a:solidFill>
                          <a:latin typeface="Arial"/>
                          <a:ea typeface="Arial"/>
                          <a:cs typeface="Arial"/>
                        </a:rPr>
                        <a:t>Economy</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0.92</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7" name="category-interval">
            <a:extLst xmlns:a="http://schemas.openxmlformats.org/drawingml/2006/main">
              <a:ext uri="{FF2B5EF4-FFF2-40B4-BE49-F238E27FC236}">
                <a16:creationId xmlns:a16="http://schemas.microsoft.com/office/drawing/2014/main" id="{2781C005-A168-4FE3-9474-B886D2EBE23B}"/>
              </a:ext>
            </a:extLst>
          </p:cNvPr>
          <p:cNvSpPr>
            <a:spLocks xmlns:a="http://schemas.openxmlformats.org/drawingml/2006/main" noGrp="1"/>
          </p:cNvSpPr>
          <p:nvPr/>
        </p:nvSpPr>
        <p:spPr>
          <a:xfrm xmlns:a="http://schemas.openxmlformats.org/drawingml/2006/main">
            <a:off x="6343650" y="4895850"/>
            <a:ext cx="5238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Only Entertainment’s interval is just above 1</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(95% interval: 1.00 to 1.29, rounded).</a:t>
            </a:r>
          </a:p>
        </p:txBody>
      </p:sp>
    </p:spTree>
    <p:extLst>
      <p:ext uri="{BB962C8B-B14F-4D97-AF65-F5344CB8AC3E}">
        <p14:creationId xmlns:p14="http://schemas.microsoft.com/office/powerpoint/2010/main" val="4452714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2026-10-28T18:45:20.8810000Z</dcterms:created>
  <dcterms:modified xsi:type="dcterms:W3CDTF">2026-10-28T18:45:20.8810000Z</dcterms:modified>
</coreProperties>
</file>