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12192000"/>
  <p:embeddedFontLst>
    <p:embeddedFont>
      <p:font typeface="Inter"/>
      <p:regular r:id="rId21"/>
      <p:bold r:id="rId22"/>
      <p:italic r:id="rId23"/>
      <p:boldItalic r:id="rId24"/>
    </p:embeddedFont>
    <p:embeddedFont>
      <p:font typeface="JetBrains Mono"/>
      <p:regular r:id="rId25"/>
      <p:bold r:id="rId26"/>
      <p:italic r:id="rId27"/>
      <p:boldItalic r:id="rId28"/>
    </p:embeddedFont>
    <p:embeddedFont>
      <p:font typeface="Space Grotesk"/>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Inter-bold.fntdata"/><Relationship Id="rId21" Type="http://schemas.openxmlformats.org/officeDocument/2006/relationships/font" Target="fonts/Inter-regular.fntdata"/><Relationship Id="rId24" Type="http://schemas.openxmlformats.org/officeDocument/2006/relationships/font" Target="fonts/Inter-boldItalic.fntdata"/><Relationship Id="rId23" Type="http://schemas.openxmlformats.org/officeDocument/2006/relationships/font" Target="fonts/Inter-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JetBrainsMono-bold.fntdata"/><Relationship Id="rId25" Type="http://schemas.openxmlformats.org/officeDocument/2006/relationships/font" Target="fonts/JetBrainsMono-regular.fntdata"/><Relationship Id="rId28" Type="http://schemas.openxmlformats.org/officeDocument/2006/relationships/font" Target="fonts/JetBrainsMono-boldItalic.fntdata"/><Relationship Id="rId27" Type="http://schemas.openxmlformats.org/officeDocument/2006/relationships/font" Target="fonts/JetBrainsMono-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SpaceGrotesk-regular.fntdata"/><Relationship Id="rId7" Type="http://schemas.openxmlformats.org/officeDocument/2006/relationships/slide" Target="slides/slide3.xml"/><Relationship Id="rId8" Type="http://schemas.openxmlformats.org/officeDocument/2006/relationships/slide" Target="slides/slide4.xml"/><Relationship Id="rId30" Type="http://schemas.openxmlformats.org/officeDocument/2006/relationships/font" Target="fonts/SpaceGrotesk-bold.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0" y="76428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77240" y="4777560"/>
            <a:ext cx="6217560" cy="452592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372840" cy="50256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399200" y="0"/>
            <a:ext cx="3372840" cy="502560"/>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9555480"/>
            <a:ext cx="3372840" cy="50256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399200" y="9555480"/>
            <a:ext cx="3372840" cy="50256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1: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 name="Google Shape;20;p1: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LEO (about 40 seconds). Hi everyone, we are Leo, Jiahong and Aaron. Our project uses Polymarket, a prediction market where people trade shares that pay one dollar if an event happens. Our question is simple: is the price a good probability, and can an AI model do better than the crowd? Plan: first I will give a quick background from past research. Then Aaron tests whether prices are calibrated and whether models can beat them. Then Jiahong shows which wallets pay low prices. This matters because our final project looks for insider trading, and to spot an insider we first need to know how good the price already is.</a:t>
            </a:r>
            <a:endParaRPr b="0" sz="2000" u="none" strike="noStrike">
              <a:solidFill>
                <a:srgbClr val="000000"/>
              </a:solidFill>
              <a:latin typeface="Arial"/>
              <a:ea typeface="Arial"/>
              <a:cs typeface="Arial"/>
              <a:sym typeface="Arial"/>
            </a:endParaRPr>
          </a:p>
        </p:txBody>
      </p:sp>
      <p:sp>
        <p:nvSpPr>
          <p:cNvPr id="21" name="Google Shape;21;p1: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h23be80340226569e_1_16:notes"/>
          <p:cNvSpPr/>
          <p:nvPr>
            <p:ph idx="2" type="sldImg"/>
          </p:nvPr>
        </p:nvSpPr>
        <p:spPr>
          <a:xfrm>
            <a:off x="0" y="764280"/>
            <a:ext cx="0" cy="0"/>
          </a:xfrm>
          <a:custGeom>
            <a:rect b="b" l="l" r="r" t="t"/>
            <a:pathLst>
              <a:path extrusionOk="0" h="120000" w="120000">
                <a:moveTo>
                  <a:pt x="0" y="0"/>
                </a:moveTo>
                <a:lnTo>
                  <a:pt x="120000" y="0"/>
                </a:lnTo>
                <a:lnTo>
                  <a:pt x="120000" y="120000"/>
                </a:lnTo>
                <a:lnTo>
                  <a:pt x="0" y="120000"/>
                </a:lnTo>
                <a:close/>
              </a:path>
            </a:pathLst>
          </a:custGeom>
        </p:spPr>
      </p:sp>
      <p:sp>
        <p:nvSpPr>
          <p:cNvPr id="50" name="Google Shape;50;h23be80340226569e_1_16:notes"/>
          <p:cNvSpPr txBox="1"/>
          <p:nvPr>
            <p:ph idx="1" type="body"/>
          </p:nvPr>
        </p:nvSpPr>
        <p:spPr>
          <a:xfrm>
            <a:off x="777240" y="4777560"/>
            <a:ext cx="6217500" cy="45258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sz="1200">
                <a:solidFill>
                  <a:schemeClr val="dk1"/>
                </a:solidFill>
              </a:rPr>
              <a:t>"To structure today's presentation, we are presenting a connected narrative in three acts. First, Aaron analyzes the macro market to see if prices are well-calibrated and whether an AI model can beat them. Second, given Aaron's finding that the crowd is efficient overall, Jiahong dives into individual wallet data to ask who buys low-priced longshots and how wallet traits predict purchasing behavior. Finally, we bridge these two pillars into our roadmap for detecting informed or insider trading in our final report."</a:t>
            </a:r>
            <a:r>
              <a:rPr lang="en-US" sz="1100">
                <a:solidFill>
                  <a:schemeClr val="dk1"/>
                </a:solidFill>
              </a:rPr>
              <a:t> </a:t>
            </a:r>
            <a:endParaRPr/>
          </a:p>
        </p:txBody>
      </p:sp>
      <p:sp>
        <p:nvSpPr>
          <p:cNvPr id="51" name="Google Shape;51;h23be80340226569e_1_16:notes"/>
          <p:cNvSpPr txBox="1"/>
          <p:nvPr>
            <p:ph idx="12" type="sldNum"/>
          </p:nvPr>
        </p:nvSpPr>
        <p:spPr>
          <a:xfrm>
            <a:off x="4399200" y="9555480"/>
            <a:ext cx="3372900" cy="5025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2: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 name="Google Shape;78;p2: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LEO (about 50 seconds). Four papers frame our work. Thaler and Ziemba surveyed racetrack and lottery betting and the odd pricing patterns there. Snowberg and Wolfers describe the favorite-longshot bias: long shots get bet too much and favorites too little. Wolfers and Zitzewitz survey prediction markets and conclude their forecasts are typically fairly accurate. Page and Clemen ask exactly our question, whether prediction market prices are well calibrated, and find yes near expiry but bias for events farther out. So the open question for us is whether Polymarket in 2026 behaves the same way. Aaron will answer that. (We checked each citation: volume, issue and pages are correct.)</a:t>
            </a:r>
            <a:endParaRPr b="0" sz="2000" u="none" strike="noStrike">
              <a:solidFill>
                <a:srgbClr val="000000"/>
              </a:solidFill>
              <a:latin typeface="Arial"/>
              <a:ea typeface="Arial"/>
              <a:cs typeface="Arial"/>
              <a:sym typeface="Arial"/>
            </a:endParaRPr>
          </a:p>
        </p:txBody>
      </p:sp>
      <p:sp>
        <p:nvSpPr>
          <p:cNvPr id="79" name="Google Shape;79;p2: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3: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AARON. Our question is simple: is the market's price a good probability, and can a model do better? On Polymarket a Yes share pays one dollar if the event happens. If you think the chance is p and the share costs c, your expected profit is p minus c. So people buy until the price matches what the crowd believes, which makes the price a forecast we can grade. A classic finding from betting markets is the favorite-longshot bias: long shots are overpriced. We test whether that shows up here.</a:t>
            </a:r>
            <a:endParaRPr b="0" sz="2000" u="none" strike="noStrike">
              <a:solidFill>
                <a:srgbClr val="000000"/>
              </a:solidFill>
              <a:latin typeface="Arial"/>
              <a:ea typeface="Arial"/>
              <a:cs typeface="Arial"/>
              <a:sym typeface="Arial"/>
            </a:endParaRPr>
          </a:p>
        </p:txBody>
      </p:sp>
      <p:sp>
        <p:nvSpPr>
          <p:cNvPr id="109" name="Google Shape;109;p3: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4: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AARON. We took every Yes/No market in our four categories that resolved from June to October, and read its price at four points before it closed. The course database has no category field, so we used Polymarket's own event tags: politics, tech, pop culture and economy. That gives 7,479 markets. We first tried the hourly order book, but it only recorded about a fifth of these markets, so we used the last trade before each point, from 4.1 million trades. Where both sources exist they agree closely: correlation 0.92, median gap under one cent.</a:t>
            </a:r>
            <a:endParaRPr b="0" sz="2000" u="none" strike="noStrike">
              <a:solidFill>
                <a:srgbClr val="000000"/>
              </a:solidFill>
              <a:latin typeface="Arial"/>
              <a:ea typeface="Arial"/>
              <a:cs typeface="Arial"/>
              <a:sym typeface="Arial"/>
            </a:endParaRPr>
          </a:p>
        </p:txBody>
      </p:sp>
      <p:sp>
        <p:nvSpPr>
          <p:cNvPr id="128" name="Google Shape;128;p4: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p5: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AARON. When the market says 30 percent, it happens about 30 percent of the time. Each dot groups markets by their price a day before close and shows the share that actually resolved Yes. Perfect calibration is the diagonal, and the dots sit on it. The shaded band is a 95 percent interval. We resample whole events to build it, because markets in one event are linked: only one film can win Best Picture. Treating them as independent would make the band far too narrow. The same picture holds in all four categories (second figure).</a:t>
            </a:r>
            <a:endParaRPr b="0" sz="2000" u="none" strike="noStrike">
              <a:solidFill>
                <a:srgbClr val="000000"/>
              </a:solidFill>
              <a:latin typeface="Arial"/>
              <a:ea typeface="Arial"/>
              <a:cs typeface="Arial"/>
              <a:sym typeface="Arial"/>
            </a:endParaRPr>
          </a:p>
        </p:txBody>
      </p:sp>
      <p:sp>
        <p:nvSpPr>
          <p:cNvPr id="167" name="Google Shape;167;p5: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6: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p6: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AARON. We find a faint trace of the bias, but it is not stable enough to matter. We summarize calibration with one number: regress the outcome on the log-odds of the price. A slope of 1 is perfect; above 1 means prices are too timid, so long shots are overpriced. Six hours before close the slope is 1.08, and its interval just excludes 1. But it comes entirely from prices under 2 cents or over 98 cents: drop those and the slope is 1.00. And month by month it moves between 0.93 and 1.09, with every interval crossing 1. So it is a weak effect that changes direction.</a:t>
            </a:r>
            <a:endParaRPr b="0" sz="2000" u="none" strike="noStrike">
              <a:solidFill>
                <a:srgbClr val="000000"/>
              </a:solidFill>
              <a:latin typeface="Arial"/>
              <a:ea typeface="Arial"/>
              <a:cs typeface="Arial"/>
              <a:sym typeface="Arial"/>
            </a:endParaRPr>
          </a:p>
        </p:txBody>
      </p:sp>
      <p:sp>
        <p:nvSpPr>
          <p:cNvPr id="183" name="Google Shape;183;p6: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7: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7: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AARON. Prices get sharper as the event gets closer, and economic questions stay the hardest. The Brier score is the average squared gap between the price and what happened, so lower is better. Across all markets it roughly halves from a week out to six hours out, from 0.074 to 0.038. Politics improves the most. From three days out to the close, Economy is the hardest category to call. (If we run long, say only the first two sentences.)</a:t>
            </a:r>
            <a:endParaRPr b="0" sz="2000" u="none" strike="noStrike">
              <a:solidFill>
                <a:srgbClr val="000000"/>
              </a:solidFill>
              <a:latin typeface="Arial"/>
              <a:ea typeface="Arial"/>
              <a:cs typeface="Arial"/>
              <a:sym typeface="Arial"/>
            </a:endParaRPr>
          </a:p>
        </p:txBody>
      </p:sp>
      <p:sp>
        <p:nvSpPr>
          <p:cNvPr id="204" name="Google Shape;204;p7: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8: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8: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AARON. We tried to beat the crowd with two models, and neither did. We trained on events that finished before September and tested on September and October. No event sits on both sides, and every feature uses only trades before the time point, so nothing leaks. Model one re-calibrates the price, letting the correction differ by category and horizon. Model two is gradient boosting with the price plus 18 features known at the time: recent price moves, order flow, volume, number of traders, market age, time to the deadline, category. Both come out no better than the raw price, and the re-calibration is slightly worse. When we shuffle each feature, almost all the weight is on the price itself. That fits the previous slide: a bias that changes direction cannot be learned in summer and used in autumn.</a:t>
            </a:r>
            <a:endParaRPr b="0" sz="2000" u="none" strike="noStrike">
              <a:solidFill>
                <a:srgbClr val="000000"/>
              </a:solidFill>
              <a:latin typeface="Arial"/>
              <a:ea typeface="Arial"/>
              <a:cs typeface="Arial"/>
              <a:sym typeface="Arial"/>
            </a:endParaRPr>
          </a:p>
        </p:txBody>
      </p:sp>
      <p:sp>
        <p:nvSpPr>
          <p:cNvPr id="226" name="Google Shape;226;p8: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9: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5" name="Google Shape;255;p9: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AARON. The market as a whole is hard to beat, and that gives us a clean definition for the final. Three takeaways: prices are well calibrated in all four categories; the favorite-longshot bias is faint and unstable; and no model we built beats the price. Two limits: some markets close early because the event happened, so 24 hours before close means slightly different things for Yes and No markets; and we have one test period. For the final: an insider is not someone who wins a lot, since buying at 95 cents wins a lot too. It is someone whose bets keep beating the price they paid. Jiahong will now show which wallets pay low prices, in other words who buys the long shots.</a:t>
            </a:r>
            <a:endParaRPr b="0" sz="2000" u="none" strike="noStrike">
              <a:solidFill>
                <a:srgbClr val="000000"/>
              </a:solidFill>
              <a:latin typeface="Arial"/>
              <a:ea typeface="Arial"/>
              <a:cs typeface="Arial"/>
              <a:sym typeface="Arial"/>
            </a:endParaRPr>
          </a:p>
        </p:txBody>
      </p:sp>
      <p:sp>
        <p:nvSpPr>
          <p:cNvPr id="256" name="Google Shape;256;p9: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0: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p10: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JIAHONG. Our question is how well wallet trading characteristics predict average purchase price, and whether gradient boosting improves on linear regression. The dataset has 55,952 wallets, one row per wallet. The target is the volume-weighted price of the shares each wallet bought. The histogram shows training wallets. We keep all wallets and exclude the confirmed flag. This cohort comes from five selected event groups, so we describe the wallets in this dataset. A higher or lower purchase price does not by itself tell us whether the wallet made a profit.</a:t>
            </a:r>
            <a:endParaRPr b="0" sz="2000" u="none" strike="noStrike">
              <a:solidFill>
                <a:srgbClr val="000000"/>
              </a:solidFill>
              <a:latin typeface="Arial"/>
              <a:ea typeface="Arial"/>
              <a:cs typeface="Arial"/>
              <a:sym typeface="Arial"/>
            </a:endParaRPr>
          </a:p>
        </p:txBody>
      </p:sp>
      <p:sp>
        <p:nvSpPr>
          <p:cNvPr id="281" name="Google Shape;281;p10: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1: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4" name="Google Shape;294;p11: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JIAHONG. We reserve twenty percent of wallets for final evaluation with one fixed random split: 44,761 training wallets and 11,191 test wallets. Every method gets exactly the same test wallets. Five-fold validation happens entirely inside training. We compare a mean baseline, an additive linear regression, and histogram gradient boosting, which can capture nonlinear patterns and interactions. The inputs are trade count, market count, activity span, concentration, total spending and largest purchase; five skewed predictors use log of one plus the value. We choose boosting settings from a small six-configuration grid using validation error, and the test set stays outside model selection.</a:t>
            </a:r>
            <a:endParaRPr b="0" sz="2000" u="none" strike="noStrike">
              <a:solidFill>
                <a:srgbClr val="000000"/>
              </a:solidFill>
              <a:latin typeface="Arial"/>
              <a:ea typeface="Arial"/>
              <a:cs typeface="Arial"/>
              <a:sym typeface="Arial"/>
            </a:endParaRPr>
          </a:p>
        </p:txBody>
      </p:sp>
      <p:sp>
        <p:nvSpPr>
          <p:cNvPr id="295" name="Google Shape;295;p11: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2: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2" name="Google Shape;332;p12: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JIAHONG. On the held-out wallets, the mean baseline has an average absolute error of 22.14 cents per share. Linear regression reduces this to 19.78 cents, and gradient boosting reduces it further to 16.74 cents. That is a 15.4 percent improvement over linear regression: an absolute difference of 3.04 cents, with a paired wallet-bootstrap interval from 2.86 to 3.23 cents. Boosting also has a higher R squared, about 0.368 compared with 0.197. The comparison is consistent across MAE, RMSE and R squared. The intervals assume independent wallets, which may be imperfect because wallets can trade in common markets.</a:t>
            </a:r>
            <a:endParaRPr b="0" sz="2000" u="none" strike="noStrike">
              <a:solidFill>
                <a:srgbClr val="000000"/>
              </a:solidFill>
              <a:latin typeface="Arial"/>
              <a:ea typeface="Arial"/>
              <a:cs typeface="Arial"/>
              <a:sym typeface="Arial"/>
            </a:endParaRPr>
          </a:p>
        </p:txBody>
      </p:sp>
      <p:sp>
        <p:nvSpPr>
          <p:cNvPr id="333" name="Google Shape;333;p12: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3: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p13: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JIAHONG. To interpret the flexible model, we shuffle one predictor at a time and measure the increase in test error. Trade count produces the largest increase, about 6.32 cents. Spending, largest purchase and number of markets also contribute. This measures how much the fitted model relies on an input, not whether the input raises or lowers price, and correlated predictors complicate attribution. Removing spending and largest purchase increases boosting error from 16.74 to 19.97 cents, so the monetary summaries add information. We cannot infer profit, trading skill, future forecasting accuracy or causal effects from this table.</a:t>
            </a:r>
            <a:endParaRPr b="0" sz="2000" u="none" strike="noStrike">
              <a:solidFill>
                <a:srgbClr val="000000"/>
              </a:solidFill>
              <a:latin typeface="Arial"/>
              <a:ea typeface="Arial"/>
              <a:cs typeface="Arial"/>
              <a:sym typeface="Arial"/>
            </a:endParaRPr>
          </a:p>
        </p:txBody>
      </p:sp>
      <p:sp>
        <p:nvSpPr>
          <p:cNvPr id="353" name="Google Shape;353;p13: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h23be80340226569e_1_138:notes"/>
          <p:cNvSpPr txBox="1"/>
          <p:nvPr>
            <p:ph idx="1" type="body"/>
          </p:nvPr>
        </p:nvSpPr>
        <p:spPr>
          <a:xfrm>
            <a:off x="685800" y="5791200"/>
            <a:ext cx="5486400" cy="5486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73" name="Google Shape;373;h23be80340226569e_1_138: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4: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1" name="Google Shape;391;p14: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BACKUP. B1: no event is on both sides of the train/test split. B2: the near-certain markets are not what makes the market look good; neither model beats it on 5 to 95 cent prices either. B3: with four categories tested, one borderline interval is not unusual by chance. Other likely questions: why trade prices instead of the order book (the book only covered about 22% of markets; correlation 0.92 where both exist); why resample by event (markets in one event are dependent); why Brier score and not accuracy (it is a proper scoring rule, accuracy treats 51% and 99% as the same call).</a:t>
            </a:r>
            <a:endParaRPr b="0" sz="2000" u="none" strike="noStrike">
              <a:solidFill>
                <a:srgbClr val="000000"/>
              </a:solidFill>
              <a:latin typeface="Arial"/>
              <a:ea typeface="Arial"/>
              <a:cs typeface="Arial"/>
              <a:sym typeface="Arial"/>
            </a:endParaRPr>
          </a:p>
        </p:txBody>
      </p:sp>
      <p:sp>
        <p:nvSpPr>
          <p:cNvPr id="392" name="Google Shape;392;p14: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blank">
  <p:cSld name="BLANK">
    <p:bg>
      <p:bgPr>
        <a:solidFill>
          <a:srgbClr val="0B1220"/>
        </a:solidFill>
      </p:bgPr>
    </p:bg>
    <p:spTree>
      <p:nvGrpSpPr>
        <p:cNvPr id="10" name="Shape 10"/>
        <p:cNvGrpSpPr/>
        <p:nvPr/>
      </p:nvGrpSpPr>
      <p:grpSpPr>
        <a:xfrm>
          <a:off x="0" y="0"/>
          <a:ext cx="0" cy="0"/>
          <a:chOff x="0" y="0"/>
          <a:chExt cx="0" cy="0"/>
        </a:xfrm>
      </p:grpSpPr>
      <p:sp>
        <p:nvSpPr>
          <p:cNvPr id="11" name="Google Shape;11;p2"/>
          <p:cNvSpPr txBox="1"/>
          <p:nvPr>
            <p:ph type="title"/>
          </p:nvPr>
        </p:nvSpPr>
        <p:spPr>
          <a:xfrm>
            <a:off x="812880" y="1018440"/>
            <a:ext cx="10566000" cy="4464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lt1"/>
              </a:buClr>
              <a:buSzPts val="3200"/>
              <a:buFont typeface="Inter"/>
              <a:buNone/>
              <a:defRPr b="0" i="0" sz="3200" u="none" cap="none" strike="noStrike">
                <a:solidFill>
                  <a:schemeClr val="lt1"/>
                </a:solidFill>
                <a:latin typeface="Inter"/>
                <a:ea typeface="Inter"/>
                <a:cs typeface="Inter"/>
                <a:sym typeface="Inter"/>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 name="Google Shape;12;p2"/>
          <p:cNvSpPr txBox="1"/>
          <p:nvPr>
            <p:ph idx="1" type="body"/>
          </p:nvPr>
        </p:nvSpPr>
        <p:spPr>
          <a:xfrm>
            <a:off x="812880" y="1770120"/>
            <a:ext cx="10565640" cy="4274280"/>
          </a:xfrm>
          <a:prstGeom prst="rect">
            <a:avLst/>
          </a:prstGeom>
          <a:noFill/>
          <a:ln>
            <a:noFill/>
          </a:ln>
        </p:spPr>
        <p:txBody>
          <a:bodyPr anchorCtr="0" anchor="t" bIns="0" lIns="0" spcFirstLastPara="1" rIns="0" wrap="square" tIns="0">
            <a:noAutofit/>
          </a:bodyPr>
          <a:lstStyle>
            <a:lvl1pPr indent="-274320" lvl="0" marL="457200" marR="0" rtl="0" algn="l">
              <a:lnSpc>
                <a:spcPct val="100000"/>
              </a:lnSpc>
              <a:spcBef>
                <a:spcPts val="1417"/>
              </a:spcBef>
              <a:spcAft>
                <a:spcPts val="0"/>
              </a:spcAft>
              <a:buClr>
                <a:srgbClr val="FFFFFF"/>
              </a:buClr>
              <a:buSzPts val="720"/>
              <a:buFont typeface="Noto Sans Symbols"/>
              <a:buChar char="●"/>
              <a:defRPr b="0" i="0" sz="1600" u="none" cap="none" strike="noStrike">
                <a:solidFill>
                  <a:schemeClr val="lt1"/>
                </a:solidFill>
                <a:latin typeface="Inter"/>
                <a:ea typeface="Inter"/>
                <a:cs typeface="Inter"/>
                <a:sym typeface="Inter"/>
              </a:defRPr>
            </a:lvl1pPr>
            <a:lvl2pPr indent="-304800" lvl="1" marL="914400" marR="0" rtl="0" algn="l">
              <a:lnSpc>
                <a:spcPct val="100000"/>
              </a:lnSpc>
              <a:spcBef>
                <a:spcPts val="1134"/>
              </a:spcBef>
              <a:spcAft>
                <a:spcPts val="0"/>
              </a:spcAft>
              <a:buClr>
                <a:srgbClr val="FFFFFF"/>
              </a:buClr>
              <a:buSzPts val="1200"/>
              <a:buFont typeface="Noto Sans Symbols"/>
              <a:buChar char="−"/>
              <a:defRPr b="0" i="0" sz="1600" u="none" cap="none" strike="noStrike">
                <a:solidFill>
                  <a:schemeClr val="lt1"/>
                </a:solidFill>
                <a:latin typeface="Inter"/>
                <a:ea typeface="Inter"/>
                <a:cs typeface="Inter"/>
                <a:sym typeface="Inter"/>
              </a:defRPr>
            </a:lvl2pPr>
            <a:lvl3pPr indent="-274320" lvl="2" marL="1371600" marR="0" rtl="0" algn="l">
              <a:lnSpc>
                <a:spcPct val="100000"/>
              </a:lnSpc>
              <a:spcBef>
                <a:spcPts val="850"/>
              </a:spcBef>
              <a:spcAft>
                <a:spcPts val="0"/>
              </a:spcAft>
              <a:buClr>
                <a:srgbClr val="FFFFFF"/>
              </a:buClr>
              <a:buSzPts val="720"/>
              <a:buFont typeface="Noto Sans Symbols"/>
              <a:buChar char="●"/>
              <a:defRPr b="0" i="0" sz="1600" u="none" cap="none" strike="noStrike">
                <a:solidFill>
                  <a:schemeClr val="lt1"/>
                </a:solidFill>
                <a:latin typeface="Inter"/>
                <a:ea typeface="Inter"/>
                <a:cs typeface="Inter"/>
                <a:sym typeface="Inter"/>
              </a:defRPr>
            </a:lvl3pPr>
            <a:lvl4pPr indent="-304800" lvl="3" marL="1828800" marR="0" rtl="0" algn="l">
              <a:lnSpc>
                <a:spcPct val="100000"/>
              </a:lnSpc>
              <a:spcBef>
                <a:spcPts val="567"/>
              </a:spcBef>
              <a:spcAft>
                <a:spcPts val="0"/>
              </a:spcAft>
              <a:buClr>
                <a:srgbClr val="FFFFFF"/>
              </a:buClr>
              <a:buSzPts val="1200"/>
              <a:buFont typeface="Noto Sans Symbols"/>
              <a:buChar char="−"/>
              <a:defRPr b="0" i="0" sz="1600" u="none" cap="none" strike="noStrike">
                <a:solidFill>
                  <a:schemeClr val="lt1"/>
                </a:solidFill>
                <a:latin typeface="Inter"/>
                <a:ea typeface="Inter"/>
                <a:cs typeface="Inter"/>
                <a:sym typeface="Inter"/>
              </a:defRPr>
            </a:lvl4pPr>
            <a:lvl5pPr indent="-274320" lvl="4" marL="2286000" marR="0" rtl="0" algn="l">
              <a:lnSpc>
                <a:spcPct val="100000"/>
              </a:lnSpc>
              <a:spcBef>
                <a:spcPts val="283"/>
              </a:spcBef>
              <a:spcAft>
                <a:spcPts val="0"/>
              </a:spcAft>
              <a:buClr>
                <a:srgbClr val="FFFFFF"/>
              </a:buClr>
              <a:buSzPts val="720"/>
              <a:buFont typeface="Noto Sans Symbols"/>
              <a:buChar char="●"/>
              <a:defRPr b="0" i="0" sz="1600" u="none" cap="none" strike="noStrike">
                <a:solidFill>
                  <a:schemeClr val="lt1"/>
                </a:solidFill>
                <a:latin typeface="Inter"/>
                <a:ea typeface="Inter"/>
                <a:cs typeface="Inter"/>
                <a:sym typeface="Inter"/>
              </a:defRPr>
            </a:lvl5pPr>
            <a:lvl6pPr indent="-274320" lvl="5" marL="2743200" marR="0" rtl="0" algn="l">
              <a:lnSpc>
                <a:spcPct val="100000"/>
              </a:lnSpc>
              <a:spcBef>
                <a:spcPts val="283"/>
              </a:spcBef>
              <a:spcAft>
                <a:spcPts val="0"/>
              </a:spcAft>
              <a:buClr>
                <a:srgbClr val="FFFFFF"/>
              </a:buClr>
              <a:buSzPts val="720"/>
              <a:buFont typeface="Noto Sans Symbols"/>
              <a:buChar char="●"/>
              <a:defRPr b="0" i="0" sz="1600" u="none" cap="none" strike="noStrike">
                <a:solidFill>
                  <a:schemeClr val="lt1"/>
                </a:solidFill>
                <a:latin typeface="Inter"/>
                <a:ea typeface="Inter"/>
                <a:cs typeface="Inter"/>
                <a:sym typeface="Inter"/>
              </a:defRPr>
            </a:lvl6pPr>
            <a:lvl7pPr indent="-274320" lvl="6" marL="3200400" marR="0" rtl="0" algn="l">
              <a:lnSpc>
                <a:spcPct val="100000"/>
              </a:lnSpc>
              <a:spcBef>
                <a:spcPts val="283"/>
              </a:spcBef>
              <a:spcAft>
                <a:spcPts val="0"/>
              </a:spcAft>
              <a:buClr>
                <a:srgbClr val="FFFFFF"/>
              </a:buClr>
              <a:buSzPts val="720"/>
              <a:buFont typeface="Noto Sans Symbols"/>
              <a:buChar char="●"/>
              <a:defRPr b="0" i="0" sz="1600" u="none" cap="none" strike="noStrike">
                <a:solidFill>
                  <a:schemeClr val="lt1"/>
                </a:solidFill>
                <a:latin typeface="Inter"/>
                <a:ea typeface="Inter"/>
                <a:cs typeface="Inter"/>
                <a:sym typeface="Inter"/>
              </a:defRPr>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rgbClr val="0B1220"/>
        </a:solidFill>
      </p:bgPr>
    </p:bg>
    <p:spTree>
      <p:nvGrpSpPr>
        <p:cNvPr id="13"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14" name="Shape 14"/>
        <p:cNvGrpSpPr/>
        <p:nvPr/>
      </p:nvGrpSpPr>
      <p:grpSpPr>
        <a:xfrm>
          <a:off x="0" y="0"/>
          <a:ext cx="0" cy="0"/>
          <a:chOff x="0" y="0"/>
          <a:chExt cx="0" cy="0"/>
        </a:xfrm>
      </p:grpSpPr>
      <p:sp>
        <p:nvSpPr>
          <p:cNvPr id="15" name="Google Shape;15;p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18.png"/><Relationship Id="rId5" Type="http://schemas.openxmlformats.org/officeDocument/2006/relationships/image" Target="../media/image3.png"/><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22" name="Shape 22"/>
        <p:cNvGrpSpPr/>
        <p:nvPr/>
      </p:nvGrpSpPr>
      <p:grpSpPr>
        <a:xfrm>
          <a:off x="0" y="0"/>
          <a:ext cx="0" cy="0"/>
          <a:chOff x="0" y="0"/>
          <a:chExt cx="0" cy="0"/>
        </a:xfrm>
      </p:grpSpPr>
      <p:sp>
        <p:nvSpPr>
          <p:cNvPr id="23" name="Google Shape;23;p5"/>
          <p:cNvSpPr/>
          <p:nvPr/>
        </p:nvSpPr>
        <p:spPr>
          <a:xfrm>
            <a:off x="892755" y="609480"/>
            <a:ext cx="10882800" cy="273600"/>
          </a:xfrm>
          <a:prstGeom prst="rect">
            <a:avLst/>
          </a:prstGeom>
          <a:noFill/>
          <a:ln>
            <a:noFill/>
          </a:ln>
        </p:spPr>
        <p:txBody>
          <a:bodyPr anchorCtr="0" anchor="t" bIns="0" lIns="0" spcFirstLastPara="1" rIns="0" wrap="square" tIns="0">
            <a:noAutofit/>
          </a:bodyPr>
          <a:lstStyle/>
          <a:p>
            <a:pPr indent="0" lvl="0" marL="0" marR="0" rtl="0" algn="l">
              <a:lnSpc>
                <a:spcPct val="139928"/>
              </a:lnSpc>
              <a:spcBef>
                <a:spcPts val="0"/>
              </a:spcBef>
              <a:spcAft>
                <a:spcPts val="0"/>
              </a:spcAft>
              <a:buNone/>
            </a:pPr>
            <a:r>
              <a:rPr b="1" lang="en-US">
                <a:solidFill>
                  <a:srgbClr val="2DD4A0"/>
                </a:solidFill>
                <a:latin typeface="Inter"/>
                <a:ea typeface="Inter"/>
                <a:cs typeface="Inter"/>
                <a:sym typeface="Inter"/>
              </a:rPr>
              <a:t>                                </a:t>
            </a:r>
            <a:r>
              <a:rPr b="1" i="0" lang="en-US" sz="1400" u="none" cap="none" strike="noStrike">
                <a:solidFill>
                  <a:srgbClr val="2DD4A0"/>
                </a:solidFill>
                <a:latin typeface="Inter"/>
                <a:ea typeface="Inter"/>
                <a:cs typeface="Inter"/>
                <a:sym typeface="Inter"/>
              </a:rPr>
              <a:t> </a:t>
            </a:r>
            <a:r>
              <a:rPr b="1" lang="en-US">
                <a:solidFill>
                  <a:srgbClr val="2DD4A0"/>
                </a:solidFill>
                <a:latin typeface="Inter"/>
                <a:ea typeface="Inter"/>
                <a:cs typeface="Inter"/>
                <a:sym typeface="Inter"/>
              </a:rPr>
              <a:t>UCLA </a:t>
            </a:r>
            <a:r>
              <a:rPr b="1" i="0" lang="en-US" sz="1400" u="none" cap="none" strike="noStrike">
                <a:solidFill>
                  <a:srgbClr val="2DD4A0"/>
                </a:solidFill>
                <a:latin typeface="Inter"/>
                <a:ea typeface="Inter"/>
                <a:cs typeface="Inter"/>
                <a:sym typeface="Inter"/>
              </a:rPr>
              <a:t>· MIDTERM PROJECT · PROFESSOR CHENG </a:t>
            </a:r>
            <a:endParaRPr b="0" i="0" sz="1400" u="none" cap="none" strike="noStrike">
              <a:solidFill>
                <a:srgbClr val="FFFFFF"/>
              </a:solidFill>
              <a:latin typeface="Arial"/>
              <a:ea typeface="Arial"/>
              <a:cs typeface="Arial"/>
              <a:sym typeface="Arial"/>
            </a:endParaRPr>
          </a:p>
        </p:txBody>
      </p:sp>
      <p:sp>
        <p:nvSpPr>
          <p:cNvPr id="24" name="Google Shape;24;p5"/>
          <p:cNvSpPr txBox="1"/>
          <p:nvPr>
            <p:ph type="title"/>
          </p:nvPr>
        </p:nvSpPr>
        <p:spPr>
          <a:xfrm>
            <a:off x="833980" y="1063480"/>
            <a:ext cx="10882800" cy="824700"/>
          </a:xfrm>
          <a:prstGeom prst="rect">
            <a:avLst/>
          </a:prstGeom>
          <a:noFill/>
          <a:ln>
            <a:noFill/>
          </a:ln>
        </p:spPr>
        <p:txBody>
          <a:bodyPr anchorCtr="0" anchor="t" bIns="0" lIns="0" spcFirstLastPara="1" rIns="0" wrap="square" tIns="0">
            <a:normAutofit fontScale="90000"/>
          </a:bodyPr>
          <a:lstStyle/>
          <a:p>
            <a:pPr indent="0" lvl="0" marL="0" rtl="0" algn="l">
              <a:lnSpc>
                <a:spcPct val="105016"/>
              </a:lnSpc>
              <a:spcBef>
                <a:spcPts val="0"/>
              </a:spcBef>
              <a:spcAft>
                <a:spcPts val="0"/>
              </a:spcAft>
              <a:buClr>
                <a:srgbClr val="E8EEF8"/>
              </a:buClr>
              <a:buSzPct val="100000"/>
              <a:buFont typeface="Space Grotesk"/>
              <a:buNone/>
            </a:pPr>
            <a:r>
              <a:rPr b="1" lang="en-US" sz="6000" u="none" strike="noStrike">
                <a:solidFill>
                  <a:srgbClr val="E8EEF8"/>
                </a:solidFill>
                <a:latin typeface="Space Grotesk"/>
                <a:ea typeface="Space Grotesk"/>
                <a:cs typeface="Space Grotesk"/>
                <a:sym typeface="Space Grotesk"/>
              </a:rPr>
              <a:t>Can AI Beat the Crowd?</a:t>
            </a:r>
            <a:endParaRPr b="0" sz="6000" u="none" strike="noStrike">
              <a:solidFill>
                <a:schemeClr val="lt1"/>
              </a:solidFill>
              <a:latin typeface="Inter"/>
              <a:ea typeface="Inter"/>
              <a:cs typeface="Inter"/>
              <a:sym typeface="Inter"/>
            </a:endParaRPr>
          </a:p>
        </p:txBody>
      </p:sp>
      <p:sp>
        <p:nvSpPr>
          <p:cNvPr id="25" name="Google Shape;25;p5"/>
          <p:cNvSpPr/>
          <p:nvPr/>
        </p:nvSpPr>
        <p:spPr>
          <a:xfrm>
            <a:off x="833980" y="2041240"/>
            <a:ext cx="10882800" cy="354900"/>
          </a:xfrm>
          <a:prstGeom prst="rect">
            <a:avLst/>
          </a:prstGeom>
          <a:noFill/>
          <a:ln>
            <a:noFill/>
          </a:ln>
        </p:spPr>
        <p:txBody>
          <a:bodyPr anchorCtr="0" anchor="t" bIns="0" lIns="0" spcFirstLastPara="1" rIns="0" wrap="square" tIns="0">
            <a:noAutofit/>
          </a:bodyPr>
          <a:lstStyle/>
          <a:p>
            <a:pPr indent="0" lvl="0" marL="0" marR="0" rtl="0" algn="l">
              <a:lnSpc>
                <a:spcPct val="129950"/>
              </a:lnSpc>
              <a:spcBef>
                <a:spcPts val="0"/>
              </a:spcBef>
              <a:spcAft>
                <a:spcPts val="0"/>
              </a:spcAft>
              <a:buNone/>
            </a:pPr>
            <a:r>
              <a:rPr b="1" i="0" lang="en-US" sz="2000" u="none" cap="none" strike="noStrike">
                <a:solidFill>
                  <a:srgbClr val="9DB0CC"/>
                </a:solidFill>
                <a:latin typeface="Inter"/>
                <a:ea typeface="Inter"/>
                <a:cs typeface="Inter"/>
                <a:sym typeface="Inter"/>
              </a:rPr>
              <a:t>“Is a prediction-market price a good probability, and can a model do better?”</a:t>
            </a:r>
            <a:endParaRPr b="1" i="0" sz="2000" u="none" cap="none" strike="noStrike">
              <a:solidFill>
                <a:srgbClr val="FFFFFF"/>
              </a:solidFill>
            </a:endParaRPr>
          </a:p>
        </p:txBody>
      </p:sp>
      <p:sp>
        <p:nvSpPr>
          <p:cNvPr id="26" name="Google Shape;26;p5"/>
          <p:cNvSpPr/>
          <p:nvPr/>
        </p:nvSpPr>
        <p:spPr>
          <a:xfrm>
            <a:off x="765460" y="3499565"/>
            <a:ext cx="3379800" cy="1377300"/>
          </a:xfrm>
          <a:prstGeom prst="roundRect">
            <a:avLst>
              <a:gd fmla="val 7141"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7" name="Google Shape;27;p5"/>
          <p:cNvSpPr/>
          <p:nvPr/>
        </p:nvSpPr>
        <p:spPr>
          <a:xfrm>
            <a:off x="928940" y="3841645"/>
            <a:ext cx="3052800" cy="481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600" u="none" strike="noStrike">
                <a:solidFill>
                  <a:srgbClr val="2DD4A0"/>
                </a:solidFill>
                <a:latin typeface="Space Grotesk"/>
                <a:ea typeface="Space Grotesk"/>
                <a:cs typeface="Space Grotesk"/>
                <a:sym typeface="Space Grotesk"/>
              </a:rPr>
              <a:t>7,479</a:t>
            </a:r>
            <a:endParaRPr b="0" sz="3600" u="none" strike="noStrike">
              <a:solidFill>
                <a:srgbClr val="FFFFFF"/>
              </a:solidFill>
              <a:latin typeface="Arial"/>
              <a:ea typeface="Arial"/>
              <a:cs typeface="Arial"/>
              <a:sym typeface="Arial"/>
            </a:endParaRPr>
          </a:p>
        </p:txBody>
      </p:sp>
      <p:sp>
        <p:nvSpPr>
          <p:cNvPr id="28" name="Google Shape;28;p5"/>
          <p:cNvSpPr/>
          <p:nvPr/>
        </p:nvSpPr>
        <p:spPr>
          <a:xfrm>
            <a:off x="973515" y="4425980"/>
            <a:ext cx="3052800" cy="239400"/>
          </a:xfrm>
          <a:prstGeom prst="rect">
            <a:avLst/>
          </a:prstGeom>
          <a:noFill/>
          <a:ln>
            <a:noFill/>
          </a:ln>
        </p:spPr>
        <p:txBody>
          <a:bodyPr anchorCtr="0" anchor="t" bIns="0" lIns="0" spcFirstLastPara="1" rIns="0" wrap="square" tIns="0">
            <a:noAutofit/>
          </a:bodyPr>
          <a:lstStyle/>
          <a:p>
            <a:pPr indent="0" lvl="0" marL="0" marR="0" rtl="0" algn="l">
              <a:lnSpc>
                <a:spcPct val="129923"/>
              </a:lnSpc>
              <a:spcBef>
                <a:spcPts val="0"/>
              </a:spcBef>
              <a:spcAft>
                <a:spcPts val="0"/>
              </a:spcAft>
              <a:buNone/>
            </a:pPr>
            <a:r>
              <a:rPr b="0" lang="en-US" sz="1300" u="none" strike="noStrike">
                <a:solidFill>
                  <a:srgbClr val="9DB0CC"/>
                </a:solidFill>
                <a:latin typeface="Inter"/>
                <a:ea typeface="Inter"/>
                <a:cs typeface="Inter"/>
                <a:sym typeface="Inter"/>
              </a:rPr>
              <a:t>resolved markets on Polymarket</a:t>
            </a:r>
            <a:endParaRPr b="0" sz="1300" u="none" strike="noStrike">
              <a:solidFill>
                <a:srgbClr val="FFFFFF"/>
              </a:solidFill>
              <a:latin typeface="Arial"/>
              <a:ea typeface="Arial"/>
              <a:cs typeface="Arial"/>
              <a:sym typeface="Arial"/>
            </a:endParaRPr>
          </a:p>
        </p:txBody>
      </p:sp>
      <p:sp>
        <p:nvSpPr>
          <p:cNvPr id="29" name="Google Shape;29;p5"/>
          <p:cNvSpPr/>
          <p:nvPr/>
        </p:nvSpPr>
        <p:spPr>
          <a:xfrm>
            <a:off x="4355380" y="3499565"/>
            <a:ext cx="3379800" cy="1377300"/>
          </a:xfrm>
          <a:prstGeom prst="roundRect">
            <a:avLst>
              <a:gd fmla="val 7141"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0" name="Google Shape;30;p5"/>
          <p:cNvSpPr/>
          <p:nvPr/>
        </p:nvSpPr>
        <p:spPr>
          <a:xfrm>
            <a:off x="4563460" y="3841645"/>
            <a:ext cx="3052800" cy="481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600">
                <a:solidFill>
                  <a:srgbClr val="4C8DFF"/>
                </a:solidFill>
                <a:latin typeface="Space Grotesk"/>
                <a:ea typeface="Space Grotesk"/>
                <a:cs typeface="Space Grotesk"/>
                <a:sym typeface="Space Grotesk"/>
              </a:rPr>
              <a:t>55,952</a:t>
            </a:r>
            <a:endParaRPr b="1" sz="3600">
              <a:solidFill>
                <a:srgbClr val="4C8DFF"/>
              </a:solidFill>
              <a:latin typeface="Space Grotesk"/>
              <a:ea typeface="Space Grotesk"/>
              <a:cs typeface="Space Grotesk"/>
              <a:sym typeface="Space Grotesk"/>
            </a:endParaRPr>
          </a:p>
          <a:p>
            <a:pPr indent="0" lvl="0" marL="0" marR="0" rtl="0" algn="l">
              <a:lnSpc>
                <a:spcPct val="100000"/>
              </a:lnSpc>
              <a:spcBef>
                <a:spcPts val="0"/>
              </a:spcBef>
              <a:spcAft>
                <a:spcPts val="0"/>
              </a:spcAft>
              <a:buNone/>
            </a:pPr>
            <a:r>
              <a:t/>
            </a:r>
            <a:endParaRPr b="1" sz="3600">
              <a:solidFill>
                <a:srgbClr val="4C8DFF"/>
              </a:solidFill>
              <a:latin typeface="Space Grotesk"/>
              <a:ea typeface="Space Grotesk"/>
              <a:cs typeface="Space Grotesk"/>
              <a:sym typeface="Space Grotesk"/>
            </a:endParaRPr>
          </a:p>
        </p:txBody>
      </p:sp>
      <p:sp>
        <p:nvSpPr>
          <p:cNvPr id="31" name="Google Shape;31;p5"/>
          <p:cNvSpPr/>
          <p:nvPr/>
        </p:nvSpPr>
        <p:spPr>
          <a:xfrm>
            <a:off x="4563460" y="4425980"/>
            <a:ext cx="3052800" cy="453900"/>
          </a:xfrm>
          <a:prstGeom prst="rect">
            <a:avLst/>
          </a:prstGeom>
          <a:noFill/>
          <a:ln>
            <a:noFill/>
          </a:ln>
        </p:spPr>
        <p:txBody>
          <a:bodyPr anchorCtr="0" anchor="t" bIns="0" lIns="0" spcFirstLastPara="1" rIns="0" wrap="square" tIns="0">
            <a:noAutofit/>
          </a:bodyPr>
          <a:lstStyle/>
          <a:p>
            <a:pPr indent="0" lvl="0" marL="0" marR="0" rtl="0" algn="l">
              <a:lnSpc>
                <a:spcPct val="129923"/>
              </a:lnSpc>
              <a:spcBef>
                <a:spcPts val="0"/>
              </a:spcBef>
              <a:spcAft>
                <a:spcPts val="0"/>
              </a:spcAft>
              <a:buNone/>
            </a:pPr>
            <a:r>
              <a:rPr lang="en-US" sz="1300">
                <a:solidFill>
                  <a:srgbClr val="9DB0CC"/>
                </a:solidFill>
                <a:latin typeface="Inter"/>
                <a:ea typeface="Inter"/>
                <a:cs typeface="Inter"/>
                <a:sym typeface="Inter"/>
              </a:rPr>
              <a:t>Tracked Profiles</a:t>
            </a:r>
            <a:endParaRPr b="0" sz="1300" u="none" strike="noStrike">
              <a:solidFill>
                <a:srgbClr val="FFFFFF"/>
              </a:solidFill>
              <a:latin typeface="Arial"/>
              <a:ea typeface="Arial"/>
              <a:cs typeface="Arial"/>
              <a:sym typeface="Arial"/>
            </a:endParaRPr>
          </a:p>
        </p:txBody>
      </p:sp>
      <p:sp>
        <p:nvSpPr>
          <p:cNvPr id="32" name="Google Shape;32;p5"/>
          <p:cNvSpPr/>
          <p:nvPr/>
        </p:nvSpPr>
        <p:spPr>
          <a:xfrm>
            <a:off x="7945300" y="3499565"/>
            <a:ext cx="3379800" cy="1377300"/>
          </a:xfrm>
          <a:prstGeom prst="roundRect">
            <a:avLst>
              <a:gd fmla="val 7141"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3" name="Google Shape;33;p5"/>
          <p:cNvSpPr/>
          <p:nvPr/>
        </p:nvSpPr>
        <p:spPr>
          <a:xfrm>
            <a:off x="8153380" y="3841645"/>
            <a:ext cx="3052800" cy="481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600" u="none" strike="noStrike">
                <a:solidFill>
                  <a:srgbClr val="F5A524"/>
                </a:solidFill>
                <a:latin typeface="Space Grotesk"/>
                <a:ea typeface="Space Grotesk"/>
                <a:cs typeface="Space Grotesk"/>
                <a:sym typeface="Space Grotesk"/>
              </a:rPr>
              <a:t>4.1M</a:t>
            </a:r>
            <a:endParaRPr b="0" sz="3600" u="none" strike="noStrike">
              <a:solidFill>
                <a:srgbClr val="FFFFFF"/>
              </a:solidFill>
              <a:latin typeface="Arial"/>
              <a:ea typeface="Arial"/>
              <a:cs typeface="Arial"/>
              <a:sym typeface="Arial"/>
            </a:endParaRPr>
          </a:p>
        </p:txBody>
      </p:sp>
      <p:sp>
        <p:nvSpPr>
          <p:cNvPr id="34" name="Google Shape;34;p5"/>
          <p:cNvSpPr/>
          <p:nvPr/>
        </p:nvSpPr>
        <p:spPr>
          <a:xfrm>
            <a:off x="8153380" y="4425980"/>
            <a:ext cx="3052800" cy="239400"/>
          </a:xfrm>
          <a:prstGeom prst="rect">
            <a:avLst/>
          </a:prstGeom>
          <a:noFill/>
          <a:ln>
            <a:noFill/>
          </a:ln>
        </p:spPr>
        <p:txBody>
          <a:bodyPr anchorCtr="0" anchor="t" bIns="0" lIns="0" spcFirstLastPara="1" rIns="0" wrap="square" tIns="0">
            <a:noAutofit/>
          </a:bodyPr>
          <a:lstStyle/>
          <a:p>
            <a:pPr indent="0" lvl="0" marL="0" marR="0" rtl="0" algn="l">
              <a:lnSpc>
                <a:spcPct val="129923"/>
              </a:lnSpc>
              <a:spcBef>
                <a:spcPts val="0"/>
              </a:spcBef>
              <a:spcAft>
                <a:spcPts val="0"/>
              </a:spcAft>
              <a:buNone/>
            </a:pPr>
            <a:r>
              <a:rPr b="0" lang="en-US" sz="1300" u="none" strike="noStrike">
                <a:solidFill>
                  <a:srgbClr val="9DB0CC"/>
                </a:solidFill>
                <a:latin typeface="Inter"/>
                <a:ea typeface="Inter"/>
                <a:cs typeface="Inter"/>
                <a:sym typeface="Inter"/>
              </a:rPr>
              <a:t>trades used to read prices</a:t>
            </a:r>
            <a:endParaRPr b="0" sz="1300" u="none" strike="noStrike">
              <a:solidFill>
                <a:srgbClr val="FFFFFF"/>
              </a:solidFill>
              <a:latin typeface="Arial"/>
              <a:ea typeface="Arial"/>
              <a:cs typeface="Arial"/>
              <a:sym typeface="Arial"/>
            </a:endParaRPr>
          </a:p>
        </p:txBody>
      </p:sp>
      <p:sp>
        <p:nvSpPr>
          <p:cNvPr id="35" name="Google Shape;35;p5"/>
          <p:cNvSpPr/>
          <p:nvPr/>
        </p:nvSpPr>
        <p:spPr>
          <a:xfrm>
            <a:off x="765440" y="5187625"/>
            <a:ext cx="9810000" cy="914100"/>
          </a:xfrm>
          <a:prstGeom prst="rect">
            <a:avLst/>
          </a:prstGeom>
          <a:noFill/>
          <a:ln>
            <a:noFill/>
          </a:ln>
        </p:spPr>
        <p:txBody>
          <a:bodyPr anchorCtr="0" anchor="t" bIns="0" lIns="0" spcFirstLastPara="1" rIns="0" wrap="square" tIns="0">
            <a:noAutofit/>
          </a:bodyPr>
          <a:lstStyle/>
          <a:p>
            <a:pPr indent="0" lvl="0" marL="0" marR="0" rtl="0" algn="l">
              <a:lnSpc>
                <a:spcPct val="93388"/>
              </a:lnSpc>
              <a:spcBef>
                <a:spcPts val="0"/>
              </a:spcBef>
              <a:spcAft>
                <a:spcPts val="0"/>
              </a:spcAft>
              <a:buNone/>
            </a:pPr>
            <a:r>
              <a:rPr b="1" lang="en-US" sz="2000" u="none" strike="noStrike">
                <a:solidFill>
                  <a:srgbClr val="9DB0CC"/>
                </a:solidFill>
                <a:latin typeface="Inter"/>
                <a:ea typeface="Inter"/>
                <a:cs typeface="Inter"/>
                <a:sym typeface="Inter"/>
              </a:rPr>
              <a:t>By Leo Wong · Jiahong Chen · Aaron Wen</a:t>
            </a:r>
            <a:endParaRPr b="1" sz="2000" u="none" strike="noStrike">
              <a:solidFill>
                <a:srgbClr val="9DB0CC"/>
              </a:solidFill>
              <a:latin typeface="Inter"/>
              <a:ea typeface="Inter"/>
              <a:cs typeface="Inter"/>
              <a:sym typeface="Inter"/>
            </a:endParaRPr>
          </a:p>
          <a:p>
            <a:pPr indent="0" lvl="0" marL="0" rtl="0" algn="l">
              <a:spcBef>
                <a:spcPts val="0"/>
              </a:spcBef>
              <a:spcAft>
                <a:spcPts val="0"/>
              </a:spcAft>
              <a:buNone/>
            </a:pPr>
            <a:r>
              <a:rPr lang="en-US" sz="1275">
                <a:solidFill>
                  <a:srgbClr val="94A3B8"/>
                </a:solidFill>
                <a:latin typeface="Inter"/>
                <a:ea typeface="Inter"/>
                <a:cs typeface="Inter"/>
                <a:sym typeface="Inter"/>
              </a:rPr>
              <a:t>Lit · Market · Wallet</a:t>
            </a:r>
            <a:endParaRPr sz="1700"/>
          </a:p>
          <a:p>
            <a:pPr indent="0" lvl="0" marL="0" marR="0" rtl="0" algn="l">
              <a:lnSpc>
                <a:spcPct val="93388"/>
              </a:lnSpc>
              <a:spcBef>
                <a:spcPts val="0"/>
              </a:spcBef>
              <a:spcAft>
                <a:spcPts val="0"/>
              </a:spcAft>
              <a:buNone/>
            </a:pPr>
            <a:br>
              <a:rPr lang="en-US" sz="1200">
                <a:latin typeface="Inter"/>
                <a:ea typeface="Inter"/>
                <a:cs typeface="Inter"/>
                <a:sym typeface="Inter"/>
              </a:rPr>
            </a:br>
            <a:r>
              <a:rPr b="0" i="1" lang="en-US" sz="1200" u="none" strike="noStrike">
                <a:solidFill>
                  <a:srgbClr val="9DB0CC"/>
                </a:solidFill>
                <a:latin typeface="Inter"/>
                <a:ea typeface="Inter"/>
                <a:cs typeface="Inter"/>
                <a:sym typeface="Inter"/>
              </a:rPr>
              <a:t>[Excused Note: Group consists of 3 undergraduate, 1 graduate dropped] </a:t>
            </a:r>
            <a:endParaRPr b="0" i="1" sz="1200" u="none" strike="noStrike">
              <a:solidFill>
                <a:srgbClr val="FFFFFF"/>
              </a:solidFill>
              <a:latin typeface="Arial"/>
              <a:ea typeface="Arial"/>
              <a:cs typeface="Arial"/>
              <a:sym typeface="Arial"/>
            </a:endParaRPr>
          </a:p>
        </p:txBody>
      </p:sp>
      <p:sp>
        <p:nvSpPr>
          <p:cNvPr id="36" name="Google Shape;36;p5"/>
          <p:cNvSpPr/>
          <p:nvPr/>
        </p:nvSpPr>
        <p:spPr>
          <a:xfrm>
            <a:off x="9811080" y="609840"/>
            <a:ext cx="1771200" cy="990300"/>
          </a:xfrm>
          <a:prstGeom prst="roundRect">
            <a:avLst>
              <a:gd fmla="val 15384" name="adj"/>
            </a:avLst>
          </a:prstGeom>
          <a:solidFill>
            <a:srgbClr val="1E293B"/>
          </a:solidFill>
          <a:ln cap="flat" cmpd="sng" w="9525">
            <a:solidFill>
              <a:srgbClr val="33415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sz="1400" u="none" strike="noStrike">
              <a:solidFill>
                <a:srgbClr val="FFFFFF"/>
              </a:solidFill>
              <a:latin typeface="Arial"/>
              <a:ea typeface="Arial"/>
              <a:cs typeface="Arial"/>
              <a:sym typeface="Arial"/>
            </a:endParaRPr>
          </a:p>
        </p:txBody>
      </p:sp>
      <p:sp>
        <p:nvSpPr>
          <p:cNvPr id="37" name="Google Shape;37;p5"/>
          <p:cNvSpPr/>
          <p:nvPr/>
        </p:nvSpPr>
        <p:spPr>
          <a:xfrm>
            <a:off x="9782640" y="810000"/>
            <a:ext cx="1523520" cy="1602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lang="en-US" sz="1050" u="none" strike="noStrike">
                <a:solidFill>
                  <a:srgbClr val="0EA5E9"/>
                </a:solidFill>
                <a:latin typeface="JetBrains Mono"/>
                <a:ea typeface="JetBrains Mono"/>
                <a:cs typeface="JetBrains Mono"/>
                <a:sym typeface="JetBrains Mono"/>
              </a:rPr>
              <a:t>DATE &amp; TIME</a:t>
            </a:r>
            <a:endParaRPr b="0" sz="1050" u="none" strike="noStrike">
              <a:solidFill>
                <a:srgbClr val="FFFFFF"/>
              </a:solidFill>
              <a:latin typeface="Arial"/>
              <a:ea typeface="Arial"/>
              <a:cs typeface="Arial"/>
              <a:sym typeface="Arial"/>
            </a:endParaRPr>
          </a:p>
        </p:txBody>
      </p:sp>
      <p:sp>
        <p:nvSpPr>
          <p:cNvPr id="38" name="Google Shape;38;p5"/>
          <p:cNvSpPr/>
          <p:nvPr/>
        </p:nvSpPr>
        <p:spPr>
          <a:xfrm>
            <a:off x="9782640" y="1019520"/>
            <a:ext cx="1523520" cy="2052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lang="en-US" sz="1350" u="none" strike="noStrike">
                <a:solidFill>
                  <a:srgbClr val="F8FAFC"/>
                </a:solidFill>
                <a:latin typeface="Inter"/>
                <a:ea typeface="Inter"/>
                <a:cs typeface="Inter"/>
                <a:sym typeface="Inter"/>
              </a:rPr>
              <a:t>Oct 29, 2026</a:t>
            </a:r>
            <a:endParaRPr b="0" sz="1350" u="none" strike="noStrike">
              <a:solidFill>
                <a:srgbClr val="FFFFFF"/>
              </a:solidFill>
              <a:latin typeface="Arial"/>
              <a:ea typeface="Arial"/>
              <a:cs typeface="Arial"/>
              <a:sym typeface="Arial"/>
            </a:endParaRPr>
          </a:p>
        </p:txBody>
      </p:sp>
      <p:sp>
        <p:nvSpPr>
          <p:cNvPr id="39" name="Google Shape;39;p5"/>
          <p:cNvSpPr/>
          <p:nvPr/>
        </p:nvSpPr>
        <p:spPr>
          <a:xfrm>
            <a:off x="9782650" y="1238750"/>
            <a:ext cx="1622100" cy="1602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050" u="none" strike="noStrike">
                <a:solidFill>
                  <a:srgbClr val="64748B"/>
                </a:solidFill>
                <a:latin typeface="Inter"/>
                <a:ea typeface="Inter"/>
                <a:cs typeface="Inter"/>
                <a:sym typeface="Inter"/>
              </a:rPr>
              <a:t>15 Min Presentation</a:t>
            </a:r>
            <a:endParaRPr b="0" sz="1050" u="none" strike="noStrike">
              <a:solidFill>
                <a:srgbClr val="FFFFFF"/>
              </a:solidFill>
              <a:latin typeface="Arial"/>
              <a:ea typeface="Arial"/>
              <a:cs typeface="Arial"/>
              <a:sym typeface="Arial"/>
            </a:endParaRPr>
          </a:p>
        </p:txBody>
      </p:sp>
      <p:sp>
        <p:nvSpPr>
          <p:cNvPr id="40" name="Google Shape;40;p5"/>
          <p:cNvSpPr txBox="1"/>
          <p:nvPr/>
        </p:nvSpPr>
        <p:spPr>
          <a:xfrm>
            <a:off x="973525" y="3631950"/>
            <a:ext cx="26550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38BDF8"/>
                </a:solidFill>
                <a:latin typeface="JetBrains Mono"/>
                <a:ea typeface="JetBrains Mono"/>
                <a:cs typeface="JetBrains Mono"/>
                <a:sym typeface="JetBrains Mono"/>
              </a:rPr>
              <a:t>DATASET</a:t>
            </a:r>
            <a:endParaRPr/>
          </a:p>
        </p:txBody>
      </p:sp>
      <p:sp>
        <p:nvSpPr>
          <p:cNvPr id="41" name="Google Shape;41;p5"/>
          <p:cNvSpPr txBox="1"/>
          <p:nvPr/>
        </p:nvSpPr>
        <p:spPr>
          <a:xfrm>
            <a:off x="8153375" y="3631950"/>
            <a:ext cx="26550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38BDF8"/>
                </a:solidFill>
                <a:latin typeface="JetBrains Mono"/>
                <a:ea typeface="JetBrains Mono"/>
                <a:cs typeface="JetBrains Mono"/>
                <a:sym typeface="JetBrains Mono"/>
              </a:rPr>
              <a:t>VOLUME</a:t>
            </a:r>
            <a:endParaRPr/>
          </a:p>
        </p:txBody>
      </p:sp>
      <p:sp>
        <p:nvSpPr>
          <p:cNvPr id="42" name="Google Shape;42;p5"/>
          <p:cNvSpPr txBox="1"/>
          <p:nvPr/>
        </p:nvSpPr>
        <p:spPr>
          <a:xfrm>
            <a:off x="4596775" y="3679950"/>
            <a:ext cx="26550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38BDF8"/>
                </a:solidFill>
                <a:latin typeface="JetBrains Mono"/>
                <a:ea typeface="JetBrains Mono"/>
                <a:cs typeface="JetBrains Mono"/>
                <a:sym typeface="JetBrains Mono"/>
              </a:rPr>
              <a:t>WALLETS</a:t>
            </a:r>
            <a:endParaRPr/>
          </a:p>
        </p:txBody>
      </p:sp>
      <p:sp>
        <p:nvSpPr>
          <p:cNvPr id="43" name="Google Shape;43;p5"/>
          <p:cNvSpPr txBox="1"/>
          <p:nvPr/>
        </p:nvSpPr>
        <p:spPr>
          <a:xfrm>
            <a:off x="913850" y="2484500"/>
            <a:ext cx="7686600" cy="184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1" lang="en-US" sz="1200" u="none" cap="none" strike="noStrike">
                <a:solidFill>
                  <a:srgbClr val="94A3B8"/>
                </a:solidFill>
                <a:latin typeface="Inter"/>
                <a:ea typeface="Inter"/>
                <a:cs typeface="Inter"/>
                <a:sym typeface="Inter"/>
              </a:rPr>
              <a:t>Testing Market Efficiency, Favorite-Longshot Bias, and Wallet Micro-Behaviors on Polymarket</a:t>
            </a:r>
            <a:endParaRPr i="1" sz="1100"/>
          </a:p>
        </p:txBody>
      </p:sp>
      <p:pic>
        <p:nvPicPr>
          <p:cNvPr descr="image.png" id="44" name="Google Shape;44;p5"/>
          <p:cNvPicPr preferRelativeResize="0"/>
          <p:nvPr/>
        </p:nvPicPr>
        <p:blipFill rotWithShape="1">
          <a:blip r:embed="rId3">
            <a:alphaModFix/>
          </a:blip>
          <a:srcRect b="0" l="0" r="0" t="0"/>
          <a:stretch/>
        </p:blipFill>
        <p:spPr>
          <a:xfrm>
            <a:off x="438800" y="5222576"/>
            <a:ext cx="231000" cy="184800"/>
          </a:xfrm>
          <a:prstGeom prst="rect">
            <a:avLst/>
          </a:prstGeom>
          <a:noFill/>
          <a:ln>
            <a:noFill/>
          </a:ln>
        </p:spPr>
      </p:pic>
      <p:pic>
        <p:nvPicPr>
          <p:cNvPr descr="image.png" id="45" name="Google Shape;45;p5"/>
          <p:cNvPicPr preferRelativeResize="0"/>
          <p:nvPr/>
        </p:nvPicPr>
        <p:blipFill rotWithShape="1">
          <a:blip r:embed="rId4">
            <a:alphaModFix/>
          </a:blip>
          <a:srcRect b="0" l="0" r="0" t="0"/>
          <a:stretch/>
        </p:blipFill>
        <p:spPr>
          <a:xfrm>
            <a:off x="9983775" y="800302"/>
            <a:ext cx="205200" cy="205200"/>
          </a:xfrm>
          <a:prstGeom prst="rect">
            <a:avLst/>
          </a:prstGeom>
          <a:noFill/>
          <a:ln>
            <a:noFill/>
          </a:ln>
        </p:spPr>
      </p:pic>
      <p:sp>
        <p:nvSpPr>
          <p:cNvPr id="46" name="Google Shape;46;p5"/>
          <p:cNvSpPr/>
          <p:nvPr/>
        </p:nvSpPr>
        <p:spPr>
          <a:xfrm>
            <a:off x="479300" y="597180"/>
            <a:ext cx="1686000" cy="285900"/>
          </a:xfrm>
          <a:prstGeom prst="roundRect">
            <a:avLst>
              <a:gd fmla="val 13333" name="adj"/>
            </a:avLst>
          </a:prstGeom>
          <a:solidFill>
            <a:srgbClr val="1328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47" name="Google Shape;47;p5"/>
          <p:cNvSpPr txBox="1"/>
          <p:nvPr/>
        </p:nvSpPr>
        <p:spPr>
          <a:xfrm>
            <a:off x="593600" y="654330"/>
            <a:ext cx="15525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38BDF8"/>
                </a:solidFill>
                <a:latin typeface="JetBrains Mono"/>
                <a:ea typeface="JetBrains Mono"/>
                <a:cs typeface="JetBrains Mono"/>
                <a:sym typeface="JetBrains Mono"/>
              </a:rPr>
              <a:t>STATS C161 / C261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6"/>
          <p:cNvSpPr/>
          <p:nvPr/>
        </p:nvSpPr>
        <p:spPr>
          <a:xfrm>
            <a:off x="609600" y="2340422"/>
            <a:ext cx="3276600" cy="2657700"/>
          </a:xfrm>
          <a:prstGeom prst="roundRect">
            <a:avLst>
              <a:gd fmla="val 5504" name="adj"/>
            </a:avLst>
          </a:prstGeom>
          <a:solidFill>
            <a:srgbClr val="F0F9FF"/>
          </a:solidFill>
          <a:ln cap="flat" cmpd="sng" w="9525">
            <a:solidFill>
              <a:srgbClr val="BAE6F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54" name="Google Shape;54;p6"/>
          <p:cNvSpPr/>
          <p:nvPr/>
        </p:nvSpPr>
        <p:spPr>
          <a:xfrm>
            <a:off x="4457700" y="2340422"/>
            <a:ext cx="3276600" cy="2657700"/>
          </a:xfrm>
          <a:prstGeom prst="roundRect">
            <a:avLst>
              <a:gd fmla="val 5504" name="adj"/>
            </a:avLst>
          </a:prstGeom>
          <a:solidFill>
            <a:srgbClr val="F0FDF4"/>
          </a:solidFill>
          <a:ln cap="flat" cmpd="sng" w="9525">
            <a:solidFill>
              <a:srgbClr val="BBF7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55" name="Google Shape;55;p6"/>
          <p:cNvSpPr/>
          <p:nvPr/>
        </p:nvSpPr>
        <p:spPr>
          <a:xfrm>
            <a:off x="8305800" y="2340422"/>
            <a:ext cx="3276600" cy="2657700"/>
          </a:xfrm>
          <a:prstGeom prst="roundRect">
            <a:avLst>
              <a:gd fmla="val 5504" name="adj"/>
            </a:avLst>
          </a:prstGeom>
          <a:solidFill>
            <a:srgbClr val="FDF4FF"/>
          </a:solidFill>
          <a:ln cap="flat" cmpd="sng" w="9525">
            <a:solidFill>
              <a:srgbClr val="F5D0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56" name="Google Shape;56;p6"/>
          <p:cNvSpPr/>
          <p:nvPr/>
        </p:nvSpPr>
        <p:spPr>
          <a:xfrm>
            <a:off x="923925" y="2742687"/>
            <a:ext cx="523800" cy="292500"/>
          </a:xfrm>
          <a:prstGeom prst="roundRect">
            <a:avLst>
              <a:gd fmla="val 25000" name="adj"/>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57" name="Google Shape;57;p6"/>
          <p:cNvSpPr/>
          <p:nvPr/>
        </p:nvSpPr>
        <p:spPr>
          <a:xfrm>
            <a:off x="4772025" y="2742687"/>
            <a:ext cx="590700" cy="292500"/>
          </a:xfrm>
          <a:prstGeom prst="roundRect">
            <a:avLst>
              <a:gd fmla="val 25000" name="adj"/>
            </a:avLst>
          </a:prstGeom>
          <a:solidFill>
            <a:srgbClr val="16A3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58" name="Google Shape;58;p6"/>
          <p:cNvSpPr/>
          <p:nvPr/>
        </p:nvSpPr>
        <p:spPr>
          <a:xfrm>
            <a:off x="8620125" y="2742687"/>
            <a:ext cx="1323900" cy="292500"/>
          </a:xfrm>
          <a:prstGeom prst="roundRect">
            <a:avLst>
              <a:gd fmla="val 25000" name="adj"/>
            </a:avLst>
          </a:prstGeom>
          <a:solidFill>
            <a:srgbClr val="C026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pic>
        <p:nvPicPr>
          <p:cNvPr descr="image.png" id="59" name="Google Shape;59;p6"/>
          <p:cNvPicPr preferRelativeResize="0"/>
          <p:nvPr/>
        </p:nvPicPr>
        <p:blipFill rotWithShape="1">
          <a:blip r:embed="rId3">
            <a:alphaModFix/>
          </a:blip>
          <a:srcRect b="0" l="0" r="0" t="0"/>
          <a:stretch/>
        </p:blipFill>
        <p:spPr>
          <a:xfrm>
            <a:off x="4071937" y="3516741"/>
            <a:ext cx="200025" cy="292556"/>
          </a:xfrm>
          <a:prstGeom prst="rect">
            <a:avLst/>
          </a:prstGeom>
          <a:noFill/>
          <a:ln>
            <a:noFill/>
          </a:ln>
        </p:spPr>
      </p:pic>
      <p:pic>
        <p:nvPicPr>
          <p:cNvPr descr="image.png" id="60" name="Google Shape;60;p6"/>
          <p:cNvPicPr preferRelativeResize="0"/>
          <p:nvPr/>
        </p:nvPicPr>
        <p:blipFill rotWithShape="1">
          <a:blip r:embed="rId3">
            <a:alphaModFix/>
          </a:blip>
          <a:srcRect b="0" l="0" r="0" t="0"/>
          <a:stretch/>
        </p:blipFill>
        <p:spPr>
          <a:xfrm>
            <a:off x="7920037" y="3516741"/>
            <a:ext cx="200025" cy="292556"/>
          </a:xfrm>
          <a:prstGeom prst="rect">
            <a:avLst/>
          </a:prstGeom>
          <a:noFill/>
          <a:ln>
            <a:noFill/>
          </a:ln>
        </p:spPr>
      </p:pic>
      <p:pic>
        <p:nvPicPr>
          <p:cNvPr descr="image.png" id="61" name="Google Shape;61;p6"/>
          <p:cNvPicPr preferRelativeResize="0"/>
          <p:nvPr/>
        </p:nvPicPr>
        <p:blipFill rotWithShape="1">
          <a:blip r:embed="rId4">
            <a:alphaModFix/>
          </a:blip>
          <a:srcRect b="0" l="0" r="0" t="0"/>
          <a:stretch/>
        </p:blipFill>
        <p:spPr>
          <a:xfrm>
            <a:off x="3381375" y="2767066"/>
            <a:ext cx="190500" cy="243797"/>
          </a:xfrm>
          <a:prstGeom prst="rect">
            <a:avLst/>
          </a:prstGeom>
          <a:noFill/>
          <a:ln>
            <a:noFill/>
          </a:ln>
        </p:spPr>
      </p:pic>
      <p:pic>
        <p:nvPicPr>
          <p:cNvPr descr="image.png" id="62" name="Google Shape;62;p6"/>
          <p:cNvPicPr preferRelativeResize="0"/>
          <p:nvPr/>
        </p:nvPicPr>
        <p:blipFill rotWithShape="1">
          <a:blip r:embed="rId5">
            <a:alphaModFix/>
          </a:blip>
          <a:srcRect b="0" l="0" r="0" t="0"/>
          <a:stretch/>
        </p:blipFill>
        <p:spPr>
          <a:xfrm>
            <a:off x="7229475" y="2767066"/>
            <a:ext cx="190500" cy="243797"/>
          </a:xfrm>
          <a:prstGeom prst="rect">
            <a:avLst/>
          </a:prstGeom>
          <a:noFill/>
          <a:ln>
            <a:noFill/>
          </a:ln>
        </p:spPr>
      </p:pic>
      <p:pic>
        <p:nvPicPr>
          <p:cNvPr descr="image.png" id="63" name="Google Shape;63;p6"/>
          <p:cNvPicPr preferRelativeResize="0"/>
          <p:nvPr/>
        </p:nvPicPr>
        <p:blipFill rotWithShape="1">
          <a:blip r:embed="rId6">
            <a:alphaModFix/>
          </a:blip>
          <a:srcRect b="0" l="0" r="0" t="0"/>
          <a:stretch/>
        </p:blipFill>
        <p:spPr>
          <a:xfrm>
            <a:off x="11096625" y="3164085"/>
            <a:ext cx="171450" cy="190500"/>
          </a:xfrm>
          <a:prstGeom prst="rect">
            <a:avLst/>
          </a:prstGeom>
          <a:noFill/>
          <a:ln>
            <a:noFill/>
          </a:ln>
        </p:spPr>
      </p:pic>
      <p:sp>
        <p:nvSpPr>
          <p:cNvPr id="64" name="Google Shape;64;p6"/>
          <p:cNvSpPr txBox="1"/>
          <p:nvPr/>
        </p:nvSpPr>
        <p:spPr>
          <a:xfrm>
            <a:off x="609600" y="533400"/>
            <a:ext cx="115824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JetBrains Mono"/>
                <a:ea typeface="JetBrains Mono"/>
                <a:cs typeface="JetBrains Mono"/>
                <a:sym typeface="JetBrains Mono"/>
              </a:rPr>
              <a:t>EXECUTIVE OVERVIEW</a:t>
            </a:r>
            <a:r>
              <a:rPr b="1" lang="en-US" sz="1050">
                <a:solidFill>
                  <a:srgbClr val="0284C7"/>
                </a:solidFill>
                <a:latin typeface="JetBrains Mono"/>
                <a:ea typeface="JetBrains Mono"/>
                <a:cs typeface="JetBrains Mono"/>
                <a:sym typeface="JetBrains Mono"/>
              </a:rPr>
              <a:t> </a:t>
            </a:r>
            <a:r>
              <a:rPr b="1" i="0" lang="en-US" sz="1050" u="none" cap="none" strike="noStrike">
                <a:solidFill>
                  <a:srgbClr val="0284C7"/>
                </a:solidFill>
                <a:latin typeface="JetBrains Mono"/>
                <a:ea typeface="JetBrains Mono"/>
                <a:cs typeface="JetBrains Mono"/>
                <a:sym typeface="JetBrains Mono"/>
              </a:rPr>
              <a:t>· LEO</a:t>
            </a:r>
            <a:endParaRPr b="1" i="0" sz="1050" u="none" cap="none" strike="noStrike">
              <a:solidFill>
                <a:srgbClr val="0284C7"/>
              </a:solidFill>
              <a:latin typeface="JetBrains Mono"/>
              <a:ea typeface="JetBrains Mono"/>
              <a:cs typeface="JetBrains Mono"/>
              <a:sym typeface="JetBrains Mono"/>
            </a:endParaRPr>
          </a:p>
          <a:p>
            <a:pPr indent="0" lvl="0" marL="0" marR="0" rtl="0" algn="l">
              <a:spcBef>
                <a:spcPts val="0"/>
              </a:spcBef>
              <a:spcAft>
                <a:spcPts val="0"/>
              </a:spcAft>
              <a:buNone/>
            </a:pPr>
            <a:r>
              <a:t/>
            </a:r>
            <a:endParaRPr b="1" sz="1050">
              <a:solidFill>
                <a:srgbClr val="0284C7"/>
              </a:solidFill>
              <a:latin typeface="JetBrains Mono"/>
              <a:ea typeface="JetBrains Mono"/>
              <a:cs typeface="JetBrains Mono"/>
              <a:sym typeface="JetBrains Mono"/>
            </a:endParaRPr>
          </a:p>
        </p:txBody>
      </p:sp>
      <p:sp>
        <p:nvSpPr>
          <p:cNvPr id="65" name="Google Shape;65;p6"/>
          <p:cNvSpPr txBox="1"/>
          <p:nvPr/>
        </p:nvSpPr>
        <p:spPr>
          <a:xfrm>
            <a:off x="609600" y="819150"/>
            <a:ext cx="11582400" cy="3693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F8FAFC"/>
                </a:solidFill>
                <a:latin typeface="Inter"/>
                <a:ea typeface="Inter"/>
                <a:cs typeface="Inter"/>
                <a:sym typeface="Inter"/>
              </a:rPr>
              <a:t>The Story Arc: From Market Prices to Trader Intelligence</a:t>
            </a:r>
            <a:endParaRPr>
              <a:solidFill>
                <a:srgbClr val="F8FAFC"/>
              </a:solidFill>
            </a:endParaRPr>
          </a:p>
        </p:txBody>
      </p:sp>
      <p:sp>
        <p:nvSpPr>
          <p:cNvPr id="66" name="Google Shape;66;p6"/>
          <p:cNvSpPr txBox="1"/>
          <p:nvPr/>
        </p:nvSpPr>
        <p:spPr>
          <a:xfrm>
            <a:off x="923925" y="3181521"/>
            <a:ext cx="34755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369A1"/>
                </a:solidFill>
                <a:latin typeface="Inter"/>
                <a:ea typeface="Inter"/>
                <a:cs typeface="Inter"/>
                <a:sym typeface="Inter"/>
              </a:rPr>
              <a:t>Market Efficiency</a:t>
            </a:r>
            <a:endParaRPr/>
          </a:p>
        </p:txBody>
      </p:sp>
      <p:sp>
        <p:nvSpPr>
          <p:cNvPr id="67" name="Google Shape;67;p6"/>
          <p:cNvSpPr txBox="1"/>
          <p:nvPr/>
        </p:nvSpPr>
        <p:spPr>
          <a:xfrm>
            <a:off x="923925" y="3571595"/>
            <a:ext cx="2743200" cy="65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334155"/>
                </a:solidFill>
                <a:latin typeface="Inter"/>
                <a:ea typeface="Inter"/>
                <a:cs typeface="Inter"/>
                <a:sym typeface="Inter"/>
              </a:rPr>
              <a:t>Prices on Polymarket are exceptionally well-calibrated out of sample. Predictive models cannot beat raw prices.</a:t>
            </a:r>
            <a:endParaRPr/>
          </a:p>
        </p:txBody>
      </p:sp>
      <p:sp>
        <p:nvSpPr>
          <p:cNvPr id="68" name="Google Shape;68;p6"/>
          <p:cNvSpPr txBox="1"/>
          <p:nvPr/>
        </p:nvSpPr>
        <p:spPr>
          <a:xfrm>
            <a:off x="4772025" y="3181521"/>
            <a:ext cx="34755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15803D"/>
                </a:solidFill>
                <a:latin typeface="Inter"/>
                <a:ea typeface="Inter"/>
                <a:cs typeface="Inter"/>
                <a:sym typeface="Inter"/>
              </a:rPr>
              <a:t>Wallet Heterogeneity</a:t>
            </a:r>
            <a:endParaRPr/>
          </a:p>
        </p:txBody>
      </p:sp>
      <p:sp>
        <p:nvSpPr>
          <p:cNvPr id="69" name="Google Shape;69;p6"/>
          <p:cNvSpPr txBox="1"/>
          <p:nvPr/>
        </p:nvSpPr>
        <p:spPr>
          <a:xfrm>
            <a:off x="4772025" y="3571595"/>
            <a:ext cx="2743200" cy="900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334155"/>
                </a:solidFill>
                <a:latin typeface="Inter"/>
                <a:ea typeface="Inter"/>
                <a:cs typeface="Inter"/>
                <a:sym typeface="Inter"/>
              </a:rPr>
              <a:t>If the market is efficient overall, who buys low-probability longshots? Gradient boosting isolates key wallet traits.</a:t>
            </a:r>
            <a:endParaRPr/>
          </a:p>
        </p:txBody>
      </p:sp>
      <p:sp>
        <p:nvSpPr>
          <p:cNvPr id="70" name="Google Shape;70;p6"/>
          <p:cNvSpPr txBox="1"/>
          <p:nvPr/>
        </p:nvSpPr>
        <p:spPr>
          <a:xfrm>
            <a:off x="8620125" y="3181521"/>
            <a:ext cx="34755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A21CAF"/>
                </a:solidFill>
                <a:latin typeface="Inter"/>
                <a:ea typeface="Inter"/>
                <a:cs typeface="Inter"/>
                <a:sym typeface="Inter"/>
              </a:rPr>
              <a:t>Informed Detection</a:t>
            </a:r>
            <a:endParaRPr/>
          </a:p>
        </p:txBody>
      </p:sp>
      <p:sp>
        <p:nvSpPr>
          <p:cNvPr id="71" name="Google Shape;71;p6"/>
          <p:cNvSpPr txBox="1"/>
          <p:nvPr/>
        </p:nvSpPr>
        <p:spPr>
          <a:xfrm>
            <a:off x="8620125" y="3571595"/>
            <a:ext cx="2743200" cy="65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334155"/>
                </a:solidFill>
                <a:latin typeface="Inter"/>
                <a:ea typeface="Inter"/>
                <a:cs typeface="Inter"/>
                <a:sym typeface="Inter"/>
              </a:rPr>
              <a:t>Combining market anomalies with wallet profiling to detect informed/insider trading in Politics &amp; Tech.</a:t>
            </a:r>
            <a:endParaRPr/>
          </a:p>
        </p:txBody>
      </p:sp>
      <p:sp>
        <p:nvSpPr>
          <p:cNvPr id="72" name="Google Shape;72;p6"/>
          <p:cNvSpPr txBox="1"/>
          <p:nvPr/>
        </p:nvSpPr>
        <p:spPr>
          <a:xfrm>
            <a:off x="1019175" y="2791446"/>
            <a:ext cx="4287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FFFFFF"/>
                </a:solidFill>
                <a:latin typeface="JetBrains Mono"/>
                <a:ea typeface="JetBrains Mono"/>
                <a:cs typeface="JetBrains Mono"/>
                <a:sym typeface="JetBrains Mono"/>
              </a:rPr>
              <a:t>ACT I</a:t>
            </a:r>
            <a:endParaRPr/>
          </a:p>
        </p:txBody>
      </p:sp>
      <p:sp>
        <p:nvSpPr>
          <p:cNvPr id="73" name="Google Shape;73;p6"/>
          <p:cNvSpPr txBox="1"/>
          <p:nvPr/>
        </p:nvSpPr>
        <p:spPr>
          <a:xfrm>
            <a:off x="4867275" y="2791446"/>
            <a:ext cx="4953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FFFFFF"/>
                </a:solidFill>
                <a:latin typeface="JetBrains Mono"/>
                <a:ea typeface="JetBrains Mono"/>
                <a:cs typeface="JetBrains Mono"/>
                <a:sym typeface="JetBrains Mono"/>
              </a:rPr>
              <a:t>ACT II</a:t>
            </a:r>
            <a:endParaRPr/>
          </a:p>
        </p:txBody>
      </p:sp>
      <p:sp>
        <p:nvSpPr>
          <p:cNvPr id="74" name="Google Shape;74;p6"/>
          <p:cNvSpPr txBox="1"/>
          <p:nvPr/>
        </p:nvSpPr>
        <p:spPr>
          <a:xfrm>
            <a:off x="8715375" y="2791446"/>
            <a:ext cx="12288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FFFFFF"/>
                </a:solidFill>
                <a:latin typeface="JetBrains Mono"/>
                <a:ea typeface="JetBrains Mono"/>
                <a:cs typeface="JetBrains Mono"/>
                <a:sym typeface="JetBrains Mono"/>
              </a:rPr>
              <a:t>BRIDGING TO FINAL</a:t>
            </a:r>
            <a:endParaRPr/>
          </a:p>
        </p:txBody>
      </p:sp>
      <p:sp>
        <p:nvSpPr>
          <p:cNvPr id="75" name="Google Shape;75;p6"/>
          <p:cNvSpPr txBox="1"/>
          <p:nvPr/>
        </p:nvSpPr>
        <p:spPr>
          <a:xfrm>
            <a:off x="10189025" y="533400"/>
            <a:ext cx="18096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64748B"/>
                </a:solidFill>
                <a:latin typeface="JetBrains Mono"/>
                <a:ea typeface="JetBrains Mono"/>
                <a:cs typeface="JetBrains Mono"/>
                <a:sym typeface="JetBrains Mono"/>
              </a:rPr>
              <a:t>SPEAKER: LEO (0:45)</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80" name="Shape 80"/>
        <p:cNvGrpSpPr/>
        <p:nvPr/>
      </p:nvGrpSpPr>
      <p:grpSpPr>
        <a:xfrm>
          <a:off x="0" y="0"/>
          <a:ext cx="0" cy="0"/>
          <a:chOff x="0" y="0"/>
          <a:chExt cx="0" cy="0"/>
        </a:xfrm>
      </p:grpSpPr>
      <p:sp>
        <p:nvSpPr>
          <p:cNvPr id="81" name="Google Shape;81;p7"/>
          <p:cNvSpPr/>
          <p:nvPr/>
        </p:nvSpPr>
        <p:spPr>
          <a:xfrm>
            <a:off x="812880" y="609480"/>
            <a:ext cx="10882800" cy="255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1300">
                <a:solidFill>
                  <a:srgbClr val="2DD4A0"/>
                </a:solidFill>
                <a:latin typeface="Inter"/>
                <a:ea typeface="Inter"/>
                <a:cs typeface="Inter"/>
                <a:sym typeface="Inter"/>
              </a:rPr>
              <a:t>BACKGROUND &amp; PRIOR RESEARCH </a:t>
            </a:r>
            <a:r>
              <a:rPr b="1" lang="en-US" sz="1300" u="none" strike="noStrike">
                <a:solidFill>
                  <a:srgbClr val="2DD4A0"/>
                </a:solidFill>
                <a:latin typeface="Inter"/>
                <a:ea typeface="Inter"/>
                <a:cs typeface="Inter"/>
                <a:sym typeface="Inter"/>
              </a:rPr>
              <a:t>· LEO</a:t>
            </a:r>
            <a:endParaRPr b="0" sz="1300" u="none" strike="noStrike">
              <a:solidFill>
                <a:srgbClr val="FFFFFF"/>
              </a:solidFill>
              <a:latin typeface="Arial"/>
              <a:ea typeface="Arial"/>
              <a:cs typeface="Arial"/>
              <a:sym typeface="Arial"/>
            </a:endParaRPr>
          </a:p>
        </p:txBody>
      </p:sp>
      <p:sp>
        <p:nvSpPr>
          <p:cNvPr id="82" name="Google Shape;82;p7"/>
          <p:cNvSpPr txBox="1"/>
          <p:nvPr>
            <p:ph type="title"/>
          </p:nvPr>
        </p:nvSpPr>
        <p:spPr>
          <a:xfrm>
            <a:off x="812880" y="1018440"/>
            <a:ext cx="10882800" cy="471600"/>
          </a:xfrm>
          <a:prstGeom prst="rect">
            <a:avLst/>
          </a:prstGeom>
          <a:noFill/>
          <a:ln>
            <a:noFill/>
          </a:ln>
        </p:spPr>
        <p:txBody>
          <a:bodyPr anchorCtr="0" anchor="t" bIns="0" lIns="0" spcFirstLastPara="1" rIns="0" wrap="square" tIns="0">
            <a:normAutofit fontScale="90000"/>
          </a:bodyPr>
          <a:lstStyle/>
          <a:p>
            <a:pPr indent="0" lvl="0" marL="0" rtl="0" algn="l">
              <a:lnSpc>
                <a:spcPct val="110031"/>
              </a:lnSpc>
              <a:spcBef>
                <a:spcPts val="0"/>
              </a:spcBef>
              <a:spcAft>
                <a:spcPts val="0"/>
              </a:spcAft>
              <a:buClr>
                <a:srgbClr val="E8EEF8"/>
              </a:buClr>
              <a:buSzPct val="100000"/>
              <a:buFont typeface="Space Grotesk"/>
              <a:buNone/>
            </a:pPr>
            <a:r>
              <a:rPr b="1" lang="en-US">
                <a:solidFill>
                  <a:srgbClr val="E8EEF8"/>
                </a:solidFill>
                <a:latin typeface="Space Grotesk"/>
                <a:ea typeface="Space Grotesk"/>
                <a:cs typeface="Space Grotesk"/>
                <a:sym typeface="Space Grotesk"/>
              </a:rPr>
              <a:t>Academic Foundations: </a:t>
            </a:r>
            <a:r>
              <a:rPr b="1" lang="en-US" sz="3200" u="none" strike="noStrike">
                <a:solidFill>
                  <a:srgbClr val="E8EEF8"/>
                </a:solidFill>
                <a:latin typeface="Space Grotesk"/>
                <a:ea typeface="Space Grotesk"/>
                <a:cs typeface="Space Grotesk"/>
                <a:sym typeface="Space Grotesk"/>
              </a:rPr>
              <a:t>What past research says</a:t>
            </a:r>
            <a:endParaRPr b="0" sz="3200" u="none" strike="noStrike">
              <a:solidFill>
                <a:schemeClr val="lt1"/>
              </a:solidFill>
              <a:latin typeface="Inter"/>
              <a:ea typeface="Inter"/>
              <a:cs typeface="Inter"/>
              <a:sym typeface="Inter"/>
            </a:endParaRPr>
          </a:p>
        </p:txBody>
      </p:sp>
      <p:sp>
        <p:nvSpPr>
          <p:cNvPr id="83" name="Google Shape;83;p7"/>
          <p:cNvSpPr/>
          <p:nvPr/>
        </p:nvSpPr>
        <p:spPr>
          <a:xfrm>
            <a:off x="815760" y="1646280"/>
            <a:ext cx="5187240" cy="1486800"/>
          </a:xfrm>
          <a:prstGeom prst="roundRect">
            <a:avLst>
              <a:gd fmla="val 6616"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84" name="Google Shape;84;p7"/>
          <p:cNvSpPr/>
          <p:nvPr/>
        </p:nvSpPr>
        <p:spPr>
          <a:xfrm>
            <a:off x="1023840" y="1854000"/>
            <a:ext cx="4914720" cy="283680"/>
          </a:xfrm>
          <a:prstGeom prst="rect">
            <a:avLst/>
          </a:prstGeom>
          <a:noFill/>
          <a:ln>
            <a:noFill/>
          </a:ln>
        </p:spPr>
        <p:txBody>
          <a:bodyPr anchorCtr="0" anchor="t" bIns="0" lIns="0" spcFirstLastPara="1" rIns="0" wrap="square" tIns="0">
            <a:noAutofit/>
          </a:bodyPr>
          <a:lstStyle/>
          <a:p>
            <a:pPr indent="0" lvl="0" marL="0" marR="0" rtl="0" algn="l">
              <a:lnSpc>
                <a:spcPct val="120058"/>
              </a:lnSpc>
              <a:spcBef>
                <a:spcPts val="0"/>
              </a:spcBef>
              <a:spcAft>
                <a:spcPts val="0"/>
              </a:spcAft>
              <a:buNone/>
            </a:pPr>
            <a:r>
              <a:rPr b="1" lang="en-US" sz="1700" u="none" strike="noStrike">
                <a:solidFill>
                  <a:srgbClr val="2DD4A0"/>
                </a:solidFill>
                <a:latin typeface="Space Grotesk"/>
                <a:ea typeface="Space Grotesk"/>
                <a:cs typeface="Space Grotesk"/>
                <a:sym typeface="Space Grotesk"/>
              </a:rPr>
              <a:t>Thaler and Ziemba (1988)</a:t>
            </a:r>
            <a:endParaRPr b="0" sz="1700" u="none" strike="noStrike">
              <a:solidFill>
                <a:srgbClr val="FFFFFF"/>
              </a:solidFill>
              <a:latin typeface="Arial"/>
              <a:ea typeface="Arial"/>
              <a:cs typeface="Arial"/>
              <a:sym typeface="Arial"/>
            </a:endParaRPr>
          </a:p>
        </p:txBody>
      </p:sp>
      <p:sp>
        <p:nvSpPr>
          <p:cNvPr id="85" name="Google Shape;85;p7"/>
          <p:cNvSpPr/>
          <p:nvPr/>
        </p:nvSpPr>
        <p:spPr>
          <a:xfrm>
            <a:off x="1023840" y="2189520"/>
            <a:ext cx="4914720" cy="222840"/>
          </a:xfrm>
          <a:prstGeom prst="rect">
            <a:avLst/>
          </a:prstGeom>
          <a:noFill/>
          <a:ln>
            <a:noFill/>
          </a:ln>
        </p:spPr>
        <p:txBody>
          <a:bodyPr anchorCtr="0" anchor="t" bIns="0" lIns="0" spcFirstLastPara="1" rIns="0" wrap="square" tIns="0">
            <a:noAutofit/>
          </a:bodyPr>
          <a:lstStyle/>
          <a:p>
            <a:pPr indent="0" lvl="0" marL="0" marR="0" rtl="0" algn="l">
              <a:lnSpc>
                <a:spcPct val="129916"/>
              </a:lnSpc>
              <a:spcBef>
                <a:spcPts val="0"/>
              </a:spcBef>
              <a:spcAft>
                <a:spcPts val="0"/>
              </a:spcAft>
              <a:buNone/>
            </a:pPr>
            <a:r>
              <a:rPr b="0" lang="en-US" sz="1200" u="none" strike="noStrike">
                <a:solidFill>
                  <a:srgbClr val="9DB0CC"/>
                </a:solidFill>
                <a:latin typeface="Inter"/>
                <a:ea typeface="Inter"/>
                <a:cs typeface="Inter"/>
                <a:sym typeface="Inter"/>
              </a:rPr>
              <a:t>Journal of Economic Perspectives 2(2)</a:t>
            </a:r>
            <a:endParaRPr b="0" sz="1200" u="none" strike="noStrike">
              <a:solidFill>
                <a:srgbClr val="FFFFFF"/>
              </a:solidFill>
              <a:latin typeface="Arial"/>
              <a:ea typeface="Arial"/>
              <a:cs typeface="Arial"/>
              <a:sym typeface="Arial"/>
            </a:endParaRPr>
          </a:p>
        </p:txBody>
      </p:sp>
      <p:sp>
        <p:nvSpPr>
          <p:cNvPr id="86" name="Google Shape;86;p7"/>
          <p:cNvSpPr/>
          <p:nvPr/>
        </p:nvSpPr>
        <p:spPr>
          <a:xfrm>
            <a:off x="1023840" y="2463480"/>
            <a:ext cx="4914720" cy="4870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lang="en-US">
                <a:solidFill>
                  <a:srgbClr val="E8EEF8"/>
                </a:solidFill>
                <a:latin typeface="Inter"/>
                <a:ea typeface="Inter"/>
                <a:cs typeface="Inter"/>
                <a:sym typeface="Inter"/>
              </a:rPr>
              <a:t>“</a:t>
            </a:r>
            <a:r>
              <a:rPr b="0" lang="en-US" sz="1400" u="none" strike="noStrike">
                <a:solidFill>
                  <a:srgbClr val="E8EEF8"/>
                </a:solidFill>
                <a:latin typeface="Inter"/>
                <a:ea typeface="Inter"/>
                <a:cs typeface="Inter"/>
                <a:sym typeface="Inter"/>
              </a:rPr>
              <a:t>Surveys racetrack and lottery betting markets and the pricing anomalies found there.</a:t>
            </a:r>
            <a:r>
              <a:rPr lang="en-US">
                <a:solidFill>
                  <a:srgbClr val="E8EEF8"/>
                </a:solidFill>
                <a:latin typeface="Inter"/>
                <a:ea typeface="Inter"/>
                <a:cs typeface="Inter"/>
                <a:sym typeface="Inter"/>
              </a:rPr>
              <a:t>”</a:t>
            </a:r>
            <a:endParaRPr b="0" sz="1400" u="none" strike="noStrike">
              <a:solidFill>
                <a:srgbClr val="FFFFFF"/>
              </a:solidFill>
              <a:latin typeface="Arial"/>
              <a:ea typeface="Arial"/>
              <a:cs typeface="Arial"/>
              <a:sym typeface="Arial"/>
            </a:endParaRPr>
          </a:p>
        </p:txBody>
      </p:sp>
      <p:sp>
        <p:nvSpPr>
          <p:cNvPr id="87" name="Google Shape;87;p7"/>
          <p:cNvSpPr/>
          <p:nvPr/>
        </p:nvSpPr>
        <p:spPr>
          <a:xfrm>
            <a:off x="6188040" y="1646280"/>
            <a:ext cx="5187240" cy="1486800"/>
          </a:xfrm>
          <a:prstGeom prst="roundRect">
            <a:avLst>
              <a:gd fmla="val 6616"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88" name="Google Shape;88;p7"/>
          <p:cNvSpPr/>
          <p:nvPr/>
        </p:nvSpPr>
        <p:spPr>
          <a:xfrm>
            <a:off x="6395760" y="1854000"/>
            <a:ext cx="4914720" cy="283680"/>
          </a:xfrm>
          <a:prstGeom prst="rect">
            <a:avLst/>
          </a:prstGeom>
          <a:noFill/>
          <a:ln>
            <a:noFill/>
          </a:ln>
        </p:spPr>
        <p:txBody>
          <a:bodyPr anchorCtr="0" anchor="t" bIns="0" lIns="0" spcFirstLastPara="1" rIns="0" wrap="square" tIns="0">
            <a:noAutofit/>
          </a:bodyPr>
          <a:lstStyle/>
          <a:p>
            <a:pPr indent="0" lvl="0" marL="0" marR="0" rtl="0" algn="l">
              <a:lnSpc>
                <a:spcPct val="120058"/>
              </a:lnSpc>
              <a:spcBef>
                <a:spcPts val="0"/>
              </a:spcBef>
              <a:spcAft>
                <a:spcPts val="0"/>
              </a:spcAft>
              <a:buNone/>
            </a:pPr>
            <a:r>
              <a:rPr b="1" lang="en-US" sz="1700" u="none" strike="noStrike">
                <a:solidFill>
                  <a:srgbClr val="4C8DFF"/>
                </a:solidFill>
                <a:latin typeface="Space Grotesk"/>
                <a:ea typeface="Space Grotesk"/>
                <a:cs typeface="Space Grotesk"/>
                <a:sym typeface="Space Grotesk"/>
              </a:rPr>
              <a:t>Snowberg and Wolfers (2010)</a:t>
            </a:r>
            <a:endParaRPr b="0" sz="1700" u="none" strike="noStrike">
              <a:solidFill>
                <a:srgbClr val="FFFFFF"/>
              </a:solidFill>
              <a:latin typeface="Arial"/>
              <a:ea typeface="Arial"/>
              <a:cs typeface="Arial"/>
              <a:sym typeface="Arial"/>
            </a:endParaRPr>
          </a:p>
        </p:txBody>
      </p:sp>
      <p:sp>
        <p:nvSpPr>
          <p:cNvPr id="89" name="Google Shape;89;p7"/>
          <p:cNvSpPr/>
          <p:nvPr/>
        </p:nvSpPr>
        <p:spPr>
          <a:xfrm>
            <a:off x="6395760" y="2189520"/>
            <a:ext cx="4914720" cy="222840"/>
          </a:xfrm>
          <a:prstGeom prst="rect">
            <a:avLst/>
          </a:prstGeom>
          <a:noFill/>
          <a:ln>
            <a:noFill/>
          </a:ln>
        </p:spPr>
        <p:txBody>
          <a:bodyPr anchorCtr="0" anchor="t" bIns="0" lIns="0" spcFirstLastPara="1" rIns="0" wrap="square" tIns="0">
            <a:noAutofit/>
          </a:bodyPr>
          <a:lstStyle/>
          <a:p>
            <a:pPr indent="0" lvl="0" marL="0" marR="0" rtl="0" algn="l">
              <a:lnSpc>
                <a:spcPct val="129916"/>
              </a:lnSpc>
              <a:spcBef>
                <a:spcPts val="0"/>
              </a:spcBef>
              <a:spcAft>
                <a:spcPts val="0"/>
              </a:spcAft>
              <a:buNone/>
            </a:pPr>
            <a:r>
              <a:rPr b="0" lang="en-US" sz="1200" u="none" strike="noStrike">
                <a:solidFill>
                  <a:srgbClr val="9DB0CC"/>
                </a:solidFill>
                <a:latin typeface="Inter"/>
                <a:ea typeface="Inter"/>
                <a:cs typeface="Inter"/>
                <a:sym typeface="Inter"/>
              </a:rPr>
              <a:t>Journal of Political Economy 118(4)</a:t>
            </a:r>
            <a:endParaRPr b="0" sz="1200" u="none" strike="noStrike">
              <a:solidFill>
                <a:srgbClr val="FFFFFF"/>
              </a:solidFill>
              <a:latin typeface="Arial"/>
              <a:ea typeface="Arial"/>
              <a:cs typeface="Arial"/>
              <a:sym typeface="Arial"/>
            </a:endParaRPr>
          </a:p>
        </p:txBody>
      </p:sp>
      <p:sp>
        <p:nvSpPr>
          <p:cNvPr id="90" name="Google Shape;90;p7"/>
          <p:cNvSpPr/>
          <p:nvPr/>
        </p:nvSpPr>
        <p:spPr>
          <a:xfrm>
            <a:off x="6395760" y="2463480"/>
            <a:ext cx="4914720" cy="4870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lang="en-US">
                <a:solidFill>
                  <a:srgbClr val="E8EEF8"/>
                </a:solidFill>
                <a:latin typeface="Inter"/>
                <a:ea typeface="Inter"/>
                <a:cs typeface="Inter"/>
                <a:sym typeface="Inter"/>
              </a:rPr>
              <a:t>“</a:t>
            </a:r>
            <a:r>
              <a:rPr b="0" lang="en-US" sz="1400" u="none" strike="noStrike">
                <a:solidFill>
                  <a:srgbClr val="E8EEF8"/>
                </a:solidFill>
                <a:latin typeface="Inter"/>
                <a:ea typeface="Inter"/>
                <a:cs typeface="Inter"/>
                <a:sym typeface="Inter"/>
              </a:rPr>
              <a:t>Favorite-longshot bias: longshots are overbet and favorites underbet. Misperceived probabilities fit best.</a:t>
            </a:r>
            <a:r>
              <a:rPr lang="en-US">
                <a:solidFill>
                  <a:srgbClr val="E8EEF8"/>
                </a:solidFill>
                <a:latin typeface="Inter"/>
                <a:ea typeface="Inter"/>
                <a:cs typeface="Inter"/>
                <a:sym typeface="Inter"/>
              </a:rPr>
              <a:t>”</a:t>
            </a:r>
            <a:endParaRPr b="0" sz="1400" u="none" strike="noStrike">
              <a:solidFill>
                <a:srgbClr val="FFFFFF"/>
              </a:solidFill>
              <a:latin typeface="Arial"/>
              <a:ea typeface="Arial"/>
              <a:cs typeface="Arial"/>
              <a:sym typeface="Arial"/>
            </a:endParaRPr>
          </a:p>
        </p:txBody>
      </p:sp>
      <p:sp>
        <p:nvSpPr>
          <p:cNvPr id="91" name="Google Shape;91;p7"/>
          <p:cNvSpPr/>
          <p:nvPr/>
        </p:nvSpPr>
        <p:spPr>
          <a:xfrm>
            <a:off x="815760" y="3318120"/>
            <a:ext cx="5187240" cy="1486800"/>
          </a:xfrm>
          <a:prstGeom prst="roundRect">
            <a:avLst>
              <a:gd fmla="val 6616"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92" name="Google Shape;92;p7"/>
          <p:cNvSpPr/>
          <p:nvPr/>
        </p:nvSpPr>
        <p:spPr>
          <a:xfrm>
            <a:off x="1023840" y="3525840"/>
            <a:ext cx="4914720" cy="283680"/>
          </a:xfrm>
          <a:prstGeom prst="rect">
            <a:avLst/>
          </a:prstGeom>
          <a:noFill/>
          <a:ln>
            <a:noFill/>
          </a:ln>
        </p:spPr>
        <p:txBody>
          <a:bodyPr anchorCtr="0" anchor="t" bIns="0" lIns="0" spcFirstLastPara="1" rIns="0" wrap="square" tIns="0">
            <a:noAutofit/>
          </a:bodyPr>
          <a:lstStyle/>
          <a:p>
            <a:pPr indent="0" lvl="0" marL="0" marR="0" rtl="0" algn="l">
              <a:lnSpc>
                <a:spcPct val="120058"/>
              </a:lnSpc>
              <a:spcBef>
                <a:spcPts val="0"/>
              </a:spcBef>
              <a:spcAft>
                <a:spcPts val="0"/>
              </a:spcAft>
              <a:buNone/>
            </a:pPr>
            <a:r>
              <a:rPr b="1" lang="en-US" sz="1700" u="none" strike="noStrike">
                <a:solidFill>
                  <a:srgbClr val="F5A524"/>
                </a:solidFill>
                <a:latin typeface="Space Grotesk"/>
                <a:ea typeface="Space Grotesk"/>
                <a:cs typeface="Space Grotesk"/>
                <a:sym typeface="Space Grotesk"/>
              </a:rPr>
              <a:t>Wolfers and Zitzewitz (2004)</a:t>
            </a:r>
            <a:endParaRPr b="0" sz="1700" u="none" strike="noStrike">
              <a:solidFill>
                <a:srgbClr val="FFFFFF"/>
              </a:solidFill>
              <a:latin typeface="Arial"/>
              <a:ea typeface="Arial"/>
              <a:cs typeface="Arial"/>
              <a:sym typeface="Arial"/>
            </a:endParaRPr>
          </a:p>
        </p:txBody>
      </p:sp>
      <p:sp>
        <p:nvSpPr>
          <p:cNvPr id="93" name="Google Shape;93;p7"/>
          <p:cNvSpPr/>
          <p:nvPr/>
        </p:nvSpPr>
        <p:spPr>
          <a:xfrm>
            <a:off x="1023840" y="3861000"/>
            <a:ext cx="4914720" cy="222840"/>
          </a:xfrm>
          <a:prstGeom prst="rect">
            <a:avLst/>
          </a:prstGeom>
          <a:noFill/>
          <a:ln>
            <a:noFill/>
          </a:ln>
        </p:spPr>
        <p:txBody>
          <a:bodyPr anchorCtr="0" anchor="t" bIns="0" lIns="0" spcFirstLastPara="1" rIns="0" wrap="square" tIns="0">
            <a:noAutofit/>
          </a:bodyPr>
          <a:lstStyle/>
          <a:p>
            <a:pPr indent="0" lvl="0" marL="0" marR="0" rtl="0" algn="l">
              <a:lnSpc>
                <a:spcPct val="129916"/>
              </a:lnSpc>
              <a:spcBef>
                <a:spcPts val="0"/>
              </a:spcBef>
              <a:spcAft>
                <a:spcPts val="0"/>
              </a:spcAft>
              <a:buNone/>
            </a:pPr>
            <a:r>
              <a:rPr b="0" lang="en-US" sz="1200" u="none" strike="noStrike">
                <a:solidFill>
                  <a:srgbClr val="9DB0CC"/>
                </a:solidFill>
                <a:latin typeface="Inter"/>
                <a:ea typeface="Inter"/>
                <a:cs typeface="Inter"/>
                <a:sym typeface="Inter"/>
              </a:rPr>
              <a:t>Journal of Economic Perspectives 18(2)</a:t>
            </a:r>
            <a:endParaRPr b="0" sz="1200" u="none" strike="noStrike">
              <a:solidFill>
                <a:srgbClr val="FFFFFF"/>
              </a:solidFill>
              <a:latin typeface="Arial"/>
              <a:ea typeface="Arial"/>
              <a:cs typeface="Arial"/>
              <a:sym typeface="Arial"/>
            </a:endParaRPr>
          </a:p>
        </p:txBody>
      </p:sp>
      <p:sp>
        <p:nvSpPr>
          <p:cNvPr id="94" name="Google Shape;94;p7"/>
          <p:cNvSpPr/>
          <p:nvPr/>
        </p:nvSpPr>
        <p:spPr>
          <a:xfrm>
            <a:off x="1023840" y="4135320"/>
            <a:ext cx="4914720" cy="4870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lang="en-US">
                <a:solidFill>
                  <a:srgbClr val="E8EEF8"/>
                </a:solidFill>
                <a:latin typeface="Inter"/>
                <a:ea typeface="Inter"/>
                <a:cs typeface="Inter"/>
                <a:sym typeface="Inter"/>
              </a:rPr>
              <a:t>“</a:t>
            </a:r>
            <a:r>
              <a:rPr b="0" lang="en-US" sz="1400" u="none" strike="noStrike">
                <a:solidFill>
                  <a:srgbClr val="E8EEF8"/>
                </a:solidFill>
                <a:latin typeface="Inter"/>
                <a:ea typeface="Inter"/>
                <a:cs typeface="Inter"/>
                <a:sym typeface="Inter"/>
              </a:rPr>
              <a:t>Prediction-market forecasts are typically fairly accurate and beat many simple benchmarks.</a:t>
            </a:r>
            <a:r>
              <a:rPr lang="en-US">
                <a:solidFill>
                  <a:srgbClr val="E8EEF8"/>
                </a:solidFill>
                <a:latin typeface="Inter"/>
                <a:ea typeface="Inter"/>
                <a:cs typeface="Inter"/>
                <a:sym typeface="Inter"/>
              </a:rPr>
              <a:t>”</a:t>
            </a:r>
            <a:endParaRPr b="0" sz="1400" u="none" strike="noStrike">
              <a:solidFill>
                <a:srgbClr val="FFFFFF"/>
              </a:solidFill>
              <a:latin typeface="Arial"/>
              <a:ea typeface="Arial"/>
              <a:cs typeface="Arial"/>
              <a:sym typeface="Arial"/>
            </a:endParaRPr>
          </a:p>
        </p:txBody>
      </p:sp>
      <p:sp>
        <p:nvSpPr>
          <p:cNvPr id="95" name="Google Shape;95;p7"/>
          <p:cNvSpPr/>
          <p:nvPr/>
        </p:nvSpPr>
        <p:spPr>
          <a:xfrm>
            <a:off x="6188040" y="3318120"/>
            <a:ext cx="5187240" cy="1486800"/>
          </a:xfrm>
          <a:prstGeom prst="roundRect">
            <a:avLst>
              <a:gd fmla="val 6616"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96" name="Google Shape;96;p7"/>
          <p:cNvSpPr/>
          <p:nvPr/>
        </p:nvSpPr>
        <p:spPr>
          <a:xfrm>
            <a:off x="6395760" y="3525840"/>
            <a:ext cx="4914720" cy="283680"/>
          </a:xfrm>
          <a:prstGeom prst="rect">
            <a:avLst/>
          </a:prstGeom>
          <a:noFill/>
          <a:ln>
            <a:noFill/>
          </a:ln>
        </p:spPr>
        <p:txBody>
          <a:bodyPr anchorCtr="0" anchor="t" bIns="0" lIns="0" spcFirstLastPara="1" rIns="0" wrap="square" tIns="0">
            <a:noAutofit/>
          </a:bodyPr>
          <a:lstStyle/>
          <a:p>
            <a:pPr indent="0" lvl="0" marL="0" marR="0" rtl="0" algn="l">
              <a:lnSpc>
                <a:spcPct val="120058"/>
              </a:lnSpc>
              <a:spcBef>
                <a:spcPts val="0"/>
              </a:spcBef>
              <a:spcAft>
                <a:spcPts val="0"/>
              </a:spcAft>
              <a:buNone/>
            </a:pPr>
            <a:r>
              <a:rPr b="1" lang="en-US" sz="1700" u="none" strike="noStrike">
                <a:solidFill>
                  <a:srgbClr val="2DD4A0"/>
                </a:solidFill>
                <a:latin typeface="Space Grotesk"/>
                <a:ea typeface="Space Grotesk"/>
                <a:cs typeface="Space Grotesk"/>
                <a:sym typeface="Space Grotesk"/>
              </a:rPr>
              <a:t>Page and Clemen (2013)</a:t>
            </a:r>
            <a:endParaRPr b="0" sz="1700" u="none" strike="noStrike">
              <a:solidFill>
                <a:srgbClr val="FFFFFF"/>
              </a:solidFill>
              <a:latin typeface="Arial"/>
              <a:ea typeface="Arial"/>
              <a:cs typeface="Arial"/>
              <a:sym typeface="Arial"/>
            </a:endParaRPr>
          </a:p>
        </p:txBody>
      </p:sp>
      <p:sp>
        <p:nvSpPr>
          <p:cNvPr id="97" name="Google Shape;97;p7"/>
          <p:cNvSpPr/>
          <p:nvPr/>
        </p:nvSpPr>
        <p:spPr>
          <a:xfrm>
            <a:off x="6395760" y="3861000"/>
            <a:ext cx="4914720" cy="222840"/>
          </a:xfrm>
          <a:prstGeom prst="rect">
            <a:avLst/>
          </a:prstGeom>
          <a:noFill/>
          <a:ln>
            <a:noFill/>
          </a:ln>
        </p:spPr>
        <p:txBody>
          <a:bodyPr anchorCtr="0" anchor="t" bIns="0" lIns="0" spcFirstLastPara="1" rIns="0" wrap="square" tIns="0">
            <a:noAutofit/>
          </a:bodyPr>
          <a:lstStyle/>
          <a:p>
            <a:pPr indent="0" lvl="0" marL="0" marR="0" rtl="0" algn="l">
              <a:lnSpc>
                <a:spcPct val="129916"/>
              </a:lnSpc>
              <a:spcBef>
                <a:spcPts val="0"/>
              </a:spcBef>
              <a:spcAft>
                <a:spcPts val="0"/>
              </a:spcAft>
              <a:buNone/>
            </a:pPr>
            <a:r>
              <a:rPr b="0" lang="en-US" sz="1200" u="none" strike="noStrike">
                <a:solidFill>
                  <a:srgbClr val="9DB0CC"/>
                </a:solidFill>
                <a:latin typeface="Inter"/>
                <a:ea typeface="Inter"/>
                <a:cs typeface="Inter"/>
                <a:sym typeface="Inter"/>
              </a:rPr>
              <a:t>Economic Journal 123(568)</a:t>
            </a:r>
            <a:endParaRPr b="0" sz="1200" u="none" strike="noStrike">
              <a:solidFill>
                <a:srgbClr val="FFFFFF"/>
              </a:solidFill>
              <a:latin typeface="Arial"/>
              <a:ea typeface="Arial"/>
              <a:cs typeface="Arial"/>
              <a:sym typeface="Arial"/>
            </a:endParaRPr>
          </a:p>
        </p:txBody>
      </p:sp>
      <p:sp>
        <p:nvSpPr>
          <p:cNvPr id="98" name="Google Shape;98;p7"/>
          <p:cNvSpPr/>
          <p:nvPr/>
        </p:nvSpPr>
        <p:spPr>
          <a:xfrm>
            <a:off x="6395760" y="4135320"/>
            <a:ext cx="4914720" cy="4870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lang="en-US">
                <a:solidFill>
                  <a:srgbClr val="E8EEF8"/>
                </a:solidFill>
                <a:latin typeface="Inter"/>
                <a:ea typeface="Inter"/>
                <a:cs typeface="Inter"/>
                <a:sym typeface="Inter"/>
              </a:rPr>
              <a:t>“</a:t>
            </a:r>
            <a:r>
              <a:rPr b="0" lang="en-US" sz="1400" u="none" strike="noStrike">
                <a:solidFill>
                  <a:srgbClr val="E8EEF8"/>
                </a:solidFill>
                <a:latin typeface="Inter"/>
                <a:ea typeface="Inter"/>
                <a:cs typeface="Inter"/>
                <a:sym typeface="Inter"/>
              </a:rPr>
              <a:t>Prices are reasonably calibrated close to expiry, but biased for events farther away.</a:t>
            </a:r>
            <a:r>
              <a:rPr lang="en-US">
                <a:solidFill>
                  <a:srgbClr val="E8EEF8"/>
                </a:solidFill>
                <a:latin typeface="Inter"/>
                <a:ea typeface="Inter"/>
                <a:cs typeface="Inter"/>
                <a:sym typeface="Inter"/>
              </a:rPr>
              <a:t>”</a:t>
            </a:r>
            <a:endParaRPr b="0" sz="1400" u="none" strike="noStrike">
              <a:solidFill>
                <a:srgbClr val="FFFFFF"/>
              </a:solidFill>
              <a:latin typeface="Arial"/>
              <a:ea typeface="Arial"/>
              <a:cs typeface="Arial"/>
              <a:sym typeface="Arial"/>
            </a:endParaRPr>
          </a:p>
        </p:txBody>
      </p:sp>
      <p:sp>
        <p:nvSpPr>
          <p:cNvPr id="99" name="Google Shape;99;p7"/>
          <p:cNvSpPr/>
          <p:nvPr/>
        </p:nvSpPr>
        <p:spPr>
          <a:xfrm>
            <a:off x="812880" y="4986360"/>
            <a:ext cx="10882800" cy="288720"/>
          </a:xfrm>
          <a:prstGeom prst="rect">
            <a:avLst/>
          </a:prstGeom>
          <a:noFill/>
          <a:ln>
            <a:noFill/>
          </a:ln>
        </p:spPr>
        <p:txBody>
          <a:bodyPr anchorCtr="0" anchor="t" bIns="0" lIns="0" spcFirstLastPara="1" rIns="0" wrap="square" tIns="0">
            <a:noAutofit/>
          </a:bodyPr>
          <a:lstStyle/>
          <a:p>
            <a:pPr indent="0" lvl="0" marL="0" marR="0" rtl="0" algn="l">
              <a:lnSpc>
                <a:spcPct val="130062"/>
              </a:lnSpc>
              <a:spcBef>
                <a:spcPts val="0"/>
              </a:spcBef>
              <a:spcAft>
                <a:spcPts val="0"/>
              </a:spcAft>
              <a:buNone/>
            </a:pPr>
            <a:r>
              <a:rPr b="0" lang="en-US" sz="1600" u="none" strike="noStrike">
                <a:solidFill>
                  <a:srgbClr val="F5A524"/>
                </a:solidFill>
                <a:latin typeface="Inter"/>
                <a:ea typeface="Inter"/>
                <a:cs typeface="Inter"/>
                <a:sym typeface="Inter"/>
              </a:rPr>
              <a:t>Our test: do these findings hold on Polymarket in 2026, from 7 days down to 6 hours before close?</a:t>
            </a:r>
            <a:endParaRPr b="0" sz="1600" u="none" strike="noStrike">
              <a:solidFill>
                <a:srgbClr val="FFFFFF"/>
              </a:solidFill>
              <a:latin typeface="Arial"/>
              <a:ea typeface="Arial"/>
              <a:cs typeface="Arial"/>
              <a:sym typeface="Arial"/>
            </a:endParaRPr>
          </a:p>
        </p:txBody>
      </p:sp>
      <p:sp>
        <p:nvSpPr>
          <p:cNvPr id="100" name="Google Shape;100;p7"/>
          <p:cNvSpPr/>
          <p:nvPr/>
        </p:nvSpPr>
        <p:spPr>
          <a:xfrm>
            <a:off x="812880" y="6238440"/>
            <a:ext cx="9810000" cy="237960"/>
          </a:xfrm>
          <a:prstGeom prst="rect">
            <a:avLst/>
          </a:prstGeom>
          <a:noFill/>
          <a:ln>
            <a:noFill/>
          </a:ln>
        </p:spPr>
        <p:txBody>
          <a:bodyPr anchorCtr="0" anchor="t" bIns="0" lIns="0" spcFirstLastPara="1" rIns="0" wrap="square" tIns="0">
            <a:noAutofit/>
          </a:bodyPr>
          <a:lstStyle/>
          <a:p>
            <a:pPr indent="0" lvl="0" marL="0" marR="0" rtl="0" algn="l">
              <a:lnSpc>
                <a:spcPct val="140083"/>
              </a:lnSpc>
              <a:spcBef>
                <a:spcPts val="0"/>
              </a:spcBef>
              <a:spcAft>
                <a:spcPts val="0"/>
              </a:spcAft>
              <a:buNone/>
            </a:pPr>
            <a:r>
              <a:rPr b="0" lang="en-US" sz="1200" u="none" strike="noStrike">
                <a:solidFill>
                  <a:srgbClr val="9DB0CC"/>
                </a:solidFill>
                <a:latin typeface="Inter"/>
                <a:ea typeface="Inter"/>
                <a:cs typeface="Inter"/>
                <a:sym typeface="Inter"/>
              </a:rPr>
              <a:t>Leo · Sources verified: JEP 2(2):161-174; JPE 118(4):723-746; JEP 18(2):107-126; Economic Journal 123(568):491-513</a:t>
            </a:r>
            <a:endParaRPr b="0" sz="1200" u="none" strike="noStrike">
              <a:solidFill>
                <a:srgbClr val="FFFFFF"/>
              </a:solidFill>
              <a:latin typeface="Arial"/>
              <a:ea typeface="Arial"/>
              <a:cs typeface="Arial"/>
              <a:sym typeface="Arial"/>
            </a:endParaRPr>
          </a:p>
        </p:txBody>
      </p:sp>
      <p:pic>
        <p:nvPicPr>
          <p:cNvPr descr="image.png" id="101" name="Google Shape;101;p7"/>
          <p:cNvPicPr preferRelativeResize="0"/>
          <p:nvPr/>
        </p:nvPicPr>
        <p:blipFill rotWithShape="1">
          <a:blip r:embed="rId3">
            <a:alphaModFix/>
          </a:blip>
          <a:srcRect b="0" l="0" r="0" t="0"/>
          <a:stretch/>
        </p:blipFill>
        <p:spPr>
          <a:xfrm>
            <a:off x="3760175" y="1881503"/>
            <a:ext cx="171450" cy="190500"/>
          </a:xfrm>
          <a:prstGeom prst="rect">
            <a:avLst/>
          </a:prstGeom>
          <a:noFill/>
          <a:ln>
            <a:noFill/>
          </a:ln>
        </p:spPr>
      </p:pic>
      <p:pic>
        <p:nvPicPr>
          <p:cNvPr descr="image.png" id="102" name="Google Shape;102;p7"/>
          <p:cNvPicPr preferRelativeResize="0"/>
          <p:nvPr/>
        </p:nvPicPr>
        <p:blipFill rotWithShape="1">
          <a:blip r:embed="rId4">
            <a:alphaModFix/>
          </a:blip>
          <a:srcRect b="0" l="0" r="0" t="0"/>
          <a:stretch/>
        </p:blipFill>
        <p:spPr>
          <a:xfrm>
            <a:off x="9534900" y="1881503"/>
            <a:ext cx="238125" cy="190500"/>
          </a:xfrm>
          <a:prstGeom prst="rect">
            <a:avLst/>
          </a:prstGeom>
          <a:noFill/>
          <a:ln>
            <a:noFill/>
          </a:ln>
        </p:spPr>
      </p:pic>
      <p:pic>
        <p:nvPicPr>
          <p:cNvPr descr="image.png" id="103" name="Google Shape;103;p7"/>
          <p:cNvPicPr preferRelativeResize="0"/>
          <p:nvPr/>
        </p:nvPicPr>
        <p:blipFill rotWithShape="1">
          <a:blip r:embed="rId5">
            <a:alphaModFix/>
          </a:blip>
          <a:srcRect b="0" l="0" r="0" t="0"/>
          <a:stretch/>
        </p:blipFill>
        <p:spPr>
          <a:xfrm>
            <a:off x="9003950" y="3580880"/>
            <a:ext cx="190500" cy="190500"/>
          </a:xfrm>
          <a:prstGeom prst="rect">
            <a:avLst/>
          </a:prstGeom>
          <a:noFill/>
          <a:ln>
            <a:noFill/>
          </a:ln>
        </p:spPr>
      </p:pic>
      <p:pic>
        <p:nvPicPr>
          <p:cNvPr descr="image.png" id="104" name="Google Shape;104;p7"/>
          <p:cNvPicPr preferRelativeResize="0"/>
          <p:nvPr/>
        </p:nvPicPr>
        <p:blipFill rotWithShape="1">
          <a:blip r:embed="rId6">
            <a:alphaModFix/>
          </a:blip>
          <a:srcRect b="0" l="0" r="0" t="0"/>
          <a:stretch/>
        </p:blipFill>
        <p:spPr>
          <a:xfrm>
            <a:off x="4122900" y="3572443"/>
            <a:ext cx="190500" cy="190500"/>
          </a:xfrm>
          <a:prstGeom prst="rect">
            <a:avLst/>
          </a:prstGeom>
          <a:noFill/>
          <a:ln>
            <a:noFill/>
          </a:ln>
        </p:spPr>
      </p:pic>
      <p:sp>
        <p:nvSpPr>
          <p:cNvPr id="105" name="Google Shape;105;p7"/>
          <p:cNvSpPr txBox="1"/>
          <p:nvPr/>
        </p:nvSpPr>
        <p:spPr>
          <a:xfrm>
            <a:off x="10080175" y="656425"/>
            <a:ext cx="18096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64748B"/>
                </a:solidFill>
                <a:latin typeface="JetBrains Mono"/>
                <a:ea typeface="JetBrains Mono"/>
                <a:cs typeface="JetBrains Mono"/>
                <a:sym typeface="JetBrains Mono"/>
              </a:rPr>
              <a:t>SPEAKER: LEO (1:00)</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110" name="Shape 110"/>
        <p:cNvGrpSpPr/>
        <p:nvPr/>
      </p:nvGrpSpPr>
      <p:grpSpPr>
        <a:xfrm>
          <a:off x="0" y="0"/>
          <a:ext cx="0" cy="0"/>
          <a:chOff x="0" y="0"/>
          <a:chExt cx="0" cy="0"/>
        </a:xfrm>
      </p:grpSpPr>
      <p:sp>
        <p:nvSpPr>
          <p:cNvPr id="111" name="Google Shape;111;p8"/>
          <p:cNvSpPr/>
          <p:nvPr/>
        </p:nvSpPr>
        <p:spPr>
          <a:xfrm>
            <a:off x="812880" y="609480"/>
            <a:ext cx="10882800" cy="255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1300" u="none" strike="noStrike">
                <a:solidFill>
                  <a:srgbClr val="2DD4A0"/>
                </a:solidFill>
                <a:latin typeface="Inter"/>
                <a:ea typeface="Inter"/>
                <a:cs typeface="Inter"/>
                <a:sym typeface="Inter"/>
              </a:rPr>
              <a:t>MARKET · AARON</a:t>
            </a:r>
            <a:endParaRPr b="0" sz="1300" u="none" strike="noStrike">
              <a:solidFill>
                <a:srgbClr val="FFFFFF"/>
              </a:solidFill>
              <a:latin typeface="Arial"/>
              <a:ea typeface="Arial"/>
              <a:cs typeface="Arial"/>
              <a:sym typeface="Arial"/>
            </a:endParaRPr>
          </a:p>
        </p:txBody>
      </p:sp>
      <p:sp>
        <p:nvSpPr>
          <p:cNvPr id="112" name="Google Shape;112;p8"/>
          <p:cNvSpPr txBox="1"/>
          <p:nvPr>
            <p:ph type="title"/>
          </p:nvPr>
        </p:nvSpPr>
        <p:spPr>
          <a:xfrm>
            <a:off x="812880" y="1018440"/>
            <a:ext cx="10882800" cy="471600"/>
          </a:xfrm>
          <a:prstGeom prst="rect">
            <a:avLst/>
          </a:prstGeom>
          <a:noFill/>
          <a:ln>
            <a:noFill/>
          </a:ln>
        </p:spPr>
        <p:txBody>
          <a:bodyPr anchorCtr="0" anchor="t" bIns="0" lIns="0" spcFirstLastPara="1" rIns="0" wrap="square" tIns="0">
            <a:normAutofit/>
          </a:bodyPr>
          <a:lstStyle/>
          <a:p>
            <a:pPr indent="0" lvl="0" marL="0" rtl="0" algn="l">
              <a:lnSpc>
                <a:spcPct val="110031"/>
              </a:lnSpc>
              <a:spcBef>
                <a:spcPts val="0"/>
              </a:spcBef>
              <a:spcAft>
                <a:spcPts val="0"/>
              </a:spcAft>
              <a:buClr>
                <a:srgbClr val="E8EEF8"/>
              </a:buClr>
              <a:buSzPts val="3200"/>
              <a:buFont typeface="Space Grotesk"/>
              <a:buNone/>
            </a:pPr>
            <a:r>
              <a:rPr b="1" lang="en-US" sz="3200" u="none" strike="noStrike">
                <a:solidFill>
                  <a:srgbClr val="E8EEF8"/>
                </a:solidFill>
                <a:latin typeface="Space Grotesk"/>
                <a:ea typeface="Space Grotesk"/>
                <a:cs typeface="Space Grotesk"/>
                <a:sym typeface="Space Grotesk"/>
              </a:rPr>
              <a:t>A price is a probability</a:t>
            </a:r>
            <a:endParaRPr b="0" sz="3200" u="none" strike="noStrike">
              <a:solidFill>
                <a:schemeClr val="lt1"/>
              </a:solidFill>
              <a:latin typeface="Inter"/>
              <a:ea typeface="Inter"/>
              <a:cs typeface="Inter"/>
              <a:sym typeface="Inter"/>
            </a:endParaRPr>
          </a:p>
        </p:txBody>
      </p:sp>
      <p:sp>
        <p:nvSpPr>
          <p:cNvPr id="113" name="Google Shape;113;p8"/>
          <p:cNvSpPr/>
          <p:nvPr/>
        </p:nvSpPr>
        <p:spPr>
          <a:xfrm>
            <a:off x="815760" y="1646280"/>
            <a:ext cx="6033960" cy="2122560"/>
          </a:xfrm>
          <a:prstGeom prst="roundRect">
            <a:avLst>
              <a:gd fmla="val 4636"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14" name="Google Shape;114;p8"/>
          <p:cNvSpPr/>
          <p:nvPr/>
        </p:nvSpPr>
        <p:spPr>
          <a:xfrm>
            <a:off x="1023840" y="1854000"/>
            <a:ext cx="5787000" cy="8071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4400" u="none" strike="noStrike">
                <a:solidFill>
                  <a:srgbClr val="2DD4A0"/>
                </a:solidFill>
                <a:latin typeface="Space Grotesk"/>
                <a:ea typeface="Space Grotesk"/>
                <a:cs typeface="Space Grotesk"/>
                <a:sym typeface="Space Grotesk"/>
              </a:rPr>
              <a:t>E[profit] = p − c</a:t>
            </a:r>
            <a:endParaRPr b="0" sz="4400" u="none" strike="noStrike">
              <a:solidFill>
                <a:srgbClr val="FFFFFF"/>
              </a:solidFill>
              <a:latin typeface="Arial"/>
              <a:ea typeface="Arial"/>
              <a:cs typeface="Arial"/>
              <a:sym typeface="Arial"/>
            </a:endParaRPr>
          </a:p>
        </p:txBody>
      </p:sp>
      <p:sp>
        <p:nvSpPr>
          <p:cNvPr id="115" name="Google Shape;115;p8"/>
          <p:cNvSpPr/>
          <p:nvPr/>
        </p:nvSpPr>
        <p:spPr>
          <a:xfrm>
            <a:off x="1023840" y="2712600"/>
            <a:ext cx="5787000" cy="51984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lang="en-US" sz="1500" u="none" strike="noStrike">
                <a:solidFill>
                  <a:srgbClr val="E8EEF8"/>
                </a:solidFill>
                <a:latin typeface="Inter"/>
                <a:ea typeface="Inter"/>
                <a:cs typeface="Inter"/>
                <a:sym typeface="Inter"/>
              </a:rPr>
              <a:t>p is your belief, c is the share price. Buy while p &gt; c, sell while p &lt; c, so the price settles near the crowd’s belief.</a:t>
            </a:r>
            <a:endParaRPr b="0" sz="1500" u="none" strike="noStrike">
              <a:solidFill>
                <a:srgbClr val="FFFFFF"/>
              </a:solidFill>
              <a:latin typeface="Arial"/>
              <a:ea typeface="Arial"/>
              <a:cs typeface="Arial"/>
              <a:sym typeface="Arial"/>
            </a:endParaRPr>
          </a:p>
        </p:txBody>
      </p:sp>
      <p:sp>
        <p:nvSpPr>
          <p:cNvPr id="116" name="Google Shape;116;p8"/>
          <p:cNvSpPr/>
          <p:nvPr/>
        </p:nvSpPr>
        <p:spPr>
          <a:xfrm>
            <a:off x="7060320" y="1646280"/>
            <a:ext cx="4315320" cy="981360"/>
          </a:xfrm>
          <a:prstGeom prst="roundRect">
            <a:avLst>
              <a:gd fmla="val 10020"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17" name="Google Shape;117;p8"/>
          <p:cNvSpPr/>
          <p:nvPr/>
        </p:nvSpPr>
        <p:spPr>
          <a:xfrm>
            <a:off x="7268040" y="1854000"/>
            <a:ext cx="4016160" cy="283680"/>
          </a:xfrm>
          <a:prstGeom prst="rect">
            <a:avLst/>
          </a:prstGeom>
          <a:noFill/>
          <a:ln>
            <a:noFill/>
          </a:ln>
        </p:spPr>
        <p:txBody>
          <a:bodyPr anchorCtr="0" anchor="t" bIns="0" lIns="0" spcFirstLastPara="1" rIns="0" wrap="square" tIns="0">
            <a:noAutofit/>
          </a:bodyPr>
          <a:lstStyle/>
          <a:p>
            <a:pPr indent="0" lvl="0" marL="0" marR="0" rtl="0" algn="l">
              <a:lnSpc>
                <a:spcPct val="120058"/>
              </a:lnSpc>
              <a:spcBef>
                <a:spcPts val="0"/>
              </a:spcBef>
              <a:spcAft>
                <a:spcPts val="0"/>
              </a:spcAft>
              <a:buNone/>
            </a:pPr>
            <a:r>
              <a:rPr b="1" lang="en-US" sz="1700" u="none" strike="noStrike">
                <a:solidFill>
                  <a:srgbClr val="F5A524"/>
                </a:solidFill>
                <a:latin typeface="Space Grotesk"/>
                <a:ea typeface="Space Grotesk"/>
                <a:cs typeface="Space Grotesk"/>
                <a:sym typeface="Space Grotesk"/>
              </a:rPr>
              <a:t>1 · Is the price calibrated?</a:t>
            </a:r>
            <a:endParaRPr b="0" sz="1700" u="none" strike="noStrike">
              <a:solidFill>
                <a:srgbClr val="FFFFFF"/>
              </a:solidFill>
              <a:latin typeface="Arial"/>
              <a:ea typeface="Arial"/>
              <a:cs typeface="Arial"/>
              <a:sym typeface="Arial"/>
            </a:endParaRPr>
          </a:p>
        </p:txBody>
      </p:sp>
      <p:sp>
        <p:nvSpPr>
          <p:cNvPr id="118" name="Google Shape;118;p8"/>
          <p:cNvSpPr/>
          <p:nvPr/>
        </p:nvSpPr>
        <p:spPr>
          <a:xfrm>
            <a:off x="7268040" y="2189520"/>
            <a:ext cx="4016160" cy="25596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lang="en-US" sz="1400" u="none" strike="noStrike">
                <a:solidFill>
                  <a:srgbClr val="E8EEF8"/>
                </a:solidFill>
                <a:latin typeface="Inter"/>
                <a:ea typeface="Inter"/>
                <a:cs typeface="Inter"/>
                <a:sym typeface="Inter"/>
              </a:rPr>
              <a:t>Does 30% happen 30% of the time?</a:t>
            </a:r>
            <a:endParaRPr b="0" sz="1400" u="none" strike="noStrike">
              <a:solidFill>
                <a:srgbClr val="FFFFFF"/>
              </a:solidFill>
              <a:latin typeface="Arial"/>
              <a:ea typeface="Arial"/>
              <a:cs typeface="Arial"/>
              <a:sym typeface="Arial"/>
            </a:endParaRPr>
          </a:p>
        </p:txBody>
      </p:sp>
      <p:sp>
        <p:nvSpPr>
          <p:cNvPr id="119" name="Google Shape;119;p8"/>
          <p:cNvSpPr/>
          <p:nvPr/>
        </p:nvSpPr>
        <p:spPr>
          <a:xfrm>
            <a:off x="7060320" y="2787120"/>
            <a:ext cx="4315320" cy="981360"/>
          </a:xfrm>
          <a:prstGeom prst="roundRect">
            <a:avLst>
              <a:gd fmla="val 10020"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20" name="Google Shape;120;p8"/>
          <p:cNvSpPr/>
          <p:nvPr/>
        </p:nvSpPr>
        <p:spPr>
          <a:xfrm>
            <a:off x="7268040" y="2995200"/>
            <a:ext cx="4016160" cy="283680"/>
          </a:xfrm>
          <a:prstGeom prst="rect">
            <a:avLst/>
          </a:prstGeom>
          <a:noFill/>
          <a:ln>
            <a:noFill/>
          </a:ln>
        </p:spPr>
        <p:txBody>
          <a:bodyPr anchorCtr="0" anchor="t" bIns="0" lIns="0" spcFirstLastPara="1" rIns="0" wrap="square" tIns="0">
            <a:noAutofit/>
          </a:bodyPr>
          <a:lstStyle/>
          <a:p>
            <a:pPr indent="0" lvl="0" marL="0" marR="0" rtl="0" algn="l">
              <a:lnSpc>
                <a:spcPct val="120058"/>
              </a:lnSpc>
              <a:spcBef>
                <a:spcPts val="0"/>
              </a:spcBef>
              <a:spcAft>
                <a:spcPts val="0"/>
              </a:spcAft>
              <a:buNone/>
            </a:pPr>
            <a:r>
              <a:rPr b="1" lang="en-US" sz="1700" u="none" strike="noStrike">
                <a:solidFill>
                  <a:srgbClr val="4C8DFF"/>
                </a:solidFill>
                <a:latin typeface="Space Grotesk"/>
                <a:ea typeface="Space Grotesk"/>
                <a:cs typeface="Space Grotesk"/>
                <a:sym typeface="Space Grotesk"/>
              </a:rPr>
              <a:t>2 · Can a model beat it?</a:t>
            </a:r>
            <a:endParaRPr b="0" sz="1700" u="none" strike="noStrike">
              <a:solidFill>
                <a:srgbClr val="FFFFFF"/>
              </a:solidFill>
              <a:latin typeface="Arial"/>
              <a:ea typeface="Arial"/>
              <a:cs typeface="Arial"/>
              <a:sym typeface="Arial"/>
            </a:endParaRPr>
          </a:p>
        </p:txBody>
      </p:sp>
      <p:sp>
        <p:nvSpPr>
          <p:cNvPr id="121" name="Google Shape;121;p8"/>
          <p:cNvSpPr/>
          <p:nvPr/>
        </p:nvSpPr>
        <p:spPr>
          <a:xfrm>
            <a:off x="7268040" y="3330360"/>
            <a:ext cx="4016160" cy="25596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lang="en-US" sz="1400" u="none" strike="noStrike">
                <a:solidFill>
                  <a:srgbClr val="E8EEF8"/>
                </a:solidFill>
                <a:latin typeface="Inter"/>
                <a:ea typeface="Inter"/>
                <a:cs typeface="Inter"/>
                <a:sym typeface="Inter"/>
              </a:rPr>
              <a:t>Using only information known at the time.</a:t>
            </a:r>
            <a:endParaRPr b="0" sz="1400" u="none" strike="noStrike">
              <a:solidFill>
                <a:srgbClr val="FFFFFF"/>
              </a:solidFill>
              <a:latin typeface="Arial"/>
              <a:ea typeface="Arial"/>
              <a:cs typeface="Arial"/>
              <a:sym typeface="Arial"/>
            </a:endParaRPr>
          </a:p>
        </p:txBody>
      </p:sp>
      <p:sp>
        <p:nvSpPr>
          <p:cNvPr id="122" name="Google Shape;122;p8"/>
          <p:cNvSpPr/>
          <p:nvPr/>
        </p:nvSpPr>
        <p:spPr>
          <a:xfrm>
            <a:off x="812880" y="3950280"/>
            <a:ext cx="10882800" cy="4870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lang="en-US" sz="1400" u="none" strike="noStrike">
                <a:solidFill>
                  <a:srgbClr val="9DB0CC"/>
                </a:solidFill>
                <a:latin typeface="Inter"/>
                <a:ea typeface="Inter"/>
                <a:cs typeface="Inter"/>
                <a:sym typeface="Inter"/>
              </a:rPr>
              <a:t>Classic finding from betting markets: the favorite-longshot bias, where long shots are overpriced. We test whether it shows up here.</a:t>
            </a:r>
            <a:endParaRPr b="0" sz="1400" u="none" strike="noStrike">
              <a:solidFill>
                <a:srgbClr val="FFFFFF"/>
              </a:solidFill>
              <a:latin typeface="Arial"/>
              <a:ea typeface="Arial"/>
              <a:cs typeface="Arial"/>
              <a:sym typeface="Arial"/>
            </a:endParaRPr>
          </a:p>
        </p:txBody>
      </p:sp>
      <p:sp>
        <p:nvSpPr>
          <p:cNvPr id="123" name="Google Shape;123;p8"/>
          <p:cNvSpPr/>
          <p:nvPr/>
        </p:nvSpPr>
        <p:spPr>
          <a:xfrm>
            <a:off x="812880" y="6238440"/>
            <a:ext cx="9810000" cy="237960"/>
          </a:xfrm>
          <a:prstGeom prst="rect">
            <a:avLst/>
          </a:prstGeom>
          <a:noFill/>
          <a:ln>
            <a:noFill/>
          </a:ln>
        </p:spPr>
        <p:txBody>
          <a:bodyPr anchorCtr="0" anchor="t" bIns="0" lIns="0" spcFirstLastPara="1" rIns="0" wrap="square" tIns="0">
            <a:noAutofit/>
          </a:bodyPr>
          <a:lstStyle/>
          <a:p>
            <a:pPr indent="0" lvl="0" marL="0" marR="0" rtl="0" algn="l">
              <a:lnSpc>
                <a:spcPct val="140083"/>
              </a:lnSpc>
              <a:spcBef>
                <a:spcPts val="0"/>
              </a:spcBef>
              <a:spcAft>
                <a:spcPts val="0"/>
              </a:spcAft>
              <a:buNone/>
            </a:pPr>
            <a:r>
              <a:rPr b="0" lang="en-US" sz="1200" u="none" strike="noStrike">
                <a:solidFill>
                  <a:srgbClr val="9DB0CC"/>
                </a:solidFill>
                <a:latin typeface="Inter"/>
                <a:ea typeface="Inter"/>
                <a:cs typeface="Inter"/>
                <a:sym typeface="Inter"/>
              </a:rPr>
              <a:t>Market part · Slide 1 of 7</a:t>
            </a:r>
            <a:endParaRPr b="0" sz="1200" u="none" strike="noStrike">
              <a:solidFill>
                <a:srgbClr val="FFFFFF"/>
              </a:solidFill>
              <a:latin typeface="Arial"/>
              <a:ea typeface="Arial"/>
              <a:cs typeface="Arial"/>
              <a:sym typeface="Arial"/>
            </a:endParaRPr>
          </a:p>
        </p:txBody>
      </p:sp>
      <p:sp>
        <p:nvSpPr>
          <p:cNvPr id="124" name="Google Shape;124;p8"/>
          <p:cNvSpPr txBox="1"/>
          <p:nvPr/>
        </p:nvSpPr>
        <p:spPr>
          <a:xfrm>
            <a:off x="9957300" y="609475"/>
            <a:ext cx="20001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64748B"/>
                </a:solidFill>
                <a:latin typeface="JetBrains Mono"/>
                <a:ea typeface="JetBrains Mono"/>
                <a:cs typeface="JetBrains Mono"/>
                <a:sym typeface="JetBrains Mono"/>
              </a:rPr>
              <a:t>SPEAKER: AARON (</a:t>
            </a:r>
            <a:r>
              <a:rPr b="1" lang="en-US" sz="1050">
                <a:solidFill>
                  <a:srgbClr val="64748B"/>
                </a:solidFill>
                <a:latin typeface="JetBrains Mono"/>
                <a:ea typeface="JetBrains Mono"/>
                <a:cs typeface="JetBrains Mono"/>
                <a:sym typeface="JetBrains Mono"/>
              </a:rPr>
              <a:t>0</a:t>
            </a:r>
            <a:r>
              <a:rPr b="1" i="0" lang="en-US" sz="1050" u="none" cap="none" strike="noStrike">
                <a:solidFill>
                  <a:srgbClr val="64748B"/>
                </a:solidFill>
                <a:latin typeface="JetBrains Mono"/>
                <a:ea typeface="JetBrains Mono"/>
                <a:cs typeface="JetBrains Mono"/>
                <a:sym typeface="JetBrains Mono"/>
              </a:rPr>
              <a:t>:</a:t>
            </a:r>
            <a:r>
              <a:rPr b="1" lang="en-US" sz="1050">
                <a:solidFill>
                  <a:srgbClr val="64748B"/>
                </a:solidFill>
                <a:latin typeface="JetBrains Mono"/>
                <a:ea typeface="JetBrains Mono"/>
                <a:cs typeface="JetBrains Mono"/>
                <a:sym typeface="JetBrains Mono"/>
              </a:rPr>
              <a:t>45</a:t>
            </a:r>
            <a:r>
              <a:rPr b="1" i="0" lang="en-US" sz="1050" u="none" cap="none" strike="noStrike">
                <a:solidFill>
                  <a:srgbClr val="64748B"/>
                </a:solidFill>
                <a:latin typeface="JetBrains Mono"/>
                <a:ea typeface="JetBrains Mono"/>
                <a:cs typeface="JetBrains Mono"/>
                <a:sym typeface="JetBrains Mono"/>
              </a:rPr>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129" name="Shape 129"/>
        <p:cNvGrpSpPr/>
        <p:nvPr/>
      </p:nvGrpSpPr>
      <p:grpSpPr>
        <a:xfrm>
          <a:off x="0" y="0"/>
          <a:ext cx="0" cy="0"/>
          <a:chOff x="0" y="0"/>
          <a:chExt cx="0" cy="0"/>
        </a:xfrm>
      </p:grpSpPr>
      <p:sp>
        <p:nvSpPr>
          <p:cNvPr id="130" name="Google Shape;130;p9"/>
          <p:cNvSpPr/>
          <p:nvPr/>
        </p:nvSpPr>
        <p:spPr>
          <a:xfrm>
            <a:off x="778905" y="373105"/>
            <a:ext cx="10882800" cy="255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1300" u="none" strike="noStrike">
                <a:solidFill>
                  <a:srgbClr val="2DD4A0"/>
                </a:solidFill>
                <a:latin typeface="Inter"/>
                <a:ea typeface="Inter"/>
                <a:cs typeface="Inter"/>
                <a:sym typeface="Inter"/>
              </a:rPr>
              <a:t>MARKET · AARON</a:t>
            </a:r>
            <a:endParaRPr b="0" sz="1300" u="none" strike="noStrike">
              <a:solidFill>
                <a:srgbClr val="FFFFFF"/>
              </a:solidFill>
              <a:latin typeface="Arial"/>
              <a:ea typeface="Arial"/>
              <a:cs typeface="Arial"/>
              <a:sym typeface="Arial"/>
            </a:endParaRPr>
          </a:p>
        </p:txBody>
      </p:sp>
      <p:sp>
        <p:nvSpPr>
          <p:cNvPr id="131" name="Google Shape;131;p9"/>
          <p:cNvSpPr txBox="1"/>
          <p:nvPr>
            <p:ph type="title"/>
          </p:nvPr>
        </p:nvSpPr>
        <p:spPr>
          <a:xfrm>
            <a:off x="778905" y="782065"/>
            <a:ext cx="10882800" cy="471600"/>
          </a:xfrm>
          <a:prstGeom prst="rect">
            <a:avLst/>
          </a:prstGeom>
          <a:noFill/>
          <a:ln>
            <a:noFill/>
          </a:ln>
        </p:spPr>
        <p:txBody>
          <a:bodyPr anchorCtr="0" anchor="t" bIns="0" lIns="0" spcFirstLastPara="1" rIns="0" wrap="square" tIns="0">
            <a:normAutofit fontScale="90000"/>
          </a:bodyPr>
          <a:lstStyle/>
          <a:p>
            <a:pPr indent="0" lvl="0" marL="0" rtl="0" algn="l">
              <a:lnSpc>
                <a:spcPct val="110031"/>
              </a:lnSpc>
              <a:spcBef>
                <a:spcPts val="0"/>
              </a:spcBef>
              <a:spcAft>
                <a:spcPts val="0"/>
              </a:spcAft>
              <a:buClr>
                <a:srgbClr val="E8EEF8"/>
              </a:buClr>
              <a:buSzPct val="100000"/>
              <a:buFont typeface="Space Grotesk"/>
              <a:buNone/>
            </a:pPr>
            <a:r>
              <a:rPr b="1" lang="en-US" sz="3200" u="none" strike="noStrike">
                <a:solidFill>
                  <a:srgbClr val="E8EEF8"/>
                </a:solidFill>
                <a:latin typeface="Space Grotesk"/>
                <a:ea typeface="Space Grotesk"/>
                <a:cs typeface="Space Grotesk"/>
                <a:sym typeface="Space Grotesk"/>
              </a:rPr>
              <a:t>Data </a:t>
            </a:r>
            <a:r>
              <a:rPr b="1" lang="en-US">
                <a:solidFill>
                  <a:srgbClr val="E8EEF8"/>
                </a:solidFill>
                <a:latin typeface="Space Grotesk"/>
                <a:ea typeface="Space Grotesk"/>
                <a:cs typeface="Space Grotesk"/>
                <a:sym typeface="Space Grotesk"/>
              </a:rPr>
              <a:t>Methodology &amp; Pipeline</a:t>
            </a:r>
            <a:endParaRPr b="0" sz="3200" u="none" strike="noStrike">
              <a:solidFill>
                <a:schemeClr val="lt1"/>
              </a:solidFill>
              <a:latin typeface="Inter"/>
              <a:ea typeface="Inter"/>
              <a:cs typeface="Inter"/>
              <a:sym typeface="Inter"/>
            </a:endParaRPr>
          </a:p>
        </p:txBody>
      </p:sp>
      <p:sp>
        <p:nvSpPr>
          <p:cNvPr id="132" name="Google Shape;132;p9"/>
          <p:cNvSpPr/>
          <p:nvPr/>
        </p:nvSpPr>
        <p:spPr>
          <a:xfrm>
            <a:off x="781785" y="1409905"/>
            <a:ext cx="2939400" cy="2137200"/>
          </a:xfrm>
          <a:prstGeom prst="roundRect">
            <a:avLst>
              <a:gd fmla="val 4603"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33" name="Google Shape;133;p9"/>
          <p:cNvSpPr/>
          <p:nvPr/>
        </p:nvSpPr>
        <p:spPr>
          <a:xfrm>
            <a:off x="989865" y="1617625"/>
            <a:ext cx="2599200" cy="283800"/>
          </a:xfrm>
          <a:prstGeom prst="rect">
            <a:avLst/>
          </a:prstGeom>
          <a:noFill/>
          <a:ln>
            <a:noFill/>
          </a:ln>
        </p:spPr>
        <p:txBody>
          <a:bodyPr anchorCtr="0" anchor="t" bIns="0" lIns="0" spcFirstLastPara="1" rIns="0" wrap="square" tIns="0">
            <a:noAutofit/>
          </a:bodyPr>
          <a:lstStyle/>
          <a:p>
            <a:pPr indent="0" lvl="0" marL="0" marR="0" rtl="0" algn="l">
              <a:lnSpc>
                <a:spcPct val="120058"/>
              </a:lnSpc>
              <a:spcBef>
                <a:spcPts val="0"/>
              </a:spcBef>
              <a:spcAft>
                <a:spcPts val="0"/>
              </a:spcAft>
              <a:buNone/>
            </a:pPr>
            <a:r>
              <a:rPr b="1" lang="en-US" sz="1700" u="none" strike="noStrike">
                <a:solidFill>
                  <a:srgbClr val="2DD4A0"/>
                </a:solidFill>
                <a:latin typeface="Space Grotesk"/>
                <a:ea typeface="Space Grotesk"/>
                <a:cs typeface="Space Grotesk"/>
                <a:sym typeface="Space Grotesk"/>
              </a:rPr>
              <a:t>Resolved markets</a:t>
            </a:r>
            <a:endParaRPr b="0" sz="1700" u="none" strike="noStrike">
              <a:solidFill>
                <a:srgbClr val="FFFFFF"/>
              </a:solidFill>
              <a:latin typeface="Arial"/>
              <a:ea typeface="Arial"/>
              <a:cs typeface="Arial"/>
              <a:sym typeface="Arial"/>
            </a:endParaRPr>
          </a:p>
        </p:txBody>
      </p:sp>
      <p:sp>
        <p:nvSpPr>
          <p:cNvPr id="134" name="Google Shape;134;p9"/>
          <p:cNvSpPr/>
          <p:nvPr/>
        </p:nvSpPr>
        <p:spPr>
          <a:xfrm>
            <a:off x="989865" y="1953145"/>
            <a:ext cx="2599200" cy="14118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lang="en-US" sz="1400" u="none" strike="noStrike">
                <a:solidFill>
                  <a:srgbClr val="E8EEF8"/>
                </a:solidFill>
                <a:latin typeface="Inter"/>
                <a:ea typeface="Inter"/>
                <a:cs typeface="Inter"/>
                <a:sym typeface="Inter"/>
              </a:rPr>
              <a:t>7,479 Yes/No markets, Politics, Technology, Entertainment and Economy, closing Jun to Oct 2026. Categories from Polymarket event tags.</a:t>
            </a:r>
            <a:endParaRPr b="0" sz="1400" u="none" strike="noStrike">
              <a:solidFill>
                <a:srgbClr val="FFFFFF"/>
              </a:solidFill>
              <a:latin typeface="Arial"/>
              <a:ea typeface="Arial"/>
              <a:cs typeface="Arial"/>
              <a:sym typeface="Arial"/>
            </a:endParaRPr>
          </a:p>
        </p:txBody>
      </p:sp>
      <p:sp>
        <p:nvSpPr>
          <p:cNvPr id="135" name="Google Shape;135;p9"/>
          <p:cNvSpPr/>
          <p:nvPr/>
        </p:nvSpPr>
        <p:spPr>
          <a:xfrm>
            <a:off x="3852225" y="2052145"/>
            <a:ext cx="730800" cy="878100"/>
          </a:xfrm>
          <a:prstGeom prst="rect">
            <a:avLst/>
          </a:prstGeom>
          <a:noFill/>
          <a:ln>
            <a:noFill/>
          </a:ln>
        </p:spPr>
        <p:txBody>
          <a:bodyPr anchorCtr="0" anchor="t" bIns="0" lIns="0" spcFirstLastPara="1" rIns="0" wrap="square" tIns="0">
            <a:noAutofit/>
          </a:bodyPr>
          <a:lstStyle/>
          <a:p>
            <a:pPr indent="0" lvl="0" marL="0" marR="0" rtl="0" algn="l">
              <a:lnSpc>
                <a:spcPct val="140020"/>
              </a:lnSpc>
              <a:spcBef>
                <a:spcPts val="0"/>
              </a:spcBef>
              <a:spcAft>
                <a:spcPts val="0"/>
              </a:spcAft>
              <a:buNone/>
            </a:pPr>
            <a:r>
              <a:rPr b="0" lang="en-US" sz="4800" u="none" strike="noStrike">
                <a:solidFill>
                  <a:srgbClr val="2DD4A0"/>
                </a:solidFill>
                <a:latin typeface="Space Grotesk"/>
                <a:ea typeface="Space Grotesk"/>
                <a:cs typeface="Space Grotesk"/>
                <a:sym typeface="Space Grotesk"/>
              </a:rPr>
              <a:t>→</a:t>
            </a:r>
            <a:endParaRPr b="0" sz="4800" u="none" strike="noStrike">
              <a:solidFill>
                <a:srgbClr val="FFFFFF"/>
              </a:solidFill>
              <a:latin typeface="Arial"/>
              <a:ea typeface="Arial"/>
              <a:cs typeface="Arial"/>
              <a:sym typeface="Arial"/>
            </a:endParaRPr>
          </a:p>
        </p:txBody>
      </p:sp>
      <p:sp>
        <p:nvSpPr>
          <p:cNvPr id="136" name="Google Shape;136;p9"/>
          <p:cNvSpPr/>
          <p:nvPr/>
        </p:nvSpPr>
        <p:spPr>
          <a:xfrm>
            <a:off x="4592025" y="1409905"/>
            <a:ext cx="2939400" cy="2137200"/>
          </a:xfrm>
          <a:prstGeom prst="roundRect">
            <a:avLst>
              <a:gd fmla="val 4603"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37" name="Google Shape;137;p9"/>
          <p:cNvSpPr/>
          <p:nvPr/>
        </p:nvSpPr>
        <p:spPr>
          <a:xfrm>
            <a:off x="4799745" y="1617625"/>
            <a:ext cx="2599200" cy="283800"/>
          </a:xfrm>
          <a:prstGeom prst="rect">
            <a:avLst/>
          </a:prstGeom>
          <a:noFill/>
          <a:ln>
            <a:noFill/>
          </a:ln>
        </p:spPr>
        <p:txBody>
          <a:bodyPr anchorCtr="0" anchor="t" bIns="0" lIns="0" spcFirstLastPara="1" rIns="0" wrap="square" tIns="0">
            <a:noAutofit/>
          </a:bodyPr>
          <a:lstStyle/>
          <a:p>
            <a:pPr indent="0" lvl="0" marL="0" marR="0" rtl="0" algn="l">
              <a:lnSpc>
                <a:spcPct val="120058"/>
              </a:lnSpc>
              <a:spcBef>
                <a:spcPts val="0"/>
              </a:spcBef>
              <a:spcAft>
                <a:spcPts val="0"/>
              </a:spcAft>
              <a:buNone/>
            </a:pPr>
            <a:r>
              <a:rPr b="1" lang="en-US" sz="1700" u="none" strike="noStrike">
                <a:solidFill>
                  <a:srgbClr val="4C8DFF"/>
                </a:solidFill>
                <a:latin typeface="Space Grotesk"/>
                <a:ea typeface="Space Grotesk"/>
                <a:cs typeface="Space Grotesk"/>
                <a:sym typeface="Space Grotesk"/>
              </a:rPr>
              <a:t>Price before close</a:t>
            </a:r>
            <a:endParaRPr b="0" sz="1700" u="none" strike="noStrike">
              <a:solidFill>
                <a:srgbClr val="FFFFFF"/>
              </a:solidFill>
              <a:latin typeface="Arial"/>
              <a:ea typeface="Arial"/>
              <a:cs typeface="Arial"/>
              <a:sym typeface="Arial"/>
            </a:endParaRPr>
          </a:p>
        </p:txBody>
      </p:sp>
      <p:sp>
        <p:nvSpPr>
          <p:cNvPr id="138" name="Google Shape;138;p9"/>
          <p:cNvSpPr/>
          <p:nvPr/>
        </p:nvSpPr>
        <p:spPr>
          <a:xfrm>
            <a:off x="4799745" y="1953145"/>
            <a:ext cx="2599200" cy="949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lang="en-US" sz="1400" u="none" strike="noStrike">
                <a:solidFill>
                  <a:srgbClr val="E8EEF8"/>
                </a:solidFill>
                <a:latin typeface="Inter"/>
                <a:ea typeface="Inter"/>
                <a:cs typeface="Inter"/>
                <a:sym typeface="Inter"/>
              </a:rPr>
              <a:t>4.1M trades. We read the last trade before 6 hours, 24 hours, 3 days and 7 days to close.</a:t>
            </a:r>
            <a:endParaRPr b="0" sz="1400" u="none" strike="noStrike">
              <a:solidFill>
                <a:srgbClr val="FFFFFF"/>
              </a:solidFill>
              <a:latin typeface="Arial"/>
              <a:ea typeface="Arial"/>
              <a:cs typeface="Arial"/>
              <a:sym typeface="Arial"/>
            </a:endParaRPr>
          </a:p>
        </p:txBody>
      </p:sp>
      <p:sp>
        <p:nvSpPr>
          <p:cNvPr id="139" name="Google Shape;139;p9"/>
          <p:cNvSpPr/>
          <p:nvPr/>
        </p:nvSpPr>
        <p:spPr>
          <a:xfrm>
            <a:off x="7662105" y="2052145"/>
            <a:ext cx="730800" cy="878100"/>
          </a:xfrm>
          <a:prstGeom prst="rect">
            <a:avLst/>
          </a:prstGeom>
          <a:noFill/>
          <a:ln>
            <a:noFill/>
          </a:ln>
        </p:spPr>
        <p:txBody>
          <a:bodyPr anchorCtr="0" anchor="t" bIns="0" lIns="0" spcFirstLastPara="1" rIns="0" wrap="square" tIns="0">
            <a:noAutofit/>
          </a:bodyPr>
          <a:lstStyle/>
          <a:p>
            <a:pPr indent="0" lvl="0" marL="0" marR="0" rtl="0" algn="l">
              <a:lnSpc>
                <a:spcPct val="140020"/>
              </a:lnSpc>
              <a:spcBef>
                <a:spcPts val="0"/>
              </a:spcBef>
              <a:spcAft>
                <a:spcPts val="0"/>
              </a:spcAft>
              <a:buNone/>
            </a:pPr>
            <a:r>
              <a:rPr b="0" lang="en-US" sz="4800" u="none" strike="noStrike">
                <a:solidFill>
                  <a:srgbClr val="2DD4A0"/>
                </a:solidFill>
                <a:latin typeface="Space Grotesk"/>
                <a:ea typeface="Space Grotesk"/>
                <a:cs typeface="Space Grotesk"/>
                <a:sym typeface="Space Grotesk"/>
              </a:rPr>
              <a:t>→</a:t>
            </a:r>
            <a:endParaRPr b="0" sz="4800" u="none" strike="noStrike">
              <a:solidFill>
                <a:srgbClr val="FFFFFF"/>
              </a:solidFill>
              <a:latin typeface="Arial"/>
              <a:ea typeface="Arial"/>
              <a:cs typeface="Arial"/>
              <a:sym typeface="Arial"/>
            </a:endParaRPr>
          </a:p>
        </p:txBody>
      </p:sp>
      <p:sp>
        <p:nvSpPr>
          <p:cNvPr id="140" name="Google Shape;140;p9"/>
          <p:cNvSpPr/>
          <p:nvPr/>
        </p:nvSpPr>
        <p:spPr>
          <a:xfrm>
            <a:off x="8401905" y="1409905"/>
            <a:ext cx="2939400" cy="2137200"/>
          </a:xfrm>
          <a:prstGeom prst="roundRect">
            <a:avLst>
              <a:gd fmla="val 4603"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41" name="Google Shape;141;p9"/>
          <p:cNvSpPr/>
          <p:nvPr/>
        </p:nvSpPr>
        <p:spPr>
          <a:xfrm>
            <a:off x="8609985" y="1617625"/>
            <a:ext cx="2599200" cy="283800"/>
          </a:xfrm>
          <a:prstGeom prst="rect">
            <a:avLst/>
          </a:prstGeom>
          <a:noFill/>
          <a:ln>
            <a:noFill/>
          </a:ln>
        </p:spPr>
        <p:txBody>
          <a:bodyPr anchorCtr="0" anchor="t" bIns="0" lIns="0" spcFirstLastPara="1" rIns="0" wrap="square" tIns="0">
            <a:noAutofit/>
          </a:bodyPr>
          <a:lstStyle/>
          <a:p>
            <a:pPr indent="0" lvl="0" marL="0" marR="0" rtl="0" algn="l">
              <a:lnSpc>
                <a:spcPct val="120058"/>
              </a:lnSpc>
              <a:spcBef>
                <a:spcPts val="0"/>
              </a:spcBef>
              <a:spcAft>
                <a:spcPts val="0"/>
              </a:spcAft>
              <a:buNone/>
            </a:pPr>
            <a:r>
              <a:rPr b="1" lang="en-US" sz="1700" u="none" strike="noStrike">
                <a:solidFill>
                  <a:srgbClr val="F5A524"/>
                </a:solidFill>
                <a:latin typeface="Space Grotesk"/>
                <a:ea typeface="Space Grotesk"/>
                <a:cs typeface="Space Grotesk"/>
                <a:sym typeface="Space Grotesk"/>
              </a:rPr>
              <a:t>Grade against outcome</a:t>
            </a:r>
            <a:endParaRPr b="0" sz="1700" u="none" strike="noStrike">
              <a:solidFill>
                <a:srgbClr val="FFFFFF"/>
              </a:solidFill>
              <a:latin typeface="Arial"/>
              <a:ea typeface="Arial"/>
              <a:cs typeface="Arial"/>
              <a:sym typeface="Arial"/>
            </a:endParaRPr>
          </a:p>
        </p:txBody>
      </p:sp>
      <p:sp>
        <p:nvSpPr>
          <p:cNvPr id="142" name="Google Shape;142;p9"/>
          <p:cNvSpPr/>
          <p:nvPr/>
        </p:nvSpPr>
        <p:spPr>
          <a:xfrm>
            <a:off x="8609985" y="1953145"/>
            <a:ext cx="2599200" cy="949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lang="en-US" sz="1400" u="none" strike="noStrike">
                <a:solidFill>
                  <a:srgbClr val="E8EEF8"/>
                </a:solidFill>
                <a:latin typeface="Inter"/>
                <a:ea typeface="Inter"/>
                <a:cs typeface="Inter"/>
                <a:sym typeface="Inter"/>
              </a:rPr>
              <a:t>Brier score and calibration curves, with confidence intervals that resample whole events.</a:t>
            </a:r>
            <a:endParaRPr b="0" sz="1400" u="none" strike="noStrike">
              <a:solidFill>
                <a:srgbClr val="FFFFFF"/>
              </a:solidFill>
              <a:latin typeface="Arial"/>
              <a:ea typeface="Arial"/>
              <a:cs typeface="Arial"/>
              <a:sym typeface="Arial"/>
            </a:endParaRPr>
          </a:p>
        </p:txBody>
      </p:sp>
      <p:sp>
        <p:nvSpPr>
          <p:cNvPr id="143" name="Google Shape;143;p9"/>
          <p:cNvSpPr/>
          <p:nvPr/>
        </p:nvSpPr>
        <p:spPr>
          <a:xfrm>
            <a:off x="528450" y="3729025"/>
            <a:ext cx="11133300" cy="487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lang="en-US" sz="1400" u="none" strike="noStrike">
                <a:solidFill>
                  <a:srgbClr val="9DB0CC"/>
                </a:solidFill>
                <a:latin typeface="Inter"/>
                <a:ea typeface="Inter"/>
                <a:cs typeface="Inter"/>
                <a:sym typeface="Inter"/>
              </a:rPr>
              <a:t>Order book recorded only about 22% of these markets. Where both exist, trade price and book midpoint agree: correlation 0.92, median gap 0.9 cents.</a:t>
            </a:r>
            <a:endParaRPr b="1" sz="1400" u="none" strike="noStrike">
              <a:solidFill>
                <a:srgbClr val="FFFFFF"/>
              </a:solidFill>
            </a:endParaRPr>
          </a:p>
        </p:txBody>
      </p:sp>
      <p:sp>
        <p:nvSpPr>
          <p:cNvPr id="144" name="Google Shape;144;p9"/>
          <p:cNvSpPr/>
          <p:nvPr/>
        </p:nvSpPr>
        <p:spPr>
          <a:xfrm>
            <a:off x="575330" y="6248965"/>
            <a:ext cx="9810000" cy="237900"/>
          </a:xfrm>
          <a:prstGeom prst="rect">
            <a:avLst/>
          </a:prstGeom>
          <a:noFill/>
          <a:ln>
            <a:noFill/>
          </a:ln>
        </p:spPr>
        <p:txBody>
          <a:bodyPr anchorCtr="0" anchor="t" bIns="0" lIns="0" spcFirstLastPara="1" rIns="0" wrap="square" tIns="0">
            <a:noAutofit/>
          </a:bodyPr>
          <a:lstStyle/>
          <a:p>
            <a:pPr indent="0" lvl="0" marL="0" marR="0" rtl="0" algn="l">
              <a:lnSpc>
                <a:spcPct val="140083"/>
              </a:lnSpc>
              <a:spcBef>
                <a:spcPts val="0"/>
              </a:spcBef>
              <a:spcAft>
                <a:spcPts val="0"/>
              </a:spcAft>
              <a:buNone/>
            </a:pPr>
            <a:r>
              <a:rPr b="0" lang="en-US" sz="1200" u="none" strike="noStrike">
                <a:solidFill>
                  <a:srgbClr val="9DB0CC"/>
                </a:solidFill>
                <a:latin typeface="Inter"/>
                <a:ea typeface="Inter"/>
                <a:cs typeface="Inter"/>
                <a:sym typeface="Inter"/>
              </a:rPr>
              <a:t>Market part </a:t>
            </a:r>
            <a:r>
              <a:rPr b="0" lang="en-US" sz="1200" u="none" strike="noStrike">
                <a:solidFill>
                  <a:srgbClr val="9DB0CC"/>
                </a:solidFill>
                <a:latin typeface="Inter"/>
                <a:ea typeface="Inter"/>
                <a:cs typeface="Inter"/>
                <a:sym typeface="Inter"/>
              </a:rPr>
              <a:t>· Slide 2 of 7 </a:t>
            </a:r>
            <a:endParaRPr b="0" sz="1200" u="none" strike="noStrike">
              <a:solidFill>
                <a:srgbClr val="FFFFFF"/>
              </a:solidFill>
              <a:latin typeface="Arial"/>
              <a:ea typeface="Arial"/>
              <a:cs typeface="Arial"/>
              <a:sym typeface="Arial"/>
            </a:endParaRPr>
          </a:p>
        </p:txBody>
      </p:sp>
      <p:sp>
        <p:nvSpPr>
          <p:cNvPr id="145" name="Google Shape;145;p9"/>
          <p:cNvSpPr txBox="1"/>
          <p:nvPr/>
        </p:nvSpPr>
        <p:spPr>
          <a:xfrm>
            <a:off x="9948225" y="382750"/>
            <a:ext cx="20001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64748B"/>
                </a:solidFill>
                <a:latin typeface="JetBrains Mono"/>
                <a:ea typeface="JetBrains Mono"/>
                <a:cs typeface="JetBrains Mono"/>
                <a:sym typeface="JetBrains Mono"/>
              </a:rPr>
              <a:t>SPEAKER: AARON (1:00)</a:t>
            </a:r>
            <a:endParaRPr/>
          </a:p>
        </p:txBody>
      </p:sp>
      <p:sp>
        <p:nvSpPr>
          <p:cNvPr id="146" name="Google Shape;146;p9"/>
          <p:cNvSpPr/>
          <p:nvPr/>
        </p:nvSpPr>
        <p:spPr>
          <a:xfrm>
            <a:off x="575325" y="5239337"/>
            <a:ext cx="10972800" cy="866700"/>
          </a:xfrm>
          <a:prstGeom prst="roundRect">
            <a:avLst>
              <a:gd fmla="val 13186" name="adj"/>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47" name="Google Shape;147;p9"/>
          <p:cNvSpPr/>
          <p:nvPr/>
        </p:nvSpPr>
        <p:spPr>
          <a:xfrm>
            <a:off x="9776475" y="5501275"/>
            <a:ext cx="1543200" cy="342900"/>
          </a:xfrm>
          <a:prstGeom prst="roundRect">
            <a:avLst>
              <a:gd fmla="val 16666" name="adj"/>
            </a:avLst>
          </a:prstGeom>
          <a:solidFill>
            <a:srgbClr val="FFFFFF"/>
          </a:solidFill>
          <a:ln cap="flat" cmpd="sng" w="9525">
            <a:solidFill>
              <a:srgbClr val="CBD5E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pic>
        <p:nvPicPr>
          <p:cNvPr descr="image.png" id="148" name="Google Shape;148;p9"/>
          <p:cNvPicPr preferRelativeResize="0"/>
          <p:nvPr/>
        </p:nvPicPr>
        <p:blipFill rotWithShape="1">
          <a:blip r:embed="rId3">
            <a:alphaModFix/>
          </a:blip>
          <a:srcRect b="0" l="0" r="0" t="0"/>
          <a:stretch/>
        </p:blipFill>
        <p:spPr>
          <a:xfrm>
            <a:off x="761275" y="5558413"/>
            <a:ext cx="228600" cy="228600"/>
          </a:xfrm>
          <a:prstGeom prst="rect">
            <a:avLst/>
          </a:prstGeom>
          <a:noFill/>
          <a:ln>
            <a:noFill/>
          </a:ln>
        </p:spPr>
      </p:pic>
      <p:sp>
        <p:nvSpPr>
          <p:cNvPr id="149" name="Google Shape;149;p9"/>
          <p:cNvSpPr txBox="1"/>
          <p:nvPr/>
        </p:nvSpPr>
        <p:spPr>
          <a:xfrm>
            <a:off x="9928875" y="5577475"/>
            <a:ext cx="13335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F172A"/>
                </a:solidFill>
                <a:latin typeface="JetBrains Mono"/>
                <a:ea typeface="JetBrains Mono"/>
                <a:cs typeface="JetBrains Mono"/>
                <a:sym typeface="JetBrains Mono"/>
              </a:rPr>
              <a:t>Median Gap: 0.9¢</a:t>
            </a:r>
            <a:endParaRPr/>
          </a:p>
        </p:txBody>
      </p:sp>
      <p:sp>
        <p:nvSpPr>
          <p:cNvPr id="150" name="Google Shape;150;p9"/>
          <p:cNvSpPr txBox="1"/>
          <p:nvPr/>
        </p:nvSpPr>
        <p:spPr>
          <a:xfrm>
            <a:off x="1184925" y="5467937"/>
            <a:ext cx="76134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Inter"/>
                <a:ea typeface="Inter"/>
                <a:cs typeface="Inter"/>
                <a:sym typeface="Inter"/>
              </a:rPr>
              <a:t>Rigorous Validation Framework</a:t>
            </a:r>
            <a:endParaRPr/>
          </a:p>
        </p:txBody>
      </p:sp>
      <p:sp>
        <p:nvSpPr>
          <p:cNvPr id="151" name="Google Shape;151;p9"/>
          <p:cNvSpPr txBox="1"/>
          <p:nvPr/>
        </p:nvSpPr>
        <p:spPr>
          <a:xfrm>
            <a:off x="1184925" y="5696537"/>
            <a:ext cx="72510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475569"/>
                </a:solidFill>
                <a:latin typeface="Inter"/>
                <a:ea typeface="Inter"/>
                <a:cs typeface="Inter"/>
                <a:sym typeface="Inter"/>
              </a:rPr>
              <a:t>Brier score metrics evaluated using event-level block bootstrap confidence intervals.</a:t>
            </a:r>
            <a:endParaRPr/>
          </a:p>
        </p:txBody>
      </p:sp>
      <p:sp>
        <p:nvSpPr>
          <p:cNvPr id="152" name="Google Shape;152;p9"/>
          <p:cNvSpPr/>
          <p:nvPr/>
        </p:nvSpPr>
        <p:spPr>
          <a:xfrm>
            <a:off x="2291133" y="4309869"/>
            <a:ext cx="1815600" cy="786600"/>
          </a:xfrm>
          <a:prstGeom prst="roundRect">
            <a:avLst>
              <a:gd fmla="val 10256" name="adj"/>
            </a:avLst>
          </a:prstGeom>
          <a:solidFill>
            <a:srgbClr val="F8FAFC"/>
          </a:solidFill>
          <a:ln cap="flat" cmpd="sng" w="6725">
            <a:solidFill>
              <a:srgbClr val="E2E8F0"/>
            </a:solidFill>
            <a:prstDash val="solid"/>
            <a:round/>
            <a:headEnd len="sm" w="sm" type="none"/>
            <a:tailEnd len="sm" w="sm" type="none"/>
          </a:ln>
        </p:spPr>
        <p:txBody>
          <a:bodyPr anchorCtr="0" anchor="ctr" bIns="32250" lIns="64550" spcFirstLastPara="1" rIns="64550" wrap="square" tIns="32250">
            <a:noAutofit/>
          </a:bodyPr>
          <a:lstStyle/>
          <a:p>
            <a:pPr indent="0" lvl="0" marL="0" marR="0" rtl="0" algn="ctr">
              <a:spcBef>
                <a:spcPts val="0"/>
              </a:spcBef>
              <a:spcAft>
                <a:spcPts val="0"/>
              </a:spcAft>
              <a:buNone/>
            </a:pPr>
            <a:r>
              <a:t/>
            </a:r>
            <a:endParaRPr b="0" i="0" sz="1271" u="none" cap="none" strike="noStrike">
              <a:solidFill>
                <a:srgbClr val="000000"/>
              </a:solidFill>
              <a:latin typeface="Calibri"/>
              <a:ea typeface="Calibri"/>
              <a:cs typeface="Calibri"/>
              <a:sym typeface="Calibri"/>
            </a:endParaRPr>
          </a:p>
        </p:txBody>
      </p:sp>
      <p:sp>
        <p:nvSpPr>
          <p:cNvPr id="153" name="Google Shape;153;p9"/>
          <p:cNvSpPr/>
          <p:nvPr/>
        </p:nvSpPr>
        <p:spPr>
          <a:xfrm>
            <a:off x="4267861" y="4309869"/>
            <a:ext cx="1815600" cy="786600"/>
          </a:xfrm>
          <a:prstGeom prst="roundRect">
            <a:avLst>
              <a:gd fmla="val 10256" name="adj"/>
            </a:avLst>
          </a:prstGeom>
          <a:solidFill>
            <a:srgbClr val="F8FAFC"/>
          </a:solidFill>
          <a:ln cap="flat" cmpd="sng" w="6725">
            <a:solidFill>
              <a:srgbClr val="E2E8F0"/>
            </a:solidFill>
            <a:prstDash val="solid"/>
            <a:round/>
            <a:headEnd len="sm" w="sm" type="none"/>
            <a:tailEnd len="sm" w="sm" type="none"/>
          </a:ln>
        </p:spPr>
        <p:txBody>
          <a:bodyPr anchorCtr="0" anchor="ctr" bIns="32250" lIns="64550" spcFirstLastPara="1" rIns="64550" wrap="square" tIns="32250">
            <a:noAutofit/>
          </a:bodyPr>
          <a:lstStyle/>
          <a:p>
            <a:pPr indent="0" lvl="0" marL="0" marR="0" rtl="0" algn="ctr">
              <a:spcBef>
                <a:spcPts val="0"/>
              </a:spcBef>
              <a:spcAft>
                <a:spcPts val="0"/>
              </a:spcAft>
              <a:buNone/>
            </a:pPr>
            <a:r>
              <a:t/>
            </a:r>
            <a:endParaRPr b="0" i="0" sz="1271" u="none" cap="none" strike="noStrike">
              <a:solidFill>
                <a:srgbClr val="000000"/>
              </a:solidFill>
              <a:latin typeface="Calibri"/>
              <a:ea typeface="Calibri"/>
              <a:cs typeface="Calibri"/>
              <a:sym typeface="Calibri"/>
            </a:endParaRPr>
          </a:p>
        </p:txBody>
      </p:sp>
      <p:sp>
        <p:nvSpPr>
          <p:cNvPr id="154" name="Google Shape;154;p9"/>
          <p:cNvSpPr/>
          <p:nvPr/>
        </p:nvSpPr>
        <p:spPr>
          <a:xfrm>
            <a:off x="6244588" y="4309869"/>
            <a:ext cx="1815600" cy="786600"/>
          </a:xfrm>
          <a:prstGeom prst="roundRect">
            <a:avLst>
              <a:gd fmla="val 10256" name="adj"/>
            </a:avLst>
          </a:prstGeom>
          <a:solidFill>
            <a:srgbClr val="F8FAFC"/>
          </a:solidFill>
          <a:ln cap="flat" cmpd="sng" w="6725">
            <a:solidFill>
              <a:srgbClr val="E2E8F0"/>
            </a:solidFill>
            <a:prstDash val="solid"/>
            <a:round/>
            <a:headEnd len="sm" w="sm" type="none"/>
            <a:tailEnd len="sm" w="sm" type="none"/>
          </a:ln>
        </p:spPr>
        <p:txBody>
          <a:bodyPr anchorCtr="0" anchor="ctr" bIns="32250" lIns="64550" spcFirstLastPara="1" rIns="64550" wrap="square" tIns="32250">
            <a:noAutofit/>
          </a:bodyPr>
          <a:lstStyle/>
          <a:p>
            <a:pPr indent="0" lvl="0" marL="0" marR="0" rtl="0" algn="ctr">
              <a:spcBef>
                <a:spcPts val="0"/>
              </a:spcBef>
              <a:spcAft>
                <a:spcPts val="0"/>
              </a:spcAft>
              <a:buNone/>
            </a:pPr>
            <a:r>
              <a:t/>
            </a:r>
            <a:endParaRPr b="0" i="0" sz="1271" u="none" cap="none" strike="noStrike">
              <a:solidFill>
                <a:srgbClr val="000000"/>
              </a:solidFill>
              <a:latin typeface="Calibri"/>
              <a:ea typeface="Calibri"/>
              <a:cs typeface="Calibri"/>
              <a:sym typeface="Calibri"/>
            </a:endParaRPr>
          </a:p>
        </p:txBody>
      </p:sp>
      <p:sp>
        <p:nvSpPr>
          <p:cNvPr id="155" name="Google Shape;155;p9"/>
          <p:cNvSpPr/>
          <p:nvPr/>
        </p:nvSpPr>
        <p:spPr>
          <a:xfrm>
            <a:off x="8221316" y="4309869"/>
            <a:ext cx="1815600" cy="786600"/>
          </a:xfrm>
          <a:prstGeom prst="roundRect">
            <a:avLst>
              <a:gd fmla="val 10256" name="adj"/>
            </a:avLst>
          </a:prstGeom>
          <a:solidFill>
            <a:srgbClr val="F8FAFC"/>
          </a:solidFill>
          <a:ln cap="flat" cmpd="sng" w="6725">
            <a:solidFill>
              <a:srgbClr val="E2E8F0"/>
            </a:solidFill>
            <a:prstDash val="solid"/>
            <a:round/>
            <a:headEnd len="sm" w="sm" type="none"/>
            <a:tailEnd len="sm" w="sm" type="none"/>
          </a:ln>
        </p:spPr>
        <p:txBody>
          <a:bodyPr anchorCtr="0" anchor="ctr" bIns="32250" lIns="64550" spcFirstLastPara="1" rIns="64550" wrap="square" tIns="32250">
            <a:noAutofit/>
          </a:bodyPr>
          <a:lstStyle/>
          <a:p>
            <a:pPr indent="0" lvl="0" marL="0" marR="0" rtl="0" algn="ctr">
              <a:spcBef>
                <a:spcPts val="0"/>
              </a:spcBef>
              <a:spcAft>
                <a:spcPts val="0"/>
              </a:spcAft>
              <a:buNone/>
            </a:pPr>
            <a:r>
              <a:t/>
            </a:r>
            <a:endParaRPr b="0" i="0" sz="1271" u="none" cap="none" strike="noStrike">
              <a:solidFill>
                <a:srgbClr val="000000"/>
              </a:solidFill>
              <a:latin typeface="Calibri"/>
              <a:ea typeface="Calibri"/>
              <a:cs typeface="Calibri"/>
              <a:sym typeface="Calibri"/>
            </a:endParaRPr>
          </a:p>
        </p:txBody>
      </p:sp>
      <p:sp>
        <p:nvSpPr>
          <p:cNvPr id="156" name="Google Shape;156;p9"/>
          <p:cNvSpPr txBox="1"/>
          <p:nvPr/>
        </p:nvSpPr>
        <p:spPr>
          <a:xfrm>
            <a:off x="2274324" y="4477958"/>
            <a:ext cx="1849200" cy="326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118" u="none" cap="none" strike="noStrike">
                <a:solidFill>
                  <a:srgbClr val="0284C7"/>
                </a:solidFill>
                <a:latin typeface="Inter"/>
                <a:ea typeface="Inter"/>
                <a:cs typeface="Inter"/>
                <a:sym typeface="Inter"/>
              </a:rPr>
              <a:t>7,479</a:t>
            </a:r>
            <a:endParaRPr sz="988"/>
          </a:p>
        </p:txBody>
      </p:sp>
      <p:sp>
        <p:nvSpPr>
          <p:cNvPr id="157" name="Google Shape;157;p9"/>
          <p:cNvSpPr txBox="1"/>
          <p:nvPr/>
        </p:nvSpPr>
        <p:spPr>
          <a:xfrm>
            <a:off x="2274324" y="4800688"/>
            <a:ext cx="1849200" cy="122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94" u="none" cap="none" strike="noStrike">
                <a:solidFill>
                  <a:srgbClr val="64748B"/>
                </a:solidFill>
                <a:latin typeface="Inter"/>
                <a:ea typeface="Inter"/>
                <a:cs typeface="Inter"/>
                <a:sym typeface="Inter"/>
              </a:rPr>
              <a:t>Resolved Markets</a:t>
            </a:r>
            <a:endParaRPr sz="988"/>
          </a:p>
        </p:txBody>
      </p:sp>
      <p:sp>
        <p:nvSpPr>
          <p:cNvPr id="158" name="Google Shape;158;p9"/>
          <p:cNvSpPr txBox="1"/>
          <p:nvPr/>
        </p:nvSpPr>
        <p:spPr>
          <a:xfrm>
            <a:off x="4251051" y="4477958"/>
            <a:ext cx="1849200" cy="326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118" u="none" cap="none" strike="noStrike">
                <a:solidFill>
                  <a:srgbClr val="0284C7"/>
                </a:solidFill>
                <a:latin typeface="Inter"/>
                <a:ea typeface="Inter"/>
                <a:cs typeface="Inter"/>
                <a:sym typeface="Inter"/>
              </a:rPr>
              <a:t>4.1M</a:t>
            </a:r>
            <a:endParaRPr sz="988"/>
          </a:p>
        </p:txBody>
      </p:sp>
      <p:sp>
        <p:nvSpPr>
          <p:cNvPr id="159" name="Google Shape;159;p9"/>
          <p:cNvSpPr txBox="1"/>
          <p:nvPr/>
        </p:nvSpPr>
        <p:spPr>
          <a:xfrm>
            <a:off x="4251051" y="4800688"/>
            <a:ext cx="1849200" cy="122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94" u="none" cap="none" strike="noStrike">
                <a:solidFill>
                  <a:srgbClr val="64748B"/>
                </a:solidFill>
                <a:latin typeface="Inter"/>
                <a:ea typeface="Inter"/>
                <a:cs typeface="Inter"/>
                <a:sym typeface="Inter"/>
              </a:rPr>
              <a:t>Trade Records</a:t>
            </a:r>
            <a:endParaRPr sz="988"/>
          </a:p>
        </p:txBody>
      </p:sp>
      <p:sp>
        <p:nvSpPr>
          <p:cNvPr id="160" name="Google Shape;160;p9"/>
          <p:cNvSpPr txBox="1"/>
          <p:nvPr/>
        </p:nvSpPr>
        <p:spPr>
          <a:xfrm>
            <a:off x="6227779" y="4477958"/>
            <a:ext cx="1849200" cy="326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118" u="none" cap="none" strike="noStrike">
                <a:solidFill>
                  <a:srgbClr val="0284C7"/>
                </a:solidFill>
                <a:latin typeface="Inter"/>
                <a:ea typeface="Inter"/>
                <a:cs typeface="Inter"/>
                <a:sym typeface="Inter"/>
              </a:rPr>
              <a:t>4</a:t>
            </a:r>
            <a:endParaRPr sz="988"/>
          </a:p>
        </p:txBody>
      </p:sp>
      <p:sp>
        <p:nvSpPr>
          <p:cNvPr id="161" name="Google Shape;161;p9"/>
          <p:cNvSpPr txBox="1"/>
          <p:nvPr/>
        </p:nvSpPr>
        <p:spPr>
          <a:xfrm>
            <a:off x="6227779" y="4800688"/>
            <a:ext cx="1849200" cy="122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94" u="none" cap="none" strike="noStrike">
                <a:solidFill>
                  <a:srgbClr val="64748B"/>
                </a:solidFill>
                <a:latin typeface="Inter"/>
                <a:ea typeface="Inter"/>
                <a:cs typeface="Inter"/>
                <a:sym typeface="Inter"/>
              </a:rPr>
              <a:t>Horizons (6h, 24h, 3d, 7d)</a:t>
            </a:r>
            <a:endParaRPr sz="988"/>
          </a:p>
        </p:txBody>
      </p:sp>
      <p:sp>
        <p:nvSpPr>
          <p:cNvPr id="162" name="Google Shape;162;p9"/>
          <p:cNvSpPr txBox="1"/>
          <p:nvPr/>
        </p:nvSpPr>
        <p:spPr>
          <a:xfrm>
            <a:off x="8204506" y="4477958"/>
            <a:ext cx="1849200" cy="326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118" u="none" cap="none" strike="noStrike">
                <a:solidFill>
                  <a:srgbClr val="0284C7"/>
                </a:solidFill>
                <a:latin typeface="Inter"/>
                <a:ea typeface="Inter"/>
                <a:cs typeface="Inter"/>
                <a:sym typeface="Inter"/>
              </a:rPr>
              <a:t>0.92</a:t>
            </a:r>
            <a:endParaRPr sz="988"/>
          </a:p>
        </p:txBody>
      </p:sp>
      <p:sp>
        <p:nvSpPr>
          <p:cNvPr id="163" name="Google Shape;163;p9"/>
          <p:cNvSpPr txBox="1"/>
          <p:nvPr/>
        </p:nvSpPr>
        <p:spPr>
          <a:xfrm>
            <a:off x="8204506" y="4800688"/>
            <a:ext cx="1849200" cy="122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94" u="none" cap="none" strike="noStrike">
                <a:solidFill>
                  <a:srgbClr val="64748B"/>
                </a:solidFill>
                <a:latin typeface="Inter"/>
                <a:ea typeface="Inter"/>
                <a:cs typeface="Inter"/>
                <a:sym typeface="Inter"/>
              </a:rPr>
              <a:t>Order-Book Correlation</a:t>
            </a:r>
            <a:endParaRPr sz="988"/>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168" name="Shape 168"/>
        <p:cNvGrpSpPr/>
        <p:nvPr/>
      </p:nvGrpSpPr>
      <p:grpSpPr>
        <a:xfrm>
          <a:off x="0" y="0"/>
          <a:ext cx="0" cy="0"/>
          <a:chOff x="0" y="0"/>
          <a:chExt cx="0" cy="0"/>
        </a:xfrm>
      </p:grpSpPr>
      <p:sp>
        <p:nvSpPr>
          <p:cNvPr id="169" name="Google Shape;169;p10"/>
          <p:cNvSpPr/>
          <p:nvPr/>
        </p:nvSpPr>
        <p:spPr>
          <a:xfrm>
            <a:off x="812880" y="609480"/>
            <a:ext cx="10882800" cy="255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1300" u="none" strike="noStrike">
                <a:solidFill>
                  <a:srgbClr val="2DD4A0"/>
                </a:solidFill>
                <a:latin typeface="Inter"/>
                <a:ea typeface="Inter"/>
                <a:cs typeface="Inter"/>
                <a:sym typeface="Inter"/>
              </a:rPr>
              <a:t>MARKET · AARON</a:t>
            </a:r>
            <a:endParaRPr b="0" sz="1300" u="none" strike="noStrike">
              <a:solidFill>
                <a:srgbClr val="FFFFFF"/>
              </a:solidFill>
              <a:latin typeface="Arial"/>
              <a:ea typeface="Arial"/>
              <a:cs typeface="Arial"/>
              <a:sym typeface="Arial"/>
            </a:endParaRPr>
          </a:p>
        </p:txBody>
      </p:sp>
      <p:sp>
        <p:nvSpPr>
          <p:cNvPr id="170" name="Google Shape;170;p10"/>
          <p:cNvSpPr txBox="1"/>
          <p:nvPr>
            <p:ph type="title"/>
          </p:nvPr>
        </p:nvSpPr>
        <p:spPr>
          <a:xfrm>
            <a:off x="812880" y="1018440"/>
            <a:ext cx="10882800" cy="471600"/>
          </a:xfrm>
          <a:prstGeom prst="rect">
            <a:avLst/>
          </a:prstGeom>
          <a:noFill/>
          <a:ln>
            <a:noFill/>
          </a:ln>
        </p:spPr>
        <p:txBody>
          <a:bodyPr anchorCtr="0" anchor="t" bIns="0" lIns="0" spcFirstLastPara="1" rIns="0" wrap="square" tIns="0">
            <a:normAutofit/>
          </a:bodyPr>
          <a:lstStyle/>
          <a:p>
            <a:pPr indent="0" lvl="0" marL="0" rtl="0" algn="l">
              <a:lnSpc>
                <a:spcPct val="110031"/>
              </a:lnSpc>
              <a:spcBef>
                <a:spcPts val="0"/>
              </a:spcBef>
              <a:spcAft>
                <a:spcPts val="0"/>
              </a:spcAft>
              <a:buClr>
                <a:srgbClr val="E8EEF8"/>
              </a:buClr>
              <a:buSzPts val="3200"/>
              <a:buFont typeface="Space Grotesk"/>
              <a:buNone/>
            </a:pPr>
            <a:r>
              <a:rPr b="1" lang="en-US" sz="3200" u="none" strike="noStrike">
                <a:solidFill>
                  <a:srgbClr val="E8EEF8"/>
                </a:solidFill>
                <a:latin typeface="Space Grotesk"/>
                <a:ea typeface="Space Grotesk"/>
                <a:cs typeface="Space Grotesk"/>
                <a:sym typeface="Space Grotesk"/>
              </a:rPr>
              <a:t>Calibration: the crowd is well calibrated</a:t>
            </a:r>
            <a:endParaRPr b="0" sz="3200" u="none" strike="noStrike">
              <a:solidFill>
                <a:schemeClr val="lt1"/>
              </a:solidFill>
              <a:latin typeface="Inter"/>
              <a:ea typeface="Inter"/>
              <a:cs typeface="Inter"/>
              <a:sym typeface="Inter"/>
            </a:endParaRPr>
          </a:p>
        </p:txBody>
      </p:sp>
      <p:sp>
        <p:nvSpPr>
          <p:cNvPr id="171" name="Google Shape;171;p10"/>
          <p:cNvSpPr/>
          <p:nvPr/>
        </p:nvSpPr>
        <p:spPr>
          <a:xfrm>
            <a:off x="812880" y="1643040"/>
            <a:ext cx="3580560" cy="3948840"/>
          </a:xfrm>
          <a:prstGeom prst="roundRect">
            <a:avLst>
              <a:gd fmla="val 2837" name="adj"/>
            </a:avLst>
          </a:prstGeom>
          <a:solidFill>
            <a:srgbClr val="FDFDFB"/>
          </a:solid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pic>
        <p:nvPicPr>
          <p:cNvPr descr="chart" id="172" name="Google Shape;172;p10"/>
          <p:cNvPicPr preferRelativeResize="0"/>
          <p:nvPr/>
        </p:nvPicPr>
        <p:blipFill rotWithShape="1">
          <a:blip r:embed="rId3">
            <a:alphaModFix/>
          </a:blip>
          <a:srcRect b="-38" l="0" r="0" t="-38"/>
          <a:stretch/>
        </p:blipFill>
        <p:spPr>
          <a:xfrm>
            <a:off x="888840" y="1719360"/>
            <a:ext cx="3428280" cy="3796560"/>
          </a:xfrm>
          <a:prstGeom prst="rect">
            <a:avLst/>
          </a:prstGeom>
          <a:noFill/>
          <a:ln>
            <a:noFill/>
          </a:ln>
        </p:spPr>
      </p:pic>
      <p:sp>
        <p:nvSpPr>
          <p:cNvPr id="173" name="Google Shape;173;p10"/>
          <p:cNvSpPr/>
          <p:nvPr/>
        </p:nvSpPr>
        <p:spPr>
          <a:xfrm>
            <a:off x="4597200" y="1643040"/>
            <a:ext cx="6781320" cy="2475720"/>
          </a:xfrm>
          <a:prstGeom prst="roundRect">
            <a:avLst>
              <a:gd fmla="val 4103" name="adj"/>
            </a:avLst>
          </a:prstGeom>
          <a:solidFill>
            <a:srgbClr val="FDFDFB"/>
          </a:solid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pic>
        <p:nvPicPr>
          <p:cNvPr descr="chart" id="174" name="Google Shape;174;p10"/>
          <p:cNvPicPr preferRelativeResize="0"/>
          <p:nvPr/>
        </p:nvPicPr>
        <p:blipFill rotWithShape="1">
          <a:blip r:embed="rId4">
            <a:alphaModFix/>
          </a:blip>
          <a:srcRect b="0" l="-39" r="-39" t="0"/>
          <a:stretch/>
        </p:blipFill>
        <p:spPr>
          <a:xfrm>
            <a:off x="4673160" y="1719360"/>
            <a:ext cx="6539760" cy="2323440"/>
          </a:xfrm>
          <a:prstGeom prst="rect">
            <a:avLst/>
          </a:prstGeom>
          <a:noFill/>
          <a:ln>
            <a:noFill/>
          </a:ln>
        </p:spPr>
      </p:pic>
      <p:sp>
        <p:nvSpPr>
          <p:cNvPr id="175" name="Google Shape;175;p10"/>
          <p:cNvSpPr/>
          <p:nvPr/>
        </p:nvSpPr>
        <p:spPr>
          <a:xfrm>
            <a:off x="812880" y="6238440"/>
            <a:ext cx="9810000" cy="237960"/>
          </a:xfrm>
          <a:prstGeom prst="rect">
            <a:avLst/>
          </a:prstGeom>
          <a:noFill/>
          <a:ln>
            <a:noFill/>
          </a:ln>
        </p:spPr>
        <p:txBody>
          <a:bodyPr anchorCtr="0" anchor="t" bIns="0" lIns="0" spcFirstLastPara="1" rIns="0" wrap="square" tIns="0">
            <a:noAutofit/>
          </a:bodyPr>
          <a:lstStyle/>
          <a:p>
            <a:pPr indent="0" lvl="0" marL="0" marR="0" rtl="0" algn="l">
              <a:lnSpc>
                <a:spcPct val="140083"/>
              </a:lnSpc>
              <a:spcBef>
                <a:spcPts val="0"/>
              </a:spcBef>
              <a:spcAft>
                <a:spcPts val="0"/>
              </a:spcAft>
              <a:buNone/>
            </a:pPr>
            <a:r>
              <a:rPr b="0" lang="en-US" sz="1200" u="none" strike="noStrike">
                <a:solidFill>
                  <a:srgbClr val="9DB0CC"/>
                </a:solidFill>
                <a:latin typeface="Inter"/>
                <a:ea typeface="Inter"/>
                <a:cs typeface="Inter"/>
                <a:sym typeface="Inter"/>
              </a:rPr>
              <a:t>Market part · Slide 3 of 7 · About 1:00 · 5,805 markets, 24h before close</a:t>
            </a:r>
            <a:endParaRPr b="0" sz="1200" u="none" strike="noStrike">
              <a:solidFill>
                <a:srgbClr val="FFFFFF"/>
              </a:solidFill>
              <a:latin typeface="Arial"/>
              <a:ea typeface="Arial"/>
              <a:cs typeface="Arial"/>
              <a:sym typeface="Arial"/>
            </a:endParaRPr>
          </a:p>
        </p:txBody>
      </p:sp>
      <p:sp>
        <p:nvSpPr>
          <p:cNvPr id="176" name="Google Shape;176;p10"/>
          <p:cNvSpPr/>
          <p:nvPr/>
        </p:nvSpPr>
        <p:spPr>
          <a:xfrm>
            <a:off x="4673150" y="4202450"/>
            <a:ext cx="6705300" cy="1594200"/>
          </a:xfrm>
          <a:prstGeom prst="roundRect">
            <a:avLst>
              <a:gd fmla="val 5277"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8FAFC"/>
              </a:solidFill>
              <a:latin typeface="Calibri"/>
              <a:ea typeface="Calibri"/>
              <a:cs typeface="Calibri"/>
              <a:sym typeface="Calibri"/>
            </a:endParaRPr>
          </a:p>
        </p:txBody>
      </p:sp>
      <p:sp>
        <p:nvSpPr>
          <p:cNvPr id="177" name="Google Shape;177;p10"/>
          <p:cNvSpPr txBox="1"/>
          <p:nvPr/>
        </p:nvSpPr>
        <p:spPr>
          <a:xfrm>
            <a:off x="4982195" y="4398782"/>
            <a:ext cx="5912700" cy="150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75" u="none" cap="none" strike="noStrike">
                <a:solidFill>
                  <a:srgbClr val="38BDF8"/>
                </a:solidFill>
                <a:latin typeface="JetBrains Mono"/>
                <a:ea typeface="JetBrains Mono"/>
                <a:cs typeface="JetBrains Mono"/>
                <a:sym typeface="JetBrains Mono"/>
              </a:rPr>
              <a:t>CORE FINDING</a:t>
            </a:r>
            <a:endParaRPr/>
          </a:p>
        </p:txBody>
      </p:sp>
      <p:sp>
        <p:nvSpPr>
          <p:cNvPr id="178" name="Google Shape;178;p10"/>
          <p:cNvSpPr txBox="1"/>
          <p:nvPr/>
        </p:nvSpPr>
        <p:spPr>
          <a:xfrm>
            <a:off x="4982195" y="4574078"/>
            <a:ext cx="5082300" cy="277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1800" u="none" cap="none" strike="noStrike">
                <a:solidFill>
                  <a:srgbClr val="FFFFFF"/>
                </a:solidFill>
                <a:latin typeface="Inter"/>
                <a:ea typeface="Inter"/>
                <a:cs typeface="Inter"/>
                <a:sym typeface="Inter"/>
              </a:rPr>
              <a:t>Near-Perfect Alignment Across Topics</a:t>
            </a:r>
            <a:endParaRPr/>
          </a:p>
        </p:txBody>
      </p:sp>
      <p:sp>
        <p:nvSpPr>
          <p:cNvPr id="179" name="Google Shape;179;p10"/>
          <p:cNvSpPr/>
          <p:nvPr/>
        </p:nvSpPr>
        <p:spPr>
          <a:xfrm>
            <a:off x="4982200" y="4996025"/>
            <a:ext cx="6320700" cy="519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lang="en-US" sz="1500" u="none" strike="noStrike">
                <a:solidFill>
                  <a:srgbClr val="E8EEF8"/>
                </a:solidFill>
                <a:latin typeface="Inter"/>
                <a:ea typeface="Inter"/>
                <a:cs typeface="Inter"/>
                <a:sym typeface="Inter"/>
              </a:rPr>
              <a:t>When the market says 30%, it happens about 30% of the time. The same holds in each category.</a:t>
            </a:r>
            <a:endParaRPr b="0" sz="1500" u="none" strike="noStrike">
              <a:solidFill>
                <a:srgbClr val="FFFFFF"/>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184" name="Shape 184"/>
        <p:cNvGrpSpPr/>
        <p:nvPr/>
      </p:nvGrpSpPr>
      <p:grpSpPr>
        <a:xfrm>
          <a:off x="0" y="0"/>
          <a:ext cx="0" cy="0"/>
          <a:chOff x="0" y="0"/>
          <a:chExt cx="0" cy="0"/>
        </a:xfrm>
      </p:grpSpPr>
      <p:sp>
        <p:nvSpPr>
          <p:cNvPr id="185" name="Google Shape;185;p11"/>
          <p:cNvSpPr/>
          <p:nvPr/>
        </p:nvSpPr>
        <p:spPr>
          <a:xfrm>
            <a:off x="812880" y="609480"/>
            <a:ext cx="10882800" cy="255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1300" u="none" strike="noStrike">
                <a:solidFill>
                  <a:srgbClr val="2DD4A0"/>
                </a:solidFill>
                <a:latin typeface="Inter"/>
                <a:ea typeface="Inter"/>
                <a:cs typeface="Inter"/>
                <a:sym typeface="Inter"/>
              </a:rPr>
              <a:t>MARKET · AARON</a:t>
            </a:r>
            <a:endParaRPr b="0" sz="1300" u="none" strike="noStrike">
              <a:solidFill>
                <a:srgbClr val="FFFFFF"/>
              </a:solidFill>
              <a:latin typeface="Arial"/>
              <a:ea typeface="Arial"/>
              <a:cs typeface="Arial"/>
              <a:sym typeface="Arial"/>
            </a:endParaRPr>
          </a:p>
        </p:txBody>
      </p:sp>
      <p:sp>
        <p:nvSpPr>
          <p:cNvPr id="186" name="Google Shape;186;p11"/>
          <p:cNvSpPr txBox="1"/>
          <p:nvPr>
            <p:ph type="title"/>
          </p:nvPr>
        </p:nvSpPr>
        <p:spPr>
          <a:xfrm>
            <a:off x="812880" y="1018440"/>
            <a:ext cx="10882800" cy="471600"/>
          </a:xfrm>
          <a:prstGeom prst="rect">
            <a:avLst/>
          </a:prstGeom>
          <a:noFill/>
          <a:ln>
            <a:noFill/>
          </a:ln>
        </p:spPr>
        <p:txBody>
          <a:bodyPr anchorCtr="0" anchor="t" bIns="0" lIns="0" spcFirstLastPara="1" rIns="0" wrap="square" tIns="0">
            <a:normAutofit/>
          </a:bodyPr>
          <a:lstStyle/>
          <a:p>
            <a:pPr indent="0" lvl="0" marL="0" rtl="0" algn="l">
              <a:lnSpc>
                <a:spcPct val="110031"/>
              </a:lnSpc>
              <a:spcBef>
                <a:spcPts val="0"/>
              </a:spcBef>
              <a:spcAft>
                <a:spcPts val="0"/>
              </a:spcAft>
              <a:buClr>
                <a:srgbClr val="E8EEF8"/>
              </a:buClr>
              <a:buSzPts val="3200"/>
              <a:buFont typeface="Space Grotesk"/>
              <a:buNone/>
            </a:pPr>
            <a:r>
              <a:rPr b="1" lang="en-US" sz="3200" u="none" strike="noStrike">
                <a:solidFill>
                  <a:srgbClr val="E8EEF8"/>
                </a:solidFill>
                <a:latin typeface="Space Grotesk"/>
                <a:ea typeface="Space Grotesk"/>
                <a:cs typeface="Space Grotesk"/>
                <a:sym typeface="Space Grotesk"/>
              </a:rPr>
              <a:t>Favorite-longshot bias</a:t>
            </a:r>
            <a:endParaRPr b="0" sz="3200" u="none" strike="noStrike">
              <a:solidFill>
                <a:schemeClr val="lt1"/>
              </a:solidFill>
              <a:latin typeface="Inter"/>
              <a:ea typeface="Inter"/>
              <a:cs typeface="Inter"/>
              <a:sym typeface="Inter"/>
            </a:endParaRPr>
          </a:p>
        </p:txBody>
      </p:sp>
      <p:sp>
        <p:nvSpPr>
          <p:cNvPr id="187" name="Google Shape;187;p11"/>
          <p:cNvSpPr/>
          <p:nvPr/>
        </p:nvSpPr>
        <p:spPr>
          <a:xfrm>
            <a:off x="812880" y="1643040"/>
            <a:ext cx="5993640" cy="4192200"/>
          </a:xfrm>
          <a:prstGeom prst="roundRect">
            <a:avLst>
              <a:gd fmla="val 2423" name="adj"/>
            </a:avLst>
          </a:prstGeom>
          <a:solidFill>
            <a:srgbClr val="FDFDFB"/>
          </a:solid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pic>
        <p:nvPicPr>
          <p:cNvPr descr="chart" id="188" name="Google Shape;188;p11"/>
          <p:cNvPicPr preferRelativeResize="0"/>
          <p:nvPr/>
        </p:nvPicPr>
        <p:blipFill rotWithShape="1">
          <a:blip r:embed="rId3">
            <a:alphaModFix/>
          </a:blip>
          <a:srcRect b="-10" l="0" r="0" t="-10"/>
          <a:stretch/>
        </p:blipFill>
        <p:spPr>
          <a:xfrm>
            <a:off x="888840" y="1719360"/>
            <a:ext cx="5841360" cy="3955320"/>
          </a:xfrm>
          <a:prstGeom prst="rect">
            <a:avLst/>
          </a:prstGeom>
          <a:noFill/>
          <a:ln>
            <a:noFill/>
          </a:ln>
        </p:spPr>
      </p:pic>
      <p:sp>
        <p:nvSpPr>
          <p:cNvPr id="189" name="Google Shape;189;p11"/>
          <p:cNvSpPr/>
          <p:nvPr/>
        </p:nvSpPr>
        <p:spPr>
          <a:xfrm>
            <a:off x="7013520" y="1646280"/>
            <a:ext cx="4362120" cy="1305720"/>
          </a:xfrm>
          <a:prstGeom prst="roundRect">
            <a:avLst>
              <a:gd fmla="val 7533"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90" name="Google Shape;190;p11"/>
          <p:cNvSpPr/>
          <p:nvPr/>
        </p:nvSpPr>
        <p:spPr>
          <a:xfrm>
            <a:off x="7221240" y="1854000"/>
            <a:ext cx="4064760" cy="444960"/>
          </a:xfrm>
          <a:prstGeom prst="rect">
            <a:avLst/>
          </a:prstGeom>
          <a:noFill/>
          <a:ln>
            <a:noFill/>
          </a:ln>
        </p:spPr>
        <p:txBody>
          <a:bodyPr anchorCtr="0" anchor="t" bIns="0" lIns="0" spcFirstLastPara="1" rIns="0" wrap="square" tIns="0">
            <a:noAutofit/>
          </a:bodyPr>
          <a:lstStyle/>
          <a:p>
            <a:pPr indent="0" lvl="0" marL="0" marR="0" rtl="0" algn="l">
              <a:lnSpc>
                <a:spcPct val="99969"/>
              </a:lnSpc>
              <a:spcBef>
                <a:spcPts val="0"/>
              </a:spcBef>
              <a:spcAft>
                <a:spcPts val="0"/>
              </a:spcAft>
              <a:buNone/>
            </a:pPr>
            <a:r>
              <a:rPr b="1" lang="en-US" sz="3320" u="none" strike="noStrike">
                <a:solidFill>
                  <a:srgbClr val="F5A524"/>
                </a:solidFill>
                <a:latin typeface="Space Grotesk"/>
                <a:ea typeface="Space Grotesk"/>
                <a:cs typeface="Space Grotesk"/>
                <a:sym typeface="Space Grotesk"/>
              </a:rPr>
              <a:t>1.08</a:t>
            </a:r>
            <a:endParaRPr b="0" sz="3320" u="none" strike="noStrike">
              <a:solidFill>
                <a:srgbClr val="FFFFFF"/>
              </a:solidFill>
              <a:latin typeface="Arial"/>
              <a:ea typeface="Arial"/>
              <a:cs typeface="Arial"/>
              <a:sym typeface="Arial"/>
            </a:endParaRPr>
          </a:p>
        </p:txBody>
      </p:sp>
      <p:sp>
        <p:nvSpPr>
          <p:cNvPr id="191" name="Google Shape;191;p11"/>
          <p:cNvSpPr/>
          <p:nvPr/>
        </p:nvSpPr>
        <p:spPr>
          <a:xfrm>
            <a:off x="7221240" y="2350440"/>
            <a:ext cx="4150800" cy="419040"/>
          </a:xfrm>
          <a:prstGeom prst="rect">
            <a:avLst/>
          </a:prstGeom>
          <a:noFill/>
          <a:ln>
            <a:noFill/>
          </a:ln>
        </p:spPr>
        <p:txBody>
          <a:bodyPr anchorCtr="0" anchor="t" bIns="0" lIns="0" spcFirstLastPara="1" rIns="0" wrap="square" tIns="0">
            <a:noAutofit/>
          </a:bodyPr>
          <a:lstStyle/>
          <a:p>
            <a:pPr indent="0" lvl="0" marL="0" marR="0" rtl="0" algn="l">
              <a:lnSpc>
                <a:spcPct val="130725"/>
              </a:lnSpc>
              <a:spcBef>
                <a:spcPts val="0"/>
              </a:spcBef>
              <a:spcAft>
                <a:spcPts val="0"/>
              </a:spcAft>
              <a:buNone/>
            </a:pPr>
            <a:r>
              <a:rPr b="0" lang="en-US" sz="1240" u="none" strike="noStrike">
                <a:solidFill>
                  <a:srgbClr val="9DB0CC"/>
                </a:solidFill>
                <a:latin typeface="Inter"/>
                <a:ea typeface="Inter"/>
                <a:cs typeface="Inter"/>
                <a:sym typeface="Inter"/>
              </a:rPr>
              <a:t>calibration slope at 6h, all prices (95% CI 1.01 to 1.16)</a:t>
            </a:r>
            <a:endParaRPr b="0" sz="1240" u="none" strike="noStrike">
              <a:solidFill>
                <a:srgbClr val="FFFFFF"/>
              </a:solidFill>
              <a:latin typeface="Arial"/>
              <a:ea typeface="Arial"/>
              <a:cs typeface="Arial"/>
              <a:sym typeface="Arial"/>
            </a:endParaRPr>
          </a:p>
        </p:txBody>
      </p:sp>
      <p:sp>
        <p:nvSpPr>
          <p:cNvPr id="192" name="Google Shape;192;p11"/>
          <p:cNvSpPr/>
          <p:nvPr/>
        </p:nvSpPr>
        <p:spPr>
          <a:xfrm>
            <a:off x="7013520" y="3086280"/>
            <a:ext cx="4362120" cy="1306080"/>
          </a:xfrm>
          <a:prstGeom prst="roundRect">
            <a:avLst>
              <a:gd fmla="val 7532"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93" name="Google Shape;193;p11"/>
          <p:cNvSpPr/>
          <p:nvPr/>
        </p:nvSpPr>
        <p:spPr>
          <a:xfrm>
            <a:off x="7221240" y="3294000"/>
            <a:ext cx="4064760" cy="444960"/>
          </a:xfrm>
          <a:prstGeom prst="rect">
            <a:avLst/>
          </a:prstGeom>
          <a:noFill/>
          <a:ln>
            <a:noFill/>
          </a:ln>
        </p:spPr>
        <p:txBody>
          <a:bodyPr anchorCtr="0" anchor="t" bIns="0" lIns="0" spcFirstLastPara="1" rIns="0" wrap="square" tIns="0">
            <a:noAutofit/>
          </a:bodyPr>
          <a:lstStyle/>
          <a:p>
            <a:pPr indent="0" lvl="0" marL="0" marR="0" rtl="0" algn="l">
              <a:lnSpc>
                <a:spcPct val="99969"/>
              </a:lnSpc>
              <a:spcBef>
                <a:spcPts val="0"/>
              </a:spcBef>
              <a:spcAft>
                <a:spcPts val="0"/>
              </a:spcAft>
              <a:buNone/>
            </a:pPr>
            <a:r>
              <a:rPr b="1" lang="en-US" sz="3320" u="none" strike="noStrike">
                <a:solidFill>
                  <a:srgbClr val="2DD4A0"/>
                </a:solidFill>
                <a:latin typeface="Space Grotesk"/>
                <a:ea typeface="Space Grotesk"/>
                <a:cs typeface="Space Grotesk"/>
                <a:sym typeface="Space Grotesk"/>
              </a:rPr>
              <a:t>1.00 </a:t>
            </a:r>
            <a:r>
              <a:rPr b="1" lang="en-US" sz="1200">
                <a:solidFill>
                  <a:srgbClr val="16A34A"/>
                </a:solidFill>
                <a:latin typeface="Inter"/>
                <a:ea typeface="Inter"/>
                <a:cs typeface="Inter"/>
                <a:sym typeface="Inter"/>
              </a:rPr>
              <a:t>Trimmed Slope (&lt;2¢ / &gt;98¢)</a:t>
            </a:r>
            <a:endParaRPr b="0" sz="3320" u="none" strike="noStrike">
              <a:solidFill>
                <a:srgbClr val="FFFFFF"/>
              </a:solidFill>
              <a:latin typeface="Arial"/>
              <a:ea typeface="Arial"/>
              <a:cs typeface="Arial"/>
              <a:sym typeface="Arial"/>
            </a:endParaRPr>
          </a:p>
        </p:txBody>
      </p:sp>
      <p:sp>
        <p:nvSpPr>
          <p:cNvPr id="194" name="Google Shape;194;p11"/>
          <p:cNvSpPr/>
          <p:nvPr/>
        </p:nvSpPr>
        <p:spPr>
          <a:xfrm>
            <a:off x="7221240" y="3790440"/>
            <a:ext cx="4150800" cy="419040"/>
          </a:xfrm>
          <a:prstGeom prst="rect">
            <a:avLst/>
          </a:prstGeom>
          <a:noFill/>
          <a:ln>
            <a:noFill/>
          </a:ln>
        </p:spPr>
        <p:txBody>
          <a:bodyPr anchorCtr="0" anchor="t" bIns="0" lIns="0" spcFirstLastPara="1" rIns="0" wrap="square" tIns="0">
            <a:noAutofit/>
          </a:bodyPr>
          <a:lstStyle/>
          <a:p>
            <a:pPr indent="0" lvl="0" marL="0" marR="0" rtl="0" algn="l">
              <a:lnSpc>
                <a:spcPct val="130833"/>
              </a:lnSpc>
              <a:spcBef>
                <a:spcPts val="0"/>
              </a:spcBef>
              <a:spcAft>
                <a:spcPts val="0"/>
              </a:spcAft>
              <a:buNone/>
            </a:pPr>
            <a:r>
              <a:rPr b="0" lang="en-US" sz="1200" u="none" strike="noStrike">
                <a:solidFill>
                  <a:srgbClr val="9DB0CC"/>
                </a:solidFill>
                <a:latin typeface="Inter"/>
                <a:ea typeface="Inter"/>
                <a:cs typeface="Inter"/>
                <a:sym typeface="Inter"/>
              </a:rPr>
              <a:t>slope when prices under 2¢ and over 98¢ are dropped</a:t>
            </a:r>
            <a:endParaRPr b="0" sz="1200" u="none" strike="noStrike">
              <a:solidFill>
                <a:srgbClr val="FFFFFF"/>
              </a:solidFill>
              <a:latin typeface="Arial"/>
              <a:ea typeface="Arial"/>
              <a:cs typeface="Arial"/>
              <a:sym typeface="Arial"/>
            </a:endParaRPr>
          </a:p>
        </p:txBody>
      </p:sp>
      <p:sp>
        <p:nvSpPr>
          <p:cNvPr id="195" name="Google Shape;195;p11"/>
          <p:cNvSpPr/>
          <p:nvPr/>
        </p:nvSpPr>
        <p:spPr>
          <a:xfrm>
            <a:off x="7013520" y="4526280"/>
            <a:ext cx="4362120" cy="1306080"/>
          </a:xfrm>
          <a:prstGeom prst="roundRect">
            <a:avLst>
              <a:gd fmla="val 7532"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96" name="Google Shape;196;p11"/>
          <p:cNvSpPr/>
          <p:nvPr/>
        </p:nvSpPr>
        <p:spPr>
          <a:xfrm>
            <a:off x="7221240" y="4634225"/>
            <a:ext cx="4064700" cy="481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600" u="none" strike="noStrike">
                <a:solidFill>
                  <a:srgbClr val="4C8DFF"/>
                </a:solidFill>
                <a:latin typeface="Space Grotesk"/>
                <a:ea typeface="Space Grotesk"/>
                <a:cs typeface="Space Grotesk"/>
                <a:sym typeface="Space Grotesk"/>
              </a:rPr>
              <a:t>0.93 to 1.09</a:t>
            </a:r>
            <a:endParaRPr b="0" sz="3600" u="none" strike="noStrike">
              <a:solidFill>
                <a:srgbClr val="FFFFFF"/>
              </a:solidFill>
              <a:latin typeface="Arial"/>
              <a:ea typeface="Arial"/>
              <a:cs typeface="Arial"/>
              <a:sym typeface="Arial"/>
            </a:endParaRPr>
          </a:p>
        </p:txBody>
      </p:sp>
      <p:sp>
        <p:nvSpPr>
          <p:cNvPr id="197" name="Google Shape;197;p11"/>
          <p:cNvSpPr/>
          <p:nvPr/>
        </p:nvSpPr>
        <p:spPr>
          <a:xfrm>
            <a:off x="7221240" y="5435270"/>
            <a:ext cx="4064700" cy="239400"/>
          </a:xfrm>
          <a:prstGeom prst="rect">
            <a:avLst/>
          </a:prstGeom>
          <a:noFill/>
          <a:ln>
            <a:noFill/>
          </a:ln>
        </p:spPr>
        <p:txBody>
          <a:bodyPr anchorCtr="0" anchor="t" bIns="0" lIns="0" spcFirstLastPara="1" rIns="0" wrap="square" tIns="0">
            <a:noAutofit/>
          </a:bodyPr>
          <a:lstStyle/>
          <a:p>
            <a:pPr indent="0" lvl="0" marL="0" marR="0" rtl="0" algn="l">
              <a:lnSpc>
                <a:spcPct val="129923"/>
              </a:lnSpc>
              <a:spcBef>
                <a:spcPts val="0"/>
              </a:spcBef>
              <a:spcAft>
                <a:spcPts val="0"/>
              </a:spcAft>
              <a:buNone/>
            </a:pPr>
            <a:r>
              <a:rPr b="0" lang="en-US" sz="1300" u="none" strike="noStrike">
                <a:solidFill>
                  <a:srgbClr val="9DB0CC"/>
                </a:solidFill>
                <a:latin typeface="Inter"/>
                <a:ea typeface="Inter"/>
                <a:cs typeface="Inter"/>
                <a:sym typeface="Inter"/>
              </a:rPr>
              <a:t>monthly slope at 24h; every interval crosses 1</a:t>
            </a:r>
            <a:endParaRPr b="0" sz="1300" u="none" strike="noStrike">
              <a:solidFill>
                <a:srgbClr val="FFFFFF"/>
              </a:solidFill>
              <a:latin typeface="Arial"/>
              <a:ea typeface="Arial"/>
              <a:cs typeface="Arial"/>
              <a:sym typeface="Arial"/>
            </a:endParaRPr>
          </a:p>
        </p:txBody>
      </p:sp>
      <p:sp>
        <p:nvSpPr>
          <p:cNvPr id="198" name="Google Shape;198;p11"/>
          <p:cNvSpPr/>
          <p:nvPr/>
        </p:nvSpPr>
        <p:spPr>
          <a:xfrm>
            <a:off x="812880" y="6238440"/>
            <a:ext cx="9810000" cy="237960"/>
          </a:xfrm>
          <a:prstGeom prst="rect">
            <a:avLst/>
          </a:prstGeom>
          <a:noFill/>
          <a:ln>
            <a:noFill/>
          </a:ln>
        </p:spPr>
        <p:txBody>
          <a:bodyPr anchorCtr="0" anchor="t" bIns="0" lIns="0" spcFirstLastPara="1" rIns="0" wrap="square" tIns="0">
            <a:noAutofit/>
          </a:bodyPr>
          <a:lstStyle/>
          <a:p>
            <a:pPr indent="0" lvl="0" marL="0" marR="0" rtl="0" algn="l">
              <a:lnSpc>
                <a:spcPct val="140083"/>
              </a:lnSpc>
              <a:spcBef>
                <a:spcPts val="0"/>
              </a:spcBef>
              <a:spcAft>
                <a:spcPts val="0"/>
              </a:spcAft>
              <a:buNone/>
            </a:pPr>
            <a:r>
              <a:rPr b="0" lang="en-US" sz="1200" u="none" strike="noStrike">
                <a:solidFill>
                  <a:srgbClr val="9DB0CC"/>
                </a:solidFill>
                <a:latin typeface="Inter"/>
                <a:ea typeface="Inter"/>
                <a:cs typeface="Inter"/>
                <a:sym typeface="Inter"/>
              </a:rPr>
              <a:t>Market part · Slide 4 of 7 · About 1:15</a:t>
            </a:r>
            <a:endParaRPr b="0" sz="1200" u="none" strike="noStrike">
              <a:solidFill>
                <a:srgbClr val="FFFFFF"/>
              </a:solidFill>
              <a:latin typeface="Arial"/>
              <a:ea typeface="Arial"/>
              <a:cs typeface="Arial"/>
              <a:sym typeface="Arial"/>
            </a:endParaRPr>
          </a:p>
        </p:txBody>
      </p:sp>
      <p:sp>
        <p:nvSpPr>
          <p:cNvPr id="199" name="Google Shape;199;p11"/>
          <p:cNvSpPr txBox="1"/>
          <p:nvPr/>
        </p:nvSpPr>
        <p:spPr>
          <a:xfrm>
            <a:off x="8198675" y="2114162"/>
            <a:ext cx="38754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284C7"/>
                </a:solidFill>
                <a:latin typeface="Inter"/>
                <a:ea typeface="Inter"/>
                <a:cs typeface="Inter"/>
                <a:sym typeface="Inter"/>
              </a:rPr>
              <a:t>Raw Calibration Slope</a:t>
            </a:r>
            <a:endParaRPr/>
          </a:p>
        </p:txBody>
      </p:sp>
      <p:sp>
        <p:nvSpPr>
          <p:cNvPr id="200" name="Google Shape;200;p11"/>
          <p:cNvSpPr txBox="1"/>
          <p:nvPr/>
        </p:nvSpPr>
        <p:spPr>
          <a:xfrm>
            <a:off x="7221250" y="5183250"/>
            <a:ext cx="38385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284C7"/>
                </a:solidFill>
                <a:latin typeface="Inter"/>
                <a:ea typeface="Inter"/>
                <a:cs typeface="Inter"/>
                <a:sym typeface="Inter"/>
              </a:rPr>
              <a:t>Monthly Slope Range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205" name="Shape 205"/>
        <p:cNvGrpSpPr/>
        <p:nvPr/>
      </p:nvGrpSpPr>
      <p:grpSpPr>
        <a:xfrm>
          <a:off x="0" y="0"/>
          <a:ext cx="0" cy="0"/>
          <a:chOff x="0" y="0"/>
          <a:chExt cx="0" cy="0"/>
        </a:xfrm>
      </p:grpSpPr>
      <p:sp>
        <p:nvSpPr>
          <p:cNvPr id="206" name="Google Shape;206;p12"/>
          <p:cNvSpPr/>
          <p:nvPr/>
        </p:nvSpPr>
        <p:spPr>
          <a:xfrm>
            <a:off x="812880" y="609480"/>
            <a:ext cx="10882800" cy="255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1300" u="none" strike="noStrike">
                <a:solidFill>
                  <a:srgbClr val="2DD4A0"/>
                </a:solidFill>
                <a:latin typeface="Inter"/>
                <a:ea typeface="Inter"/>
                <a:cs typeface="Inter"/>
                <a:sym typeface="Inter"/>
              </a:rPr>
              <a:t>MARKET · AARON</a:t>
            </a:r>
            <a:endParaRPr b="0" sz="1300" u="none" strike="noStrike">
              <a:solidFill>
                <a:srgbClr val="FFFFFF"/>
              </a:solidFill>
              <a:latin typeface="Arial"/>
              <a:ea typeface="Arial"/>
              <a:cs typeface="Arial"/>
              <a:sym typeface="Arial"/>
            </a:endParaRPr>
          </a:p>
        </p:txBody>
      </p:sp>
      <p:sp>
        <p:nvSpPr>
          <p:cNvPr id="207" name="Google Shape;207;p12"/>
          <p:cNvSpPr txBox="1"/>
          <p:nvPr>
            <p:ph type="title"/>
          </p:nvPr>
        </p:nvSpPr>
        <p:spPr>
          <a:xfrm>
            <a:off x="812880" y="1018440"/>
            <a:ext cx="10882800" cy="471600"/>
          </a:xfrm>
          <a:prstGeom prst="rect">
            <a:avLst/>
          </a:prstGeom>
          <a:noFill/>
          <a:ln>
            <a:noFill/>
          </a:ln>
        </p:spPr>
        <p:txBody>
          <a:bodyPr anchorCtr="0" anchor="t" bIns="0" lIns="0" spcFirstLastPara="1" rIns="0" wrap="square" tIns="0">
            <a:normAutofit/>
          </a:bodyPr>
          <a:lstStyle/>
          <a:p>
            <a:pPr indent="0" lvl="0" marL="0" rtl="0" algn="l">
              <a:lnSpc>
                <a:spcPct val="110031"/>
              </a:lnSpc>
              <a:spcBef>
                <a:spcPts val="0"/>
              </a:spcBef>
              <a:spcAft>
                <a:spcPts val="0"/>
              </a:spcAft>
              <a:buClr>
                <a:srgbClr val="E8EEF8"/>
              </a:buClr>
              <a:buSzPts val="3200"/>
              <a:buFont typeface="Space Grotesk"/>
              <a:buNone/>
            </a:pPr>
            <a:r>
              <a:rPr b="1" lang="en-US" sz="3200" u="none" strike="noStrike">
                <a:solidFill>
                  <a:srgbClr val="E8EEF8"/>
                </a:solidFill>
                <a:latin typeface="Space Grotesk"/>
                <a:ea typeface="Space Grotesk"/>
                <a:cs typeface="Space Grotesk"/>
                <a:sym typeface="Space Grotesk"/>
              </a:rPr>
              <a:t>Accuracy over time and by category</a:t>
            </a:r>
            <a:endParaRPr b="0" sz="3200" u="none" strike="noStrike">
              <a:solidFill>
                <a:schemeClr val="lt1"/>
              </a:solidFill>
              <a:latin typeface="Inter"/>
              <a:ea typeface="Inter"/>
              <a:cs typeface="Inter"/>
              <a:sym typeface="Inter"/>
            </a:endParaRPr>
          </a:p>
        </p:txBody>
      </p:sp>
      <p:sp>
        <p:nvSpPr>
          <p:cNvPr id="208" name="Google Shape;208;p12"/>
          <p:cNvSpPr/>
          <p:nvPr/>
        </p:nvSpPr>
        <p:spPr>
          <a:xfrm>
            <a:off x="812880" y="1643040"/>
            <a:ext cx="6374520" cy="4056840"/>
          </a:xfrm>
          <a:prstGeom prst="roundRect">
            <a:avLst>
              <a:gd fmla="val 2504" name="adj"/>
            </a:avLst>
          </a:prstGeom>
          <a:solidFill>
            <a:srgbClr val="FDFDFB"/>
          </a:solid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pic>
        <p:nvPicPr>
          <p:cNvPr descr="chart" id="209" name="Google Shape;209;p12"/>
          <p:cNvPicPr preferRelativeResize="0"/>
          <p:nvPr/>
        </p:nvPicPr>
        <p:blipFill rotWithShape="1">
          <a:blip r:embed="rId3">
            <a:alphaModFix/>
          </a:blip>
          <a:srcRect b="0" l="-29" r="-29" t="0"/>
          <a:stretch/>
        </p:blipFill>
        <p:spPr>
          <a:xfrm>
            <a:off x="888840" y="1719360"/>
            <a:ext cx="6222240" cy="3904560"/>
          </a:xfrm>
          <a:prstGeom prst="rect">
            <a:avLst/>
          </a:prstGeom>
          <a:noFill/>
          <a:ln>
            <a:noFill/>
          </a:ln>
        </p:spPr>
      </p:pic>
      <p:sp>
        <p:nvSpPr>
          <p:cNvPr id="210" name="Google Shape;210;p12"/>
          <p:cNvSpPr/>
          <p:nvPr/>
        </p:nvSpPr>
        <p:spPr>
          <a:xfrm>
            <a:off x="7394400" y="1646277"/>
            <a:ext cx="3981000" cy="1284000"/>
          </a:xfrm>
          <a:prstGeom prst="roundRect">
            <a:avLst>
              <a:gd fmla="val 5024"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11" name="Google Shape;211;p12"/>
          <p:cNvSpPr/>
          <p:nvPr/>
        </p:nvSpPr>
        <p:spPr>
          <a:xfrm>
            <a:off x="7602120" y="1854000"/>
            <a:ext cx="3672360" cy="481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600" u="none" strike="noStrike">
                <a:solidFill>
                  <a:srgbClr val="2DD4A0"/>
                </a:solidFill>
                <a:latin typeface="Space Grotesk"/>
                <a:ea typeface="Space Grotesk"/>
                <a:cs typeface="Space Grotesk"/>
                <a:sym typeface="Space Grotesk"/>
              </a:rPr>
              <a:t>0.074 → 0.038</a:t>
            </a:r>
            <a:endParaRPr b="0" sz="3600" u="none" strike="noStrike">
              <a:solidFill>
                <a:srgbClr val="FFFFFF"/>
              </a:solidFill>
              <a:latin typeface="Arial"/>
              <a:ea typeface="Arial"/>
              <a:cs typeface="Arial"/>
              <a:sym typeface="Arial"/>
            </a:endParaRPr>
          </a:p>
        </p:txBody>
      </p:sp>
      <p:sp>
        <p:nvSpPr>
          <p:cNvPr id="212" name="Google Shape;212;p12"/>
          <p:cNvSpPr/>
          <p:nvPr/>
        </p:nvSpPr>
        <p:spPr>
          <a:xfrm>
            <a:off x="7602120" y="2387520"/>
            <a:ext cx="3672360" cy="453960"/>
          </a:xfrm>
          <a:prstGeom prst="rect">
            <a:avLst/>
          </a:prstGeom>
          <a:noFill/>
          <a:ln>
            <a:noFill/>
          </a:ln>
        </p:spPr>
        <p:txBody>
          <a:bodyPr anchorCtr="0" anchor="t" bIns="0" lIns="0" spcFirstLastPara="1" rIns="0" wrap="square" tIns="0">
            <a:noAutofit/>
          </a:bodyPr>
          <a:lstStyle/>
          <a:p>
            <a:pPr indent="0" lvl="0" marL="0" marR="0" rtl="0" algn="l">
              <a:lnSpc>
                <a:spcPct val="129923"/>
              </a:lnSpc>
              <a:spcBef>
                <a:spcPts val="0"/>
              </a:spcBef>
              <a:spcAft>
                <a:spcPts val="0"/>
              </a:spcAft>
              <a:buNone/>
            </a:pPr>
            <a:r>
              <a:rPr b="0" lang="en-US" sz="1300" u="none" strike="noStrike">
                <a:solidFill>
                  <a:srgbClr val="9DB0CC"/>
                </a:solidFill>
                <a:latin typeface="Inter"/>
                <a:ea typeface="Inter"/>
                <a:cs typeface="Inter"/>
                <a:sym typeface="Inter"/>
              </a:rPr>
              <a:t>Brier score, all markets, 7 days to 6 hours before close</a:t>
            </a:r>
            <a:endParaRPr b="0" sz="1300" u="none" strike="noStrike">
              <a:solidFill>
                <a:srgbClr val="FFFFFF"/>
              </a:solidFill>
              <a:latin typeface="Arial"/>
              <a:ea typeface="Arial"/>
              <a:cs typeface="Arial"/>
              <a:sym typeface="Arial"/>
            </a:endParaRPr>
          </a:p>
        </p:txBody>
      </p:sp>
      <p:sp>
        <p:nvSpPr>
          <p:cNvPr id="213" name="Google Shape;213;p12"/>
          <p:cNvSpPr/>
          <p:nvPr/>
        </p:nvSpPr>
        <p:spPr>
          <a:xfrm>
            <a:off x="7394475" y="3021950"/>
            <a:ext cx="3981000" cy="1504800"/>
          </a:xfrm>
          <a:prstGeom prst="roundRect">
            <a:avLst>
              <a:gd fmla="val 5024"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14" name="Google Shape;214;p12"/>
          <p:cNvSpPr/>
          <p:nvPr/>
        </p:nvSpPr>
        <p:spPr>
          <a:xfrm>
            <a:off x="7602195" y="3181572"/>
            <a:ext cx="3672300" cy="552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lang="en-US" sz="1400" u="none" strike="noStrike">
                <a:solidFill>
                  <a:srgbClr val="E8EEF8"/>
                </a:solidFill>
                <a:latin typeface="Inter"/>
                <a:ea typeface="Inter"/>
                <a:cs typeface="Inter"/>
                <a:sym typeface="Inter"/>
              </a:rPr>
              <a:t>Politics improves the most. From 3 days out to the close, Economy is the hardest category to call.</a:t>
            </a:r>
            <a:endParaRPr b="0" sz="1400" u="none" strike="noStrike">
              <a:solidFill>
                <a:srgbClr val="FFFFFF"/>
              </a:solidFill>
              <a:latin typeface="Arial"/>
              <a:ea typeface="Arial"/>
              <a:cs typeface="Arial"/>
              <a:sym typeface="Arial"/>
            </a:endParaRPr>
          </a:p>
        </p:txBody>
      </p:sp>
      <p:sp>
        <p:nvSpPr>
          <p:cNvPr id="215" name="Google Shape;215;p12"/>
          <p:cNvSpPr/>
          <p:nvPr/>
        </p:nvSpPr>
        <p:spPr>
          <a:xfrm>
            <a:off x="7602195" y="4073682"/>
            <a:ext cx="3672300" cy="323400"/>
          </a:xfrm>
          <a:prstGeom prst="rect">
            <a:avLst/>
          </a:prstGeom>
          <a:noFill/>
          <a:ln>
            <a:noFill/>
          </a:ln>
        </p:spPr>
        <p:txBody>
          <a:bodyPr anchorCtr="0" anchor="t" bIns="0" lIns="0" spcFirstLastPara="1" rIns="0" wrap="square" tIns="0">
            <a:noAutofit/>
          </a:bodyPr>
          <a:lstStyle/>
          <a:p>
            <a:pPr indent="0" lvl="0" marL="0" marR="0" rtl="0" algn="l">
              <a:lnSpc>
                <a:spcPct val="129916"/>
              </a:lnSpc>
              <a:spcBef>
                <a:spcPts val="0"/>
              </a:spcBef>
              <a:spcAft>
                <a:spcPts val="0"/>
              </a:spcAft>
              <a:buNone/>
            </a:pPr>
            <a:r>
              <a:rPr b="0" lang="en-US" sz="1200" u="none" strike="noStrike">
                <a:solidFill>
                  <a:srgbClr val="9DB0CC"/>
                </a:solidFill>
                <a:latin typeface="Inter"/>
                <a:ea typeface="Inter"/>
                <a:cs typeface="Inter"/>
                <a:sym typeface="Inter"/>
              </a:rPr>
              <a:t>Brier = average squared gap between price and outcome. Lower is better.</a:t>
            </a:r>
            <a:endParaRPr b="0" sz="1200" u="none" strike="noStrike">
              <a:solidFill>
                <a:srgbClr val="FFFFFF"/>
              </a:solidFill>
              <a:latin typeface="Arial"/>
              <a:ea typeface="Arial"/>
              <a:cs typeface="Arial"/>
              <a:sym typeface="Arial"/>
            </a:endParaRPr>
          </a:p>
        </p:txBody>
      </p:sp>
      <p:sp>
        <p:nvSpPr>
          <p:cNvPr id="216" name="Google Shape;216;p12"/>
          <p:cNvSpPr/>
          <p:nvPr/>
        </p:nvSpPr>
        <p:spPr>
          <a:xfrm>
            <a:off x="812880" y="6238440"/>
            <a:ext cx="9810000" cy="237960"/>
          </a:xfrm>
          <a:prstGeom prst="rect">
            <a:avLst/>
          </a:prstGeom>
          <a:noFill/>
          <a:ln>
            <a:noFill/>
          </a:ln>
        </p:spPr>
        <p:txBody>
          <a:bodyPr anchorCtr="0" anchor="t" bIns="0" lIns="0" spcFirstLastPara="1" rIns="0" wrap="square" tIns="0">
            <a:noAutofit/>
          </a:bodyPr>
          <a:lstStyle/>
          <a:p>
            <a:pPr indent="0" lvl="0" marL="0" marR="0" rtl="0" algn="l">
              <a:lnSpc>
                <a:spcPct val="140083"/>
              </a:lnSpc>
              <a:spcBef>
                <a:spcPts val="0"/>
              </a:spcBef>
              <a:spcAft>
                <a:spcPts val="0"/>
              </a:spcAft>
              <a:buNone/>
            </a:pPr>
            <a:r>
              <a:rPr b="0" lang="en-US" sz="1200" u="none" strike="noStrike">
                <a:solidFill>
                  <a:srgbClr val="9DB0CC"/>
                </a:solidFill>
                <a:latin typeface="Inter"/>
                <a:ea typeface="Inter"/>
                <a:cs typeface="Inter"/>
                <a:sym typeface="Inter"/>
              </a:rPr>
              <a:t>Market part · Slide 5 of 7 · About 0:45</a:t>
            </a:r>
            <a:endParaRPr b="0" sz="1200" u="none" strike="noStrike">
              <a:solidFill>
                <a:srgbClr val="FFFFFF"/>
              </a:solidFill>
              <a:latin typeface="Arial"/>
              <a:ea typeface="Arial"/>
              <a:cs typeface="Arial"/>
              <a:sym typeface="Arial"/>
            </a:endParaRPr>
          </a:p>
        </p:txBody>
      </p:sp>
      <p:sp>
        <p:nvSpPr>
          <p:cNvPr id="217" name="Google Shape;217;p12"/>
          <p:cNvSpPr/>
          <p:nvPr/>
        </p:nvSpPr>
        <p:spPr>
          <a:xfrm>
            <a:off x="7394400" y="5440825"/>
            <a:ext cx="4263900" cy="665400"/>
          </a:xfrm>
          <a:prstGeom prst="roundRect">
            <a:avLst>
              <a:gd fmla="val 13636" name="adj"/>
            </a:avLst>
          </a:prstGeom>
          <a:solidFill>
            <a:srgbClr val="FEF2F2"/>
          </a:solidFill>
          <a:ln cap="flat" cmpd="sng" w="7550">
            <a:solidFill>
              <a:srgbClr val="FECACA"/>
            </a:solidFill>
            <a:prstDash val="solid"/>
            <a:round/>
            <a:headEnd len="sm" w="sm" type="none"/>
            <a:tailEnd len="sm" w="sm" type="none"/>
          </a:ln>
        </p:spPr>
        <p:txBody>
          <a:bodyPr anchorCtr="0" anchor="ctr" bIns="36275" lIns="72550" spcFirstLastPara="1" rIns="72550" wrap="square" tIns="36275">
            <a:noAutofit/>
          </a:bodyPr>
          <a:lstStyle/>
          <a:p>
            <a:pPr indent="0" lvl="0" marL="0" marR="0" rtl="0" algn="ctr">
              <a:spcBef>
                <a:spcPts val="0"/>
              </a:spcBef>
              <a:spcAft>
                <a:spcPts val="0"/>
              </a:spcAft>
              <a:buNone/>
            </a:pPr>
            <a:r>
              <a:t/>
            </a:r>
            <a:endParaRPr b="0" i="0" sz="1429" u="none" cap="none" strike="noStrike">
              <a:solidFill>
                <a:srgbClr val="000000"/>
              </a:solidFill>
              <a:latin typeface="Calibri"/>
              <a:ea typeface="Calibri"/>
              <a:cs typeface="Calibri"/>
              <a:sym typeface="Calibri"/>
            </a:endParaRPr>
          </a:p>
        </p:txBody>
      </p:sp>
      <p:sp>
        <p:nvSpPr>
          <p:cNvPr id="218" name="Google Shape;218;p12"/>
          <p:cNvSpPr txBox="1"/>
          <p:nvPr/>
        </p:nvSpPr>
        <p:spPr>
          <a:xfrm>
            <a:off x="7583398" y="5599586"/>
            <a:ext cx="4558500" cy="165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71" u="none" cap="none" strike="noStrike">
                <a:solidFill>
                  <a:srgbClr val="991B1B"/>
                </a:solidFill>
                <a:latin typeface="Inter"/>
                <a:ea typeface="Inter"/>
                <a:cs typeface="Inter"/>
                <a:sym typeface="Inter"/>
              </a:rPr>
              <a:t>Economy: Highest Residual Error</a:t>
            </a:r>
            <a:endParaRPr sz="1111"/>
          </a:p>
        </p:txBody>
      </p:sp>
      <p:sp>
        <p:nvSpPr>
          <p:cNvPr id="219" name="Google Shape;219;p12"/>
          <p:cNvSpPr txBox="1"/>
          <p:nvPr/>
        </p:nvSpPr>
        <p:spPr>
          <a:xfrm>
            <a:off x="7533736" y="5787982"/>
            <a:ext cx="4558500" cy="137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93" u="none" cap="none" strike="noStrike">
                <a:solidFill>
                  <a:srgbClr val="B91C1C"/>
                </a:solidFill>
                <a:latin typeface="Inter"/>
                <a:ea typeface="Inter"/>
                <a:cs typeface="Inter"/>
                <a:sym typeface="Inter"/>
              </a:rPr>
              <a:t>Macro metrics maintain high variance right up to official releases.</a:t>
            </a:r>
            <a:endParaRPr sz="1111"/>
          </a:p>
        </p:txBody>
      </p:sp>
      <p:sp>
        <p:nvSpPr>
          <p:cNvPr id="220" name="Google Shape;220;p12"/>
          <p:cNvSpPr/>
          <p:nvPr/>
        </p:nvSpPr>
        <p:spPr>
          <a:xfrm>
            <a:off x="7394475" y="4643225"/>
            <a:ext cx="4263900" cy="665400"/>
          </a:xfrm>
          <a:prstGeom prst="roundRect">
            <a:avLst>
              <a:gd fmla="val 13636" name="adj"/>
            </a:avLst>
          </a:prstGeom>
          <a:solidFill>
            <a:srgbClr val="F0FDF4"/>
          </a:solidFill>
          <a:ln cap="flat" cmpd="sng" w="7575">
            <a:solidFill>
              <a:srgbClr val="BBF7D0"/>
            </a:solidFill>
            <a:prstDash val="solid"/>
            <a:round/>
            <a:headEnd len="sm" w="sm" type="none"/>
            <a:tailEnd len="sm" w="sm" type="none"/>
          </a:ln>
        </p:spPr>
        <p:txBody>
          <a:bodyPr anchorCtr="0" anchor="ctr" bIns="36275" lIns="72550" spcFirstLastPara="1" rIns="72550" wrap="square" tIns="36275">
            <a:noAutofit/>
          </a:bodyPr>
          <a:lstStyle/>
          <a:p>
            <a:pPr indent="0" lvl="0" marL="0" marR="0" rtl="0" algn="ctr">
              <a:spcBef>
                <a:spcPts val="0"/>
              </a:spcBef>
              <a:spcAft>
                <a:spcPts val="0"/>
              </a:spcAft>
              <a:buNone/>
            </a:pPr>
            <a:r>
              <a:t/>
            </a:r>
            <a:endParaRPr b="0" i="0" sz="1429" u="none" cap="none" strike="noStrike">
              <a:solidFill>
                <a:srgbClr val="000000"/>
              </a:solidFill>
              <a:latin typeface="Calibri"/>
              <a:ea typeface="Calibri"/>
              <a:cs typeface="Calibri"/>
              <a:sym typeface="Calibri"/>
            </a:endParaRPr>
          </a:p>
        </p:txBody>
      </p:sp>
      <p:sp>
        <p:nvSpPr>
          <p:cNvPr id="221" name="Google Shape;221;p12"/>
          <p:cNvSpPr txBox="1"/>
          <p:nvPr/>
        </p:nvSpPr>
        <p:spPr>
          <a:xfrm>
            <a:off x="7583475" y="4801985"/>
            <a:ext cx="5100000" cy="165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72" u="none" cap="none" strike="noStrike">
                <a:solidFill>
                  <a:srgbClr val="166534"/>
                </a:solidFill>
                <a:latin typeface="Inter"/>
                <a:ea typeface="Inter"/>
                <a:cs typeface="Inter"/>
                <a:sym typeface="Inter"/>
              </a:rPr>
              <a:t>Politics: Fastest Convergence</a:t>
            </a:r>
            <a:endParaRPr sz="1111"/>
          </a:p>
        </p:txBody>
      </p:sp>
      <p:sp>
        <p:nvSpPr>
          <p:cNvPr id="222" name="Google Shape;222;p12"/>
          <p:cNvSpPr txBox="1"/>
          <p:nvPr/>
        </p:nvSpPr>
        <p:spPr>
          <a:xfrm>
            <a:off x="7583475" y="5006105"/>
            <a:ext cx="4857300" cy="137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93" u="none" cap="none" strike="noStrike">
                <a:solidFill>
                  <a:srgbClr val="15803D"/>
                </a:solidFill>
                <a:latin typeface="Inter"/>
                <a:ea typeface="Inter"/>
                <a:cs typeface="Inter"/>
                <a:sym typeface="Inter"/>
              </a:rPr>
              <a:t>Public polling data accelerates price discovery ahead of deadlines.</a:t>
            </a:r>
            <a:endParaRPr sz="111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227" name="Shape 227"/>
        <p:cNvGrpSpPr/>
        <p:nvPr/>
      </p:nvGrpSpPr>
      <p:grpSpPr>
        <a:xfrm>
          <a:off x="0" y="0"/>
          <a:ext cx="0" cy="0"/>
          <a:chOff x="0" y="0"/>
          <a:chExt cx="0" cy="0"/>
        </a:xfrm>
      </p:grpSpPr>
      <p:sp>
        <p:nvSpPr>
          <p:cNvPr id="228" name="Google Shape;228;p13"/>
          <p:cNvSpPr/>
          <p:nvPr/>
        </p:nvSpPr>
        <p:spPr>
          <a:xfrm>
            <a:off x="812880" y="609480"/>
            <a:ext cx="10882800" cy="255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1300" u="none" strike="noStrike">
                <a:solidFill>
                  <a:srgbClr val="2DD4A0"/>
                </a:solidFill>
                <a:latin typeface="Inter"/>
                <a:ea typeface="Inter"/>
                <a:cs typeface="Inter"/>
                <a:sym typeface="Inter"/>
              </a:rPr>
              <a:t>MARKET · AARON</a:t>
            </a:r>
            <a:endParaRPr b="0" sz="1300" u="none" strike="noStrike">
              <a:solidFill>
                <a:srgbClr val="FFFFFF"/>
              </a:solidFill>
              <a:latin typeface="Arial"/>
              <a:ea typeface="Arial"/>
              <a:cs typeface="Arial"/>
              <a:sym typeface="Arial"/>
            </a:endParaRPr>
          </a:p>
        </p:txBody>
      </p:sp>
      <p:sp>
        <p:nvSpPr>
          <p:cNvPr id="229" name="Google Shape;229;p13"/>
          <p:cNvSpPr txBox="1"/>
          <p:nvPr>
            <p:ph type="title"/>
          </p:nvPr>
        </p:nvSpPr>
        <p:spPr>
          <a:xfrm>
            <a:off x="812880" y="1018440"/>
            <a:ext cx="10882800" cy="471600"/>
          </a:xfrm>
          <a:prstGeom prst="rect">
            <a:avLst/>
          </a:prstGeom>
          <a:noFill/>
          <a:ln>
            <a:noFill/>
          </a:ln>
        </p:spPr>
        <p:txBody>
          <a:bodyPr anchorCtr="0" anchor="t" bIns="0" lIns="0" spcFirstLastPara="1" rIns="0" wrap="square" tIns="0">
            <a:normAutofit/>
          </a:bodyPr>
          <a:lstStyle/>
          <a:p>
            <a:pPr indent="0" lvl="0" marL="0" rtl="0" algn="l">
              <a:lnSpc>
                <a:spcPct val="110031"/>
              </a:lnSpc>
              <a:spcBef>
                <a:spcPts val="0"/>
              </a:spcBef>
              <a:spcAft>
                <a:spcPts val="0"/>
              </a:spcAft>
              <a:buClr>
                <a:srgbClr val="E8EEF8"/>
              </a:buClr>
              <a:buSzPts val="3200"/>
              <a:buFont typeface="Space Grotesk"/>
              <a:buNone/>
            </a:pPr>
            <a:r>
              <a:rPr b="1" lang="en-US" sz="3200" u="none" strike="noStrike">
                <a:solidFill>
                  <a:srgbClr val="E8EEF8"/>
                </a:solidFill>
                <a:latin typeface="Space Grotesk"/>
                <a:ea typeface="Space Grotesk"/>
                <a:cs typeface="Space Grotesk"/>
                <a:sym typeface="Space Grotesk"/>
              </a:rPr>
              <a:t>Can a model beat the price?</a:t>
            </a:r>
            <a:endParaRPr b="0" sz="3200" u="none" strike="noStrike">
              <a:solidFill>
                <a:schemeClr val="lt1"/>
              </a:solidFill>
              <a:latin typeface="Inter"/>
              <a:ea typeface="Inter"/>
              <a:cs typeface="Inter"/>
              <a:sym typeface="Inter"/>
            </a:endParaRPr>
          </a:p>
        </p:txBody>
      </p:sp>
      <p:sp>
        <p:nvSpPr>
          <p:cNvPr id="230" name="Google Shape;230;p13"/>
          <p:cNvSpPr/>
          <p:nvPr/>
        </p:nvSpPr>
        <p:spPr>
          <a:xfrm>
            <a:off x="812880" y="1643040"/>
            <a:ext cx="5993640" cy="4088520"/>
          </a:xfrm>
          <a:prstGeom prst="roundRect">
            <a:avLst>
              <a:gd fmla="val 2485" name="adj"/>
            </a:avLst>
          </a:prstGeom>
          <a:solidFill>
            <a:srgbClr val="FDFDFB"/>
          </a:solid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pic>
        <p:nvPicPr>
          <p:cNvPr descr="chart" id="231" name="Google Shape;231;p13"/>
          <p:cNvPicPr preferRelativeResize="0"/>
          <p:nvPr/>
        </p:nvPicPr>
        <p:blipFill rotWithShape="1">
          <a:blip r:embed="rId3">
            <a:alphaModFix/>
          </a:blip>
          <a:srcRect b="0" l="0" r="0" t="0"/>
          <a:stretch/>
        </p:blipFill>
        <p:spPr>
          <a:xfrm>
            <a:off x="888840" y="1719360"/>
            <a:ext cx="5841360" cy="3936240"/>
          </a:xfrm>
          <a:prstGeom prst="rect">
            <a:avLst/>
          </a:prstGeom>
          <a:noFill/>
          <a:ln>
            <a:noFill/>
          </a:ln>
        </p:spPr>
      </p:pic>
      <p:sp>
        <p:nvSpPr>
          <p:cNvPr id="232" name="Google Shape;232;p13"/>
          <p:cNvSpPr/>
          <p:nvPr/>
        </p:nvSpPr>
        <p:spPr>
          <a:xfrm>
            <a:off x="7022600" y="820778"/>
            <a:ext cx="4362000" cy="803100"/>
          </a:xfrm>
          <a:prstGeom prst="roundRect">
            <a:avLst>
              <a:gd fmla="val 4984"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33" name="Google Shape;233;p13"/>
          <p:cNvSpPr/>
          <p:nvPr/>
        </p:nvSpPr>
        <p:spPr>
          <a:xfrm>
            <a:off x="7230315" y="1028500"/>
            <a:ext cx="4064700" cy="283800"/>
          </a:xfrm>
          <a:prstGeom prst="rect">
            <a:avLst/>
          </a:prstGeom>
          <a:noFill/>
          <a:ln>
            <a:noFill/>
          </a:ln>
        </p:spPr>
        <p:txBody>
          <a:bodyPr anchorCtr="0" anchor="t" bIns="0" lIns="0" spcFirstLastPara="1" rIns="0" wrap="square" tIns="0">
            <a:noAutofit/>
          </a:bodyPr>
          <a:lstStyle/>
          <a:p>
            <a:pPr indent="0" lvl="0" marL="0" marR="0" rtl="0" algn="l">
              <a:lnSpc>
                <a:spcPct val="120058"/>
              </a:lnSpc>
              <a:spcBef>
                <a:spcPts val="0"/>
              </a:spcBef>
              <a:spcAft>
                <a:spcPts val="0"/>
              </a:spcAft>
              <a:buNone/>
            </a:pPr>
            <a:r>
              <a:rPr b="1" lang="en-US" sz="1700" u="none" strike="noStrike">
                <a:solidFill>
                  <a:srgbClr val="F5A524"/>
                </a:solidFill>
                <a:latin typeface="Space Grotesk"/>
                <a:ea typeface="Space Grotesk"/>
                <a:cs typeface="Space Grotesk"/>
                <a:sym typeface="Space Grotesk"/>
              </a:rPr>
              <a:t>Test Brier at 24h</a:t>
            </a:r>
            <a:endParaRPr b="0" sz="1700" u="none" strike="noStrike">
              <a:solidFill>
                <a:srgbClr val="FFFFFF"/>
              </a:solidFill>
              <a:latin typeface="Arial"/>
              <a:ea typeface="Arial"/>
              <a:cs typeface="Arial"/>
              <a:sym typeface="Arial"/>
            </a:endParaRPr>
          </a:p>
        </p:txBody>
      </p:sp>
      <p:sp>
        <p:nvSpPr>
          <p:cNvPr id="234" name="Google Shape;234;p13"/>
          <p:cNvSpPr/>
          <p:nvPr/>
        </p:nvSpPr>
        <p:spPr>
          <a:xfrm>
            <a:off x="7230315" y="1312165"/>
            <a:ext cx="4064700" cy="222900"/>
          </a:xfrm>
          <a:prstGeom prst="rect">
            <a:avLst/>
          </a:prstGeom>
          <a:noFill/>
          <a:ln>
            <a:noFill/>
          </a:ln>
        </p:spPr>
        <p:txBody>
          <a:bodyPr anchorCtr="0" anchor="t" bIns="0" lIns="0" spcFirstLastPara="1" rIns="0" wrap="square" tIns="0">
            <a:noAutofit/>
          </a:bodyPr>
          <a:lstStyle/>
          <a:p>
            <a:pPr indent="0" lvl="0" marL="0" marR="0" rtl="0" algn="l">
              <a:lnSpc>
                <a:spcPct val="129916"/>
              </a:lnSpc>
              <a:spcBef>
                <a:spcPts val="0"/>
              </a:spcBef>
              <a:spcAft>
                <a:spcPts val="0"/>
              </a:spcAft>
              <a:buNone/>
            </a:pPr>
            <a:r>
              <a:rPr b="0" lang="en-US" sz="1200" u="none" strike="noStrike">
                <a:solidFill>
                  <a:srgbClr val="9DB0CC"/>
                </a:solidFill>
                <a:latin typeface="Inter"/>
                <a:ea typeface="Inter"/>
                <a:cs typeface="Inter"/>
                <a:sym typeface="Inter"/>
              </a:rPr>
              <a:t>Above zero in the chart = worse than the market.</a:t>
            </a:r>
            <a:endParaRPr b="0" sz="1200" u="none" strike="noStrike">
              <a:solidFill>
                <a:srgbClr val="FFFFFF"/>
              </a:solidFill>
              <a:latin typeface="Arial"/>
              <a:ea typeface="Arial"/>
              <a:cs typeface="Arial"/>
              <a:sym typeface="Arial"/>
            </a:endParaRPr>
          </a:p>
        </p:txBody>
      </p:sp>
      <p:sp>
        <p:nvSpPr>
          <p:cNvPr id="235" name="Google Shape;235;p13"/>
          <p:cNvSpPr/>
          <p:nvPr/>
        </p:nvSpPr>
        <p:spPr>
          <a:xfrm>
            <a:off x="812880" y="6238440"/>
            <a:ext cx="9810000" cy="237900"/>
          </a:xfrm>
          <a:prstGeom prst="rect">
            <a:avLst/>
          </a:prstGeom>
          <a:noFill/>
          <a:ln>
            <a:noFill/>
          </a:ln>
        </p:spPr>
        <p:txBody>
          <a:bodyPr anchorCtr="0" anchor="t" bIns="0" lIns="0" spcFirstLastPara="1" rIns="0" wrap="square" tIns="0">
            <a:noAutofit/>
          </a:bodyPr>
          <a:lstStyle/>
          <a:p>
            <a:pPr indent="0" lvl="0" marL="0" marR="0" rtl="0" algn="l">
              <a:lnSpc>
                <a:spcPct val="140083"/>
              </a:lnSpc>
              <a:spcBef>
                <a:spcPts val="0"/>
              </a:spcBef>
              <a:spcAft>
                <a:spcPts val="0"/>
              </a:spcAft>
              <a:buNone/>
            </a:pPr>
            <a:r>
              <a:rPr b="0" lang="en-US" sz="1200" u="none" strike="noStrike">
                <a:solidFill>
                  <a:srgbClr val="9DB0CC"/>
                </a:solidFill>
                <a:latin typeface="Inter"/>
                <a:ea typeface="Inter"/>
                <a:cs typeface="Inter"/>
                <a:sym typeface="Inter"/>
              </a:rPr>
              <a:t>Market part · Slide 6 of 7 · About 1:15</a:t>
            </a:r>
            <a:endParaRPr b="0" sz="1200" u="none" strike="noStrike">
              <a:solidFill>
                <a:srgbClr val="FFFFFF"/>
              </a:solidFill>
              <a:latin typeface="Arial"/>
              <a:ea typeface="Arial"/>
              <a:cs typeface="Arial"/>
              <a:sym typeface="Arial"/>
            </a:endParaRPr>
          </a:p>
        </p:txBody>
      </p:sp>
      <p:sp>
        <p:nvSpPr>
          <p:cNvPr id="236" name="Google Shape;236;p13"/>
          <p:cNvSpPr/>
          <p:nvPr/>
        </p:nvSpPr>
        <p:spPr>
          <a:xfrm>
            <a:off x="6922800" y="1780100"/>
            <a:ext cx="5029200" cy="752400"/>
          </a:xfrm>
          <a:prstGeom prst="roundRect">
            <a:avLst>
              <a:gd fmla="val 10126"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37" name="Google Shape;237;p13"/>
          <p:cNvSpPr/>
          <p:nvPr/>
        </p:nvSpPr>
        <p:spPr>
          <a:xfrm>
            <a:off x="6922800" y="2684975"/>
            <a:ext cx="5029200" cy="752400"/>
          </a:xfrm>
          <a:prstGeom prst="roundRect">
            <a:avLst>
              <a:gd fmla="val 10126"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38" name="Google Shape;238;p13"/>
          <p:cNvSpPr/>
          <p:nvPr/>
        </p:nvSpPr>
        <p:spPr>
          <a:xfrm>
            <a:off x="6922800" y="3589850"/>
            <a:ext cx="5029200" cy="752400"/>
          </a:xfrm>
          <a:prstGeom prst="roundRect">
            <a:avLst>
              <a:gd fmla="val 10126"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39" name="Google Shape;239;p13"/>
          <p:cNvSpPr txBox="1"/>
          <p:nvPr/>
        </p:nvSpPr>
        <p:spPr>
          <a:xfrm>
            <a:off x="11066175" y="2032512"/>
            <a:ext cx="9717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16A34A"/>
                </a:solidFill>
                <a:latin typeface="JetBrains Mono"/>
                <a:ea typeface="JetBrains Mono"/>
                <a:cs typeface="JetBrains Mono"/>
                <a:sym typeface="JetBrains Mono"/>
              </a:rPr>
              <a:t>0.0513</a:t>
            </a:r>
            <a:endParaRPr/>
          </a:p>
        </p:txBody>
      </p:sp>
      <p:sp>
        <p:nvSpPr>
          <p:cNvPr id="240" name="Google Shape;240;p13"/>
          <p:cNvSpPr txBox="1"/>
          <p:nvPr/>
        </p:nvSpPr>
        <p:spPr>
          <a:xfrm>
            <a:off x="11066175" y="2937387"/>
            <a:ext cx="9717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DC2626"/>
                </a:solidFill>
                <a:latin typeface="JetBrains Mono"/>
                <a:ea typeface="JetBrains Mono"/>
                <a:cs typeface="JetBrains Mono"/>
                <a:sym typeface="JetBrains Mono"/>
              </a:rPr>
              <a:t>0.0518</a:t>
            </a:r>
            <a:endParaRPr/>
          </a:p>
        </p:txBody>
      </p:sp>
      <p:sp>
        <p:nvSpPr>
          <p:cNvPr id="241" name="Google Shape;241;p13"/>
          <p:cNvSpPr txBox="1"/>
          <p:nvPr/>
        </p:nvSpPr>
        <p:spPr>
          <a:xfrm>
            <a:off x="11066175" y="3842262"/>
            <a:ext cx="9717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DC2626"/>
                </a:solidFill>
                <a:latin typeface="JetBrains Mono"/>
                <a:ea typeface="JetBrains Mono"/>
                <a:cs typeface="JetBrains Mono"/>
                <a:sym typeface="JetBrains Mono"/>
              </a:rPr>
              <a:t>0.0518</a:t>
            </a:r>
            <a:endParaRPr/>
          </a:p>
        </p:txBody>
      </p:sp>
      <p:sp>
        <p:nvSpPr>
          <p:cNvPr id="242" name="Google Shape;242;p13"/>
          <p:cNvSpPr txBox="1"/>
          <p:nvPr/>
        </p:nvSpPr>
        <p:spPr>
          <a:xfrm>
            <a:off x="7122825" y="1980125"/>
            <a:ext cx="16431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Inter"/>
                <a:ea typeface="Inter"/>
                <a:cs typeface="Inter"/>
                <a:sym typeface="Inter"/>
              </a:rPr>
              <a:t>Raw Market Price</a:t>
            </a:r>
            <a:endParaRPr/>
          </a:p>
        </p:txBody>
      </p:sp>
      <p:sp>
        <p:nvSpPr>
          <p:cNvPr id="243" name="Google Shape;243;p13"/>
          <p:cNvSpPr txBox="1"/>
          <p:nvPr/>
        </p:nvSpPr>
        <p:spPr>
          <a:xfrm>
            <a:off x="7122825" y="2170625"/>
            <a:ext cx="16431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Inter"/>
                <a:ea typeface="Inter"/>
                <a:cs typeface="Inter"/>
                <a:sym typeface="Inter"/>
              </a:rPr>
              <a:t>Baseline Benchmark</a:t>
            </a:r>
            <a:endParaRPr/>
          </a:p>
        </p:txBody>
      </p:sp>
      <p:sp>
        <p:nvSpPr>
          <p:cNvPr id="244" name="Google Shape;244;p13"/>
          <p:cNvSpPr txBox="1"/>
          <p:nvPr/>
        </p:nvSpPr>
        <p:spPr>
          <a:xfrm>
            <a:off x="7122825" y="2885000"/>
            <a:ext cx="20001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Inter"/>
                <a:ea typeface="Inter"/>
                <a:cs typeface="Inter"/>
                <a:sym typeface="Inter"/>
              </a:rPr>
              <a:t>Logistic Recalibration</a:t>
            </a:r>
            <a:endParaRPr/>
          </a:p>
        </p:txBody>
      </p:sp>
      <p:sp>
        <p:nvSpPr>
          <p:cNvPr id="245" name="Google Shape;245;p13"/>
          <p:cNvSpPr txBox="1"/>
          <p:nvPr/>
        </p:nvSpPr>
        <p:spPr>
          <a:xfrm>
            <a:off x="7122825" y="3075500"/>
            <a:ext cx="20001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Inter"/>
                <a:ea typeface="Inter"/>
                <a:cs typeface="Inter"/>
                <a:sym typeface="Inter"/>
              </a:rPr>
              <a:t>+18 Features</a:t>
            </a:r>
            <a:endParaRPr/>
          </a:p>
        </p:txBody>
      </p:sp>
      <p:sp>
        <p:nvSpPr>
          <p:cNvPr id="246" name="Google Shape;246;p13"/>
          <p:cNvSpPr txBox="1"/>
          <p:nvPr/>
        </p:nvSpPr>
        <p:spPr>
          <a:xfrm>
            <a:off x="7122825" y="3789875"/>
            <a:ext cx="27981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Inter"/>
                <a:ea typeface="Inter"/>
                <a:cs typeface="Inter"/>
                <a:sym typeface="Inter"/>
              </a:rPr>
              <a:t>Gradient Boosting (LightGBM)</a:t>
            </a:r>
            <a:endParaRPr/>
          </a:p>
        </p:txBody>
      </p:sp>
      <p:sp>
        <p:nvSpPr>
          <p:cNvPr id="247" name="Google Shape;247;p13"/>
          <p:cNvSpPr txBox="1"/>
          <p:nvPr/>
        </p:nvSpPr>
        <p:spPr>
          <a:xfrm>
            <a:off x="7122825" y="3980375"/>
            <a:ext cx="27981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Inter"/>
                <a:ea typeface="Inter"/>
                <a:cs typeface="Inter"/>
                <a:sym typeface="Inter"/>
              </a:rPr>
              <a:t>Full Book &amp; Volume Features</a:t>
            </a:r>
            <a:endParaRPr/>
          </a:p>
        </p:txBody>
      </p:sp>
      <p:sp>
        <p:nvSpPr>
          <p:cNvPr id="248" name="Google Shape;248;p13"/>
          <p:cNvSpPr/>
          <p:nvPr/>
        </p:nvSpPr>
        <p:spPr>
          <a:xfrm>
            <a:off x="6922800" y="4494725"/>
            <a:ext cx="4969500" cy="1930800"/>
          </a:xfrm>
          <a:prstGeom prst="roundRect">
            <a:avLst>
              <a:gd fmla="val 5217" name="adj"/>
            </a:avLst>
          </a:prstGeom>
          <a:solidFill>
            <a:srgbClr val="0F172A"/>
          </a:solidFill>
          <a:ln>
            <a:noFill/>
          </a:ln>
        </p:spPr>
        <p:txBody>
          <a:bodyPr anchorCtr="0" anchor="ctr" bIns="40275" lIns="80575" spcFirstLastPara="1" rIns="80575" wrap="square" tIns="40275">
            <a:noAutofit/>
          </a:bodyPr>
          <a:lstStyle/>
          <a:p>
            <a:pPr indent="0" lvl="0" marL="0" marR="0" rtl="0" algn="ctr">
              <a:spcBef>
                <a:spcPts val="0"/>
              </a:spcBef>
              <a:spcAft>
                <a:spcPts val="0"/>
              </a:spcAft>
              <a:buNone/>
            </a:pPr>
            <a:r>
              <a:t/>
            </a:r>
            <a:endParaRPr b="0" i="0" sz="1586" u="none" cap="none" strike="noStrike">
              <a:solidFill>
                <a:srgbClr val="000000"/>
              </a:solidFill>
              <a:latin typeface="Calibri"/>
              <a:ea typeface="Calibri"/>
              <a:cs typeface="Calibri"/>
              <a:sym typeface="Calibri"/>
            </a:endParaRPr>
          </a:p>
        </p:txBody>
      </p:sp>
      <p:sp>
        <p:nvSpPr>
          <p:cNvPr id="249" name="Google Shape;249;p13"/>
          <p:cNvSpPr/>
          <p:nvPr/>
        </p:nvSpPr>
        <p:spPr>
          <a:xfrm>
            <a:off x="7191416" y="5804226"/>
            <a:ext cx="4432200" cy="352800"/>
          </a:xfrm>
          <a:prstGeom prst="roundRect">
            <a:avLst>
              <a:gd fmla="val 14285" name="adj"/>
            </a:avLst>
          </a:prstGeom>
          <a:solidFill>
            <a:srgbClr val="1B2335"/>
          </a:solidFill>
          <a:ln>
            <a:noFill/>
          </a:ln>
        </p:spPr>
        <p:txBody>
          <a:bodyPr anchorCtr="0" anchor="ctr" bIns="40275" lIns="80575" spcFirstLastPara="1" rIns="80575" wrap="square" tIns="40275">
            <a:noAutofit/>
          </a:bodyPr>
          <a:lstStyle/>
          <a:p>
            <a:pPr indent="0" lvl="0" marL="0" marR="0" rtl="0" algn="ctr">
              <a:spcBef>
                <a:spcPts val="0"/>
              </a:spcBef>
              <a:spcAft>
                <a:spcPts val="0"/>
              </a:spcAft>
              <a:buNone/>
            </a:pPr>
            <a:r>
              <a:t/>
            </a:r>
            <a:endParaRPr b="0" i="0" sz="1586" u="none" cap="none" strike="noStrike">
              <a:solidFill>
                <a:srgbClr val="000000"/>
              </a:solidFill>
              <a:latin typeface="Calibri"/>
              <a:ea typeface="Calibri"/>
              <a:cs typeface="Calibri"/>
              <a:sym typeface="Calibri"/>
            </a:endParaRPr>
          </a:p>
        </p:txBody>
      </p:sp>
      <p:sp>
        <p:nvSpPr>
          <p:cNvPr id="250" name="Google Shape;250;p13"/>
          <p:cNvSpPr txBox="1"/>
          <p:nvPr/>
        </p:nvSpPr>
        <p:spPr>
          <a:xfrm>
            <a:off x="7191416" y="4763341"/>
            <a:ext cx="5238000" cy="203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22" u="none" cap="none" strike="noStrike">
                <a:solidFill>
                  <a:srgbClr val="38BDF8"/>
                </a:solidFill>
                <a:latin typeface="Inter"/>
                <a:ea typeface="Inter"/>
                <a:cs typeface="Inter"/>
                <a:sym typeface="Inter"/>
              </a:rPr>
              <a:t>Core Takeaway: No Overperformance</a:t>
            </a:r>
            <a:endParaRPr sz="1234"/>
          </a:p>
        </p:txBody>
      </p:sp>
      <p:sp>
        <p:nvSpPr>
          <p:cNvPr id="251" name="Google Shape;251;p13"/>
          <p:cNvSpPr txBox="1"/>
          <p:nvPr/>
        </p:nvSpPr>
        <p:spPr>
          <a:xfrm>
            <a:off x="7191416" y="5065533"/>
            <a:ext cx="4516200" cy="651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8" u="none" cap="none" strike="noStrike">
                <a:solidFill>
                  <a:srgbClr val="CBD5E1"/>
                </a:solidFill>
                <a:latin typeface="Inter"/>
                <a:ea typeface="Inter"/>
                <a:cs typeface="Inter"/>
                <a:sym typeface="Inter"/>
              </a:rPr>
              <a:t>Trained on pre-Sept data and evaluated out-of-sample on 860 Sept–Oct events, machine learning models failed to outperform simple market prices.</a:t>
            </a:r>
            <a:endParaRPr sz="1234"/>
          </a:p>
        </p:txBody>
      </p:sp>
      <p:sp>
        <p:nvSpPr>
          <p:cNvPr id="252" name="Google Shape;252;p13"/>
          <p:cNvSpPr txBox="1"/>
          <p:nvPr/>
        </p:nvSpPr>
        <p:spPr>
          <a:xfrm>
            <a:off x="7292147" y="5904957"/>
            <a:ext cx="4314900" cy="142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25" u="none" cap="none" strike="noStrike">
                <a:solidFill>
                  <a:srgbClr val="94A3B8"/>
                </a:solidFill>
                <a:latin typeface="JetBrains Mono"/>
                <a:ea typeface="JetBrains Mono"/>
                <a:cs typeface="JetBrains Mono"/>
                <a:sym typeface="JetBrains Mono"/>
              </a:rPr>
              <a:t>Tree Weight on Price Feature: &gt;95%</a:t>
            </a:r>
            <a:endParaRPr sz="1234"/>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257" name="Shape 257"/>
        <p:cNvGrpSpPr/>
        <p:nvPr/>
      </p:nvGrpSpPr>
      <p:grpSpPr>
        <a:xfrm>
          <a:off x="0" y="0"/>
          <a:ext cx="0" cy="0"/>
          <a:chOff x="0" y="0"/>
          <a:chExt cx="0" cy="0"/>
        </a:xfrm>
      </p:grpSpPr>
      <p:sp>
        <p:nvSpPr>
          <p:cNvPr id="258" name="Google Shape;258;p14"/>
          <p:cNvSpPr/>
          <p:nvPr/>
        </p:nvSpPr>
        <p:spPr>
          <a:xfrm>
            <a:off x="812880" y="609480"/>
            <a:ext cx="10882800" cy="255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1300" u="none" strike="noStrike">
                <a:solidFill>
                  <a:srgbClr val="2DD4A0"/>
                </a:solidFill>
                <a:latin typeface="Inter"/>
                <a:ea typeface="Inter"/>
                <a:cs typeface="Inter"/>
                <a:sym typeface="Inter"/>
              </a:rPr>
              <a:t>MARKET · AARON</a:t>
            </a:r>
            <a:endParaRPr b="0" sz="1300" u="none" strike="noStrike">
              <a:solidFill>
                <a:srgbClr val="FFFFFF"/>
              </a:solidFill>
              <a:latin typeface="Arial"/>
              <a:ea typeface="Arial"/>
              <a:cs typeface="Arial"/>
              <a:sym typeface="Arial"/>
            </a:endParaRPr>
          </a:p>
        </p:txBody>
      </p:sp>
      <p:sp>
        <p:nvSpPr>
          <p:cNvPr id="259" name="Google Shape;259;p14"/>
          <p:cNvSpPr txBox="1"/>
          <p:nvPr>
            <p:ph type="title"/>
          </p:nvPr>
        </p:nvSpPr>
        <p:spPr>
          <a:xfrm>
            <a:off x="812880" y="1018440"/>
            <a:ext cx="10882800" cy="471600"/>
          </a:xfrm>
          <a:prstGeom prst="rect">
            <a:avLst/>
          </a:prstGeom>
          <a:noFill/>
          <a:ln>
            <a:noFill/>
          </a:ln>
        </p:spPr>
        <p:txBody>
          <a:bodyPr anchorCtr="0" anchor="t" bIns="0" lIns="0" spcFirstLastPara="1" rIns="0" wrap="square" tIns="0">
            <a:normAutofit/>
          </a:bodyPr>
          <a:lstStyle/>
          <a:p>
            <a:pPr indent="0" lvl="0" marL="0" rtl="0" algn="l">
              <a:lnSpc>
                <a:spcPct val="110031"/>
              </a:lnSpc>
              <a:spcBef>
                <a:spcPts val="0"/>
              </a:spcBef>
              <a:spcAft>
                <a:spcPts val="0"/>
              </a:spcAft>
              <a:buClr>
                <a:srgbClr val="E8EEF8"/>
              </a:buClr>
              <a:buSzPts val="3200"/>
              <a:buFont typeface="Space Grotesk"/>
              <a:buNone/>
            </a:pPr>
            <a:r>
              <a:rPr b="1" lang="en-US" sz="3200" u="none" strike="noStrike">
                <a:solidFill>
                  <a:srgbClr val="E8EEF8"/>
                </a:solidFill>
                <a:latin typeface="Space Grotesk"/>
                <a:ea typeface="Space Grotesk"/>
                <a:cs typeface="Space Grotesk"/>
                <a:sym typeface="Space Grotesk"/>
              </a:rPr>
              <a:t>Takeaways and limits</a:t>
            </a:r>
            <a:endParaRPr b="0" sz="3200" u="none" strike="noStrike">
              <a:solidFill>
                <a:schemeClr val="lt1"/>
              </a:solidFill>
              <a:latin typeface="Inter"/>
              <a:ea typeface="Inter"/>
              <a:cs typeface="Inter"/>
              <a:sym typeface="Inter"/>
            </a:endParaRPr>
          </a:p>
        </p:txBody>
      </p:sp>
      <p:sp>
        <p:nvSpPr>
          <p:cNvPr id="260" name="Google Shape;260;p14"/>
          <p:cNvSpPr/>
          <p:nvPr/>
        </p:nvSpPr>
        <p:spPr>
          <a:xfrm>
            <a:off x="815760" y="1646280"/>
            <a:ext cx="3379680" cy="1245600"/>
          </a:xfrm>
          <a:prstGeom prst="roundRect">
            <a:avLst>
              <a:gd fmla="val 7898"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61" name="Google Shape;261;p14"/>
          <p:cNvSpPr/>
          <p:nvPr/>
        </p:nvSpPr>
        <p:spPr>
          <a:xfrm>
            <a:off x="1023840" y="1854000"/>
            <a:ext cx="3052800" cy="283680"/>
          </a:xfrm>
          <a:prstGeom prst="rect">
            <a:avLst/>
          </a:prstGeom>
          <a:noFill/>
          <a:ln>
            <a:noFill/>
          </a:ln>
        </p:spPr>
        <p:txBody>
          <a:bodyPr anchorCtr="0" anchor="t" bIns="0" lIns="0" spcFirstLastPara="1" rIns="0" wrap="square" tIns="0">
            <a:noAutofit/>
          </a:bodyPr>
          <a:lstStyle/>
          <a:p>
            <a:pPr indent="0" lvl="0" marL="0" marR="0" rtl="0" algn="l">
              <a:lnSpc>
                <a:spcPct val="120058"/>
              </a:lnSpc>
              <a:spcBef>
                <a:spcPts val="0"/>
              </a:spcBef>
              <a:spcAft>
                <a:spcPts val="0"/>
              </a:spcAft>
              <a:buNone/>
            </a:pPr>
            <a:r>
              <a:rPr b="1" lang="en-US" sz="1700" u="none" strike="noStrike">
                <a:solidFill>
                  <a:srgbClr val="2DD4A0"/>
                </a:solidFill>
                <a:latin typeface="Space Grotesk"/>
                <a:ea typeface="Space Grotesk"/>
                <a:cs typeface="Space Grotesk"/>
                <a:sym typeface="Space Grotesk"/>
              </a:rPr>
              <a:t>1</a:t>
            </a:r>
            <a:endParaRPr b="0" sz="1700" u="none" strike="noStrike">
              <a:solidFill>
                <a:srgbClr val="FFFFFF"/>
              </a:solidFill>
              <a:latin typeface="Arial"/>
              <a:ea typeface="Arial"/>
              <a:cs typeface="Arial"/>
              <a:sym typeface="Arial"/>
            </a:endParaRPr>
          </a:p>
        </p:txBody>
      </p:sp>
      <p:sp>
        <p:nvSpPr>
          <p:cNvPr id="262" name="Google Shape;262;p14"/>
          <p:cNvSpPr/>
          <p:nvPr/>
        </p:nvSpPr>
        <p:spPr>
          <a:xfrm>
            <a:off x="1023840" y="2189520"/>
            <a:ext cx="3052800" cy="51984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lang="en-US" sz="1500" u="none" strike="noStrike">
                <a:solidFill>
                  <a:srgbClr val="E8EEF8"/>
                </a:solidFill>
                <a:latin typeface="Inter"/>
                <a:ea typeface="Inter"/>
                <a:cs typeface="Inter"/>
                <a:sym typeface="Inter"/>
              </a:rPr>
              <a:t>Prices are well calibrated in all four categories.</a:t>
            </a:r>
            <a:endParaRPr b="0" sz="1500" u="none" strike="noStrike">
              <a:solidFill>
                <a:srgbClr val="FFFFFF"/>
              </a:solidFill>
              <a:latin typeface="Arial"/>
              <a:ea typeface="Arial"/>
              <a:cs typeface="Arial"/>
              <a:sym typeface="Arial"/>
            </a:endParaRPr>
          </a:p>
        </p:txBody>
      </p:sp>
      <p:sp>
        <p:nvSpPr>
          <p:cNvPr id="263" name="Google Shape;263;p14"/>
          <p:cNvSpPr/>
          <p:nvPr/>
        </p:nvSpPr>
        <p:spPr>
          <a:xfrm>
            <a:off x="4405680" y="1646280"/>
            <a:ext cx="3379680" cy="1245600"/>
          </a:xfrm>
          <a:prstGeom prst="roundRect">
            <a:avLst>
              <a:gd fmla="val 7898"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64" name="Google Shape;264;p14"/>
          <p:cNvSpPr/>
          <p:nvPr/>
        </p:nvSpPr>
        <p:spPr>
          <a:xfrm>
            <a:off x="4613760" y="1854000"/>
            <a:ext cx="3052800" cy="283680"/>
          </a:xfrm>
          <a:prstGeom prst="rect">
            <a:avLst/>
          </a:prstGeom>
          <a:noFill/>
          <a:ln>
            <a:noFill/>
          </a:ln>
        </p:spPr>
        <p:txBody>
          <a:bodyPr anchorCtr="0" anchor="t" bIns="0" lIns="0" spcFirstLastPara="1" rIns="0" wrap="square" tIns="0">
            <a:noAutofit/>
          </a:bodyPr>
          <a:lstStyle/>
          <a:p>
            <a:pPr indent="0" lvl="0" marL="0" marR="0" rtl="0" algn="l">
              <a:lnSpc>
                <a:spcPct val="120058"/>
              </a:lnSpc>
              <a:spcBef>
                <a:spcPts val="0"/>
              </a:spcBef>
              <a:spcAft>
                <a:spcPts val="0"/>
              </a:spcAft>
              <a:buNone/>
            </a:pPr>
            <a:r>
              <a:rPr b="1" lang="en-US" sz="1700" u="none" strike="noStrike">
                <a:solidFill>
                  <a:srgbClr val="4C8DFF"/>
                </a:solidFill>
                <a:latin typeface="Space Grotesk"/>
                <a:ea typeface="Space Grotesk"/>
                <a:cs typeface="Space Grotesk"/>
                <a:sym typeface="Space Grotesk"/>
              </a:rPr>
              <a:t>2</a:t>
            </a:r>
            <a:endParaRPr b="0" sz="1700" u="none" strike="noStrike">
              <a:solidFill>
                <a:srgbClr val="FFFFFF"/>
              </a:solidFill>
              <a:latin typeface="Arial"/>
              <a:ea typeface="Arial"/>
              <a:cs typeface="Arial"/>
              <a:sym typeface="Arial"/>
            </a:endParaRPr>
          </a:p>
        </p:txBody>
      </p:sp>
      <p:sp>
        <p:nvSpPr>
          <p:cNvPr id="265" name="Google Shape;265;p14"/>
          <p:cNvSpPr/>
          <p:nvPr/>
        </p:nvSpPr>
        <p:spPr>
          <a:xfrm>
            <a:off x="4613760" y="2189520"/>
            <a:ext cx="3052800" cy="51984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lang="en-US" sz="1500" u="none" strike="noStrike">
                <a:solidFill>
                  <a:srgbClr val="E8EEF8"/>
                </a:solidFill>
                <a:latin typeface="Inter"/>
                <a:ea typeface="Inter"/>
                <a:cs typeface="Inter"/>
                <a:sym typeface="Inter"/>
              </a:rPr>
              <a:t>The favorite-longshot bias is faint and unstable.</a:t>
            </a:r>
            <a:endParaRPr b="0" sz="1500" u="none" strike="noStrike">
              <a:solidFill>
                <a:srgbClr val="FFFFFF"/>
              </a:solidFill>
              <a:latin typeface="Arial"/>
              <a:ea typeface="Arial"/>
              <a:cs typeface="Arial"/>
              <a:sym typeface="Arial"/>
            </a:endParaRPr>
          </a:p>
        </p:txBody>
      </p:sp>
      <p:sp>
        <p:nvSpPr>
          <p:cNvPr id="266" name="Google Shape;266;p14"/>
          <p:cNvSpPr/>
          <p:nvPr/>
        </p:nvSpPr>
        <p:spPr>
          <a:xfrm>
            <a:off x="7995600" y="1646280"/>
            <a:ext cx="3379680" cy="1245600"/>
          </a:xfrm>
          <a:prstGeom prst="roundRect">
            <a:avLst>
              <a:gd fmla="val 7898"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67" name="Google Shape;267;p14"/>
          <p:cNvSpPr/>
          <p:nvPr/>
        </p:nvSpPr>
        <p:spPr>
          <a:xfrm>
            <a:off x="8203680" y="1854000"/>
            <a:ext cx="3052800" cy="283680"/>
          </a:xfrm>
          <a:prstGeom prst="rect">
            <a:avLst/>
          </a:prstGeom>
          <a:noFill/>
          <a:ln>
            <a:noFill/>
          </a:ln>
        </p:spPr>
        <p:txBody>
          <a:bodyPr anchorCtr="0" anchor="t" bIns="0" lIns="0" spcFirstLastPara="1" rIns="0" wrap="square" tIns="0">
            <a:noAutofit/>
          </a:bodyPr>
          <a:lstStyle/>
          <a:p>
            <a:pPr indent="0" lvl="0" marL="0" marR="0" rtl="0" algn="l">
              <a:lnSpc>
                <a:spcPct val="120058"/>
              </a:lnSpc>
              <a:spcBef>
                <a:spcPts val="0"/>
              </a:spcBef>
              <a:spcAft>
                <a:spcPts val="0"/>
              </a:spcAft>
              <a:buNone/>
            </a:pPr>
            <a:r>
              <a:rPr b="1" lang="en-US" sz="1700" u="none" strike="noStrike">
                <a:solidFill>
                  <a:srgbClr val="F5A524"/>
                </a:solidFill>
                <a:latin typeface="Space Grotesk"/>
                <a:ea typeface="Space Grotesk"/>
                <a:cs typeface="Space Grotesk"/>
                <a:sym typeface="Space Grotesk"/>
              </a:rPr>
              <a:t>3</a:t>
            </a:r>
            <a:endParaRPr b="0" sz="1700" u="none" strike="noStrike">
              <a:solidFill>
                <a:srgbClr val="FFFFFF"/>
              </a:solidFill>
              <a:latin typeface="Arial"/>
              <a:ea typeface="Arial"/>
              <a:cs typeface="Arial"/>
              <a:sym typeface="Arial"/>
            </a:endParaRPr>
          </a:p>
        </p:txBody>
      </p:sp>
      <p:sp>
        <p:nvSpPr>
          <p:cNvPr id="268" name="Google Shape;268;p14"/>
          <p:cNvSpPr/>
          <p:nvPr/>
        </p:nvSpPr>
        <p:spPr>
          <a:xfrm>
            <a:off x="8203680" y="2189520"/>
            <a:ext cx="3052800" cy="51984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lang="en-US" sz="1500" u="none" strike="noStrike">
                <a:solidFill>
                  <a:srgbClr val="E8EEF8"/>
                </a:solidFill>
                <a:latin typeface="Inter"/>
                <a:ea typeface="Inter"/>
                <a:cs typeface="Inter"/>
                <a:sym typeface="Inter"/>
              </a:rPr>
              <a:t>No model we built beats the price.</a:t>
            </a:r>
            <a:endParaRPr b="0" sz="1500" u="none" strike="noStrike">
              <a:solidFill>
                <a:srgbClr val="FFFFFF"/>
              </a:solidFill>
              <a:latin typeface="Arial"/>
              <a:ea typeface="Arial"/>
              <a:cs typeface="Arial"/>
              <a:sym typeface="Arial"/>
            </a:endParaRPr>
          </a:p>
        </p:txBody>
      </p:sp>
      <p:sp>
        <p:nvSpPr>
          <p:cNvPr id="269" name="Google Shape;269;p14"/>
          <p:cNvSpPr/>
          <p:nvPr/>
        </p:nvSpPr>
        <p:spPr>
          <a:xfrm>
            <a:off x="815760" y="3076560"/>
            <a:ext cx="5174640" cy="1058760"/>
          </a:xfrm>
          <a:prstGeom prst="roundRect">
            <a:avLst>
              <a:gd fmla="val 9290" name="adj"/>
            </a:avLst>
          </a:prstGeom>
          <a:solidFill>
            <a:srgbClr val="121B2E"/>
          </a:solidFill>
          <a:ln cap="flat" cmpd="sng" w="9525">
            <a:solidFill>
              <a:srgbClr val="22304D"/>
            </a:solidFill>
            <a:prstDash val="solid"/>
            <a:round/>
            <a:headEnd len="sm" w="sm" type="none"/>
            <a:tailEnd len="sm" w="sm" type="none"/>
          </a:ln>
        </p:spPr>
        <p:txBody>
          <a:bodyPr anchorCtr="0" anchor="t" bIns="153700" lIns="178900" spcFirstLastPara="1" rIns="36350" wrap="square" tIns="179275">
            <a:noAutofit/>
          </a:bodyPr>
          <a:lstStyle/>
          <a:p>
            <a:pPr indent="0" lvl="0" marL="0" marR="0" rtl="0" algn="l">
              <a:lnSpc>
                <a:spcPct val="129923"/>
              </a:lnSpc>
              <a:spcBef>
                <a:spcPts val="0"/>
              </a:spcBef>
              <a:spcAft>
                <a:spcPts val="0"/>
              </a:spcAft>
              <a:buNone/>
            </a:pPr>
            <a:r>
              <a:rPr b="1" lang="en-US" sz="1300" u="none" strike="noStrike">
                <a:solidFill>
                  <a:srgbClr val="9DB0CC"/>
                </a:solidFill>
                <a:latin typeface="Inter"/>
                <a:ea typeface="Inter"/>
                <a:cs typeface="Inter"/>
                <a:sym typeface="Inter"/>
              </a:rPr>
              <a:t>Limit: some markets close early because the event happened, so “24h before close” differs for Yes and No markets.</a:t>
            </a:r>
            <a:endParaRPr b="1" sz="1300" u="none" strike="noStrike">
              <a:solidFill>
                <a:srgbClr val="FFFFFF"/>
              </a:solidFill>
            </a:endParaRPr>
          </a:p>
        </p:txBody>
      </p:sp>
      <p:sp>
        <p:nvSpPr>
          <p:cNvPr id="270" name="Google Shape;270;p14"/>
          <p:cNvSpPr/>
          <p:nvPr/>
        </p:nvSpPr>
        <p:spPr>
          <a:xfrm>
            <a:off x="6200640" y="3076560"/>
            <a:ext cx="5174640" cy="1058760"/>
          </a:xfrm>
          <a:prstGeom prst="roundRect">
            <a:avLst>
              <a:gd fmla="val 9290" name="adj"/>
            </a:avLst>
          </a:prstGeom>
          <a:solidFill>
            <a:srgbClr val="121B2E"/>
          </a:solidFill>
          <a:ln cap="flat" cmpd="sng" w="9525">
            <a:solidFill>
              <a:srgbClr val="22304D"/>
            </a:solidFill>
            <a:prstDash val="solid"/>
            <a:round/>
            <a:headEnd len="sm" w="sm" type="none"/>
            <a:tailEnd len="sm" w="sm" type="none"/>
          </a:ln>
        </p:spPr>
        <p:txBody>
          <a:bodyPr anchorCtr="0" anchor="t" bIns="179275" lIns="178900" spcFirstLastPara="1" rIns="36350" wrap="square" tIns="179275">
            <a:noAutofit/>
          </a:bodyPr>
          <a:lstStyle/>
          <a:p>
            <a:pPr indent="0" lvl="0" marL="0" marR="0" rtl="0" algn="l">
              <a:lnSpc>
                <a:spcPct val="129923"/>
              </a:lnSpc>
              <a:spcBef>
                <a:spcPts val="0"/>
              </a:spcBef>
              <a:spcAft>
                <a:spcPts val="0"/>
              </a:spcAft>
              <a:buNone/>
            </a:pPr>
            <a:r>
              <a:rPr b="1" lang="en-US" sz="1300" u="none" strike="noStrike">
                <a:solidFill>
                  <a:srgbClr val="9DB0CC"/>
                </a:solidFill>
                <a:latin typeface="Inter"/>
                <a:ea typeface="Inter"/>
                <a:cs typeface="Inter"/>
                <a:sym typeface="Inter"/>
              </a:rPr>
              <a:t>Limit: one test period, September to October 2026.</a:t>
            </a:r>
            <a:endParaRPr b="1" sz="1300" u="none" strike="noStrike">
              <a:solidFill>
                <a:srgbClr val="FFFFFF"/>
              </a:solidFill>
            </a:endParaRPr>
          </a:p>
        </p:txBody>
      </p:sp>
      <p:sp>
        <p:nvSpPr>
          <p:cNvPr id="271" name="Google Shape;271;p14"/>
          <p:cNvSpPr/>
          <p:nvPr/>
        </p:nvSpPr>
        <p:spPr>
          <a:xfrm>
            <a:off x="812880" y="6303565"/>
            <a:ext cx="9810000" cy="237900"/>
          </a:xfrm>
          <a:prstGeom prst="rect">
            <a:avLst/>
          </a:prstGeom>
          <a:noFill/>
          <a:ln>
            <a:noFill/>
          </a:ln>
        </p:spPr>
        <p:txBody>
          <a:bodyPr anchorCtr="0" anchor="t" bIns="0" lIns="0" spcFirstLastPara="1" rIns="0" wrap="square" tIns="0">
            <a:noAutofit/>
          </a:bodyPr>
          <a:lstStyle/>
          <a:p>
            <a:pPr indent="0" lvl="0" marL="0" marR="0" rtl="0" algn="l">
              <a:lnSpc>
                <a:spcPct val="140083"/>
              </a:lnSpc>
              <a:spcBef>
                <a:spcPts val="0"/>
              </a:spcBef>
              <a:spcAft>
                <a:spcPts val="0"/>
              </a:spcAft>
              <a:buNone/>
            </a:pPr>
            <a:r>
              <a:rPr b="0" lang="en-US" sz="1200" u="none" strike="noStrike">
                <a:solidFill>
                  <a:srgbClr val="9DB0CC"/>
                </a:solidFill>
                <a:latin typeface="Inter"/>
                <a:ea typeface="Inter"/>
                <a:cs typeface="Inter"/>
                <a:sym typeface="Inter"/>
              </a:rPr>
              <a:t>Market part · Slide 7 of 7 · About 1:00</a:t>
            </a:r>
            <a:endParaRPr b="0" sz="1200" u="none" strike="noStrike">
              <a:solidFill>
                <a:srgbClr val="FFFFFF"/>
              </a:solidFill>
              <a:latin typeface="Arial"/>
              <a:ea typeface="Arial"/>
              <a:cs typeface="Arial"/>
              <a:sym typeface="Arial"/>
            </a:endParaRPr>
          </a:p>
        </p:txBody>
      </p:sp>
      <p:sp>
        <p:nvSpPr>
          <p:cNvPr id="272" name="Google Shape;272;p14"/>
          <p:cNvSpPr/>
          <p:nvPr/>
        </p:nvSpPr>
        <p:spPr>
          <a:xfrm>
            <a:off x="2045625" y="4316753"/>
            <a:ext cx="6154500" cy="1805400"/>
          </a:xfrm>
          <a:prstGeom prst="roundRect">
            <a:avLst>
              <a:gd fmla="val 4545" name="adj"/>
            </a:avLst>
          </a:prstGeom>
          <a:solidFill>
            <a:srgbClr val="F8FAFC"/>
          </a:solidFill>
          <a:ln>
            <a:noFill/>
          </a:ln>
        </p:spPr>
        <p:txBody>
          <a:bodyPr anchorCtr="0" anchor="ctr" bIns="32800" lIns="65625" spcFirstLastPara="1" rIns="65625" wrap="square" tIns="32800">
            <a:noAutofit/>
          </a:bodyPr>
          <a:lstStyle/>
          <a:p>
            <a:pPr indent="0" lvl="0" marL="0" marR="0" rtl="0" algn="ctr">
              <a:spcBef>
                <a:spcPts val="0"/>
              </a:spcBef>
              <a:spcAft>
                <a:spcPts val="0"/>
              </a:spcAft>
              <a:buNone/>
            </a:pPr>
            <a:r>
              <a:t/>
            </a:r>
            <a:endParaRPr b="0" i="0" sz="1292" u="none" cap="none" strike="noStrike">
              <a:solidFill>
                <a:srgbClr val="000000"/>
              </a:solidFill>
              <a:latin typeface="Calibri"/>
              <a:ea typeface="Calibri"/>
              <a:cs typeface="Calibri"/>
              <a:sym typeface="Calibri"/>
            </a:endParaRPr>
          </a:p>
        </p:txBody>
      </p:sp>
      <p:sp>
        <p:nvSpPr>
          <p:cNvPr id="273" name="Google Shape;273;p14"/>
          <p:cNvSpPr/>
          <p:nvPr/>
        </p:nvSpPr>
        <p:spPr>
          <a:xfrm>
            <a:off x="2045625" y="4316753"/>
            <a:ext cx="41100" cy="1805400"/>
          </a:xfrm>
          <a:prstGeom prst="rect">
            <a:avLst/>
          </a:prstGeom>
          <a:solidFill>
            <a:srgbClr val="0284C7"/>
          </a:solidFill>
          <a:ln>
            <a:noFill/>
          </a:ln>
        </p:spPr>
        <p:txBody>
          <a:bodyPr anchorCtr="0" anchor="ctr" bIns="32800" lIns="65625" spcFirstLastPara="1" rIns="65625" wrap="square" tIns="32800">
            <a:noAutofit/>
          </a:bodyPr>
          <a:lstStyle/>
          <a:p>
            <a:pPr indent="0" lvl="0" marL="0" marR="0" rtl="0" algn="ctr">
              <a:spcBef>
                <a:spcPts val="0"/>
              </a:spcBef>
              <a:spcAft>
                <a:spcPts val="0"/>
              </a:spcAft>
              <a:buNone/>
            </a:pPr>
            <a:r>
              <a:t/>
            </a:r>
            <a:endParaRPr b="0" i="0" sz="1292" u="none" cap="none" strike="noStrike">
              <a:solidFill>
                <a:srgbClr val="000000"/>
              </a:solidFill>
              <a:latin typeface="Calibri"/>
              <a:ea typeface="Calibri"/>
              <a:cs typeface="Calibri"/>
              <a:sym typeface="Calibri"/>
            </a:endParaRPr>
          </a:p>
        </p:txBody>
      </p:sp>
      <p:sp>
        <p:nvSpPr>
          <p:cNvPr id="274" name="Google Shape;274;p14"/>
          <p:cNvSpPr txBox="1"/>
          <p:nvPr/>
        </p:nvSpPr>
        <p:spPr>
          <a:xfrm>
            <a:off x="2360189" y="4590287"/>
            <a:ext cx="7139100" cy="198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92" u="none" cap="none" strike="noStrike">
                <a:solidFill>
                  <a:srgbClr val="0F172A"/>
                </a:solidFill>
                <a:latin typeface="Inter"/>
                <a:ea typeface="Inter"/>
                <a:cs typeface="Inter"/>
                <a:sym typeface="Inter"/>
              </a:rPr>
              <a:t>Conceptual Pivot to Act II</a:t>
            </a:r>
            <a:endParaRPr sz="1005"/>
          </a:p>
        </p:txBody>
      </p:sp>
      <p:sp>
        <p:nvSpPr>
          <p:cNvPr id="275" name="Google Shape;275;p14"/>
          <p:cNvSpPr txBox="1"/>
          <p:nvPr/>
        </p:nvSpPr>
        <p:spPr>
          <a:xfrm>
            <a:off x="2360189" y="4898013"/>
            <a:ext cx="5634900" cy="696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077" u="none" cap="none" strike="noStrike">
                <a:solidFill>
                  <a:srgbClr val="334155"/>
                </a:solidFill>
                <a:latin typeface="Inter"/>
                <a:ea typeface="Inter"/>
                <a:cs typeface="Inter"/>
                <a:sym typeface="Inter"/>
              </a:rPr>
              <a:t>"Because prices are aggregate-efficient and un-scalable by standard ML models, </a:t>
            </a:r>
            <a:r>
              <a:rPr b="1" i="0" lang="en-US" sz="1077" u="none" cap="none" strike="noStrike">
                <a:solidFill>
                  <a:srgbClr val="334155"/>
                </a:solidFill>
                <a:latin typeface="Inter"/>
                <a:ea typeface="Inter"/>
                <a:cs typeface="Inter"/>
                <a:sym typeface="Inter"/>
              </a:rPr>
              <a:t>an informed trader is not simply someone who wins a bet</a:t>
            </a:r>
            <a:r>
              <a:rPr b="0" i="0" lang="en-US" sz="1077" u="none" cap="none" strike="noStrike">
                <a:solidFill>
                  <a:srgbClr val="334155"/>
                </a:solidFill>
                <a:latin typeface="Inter"/>
                <a:ea typeface="Inter"/>
                <a:cs typeface="Inter"/>
                <a:sym typeface="Inter"/>
              </a:rPr>
              <a:t>, </a:t>
            </a:r>
            <a:r>
              <a:rPr b="0" i="0" lang="en-US" sz="1077" u="none" cap="none" strike="noStrike">
                <a:solidFill>
                  <a:srgbClr val="334155"/>
                </a:solidFill>
                <a:latin typeface="Inter"/>
                <a:ea typeface="Inter"/>
                <a:cs typeface="Inter"/>
                <a:sym typeface="Inter"/>
              </a:rPr>
              <a:t>but someone who systematically beats the prevailing market price."</a:t>
            </a:r>
            <a:endParaRPr sz="1005"/>
          </a:p>
        </p:txBody>
      </p:sp>
      <p:sp>
        <p:nvSpPr>
          <p:cNvPr id="276" name="Google Shape;276;p14"/>
          <p:cNvSpPr txBox="1"/>
          <p:nvPr/>
        </p:nvSpPr>
        <p:spPr>
          <a:xfrm>
            <a:off x="2360189" y="5722035"/>
            <a:ext cx="752400" cy="116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754" u="none" cap="none" strike="noStrike">
                <a:solidFill>
                  <a:srgbClr val="0284C7"/>
                </a:solidFill>
                <a:latin typeface="JetBrains Mono"/>
                <a:ea typeface="JetBrains Mono"/>
                <a:cs typeface="JetBrains Mono"/>
                <a:sym typeface="JetBrains Mono"/>
              </a:rPr>
              <a:t>NEXT STEP:</a:t>
            </a:r>
            <a:endParaRPr sz="1005"/>
          </a:p>
        </p:txBody>
      </p:sp>
      <p:sp>
        <p:nvSpPr>
          <p:cNvPr id="277" name="Google Shape;277;p14"/>
          <p:cNvSpPr txBox="1"/>
          <p:nvPr/>
        </p:nvSpPr>
        <p:spPr>
          <a:xfrm>
            <a:off x="2989318" y="5718615"/>
            <a:ext cx="4325400" cy="124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08" u="none" cap="none" strike="noStrike">
                <a:solidFill>
                  <a:srgbClr val="64748B"/>
                </a:solidFill>
                <a:latin typeface="Inter"/>
                <a:ea typeface="Inter"/>
                <a:cs typeface="Inter"/>
                <a:sym typeface="Inter"/>
              </a:rPr>
              <a:t>Analyze wallet-level heterogeneity to isolate informed trading patterns.</a:t>
            </a:r>
            <a:endParaRPr sz="1005"/>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282" name="Shape 282"/>
        <p:cNvGrpSpPr/>
        <p:nvPr/>
      </p:nvGrpSpPr>
      <p:grpSpPr>
        <a:xfrm>
          <a:off x="0" y="0"/>
          <a:ext cx="0" cy="0"/>
          <a:chOff x="0" y="0"/>
          <a:chExt cx="0" cy="0"/>
        </a:xfrm>
      </p:grpSpPr>
      <p:sp>
        <p:nvSpPr>
          <p:cNvPr id="283" name="Google Shape;283;p15"/>
          <p:cNvSpPr/>
          <p:nvPr/>
        </p:nvSpPr>
        <p:spPr>
          <a:xfrm>
            <a:off x="812880" y="609480"/>
            <a:ext cx="10882800" cy="255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1300" u="none" strike="noStrike">
                <a:solidFill>
                  <a:srgbClr val="2DD4A0"/>
                </a:solidFill>
                <a:latin typeface="Inter"/>
                <a:ea typeface="Inter"/>
                <a:cs typeface="Inter"/>
                <a:sym typeface="Inter"/>
              </a:rPr>
              <a:t>WALLET · JIAHONG</a:t>
            </a:r>
            <a:endParaRPr b="0" sz="1300" u="none" strike="noStrike">
              <a:solidFill>
                <a:srgbClr val="FFFFFF"/>
              </a:solidFill>
              <a:latin typeface="Arial"/>
              <a:ea typeface="Arial"/>
              <a:cs typeface="Arial"/>
              <a:sym typeface="Arial"/>
            </a:endParaRPr>
          </a:p>
        </p:txBody>
      </p:sp>
      <p:sp>
        <p:nvSpPr>
          <p:cNvPr id="284" name="Google Shape;284;p15"/>
          <p:cNvSpPr txBox="1"/>
          <p:nvPr>
            <p:ph type="title"/>
          </p:nvPr>
        </p:nvSpPr>
        <p:spPr>
          <a:xfrm>
            <a:off x="812880" y="1018440"/>
            <a:ext cx="10882800" cy="471600"/>
          </a:xfrm>
          <a:prstGeom prst="rect">
            <a:avLst/>
          </a:prstGeom>
          <a:noFill/>
          <a:ln>
            <a:noFill/>
          </a:ln>
        </p:spPr>
        <p:txBody>
          <a:bodyPr anchorCtr="0" anchor="t" bIns="0" lIns="0" spcFirstLastPara="1" rIns="0" wrap="square" tIns="0">
            <a:normAutofit/>
          </a:bodyPr>
          <a:lstStyle/>
          <a:p>
            <a:pPr indent="0" lvl="0" marL="0" rtl="0" algn="l">
              <a:lnSpc>
                <a:spcPct val="110031"/>
              </a:lnSpc>
              <a:spcBef>
                <a:spcPts val="0"/>
              </a:spcBef>
              <a:spcAft>
                <a:spcPts val="0"/>
              </a:spcAft>
              <a:buClr>
                <a:srgbClr val="E8EEF8"/>
              </a:buClr>
              <a:buSzPts val="3200"/>
              <a:buFont typeface="Space Grotesk"/>
              <a:buNone/>
            </a:pPr>
            <a:r>
              <a:rPr b="1" lang="en-US" sz="3200" u="none" strike="noStrike">
                <a:solidFill>
                  <a:srgbClr val="E8EEF8"/>
                </a:solidFill>
                <a:latin typeface="Space Grotesk"/>
                <a:ea typeface="Space Grotesk"/>
                <a:cs typeface="Space Grotesk"/>
                <a:sym typeface="Space Grotesk"/>
              </a:rPr>
              <a:t>Question and data</a:t>
            </a:r>
            <a:endParaRPr b="0" sz="3200" u="none" strike="noStrike">
              <a:solidFill>
                <a:schemeClr val="lt1"/>
              </a:solidFill>
              <a:latin typeface="Inter"/>
              <a:ea typeface="Inter"/>
              <a:cs typeface="Inter"/>
              <a:sym typeface="Inter"/>
            </a:endParaRPr>
          </a:p>
        </p:txBody>
      </p:sp>
      <p:sp>
        <p:nvSpPr>
          <p:cNvPr id="285" name="Google Shape;285;p15"/>
          <p:cNvSpPr/>
          <p:nvPr/>
        </p:nvSpPr>
        <p:spPr>
          <a:xfrm>
            <a:off x="815760" y="1646280"/>
            <a:ext cx="4489200" cy="993960"/>
          </a:xfrm>
          <a:prstGeom prst="roundRect">
            <a:avLst>
              <a:gd fmla="val 9894" name="adj"/>
            </a:avLst>
          </a:prstGeom>
          <a:solidFill>
            <a:srgbClr val="121B2E"/>
          </a:solidFill>
          <a:ln cap="flat" cmpd="sng" w="9525">
            <a:solidFill>
              <a:srgbClr val="22304D"/>
            </a:solidFill>
            <a:prstDash val="solid"/>
            <a:round/>
            <a:headEnd len="sm" w="sm" type="none"/>
            <a:tailEnd len="sm" w="sm" type="none"/>
          </a:ln>
        </p:spPr>
        <p:txBody>
          <a:bodyPr anchorCtr="0" anchor="t" bIns="179275" lIns="178900" spcFirstLastPara="1" rIns="56875" wrap="square" tIns="179275">
            <a:noAutofit/>
          </a:bodyPr>
          <a:lstStyle/>
          <a:p>
            <a:pPr indent="0" lvl="0" marL="0" marR="0" rtl="0" algn="l">
              <a:lnSpc>
                <a:spcPct val="130062"/>
              </a:lnSpc>
              <a:spcBef>
                <a:spcPts val="0"/>
              </a:spcBef>
              <a:spcAft>
                <a:spcPts val="0"/>
              </a:spcAft>
              <a:buNone/>
            </a:pPr>
            <a:r>
              <a:rPr b="0" lang="en-US" sz="1600" u="none" strike="noStrike">
                <a:solidFill>
                  <a:srgbClr val="E8EEF8"/>
                </a:solidFill>
                <a:latin typeface="Inter"/>
                <a:ea typeface="Inter"/>
                <a:cs typeface="Inter"/>
                <a:sym typeface="Inter"/>
              </a:rPr>
              <a:t>How well do six wallet traits predict a wallet’s average purchase price?</a:t>
            </a:r>
            <a:endParaRPr b="0" sz="1600" u="none" strike="noStrike">
              <a:solidFill>
                <a:srgbClr val="FFFFFF"/>
              </a:solidFill>
              <a:latin typeface="Arial"/>
              <a:ea typeface="Arial"/>
              <a:cs typeface="Arial"/>
              <a:sym typeface="Arial"/>
            </a:endParaRPr>
          </a:p>
        </p:txBody>
      </p:sp>
      <p:sp>
        <p:nvSpPr>
          <p:cNvPr id="286" name="Google Shape;286;p15"/>
          <p:cNvSpPr/>
          <p:nvPr/>
        </p:nvSpPr>
        <p:spPr>
          <a:xfrm>
            <a:off x="815760" y="2799720"/>
            <a:ext cx="4489200" cy="994320"/>
          </a:xfrm>
          <a:prstGeom prst="roundRect">
            <a:avLst>
              <a:gd fmla="val 9893" name="adj"/>
            </a:avLst>
          </a:prstGeom>
          <a:solidFill>
            <a:srgbClr val="121B2E"/>
          </a:solidFill>
          <a:ln cap="flat" cmpd="sng" w="9525">
            <a:solidFill>
              <a:srgbClr val="22304D"/>
            </a:solidFill>
            <a:prstDash val="solid"/>
            <a:round/>
            <a:headEnd len="sm" w="sm" type="none"/>
            <a:tailEnd len="sm" w="sm" type="none"/>
          </a:ln>
        </p:spPr>
        <p:txBody>
          <a:bodyPr anchorCtr="0" anchor="t" bIns="179275" lIns="178900" spcFirstLastPara="1" rIns="56875" wrap="square" tIns="179275">
            <a:noAutofit/>
          </a:bodyPr>
          <a:lstStyle/>
          <a:p>
            <a:pPr indent="0" lvl="0" marL="0" marR="0" rtl="0" algn="l">
              <a:lnSpc>
                <a:spcPct val="130062"/>
              </a:lnSpc>
              <a:spcBef>
                <a:spcPts val="0"/>
              </a:spcBef>
              <a:spcAft>
                <a:spcPts val="0"/>
              </a:spcAft>
              <a:buNone/>
            </a:pPr>
            <a:r>
              <a:rPr b="0" lang="en-US" sz="1600" u="none" strike="noStrike">
                <a:solidFill>
                  <a:srgbClr val="F5A524"/>
                </a:solidFill>
                <a:latin typeface="Inter"/>
                <a:ea typeface="Inter"/>
                <a:cs typeface="Inter"/>
                <a:sym typeface="Inter"/>
              </a:rPr>
              <a:t>Does gradient boosting beat linear regression?</a:t>
            </a:r>
            <a:endParaRPr b="0" sz="1600" u="none" strike="noStrike">
              <a:solidFill>
                <a:srgbClr val="FFFFFF"/>
              </a:solidFill>
              <a:latin typeface="Arial"/>
              <a:ea typeface="Arial"/>
              <a:cs typeface="Arial"/>
              <a:sym typeface="Arial"/>
            </a:endParaRPr>
          </a:p>
        </p:txBody>
      </p:sp>
      <p:sp>
        <p:nvSpPr>
          <p:cNvPr id="287" name="Google Shape;287;p15"/>
          <p:cNvSpPr/>
          <p:nvPr/>
        </p:nvSpPr>
        <p:spPr>
          <a:xfrm>
            <a:off x="815760" y="3953160"/>
            <a:ext cx="4489200" cy="994320"/>
          </a:xfrm>
          <a:prstGeom prst="roundRect">
            <a:avLst>
              <a:gd fmla="val 9893" name="adj"/>
            </a:avLst>
          </a:prstGeom>
          <a:solidFill>
            <a:srgbClr val="121B2E"/>
          </a:solidFill>
          <a:ln cap="flat" cmpd="sng" w="9525">
            <a:solidFill>
              <a:srgbClr val="22304D"/>
            </a:solidFill>
            <a:prstDash val="solid"/>
            <a:round/>
            <a:headEnd len="sm" w="sm" type="none"/>
            <a:tailEnd len="sm" w="sm" type="none"/>
          </a:ln>
        </p:spPr>
        <p:txBody>
          <a:bodyPr anchorCtr="0" anchor="t" bIns="179275" lIns="178900" spcFirstLastPara="1" rIns="56875" wrap="square" tIns="179275">
            <a:noAutofit/>
          </a:bodyPr>
          <a:lstStyle/>
          <a:p>
            <a:pPr indent="0" lvl="0" marL="0" marR="0" rtl="0" algn="l">
              <a:lnSpc>
                <a:spcPct val="129923"/>
              </a:lnSpc>
              <a:spcBef>
                <a:spcPts val="0"/>
              </a:spcBef>
              <a:spcAft>
                <a:spcPts val="0"/>
              </a:spcAft>
              <a:buNone/>
            </a:pPr>
            <a:r>
              <a:rPr b="1" lang="en-US" sz="1300" u="sng" strike="noStrike">
                <a:solidFill>
                  <a:srgbClr val="9DB0CC"/>
                </a:solidFill>
                <a:latin typeface="Inter"/>
                <a:ea typeface="Inter"/>
                <a:cs typeface="Inter"/>
                <a:sym typeface="Inter"/>
              </a:rPr>
              <a:t>55,952 wallets, one row each.</a:t>
            </a:r>
            <a:r>
              <a:rPr b="0" lang="en-US" sz="1300" u="none" strike="noStrike">
                <a:solidFill>
                  <a:srgbClr val="9DB0CC"/>
                </a:solidFill>
                <a:latin typeface="Inter"/>
                <a:ea typeface="Inter"/>
                <a:cs typeface="Inter"/>
                <a:sym typeface="Inter"/>
              </a:rPr>
              <a:t> Target: volume-weighted price paid for shares bought.</a:t>
            </a:r>
            <a:endParaRPr b="0" sz="1300" u="none" strike="noStrike">
              <a:solidFill>
                <a:srgbClr val="FFFFFF"/>
              </a:solidFill>
              <a:latin typeface="Arial"/>
              <a:ea typeface="Arial"/>
              <a:cs typeface="Arial"/>
              <a:sym typeface="Arial"/>
            </a:endParaRPr>
          </a:p>
        </p:txBody>
      </p:sp>
      <p:sp>
        <p:nvSpPr>
          <p:cNvPr id="288" name="Google Shape;288;p15"/>
          <p:cNvSpPr/>
          <p:nvPr/>
        </p:nvSpPr>
        <p:spPr>
          <a:xfrm>
            <a:off x="5511960" y="1643040"/>
            <a:ext cx="5866560" cy="3307320"/>
          </a:xfrm>
          <a:prstGeom prst="roundRect">
            <a:avLst>
              <a:gd fmla="val 3071" name="adj"/>
            </a:avLst>
          </a:prstGeom>
          <a:solidFill>
            <a:srgbClr val="FDFDFB"/>
          </a:solid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pic>
        <p:nvPicPr>
          <p:cNvPr descr="chart" id="289" name="Google Shape;289;p15"/>
          <p:cNvPicPr preferRelativeResize="0"/>
          <p:nvPr/>
        </p:nvPicPr>
        <p:blipFill rotWithShape="1">
          <a:blip r:embed="rId3">
            <a:alphaModFix/>
          </a:blip>
          <a:srcRect b="0" l="-18" r="-18" t="0"/>
          <a:stretch/>
        </p:blipFill>
        <p:spPr>
          <a:xfrm>
            <a:off x="5588280" y="1719360"/>
            <a:ext cx="5714280" cy="3155040"/>
          </a:xfrm>
          <a:prstGeom prst="rect">
            <a:avLst/>
          </a:prstGeom>
          <a:noFill/>
          <a:ln>
            <a:noFill/>
          </a:ln>
        </p:spPr>
      </p:pic>
      <p:sp>
        <p:nvSpPr>
          <p:cNvPr id="290" name="Google Shape;290;p15"/>
          <p:cNvSpPr/>
          <p:nvPr/>
        </p:nvSpPr>
        <p:spPr>
          <a:xfrm>
            <a:off x="812880" y="6238440"/>
            <a:ext cx="9810000" cy="237960"/>
          </a:xfrm>
          <a:prstGeom prst="rect">
            <a:avLst/>
          </a:prstGeom>
          <a:noFill/>
          <a:ln>
            <a:noFill/>
          </a:ln>
        </p:spPr>
        <p:txBody>
          <a:bodyPr anchorCtr="0" anchor="t" bIns="0" lIns="0" spcFirstLastPara="1" rIns="0" wrap="square" tIns="0">
            <a:noAutofit/>
          </a:bodyPr>
          <a:lstStyle/>
          <a:p>
            <a:pPr indent="0" lvl="0" marL="0" marR="0" rtl="0" algn="l">
              <a:lnSpc>
                <a:spcPct val="140083"/>
              </a:lnSpc>
              <a:spcBef>
                <a:spcPts val="0"/>
              </a:spcBef>
              <a:spcAft>
                <a:spcPts val="0"/>
              </a:spcAft>
              <a:buNone/>
            </a:pPr>
            <a:r>
              <a:rPr b="0" lang="en-US" sz="1200" u="none" strike="noStrike">
                <a:solidFill>
                  <a:srgbClr val="9DB0CC"/>
                </a:solidFill>
                <a:latin typeface="Inter"/>
                <a:ea typeface="Inter"/>
                <a:cs typeface="Inter"/>
                <a:sym typeface="Inter"/>
              </a:rPr>
              <a:t>Wallet part · Slide 1 of 4</a:t>
            </a:r>
            <a:endParaRPr b="0" sz="1200" u="none" strike="noStrike">
              <a:solidFill>
                <a:srgbClr val="FFFFFF"/>
              </a:solidFill>
              <a:latin typeface="Arial"/>
              <a:ea typeface="Arial"/>
              <a:cs typeface="Arial"/>
              <a:sym typeface="Arial"/>
            </a:endParaRPr>
          </a:p>
        </p:txBody>
      </p:sp>
      <p:sp>
        <p:nvSpPr>
          <p:cNvPr id="291" name="Google Shape;291;p15"/>
          <p:cNvSpPr/>
          <p:nvPr/>
        </p:nvSpPr>
        <p:spPr>
          <a:xfrm>
            <a:off x="883655" y="5185810"/>
            <a:ext cx="10882800" cy="415800"/>
          </a:xfrm>
          <a:prstGeom prst="rect">
            <a:avLst/>
          </a:prstGeom>
          <a:noFill/>
          <a:ln>
            <a:noFill/>
          </a:ln>
        </p:spPr>
        <p:txBody>
          <a:bodyPr anchorCtr="0" anchor="t" bIns="0" lIns="0" spcFirstLastPara="1" rIns="0" wrap="square" tIns="0">
            <a:noAutofit/>
          </a:bodyPr>
          <a:lstStyle/>
          <a:p>
            <a:pPr indent="0" lvl="0" marL="0" marR="0" rtl="0" algn="l">
              <a:lnSpc>
                <a:spcPct val="140045"/>
              </a:lnSpc>
              <a:spcBef>
                <a:spcPts val="0"/>
              </a:spcBef>
              <a:spcAft>
                <a:spcPts val="0"/>
              </a:spcAft>
              <a:buNone/>
            </a:pPr>
            <a:r>
              <a:rPr b="1" lang="en-US" sz="2200">
                <a:solidFill>
                  <a:srgbClr val="F5A524"/>
                </a:solidFill>
                <a:latin typeface="Space Grotesk"/>
                <a:ea typeface="Space Grotesk"/>
                <a:cs typeface="Space Grotesk"/>
                <a:sym typeface="Space Grotesk"/>
              </a:rPr>
              <a:t>Reminder: </a:t>
            </a:r>
            <a:r>
              <a:rPr b="1" lang="en-US" sz="2200">
                <a:solidFill>
                  <a:srgbClr val="F5A524"/>
                </a:solidFill>
                <a:latin typeface="Space Grotesk"/>
                <a:ea typeface="Space Grotesk"/>
                <a:cs typeface="Space Grotesk"/>
                <a:sym typeface="Space Grotesk"/>
              </a:rPr>
              <a:t>“</a:t>
            </a:r>
            <a:r>
              <a:rPr b="1" lang="en-US" sz="2200" u="none" strike="noStrike">
                <a:solidFill>
                  <a:srgbClr val="F5A524"/>
                </a:solidFill>
                <a:latin typeface="Space Grotesk"/>
                <a:ea typeface="Space Grotesk"/>
                <a:cs typeface="Space Grotesk"/>
                <a:sym typeface="Space Grotesk"/>
              </a:rPr>
              <a:t>An informed trader is one who beats the price, not one who wins a lot.</a:t>
            </a:r>
            <a:r>
              <a:rPr b="1" lang="en-US" sz="2200">
                <a:solidFill>
                  <a:srgbClr val="F5A524"/>
                </a:solidFill>
                <a:latin typeface="Space Grotesk"/>
                <a:ea typeface="Space Grotesk"/>
                <a:cs typeface="Space Grotesk"/>
                <a:sym typeface="Space Grotesk"/>
              </a:rPr>
              <a:t>”</a:t>
            </a:r>
            <a:endParaRPr b="0" sz="2200" u="none" strike="noStrike">
              <a:solidFill>
                <a:srgbClr val="FFFFFF"/>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296" name="Shape 296"/>
        <p:cNvGrpSpPr/>
        <p:nvPr/>
      </p:nvGrpSpPr>
      <p:grpSpPr>
        <a:xfrm>
          <a:off x="0" y="0"/>
          <a:ext cx="0" cy="0"/>
          <a:chOff x="0" y="0"/>
          <a:chExt cx="0" cy="0"/>
        </a:xfrm>
      </p:grpSpPr>
      <p:sp>
        <p:nvSpPr>
          <p:cNvPr id="297" name="Google Shape;297;p16"/>
          <p:cNvSpPr/>
          <p:nvPr/>
        </p:nvSpPr>
        <p:spPr>
          <a:xfrm>
            <a:off x="812880" y="609480"/>
            <a:ext cx="10882800" cy="255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1300" u="none" strike="noStrike">
                <a:solidFill>
                  <a:srgbClr val="2DD4A0"/>
                </a:solidFill>
                <a:latin typeface="Inter"/>
                <a:ea typeface="Inter"/>
                <a:cs typeface="Inter"/>
                <a:sym typeface="Inter"/>
              </a:rPr>
              <a:t>WALLET · JIAHONG</a:t>
            </a:r>
            <a:endParaRPr b="0" sz="1300" u="none" strike="noStrike">
              <a:solidFill>
                <a:srgbClr val="FFFFFF"/>
              </a:solidFill>
              <a:latin typeface="Arial"/>
              <a:ea typeface="Arial"/>
              <a:cs typeface="Arial"/>
              <a:sym typeface="Arial"/>
            </a:endParaRPr>
          </a:p>
        </p:txBody>
      </p:sp>
      <p:sp>
        <p:nvSpPr>
          <p:cNvPr id="298" name="Google Shape;298;p16"/>
          <p:cNvSpPr txBox="1"/>
          <p:nvPr>
            <p:ph type="title"/>
          </p:nvPr>
        </p:nvSpPr>
        <p:spPr>
          <a:xfrm>
            <a:off x="812880" y="1018440"/>
            <a:ext cx="10882800" cy="471600"/>
          </a:xfrm>
          <a:prstGeom prst="rect">
            <a:avLst/>
          </a:prstGeom>
          <a:noFill/>
          <a:ln>
            <a:noFill/>
          </a:ln>
        </p:spPr>
        <p:txBody>
          <a:bodyPr anchorCtr="0" anchor="t" bIns="0" lIns="0" spcFirstLastPara="1" rIns="0" wrap="square" tIns="0">
            <a:normAutofit/>
          </a:bodyPr>
          <a:lstStyle/>
          <a:p>
            <a:pPr indent="0" lvl="0" marL="0" rtl="0" algn="l">
              <a:lnSpc>
                <a:spcPct val="110031"/>
              </a:lnSpc>
              <a:spcBef>
                <a:spcPts val="0"/>
              </a:spcBef>
              <a:spcAft>
                <a:spcPts val="0"/>
              </a:spcAft>
              <a:buClr>
                <a:srgbClr val="E8EEF8"/>
              </a:buClr>
              <a:buSzPts val="3200"/>
              <a:buFont typeface="Space Grotesk"/>
              <a:buNone/>
            </a:pPr>
            <a:r>
              <a:rPr b="1" lang="en-US" sz="3200" u="none" strike="noStrike">
                <a:solidFill>
                  <a:srgbClr val="E8EEF8"/>
                </a:solidFill>
                <a:latin typeface="Space Grotesk"/>
                <a:ea typeface="Space Grotesk"/>
                <a:cs typeface="Space Grotesk"/>
                <a:sym typeface="Space Grotesk"/>
              </a:rPr>
              <a:t>Approach</a:t>
            </a:r>
            <a:endParaRPr b="0" sz="3200" u="none" strike="noStrike">
              <a:solidFill>
                <a:schemeClr val="lt1"/>
              </a:solidFill>
              <a:latin typeface="Inter"/>
              <a:ea typeface="Inter"/>
              <a:cs typeface="Inter"/>
              <a:sym typeface="Inter"/>
            </a:endParaRPr>
          </a:p>
        </p:txBody>
      </p:sp>
      <p:sp>
        <p:nvSpPr>
          <p:cNvPr id="299" name="Google Shape;299;p16"/>
          <p:cNvSpPr/>
          <p:nvPr/>
        </p:nvSpPr>
        <p:spPr>
          <a:xfrm>
            <a:off x="815760" y="1646280"/>
            <a:ext cx="3379680" cy="1675080"/>
          </a:xfrm>
          <a:prstGeom prst="roundRect">
            <a:avLst>
              <a:gd fmla="val 5873"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00" name="Google Shape;300;p16"/>
          <p:cNvSpPr/>
          <p:nvPr/>
        </p:nvSpPr>
        <p:spPr>
          <a:xfrm>
            <a:off x="1023840" y="1854000"/>
            <a:ext cx="3052800" cy="283680"/>
          </a:xfrm>
          <a:prstGeom prst="rect">
            <a:avLst/>
          </a:prstGeom>
          <a:noFill/>
          <a:ln>
            <a:noFill/>
          </a:ln>
        </p:spPr>
        <p:txBody>
          <a:bodyPr anchorCtr="0" anchor="t" bIns="0" lIns="0" spcFirstLastPara="1" rIns="0" wrap="square" tIns="0">
            <a:noAutofit/>
          </a:bodyPr>
          <a:lstStyle/>
          <a:p>
            <a:pPr indent="0" lvl="0" marL="0" marR="0" rtl="0" algn="l">
              <a:lnSpc>
                <a:spcPct val="120058"/>
              </a:lnSpc>
              <a:spcBef>
                <a:spcPts val="0"/>
              </a:spcBef>
              <a:spcAft>
                <a:spcPts val="0"/>
              </a:spcAft>
              <a:buNone/>
            </a:pPr>
            <a:r>
              <a:rPr b="1" lang="en-US" sz="1700" u="none" strike="noStrike">
                <a:solidFill>
                  <a:srgbClr val="2DD4A0"/>
                </a:solidFill>
                <a:latin typeface="Space Grotesk"/>
                <a:ea typeface="Space Grotesk"/>
                <a:cs typeface="Space Grotesk"/>
                <a:sym typeface="Space Grotesk"/>
              </a:rPr>
              <a:t>Split</a:t>
            </a:r>
            <a:endParaRPr b="0" sz="1700" u="none" strike="noStrike">
              <a:solidFill>
                <a:srgbClr val="FFFFFF"/>
              </a:solidFill>
              <a:latin typeface="Arial"/>
              <a:ea typeface="Arial"/>
              <a:cs typeface="Arial"/>
              <a:sym typeface="Arial"/>
            </a:endParaRPr>
          </a:p>
        </p:txBody>
      </p:sp>
      <p:sp>
        <p:nvSpPr>
          <p:cNvPr id="301" name="Google Shape;301;p16"/>
          <p:cNvSpPr/>
          <p:nvPr/>
        </p:nvSpPr>
        <p:spPr>
          <a:xfrm>
            <a:off x="1023840" y="2189520"/>
            <a:ext cx="3052800" cy="94932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lang="en-US" sz="1400" u="none" strike="noStrike">
                <a:solidFill>
                  <a:srgbClr val="E8EEF8"/>
                </a:solidFill>
                <a:latin typeface="Inter"/>
                <a:ea typeface="Inter"/>
                <a:cs typeface="Inter"/>
                <a:sym typeface="Inter"/>
              </a:rPr>
              <a:t>44,761 training wallets and 11,191 test wallets. One fixed random split; every method sees the same test wallets.</a:t>
            </a:r>
            <a:endParaRPr b="0" sz="1400" u="none" strike="noStrike">
              <a:solidFill>
                <a:srgbClr val="FFFFFF"/>
              </a:solidFill>
              <a:latin typeface="Arial"/>
              <a:ea typeface="Arial"/>
              <a:cs typeface="Arial"/>
              <a:sym typeface="Arial"/>
            </a:endParaRPr>
          </a:p>
        </p:txBody>
      </p:sp>
      <p:sp>
        <p:nvSpPr>
          <p:cNvPr id="302" name="Google Shape;302;p16"/>
          <p:cNvSpPr/>
          <p:nvPr/>
        </p:nvSpPr>
        <p:spPr>
          <a:xfrm>
            <a:off x="4405680" y="1646280"/>
            <a:ext cx="3379680" cy="1675080"/>
          </a:xfrm>
          <a:prstGeom prst="roundRect">
            <a:avLst>
              <a:gd fmla="val 5873"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03" name="Google Shape;303;p16"/>
          <p:cNvSpPr/>
          <p:nvPr/>
        </p:nvSpPr>
        <p:spPr>
          <a:xfrm>
            <a:off x="4613760" y="1854000"/>
            <a:ext cx="3052800" cy="283680"/>
          </a:xfrm>
          <a:prstGeom prst="rect">
            <a:avLst/>
          </a:prstGeom>
          <a:noFill/>
          <a:ln>
            <a:noFill/>
          </a:ln>
        </p:spPr>
        <p:txBody>
          <a:bodyPr anchorCtr="0" anchor="t" bIns="0" lIns="0" spcFirstLastPara="1" rIns="0" wrap="square" tIns="0">
            <a:noAutofit/>
          </a:bodyPr>
          <a:lstStyle/>
          <a:p>
            <a:pPr indent="0" lvl="0" marL="0" marR="0" rtl="0" algn="l">
              <a:lnSpc>
                <a:spcPct val="120058"/>
              </a:lnSpc>
              <a:spcBef>
                <a:spcPts val="0"/>
              </a:spcBef>
              <a:spcAft>
                <a:spcPts val="0"/>
              </a:spcAft>
              <a:buNone/>
            </a:pPr>
            <a:r>
              <a:rPr b="1" lang="en-US" sz="1700" u="none" strike="noStrike">
                <a:solidFill>
                  <a:srgbClr val="4C8DFF"/>
                </a:solidFill>
                <a:latin typeface="Space Grotesk"/>
                <a:ea typeface="Space Grotesk"/>
                <a:cs typeface="Space Grotesk"/>
                <a:sym typeface="Space Grotesk"/>
              </a:rPr>
              <a:t>Models</a:t>
            </a:r>
            <a:endParaRPr b="0" sz="1700" u="none" strike="noStrike">
              <a:solidFill>
                <a:srgbClr val="FFFFFF"/>
              </a:solidFill>
              <a:latin typeface="Arial"/>
              <a:ea typeface="Arial"/>
              <a:cs typeface="Arial"/>
              <a:sym typeface="Arial"/>
            </a:endParaRPr>
          </a:p>
        </p:txBody>
      </p:sp>
      <p:sp>
        <p:nvSpPr>
          <p:cNvPr id="304" name="Google Shape;304;p16"/>
          <p:cNvSpPr/>
          <p:nvPr/>
        </p:nvSpPr>
        <p:spPr>
          <a:xfrm>
            <a:off x="4613760" y="2189520"/>
            <a:ext cx="3052800" cy="94932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lang="en-US" sz="1400" u="none" strike="noStrike">
                <a:solidFill>
                  <a:srgbClr val="E8EEF8"/>
                </a:solidFill>
                <a:latin typeface="Inter"/>
                <a:ea typeface="Inter"/>
                <a:cs typeface="Inter"/>
                <a:sym typeface="Inter"/>
              </a:rPr>
              <a:t>Mean baseline, additive linear regression, and histogram gradient boosting for nonlinear patterns and interactions.</a:t>
            </a:r>
            <a:endParaRPr b="0" sz="1400" u="none" strike="noStrike">
              <a:solidFill>
                <a:srgbClr val="FFFFFF"/>
              </a:solidFill>
              <a:latin typeface="Arial"/>
              <a:ea typeface="Arial"/>
              <a:cs typeface="Arial"/>
              <a:sym typeface="Arial"/>
            </a:endParaRPr>
          </a:p>
        </p:txBody>
      </p:sp>
      <p:sp>
        <p:nvSpPr>
          <p:cNvPr id="305" name="Google Shape;305;p16"/>
          <p:cNvSpPr/>
          <p:nvPr/>
        </p:nvSpPr>
        <p:spPr>
          <a:xfrm>
            <a:off x="7995600" y="1646280"/>
            <a:ext cx="3379680" cy="1675080"/>
          </a:xfrm>
          <a:prstGeom prst="roundRect">
            <a:avLst>
              <a:gd fmla="val 5873"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06" name="Google Shape;306;p16"/>
          <p:cNvSpPr/>
          <p:nvPr/>
        </p:nvSpPr>
        <p:spPr>
          <a:xfrm>
            <a:off x="8203680" y="1854000"/>
            <a:ext cx="3052800" cy="283680"/>
          </a:xfrm>
          <a:prstGeom prst="rect">
            <a:avLst/>
          </a:prstGeom>
          <a:noFill/>
          <a:ln>
            <a:noFill/>
          </a:ln>
        </p:spPr>
        <p:txBody>
          <a:bodyPr anchorCtr="0" anchor="t" bIns="0" lIns="0" spcFirstLastPara="1" rIns="0" wrap="square" tIns="0">
            <a:noAutofit/>
          </a:bodyPr>
          <a:lstStyle/>
          <a:p>
            <a:pPr indent="0" lvl="0" marL="0" marR="0" rtl="0" algn="l">
              <a:lnSpc>
                <a:spcPct val="120058"/>
              </a:lnSpc>
              <a:spcBef>
                <a:spcPts val="0"/>
              </a:spcBef>
              <a:spcAft>
                <a:spcPts val="0"/>
              </a:spcAft>
              <a:buNone/>
            </a:pPr>
            <a:r>
              <a:rPr b="1" lang="en-US" sz="1700" u="none" strike="noStrike">
                <a:solidFill>
                  <a:srgbClr val="F5A524"/>
                </a:solidFill>
                <a:latin typeface="Space Grotesk"/>
                <a:ea typeface="Space Grotesk"/>
                <a:cs typeface="Space Grotesk"/>
                <a:sym typeface="Space Grotesk"/>
              </a:rPr>
              <a:t>Inputs</a:t>
            </a:r>
            <a:endParaRPr b="0" sz="1700" u="none" strike="noStrike">
              <a:solidFill>
                <a:srgbClr val="FFFFFF"/>
              </a:solidFill>
              <a:latin typeface="Arial"/>
              <a:ea typeface="Arial"/>
              <a:cs typeface="Arial"/>
              <a:sym typeface="Arial"/>
            </a:endParaRPr>
          </a:p>
        </p:txBody>
      </p:sp>
      <p:sp>
        <p:nvSpPr>
          <p:cNvPr id="307" name="Google Shape;307;p16"/>
          <p:cNvSpPr/>
          <p:nvPr/>
        </p:nvSpPr>
        <p:spPr>
          <a:xfrm>
            <a:off x="8203680" y="2189520"/>
            <a:ext cx="3052800" cy="94932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lang="en-US" sz="1400" u="none" strike="noStrike">
                <a:solidFill>
                  <a:srgbClr val="E8EEF8"/>
                </a:solidFill>
                <a:latin typeface="Inter"/>
                <a:ea typeface="Inter"/>
                <a:cs typeface="Inter"/>
                <a:sym typeface="Inter"/>
              </a:rPr>
              <a:t>Trade count, market count, activity span, concentration, total spending, largest purchase. Skewed inputs use log(1 + x).</a:t>
            </a:r>
            <a:endParaRPr b="0" sz="1400" u="none" strike="noStrike">
              <a:solidFill>
                <a:srgbClr val="FFFFFF"/>
              </a:solidFill>
              <a:latin typeface="Arial"/>
              <a:ea typeface="Arial"/>
              <a:cs typeface="Arial"/>
              <a:sym typeface="Arial"/>
            </a:endParaRPr>
          </a:p>
        </p:txBody>
      </p:sp>
      <p:sp>
        <p:nvSpPr>
          <p:cNvPr id="308" name="Google Shape;308;p16"/>
          <p:cNvSpPr/>
          <p:nvPr/>
        </p:nvSpPr>
        <p:spPr>
          <a:xfrm>
            <a:off x="812880" y="3502800"/>
            <a:ext cx="10882800" cy="4870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lang="en-US" sz="1400" u="none" strike="noStrike">
                <a:solidFill>
                  <a:srgbClr val="9DB0CC"/>
                </a:solidFill>
                <a:latin typeface="Inter"/>
                <a:ea typeface="Inter"/>
                <a:cs typeface="Inter"/>
                <a:sym typeface="Inter"/>
              </a:rPr>
              <a:t>Five-fold validation happens inside training only. Boosting is chosen from a six-setting grid by validation error; the test set stays untouched.</a:t>
            </a:r>
            <a:endParaRPr b="0" sz="1400" u="none" strike="noStrike">
              <a:solidFill>
                <a:srgbClr val="FFFFFF"/>
              </a:solidFill>
              <a:latin typeface="Arial"/>
              <a:ea typeface="Arial"/>
              <a:cs typeface="Arial"/>
              <a:sym typeface="Arial"/>
            </a:endParaRPr>
          </a:p>
        </p:txBody>
      </p:sp>
      <p:sp>
        <p:nvSpPr>
          <p:cNvPr id="309" name="Google Shape;309;p16"/>
          <p:cNvSpPr/>
          <p:nvPr/>
        </p:nvSpPr>
        <p:spPr>
          <a:xfrm>
            <a:off x="812880" y="6238440"/>
            <a:ext cx="9810000" cy="237960"/>
          </a:xfrm>
          <a:prstGeom prst="rect">
            <a:avLst/>
          </a:prstGeom>
          <a:noFill/>
          <a:ln>
            <a:noFill/>
          </a:ln>
        </p:spPr>
        <p:txBody>
          <a:bodyPr anchorCtr="0" anchor="t" bIns="0" lIns="0" spcFirstLastPara="1" rIns="0" wrap="square" tIns="0">
            <a:noAutofit/>
          </a:bodyPr>
          <a:lstStyle/>
          <a:p>
            <a:pPr indent="0" lvl="0" marL="0" marR="0" rtl="0" algn="l">
              <a:lnSpc>
                <a:spcPct val="140083"/>
              </a:lnSpc>
              <a:spcBef>
                <a:spcPts val="0"/>
              </a:spcBef>
              <a:spcAft>
                <a:spcPts val="0"/>
              </a:spcAft>
              <a:buNone/>
            </a:pPr>
            <a:r>
              <a:rPr b="0" lang="en-US" sz="1200" u="none" strike="noStrike">
                <a:solidFill>
                  <a:srgbClr val="9DB0CC"/>
                </a:solidFill>
                <a:latin typeface="Inter"/>
                <a:ea typeface="Inter"/>
                <a:cs typeface="Inter"/>
                <a:sym typeface="Inter"/>
              </a:rPr>
              <a:t>Wallet part · Slide 2 of 4</a:t>
            </a:r>
            <a:endParaRPr b="0" sz="1200" u="none" strike="noStrike">
              <a:solidFill>
                <a:srgbClr val="FFFFFF"/>
              </a:solidFill>
              <a:latin typeface="Arial"/>
              <a:ea typeface="Arial"/>
              <a:cs typeface="Arial"/>
              <a:sym typeface="Arial"/>
            </a:endParaRPr>
          </a:p>
        </p:txBody>
      </p:sp>
      <p:sp>
        <p:nvSpPr>
          <p:cNvPr id="310" name="Google Shape;310;p16"/>
          <p:cNvSpPr/>
          <p:nvPr/>
        </p:nvSpPr>
        <p:spPr>
          <a:xfrm>
            <a:off x="1054347" y="5161110"/>
            <a:ext cx="9852300" cy="949500"/>
          </a:xfrm>
          <a:prstGeom prst="roundRect">
            <a:avLst>
              <a:gd fmla="val 10810" name="adj"/>
            </a:avLst>
          </a:prstGeom>
          <a:solidFill>
            <a:srgbClr val="F1F5F9"/>
          </a:solidFill>
          <a:ln>
            <a:noFill/>
          </a:ln>
        </p:spPr>
        <p:txBody>
          <a:bodyPr anchorCtr="0" anchor="ctr" bIns="41025" lIns="82100" spcFirstLastPara="1" rIns="82100" wrap="square" tIns="41025">
            <a:noAutofit/>
          </a:bodyPr>
          <a:lstStyle/>
          <a:p>
            <a:pPr indent="0" lvl="0" marL="0" marR="0" rtl="0" algn="ctr">
              <a:spcBef>
                <a:spcPts val="0"/>
              </a:spcBef>
              <a:spcAft>
                <a:spcPts val="0"/>
              </a:spcAft>
              <a:buNone/>
            </a:pPr>
            <a:r>
              <a:t/>
            </a:r>
            <a:endParaRPr b="0" i="0" sz="1616" u="none" cap="none" strike="noStrike">
              <a:solidFill>
                <a:srgbClr val="000000"/>
              </a:solidFill>
              <a:latin typeface="Calibri"/>
              <a:ea typeface="Calibri"/>
              <a:cs typeface="Calibri"/>
              <a:sym typeface="Calibri"/>
            </a:endParaRPr>
          </a:p>
        </p:txBody>
      </p:sp>
      <p:sp>
        <p:nvSpPr>
          <p:cNvPr id="311" name="Google Shape;311;p16"/>
          <p:cNvSpPr/>
          <p:nvPr/>
        </p:nvSpPr>
        <p:spPr>
          <a:xfrm>
            <a:off x="1054347" y="4117701"/>
            <a:ext cx="4823700" cy="838200"/>
          </a:xfrm>
          <a:prstGeom prst="roundRect">
            <a:avLst>
              <a:gd fmla="val 12244" name="adj"/>
            </a:avLst>
          </a:prstGeom>
          <a:solidFill>
            <a:srgbClr val="F8FAFC"/>
          </a:solidFill>
          <a:ln cap="flat" cmpd="sng" w="8550">
            <a:solidFill>
              <a:srgbClr val="E2E8F0"/>
            </a:solidFill>
            <a:prstDash val="solid"/>
            <a:round/>
            <a:headEnd len="sm" w="sm" type="none"/>
            <a:tailEnd len="sm" w="sm" type="none"/>
          </a:ln>
        </p:spPr>
        <p:txBody>
          <a:bodyPr anchorCtr="0" anchor="ctr" bIns="41025" lIns="82100" spcFirstLastPara="1" rIns="82100" wrap="square" tIns="41025">
            <a:noAutofit/>
          </a:bodyPr>
          <a:lstStyle/>
          <a:p>
            <a:pPr indent="0" lvl="0" marL="0" marR="0" rtl="0" algn="ctr">
              <a:spcBef>
                <a:spcPts val="0"/>
              </a:spcBef>
              <a:spcAft>
                <a:spcPts val="0"/>
              </a:spcAft>
              <a:buNone/>
            </a:pPr>
            <a:r>
              <a:t/>
            </a:r>
            <a:endParaRPr b="0" i="0" sz="1616" u="none" cap="none" strike="noStrike">
              <a:solidFill>
                <a:srgbClr val="000000"/>
              </a:solidFill>
              <a:latin typeface="Calibri"/>
              <a:ea typeface="Calibri"/>
              <a:cs typeface="Calibri"/>
              <a:sym typeface="Calibri"/>
            </a:endParaRPr>
          </a:p>
        </p:txBody>
      </p:sp>
      <p:sp>
        <p:nvSpPr>
          <p:cNvPr id="312" name="Google Shape;312;p16"/>
          <p:cNvSpPr/>
          <p:nvPr/>
        </p:nvSpPr>
        <p:spPr>
          <a:xfrm>
            <a:off x="6083240" y="4117701"/>
            <a:ext cx="4823700" cy="838200"/>
          </a:xfrm>
          <a:prstGeom prst="roundRect">
            <a:avLst>
              <a:gd fmla="val 12244" name="adj"/>
            </a:avLst>
          </a:prstGeom>
          <a:solidFill>
            <a:srgbClr val="F8FAFC"/>
          </a:solidFill>
          <a:ln cap="flat" cmpd="sng" w="8550">
            <a:solidFill>
              <a:srgbClr val="E2E8F0"/>
            </a:solidFill>
            <a:prstDash val="solid"/>
            <a:round/>
            <a:headEnd len="sm" w="sm" type="none"/>
            <a:tailEnd len="sm" w="sm" type="none"/>
          </a:ln>
        </p:spPr>
        <p:txBody>
          <a:bodyPr anchorCtr="0" anchor="ctr" bIns="41025" lIns="82100" spcFirstLastPara="1" rIns="82100" wrap="square" tIns="41025">
            <a:noAutofit/>
          </a:bodyPr>
          <a:lstStyle/>
          <a:p>
            <a:pPr indent="0" lvl="0" marL="0" marR="0" rtl="0" algn="ctr">
              <a:spcBef>
                <a:spcPts val="0"/>
              </a:spcBef>
              <a:spcAft>
                <a:spcPts val="0"/>
              </a:spcAft>
              <a:buNone/>
            </a:pPr>
            <a:r>
              <a:t/>
            </a:r>
            <a:endParaRPr b="0" i="0" sz="1616" u="none" cap="none" strike="noStrike">
              <a:solidFill>
                <a:srgbClr val="000000"/>
              </a:solidFill>
              <a:latin typeface="Calibri"/>
              <a:ea typeface="Calibri"/>
              <a:cs typeface="Calibri"/>
              <a:sym typeface="Calibri"/>
            </a:endParaRPr>
          </a:p>
        </p:txBody>
      </p:sp>
      <p:sp>
        <p:nvSpPr>
          <p:cNvPr id="313" name="Google Shape;313;p16"/>
          <p:cNvSpPr/>
          <p:nvPr/>
        </p:nvSpPr>
        <p:spPr>
          <a:xfrm>
            <a:off x="1259608" y="5640052"/>
            <a:ext cx="915000" cy="265200"/>
          </a:xfrm>
          <a:prstGeom prst="roundRect">
            <a:avLst>
              <a:gd fmla="val 19354" name="adj"/>
            </a:avLst>
          </a:prstGeom>
          <a:solidFill>
            <a:srgbClr val="FFFFFF"/>
          </a:solidFill>
          <a:ln cap="flat" cmpd="sng" w="8550">
            <a:solidFill>
              <a:srgbClr val="CBD5E1"/>
            </a:solidFill>
            <a:prstDash val="solid"/>
            <a:round/>
            <a:headEnd len="sm" w="sm" type="none"/>
            <a:tailEnd len="sm" w="sm" type="none"/>
          </a:ln>
        </p:spPr>
        <p:txBody>
          <a:bodyPr anchorCtr="0" anchor="ctr" bIns="41025" lIns="82100" spcFirstLastPara="1" rIns="82100" wrap="square" tIns="41025">
            <a:noAutofit/>
          </a:bodyPr>
          <a:lstStyle/>
          <a:p>
            <a:pPr indent="0" lvl="0" marL="0" marR="0" rtl="0" algn="ctr">
              <a:spcBef>
                <a:spcPts val="0"/>
              </a:spcBef>
              <a:spcAft>
                <a:spcPts val="0"/>
              </a:spcAft>
              <a:buNone/>
            </a:pPr>
            <a:r>
              <a:t/>
            </a:r>
            <a:endParaRPr b="0" i="0" sz="1616" u="none" cap="none" strike="noStrike">
              <a:solidFill>
                <a:srgbClr val="000000"/>
              </a:solidFill>
              <a:latin typeface="Calibri"/>
              <a:ea typeface="Calibri"/>
              <a:cs typeface="Calibri"/>
              <a:sym typeface="Calibri"/>
            </a:endParaRPr>
          </a:p>
        </p:txBody>
      </p:sp>
      <p:sp>
        <p:nvSpPr>
          <p:cNvPr id="314" name="Google Shape;314;p16"/>
          <p:cNvSpPr/>
          <p:nvPr/>
        </p:nvSpPr>
        <p:spPr>
          <a:xfrm>
            <a:off x="2311570" y="5640052"/>
            <a:ext cx="992100" cy="265200"/>
          </a:xfrm>
          <a:prstGeom prst="roundRect">
            <a:avLst>
              <a:gd fmla="val 19354" name="adj"/>
            </a:avLst>
          </a:prstGeom>
          <a:solidFill>
            <a:srgbClr val="FFFFFF"/>
          </a:solidFill>
          <a:ln cap="flat" cmpd="sng" w="8550">
            <a:solidFill>
              <a:srgbClr val="CBD5E1"/>
            </a:solidFill>
            <a:prstDash val="solid"/>
            <a:round/>
            <a:headEnd len="sm" w="sm" type="none"/>
            <a:tailEnd len="sm" w="sm" type="none"/>
          </a:ln>
        </p:spPr>
        <p:txBody>
          <a:bodyPr anchorCtr="0" anchor="ctr" bIns="41025" lIns="82100" spcFirstLastPara="1" rIns="82100" wrap="square" tIns="41025">
            <a:noAutofit/>
          </a:bodyPr>
          <a:lstStyle/>
          <a:p>
            <a:pPr indent="0" lvl="0" marL="0" marR="0" rtl="0" algn="ctr">
              <a:spcBef>
                <a:spcPts val="0"/>
              </a:spcBef>
              <a:spcAft>
                <a:spcPts val="0"/>
              </a:spcAft>
              <a:buNone/>
            </a:pPr>
            <a:r>
              <a:t/>
            </a:r>
            <a:endParaRPr b="0" i="0" sz="1616" u="none" cap="none" strike="noStrike">
              <a:solidFill>
                <a:srgbClr val="000000"/>
              </a:solidFill>
              <a:latin typeface="Calibri"/>
              <a:ea typeface="Calibri"/>
              <a:cs typeface="Calibri"/>
              <a:sym typeface="Calibri"/>
            </a:endParaRPr>
          </a:p>
        </p:txBody>
      </p:sp>
      <p:sp>
        <p:nvSpPr>
          <p:cNvPr id="315" name="Google Shape;315;p16"/>
          <p:cNvSpPr/>
          <p:nvPr/>
        </p:nvSpPr>
        <p:spPr>
          <a:xfrm>
            <a:off x="3440505" y="5640052"/>
            <a:ext cx="992100" cy="265200"/>
          </a:xfrm>
          <a:prstGeom prst="roundRect">
            <a:avLst>
              <a:gd fmla="val 19354" name="adj"/>
            </a:avLst>
          </a:prstGeom>
          <a:solidFill>
            <a:srgbClr val="FFFFFF"/>
          </a:solidFill>
          <a:ln cap="flat" cmpd="sng" w="8550">
            <a:solidFill>
              <a:srgbClr val="CBD5E1"/>
            </a:solidFill>
            <a:prstDash val="solid"/>
            <a:round/>
            <a:headEnd len="sm" w="sm" type="none"/>
            <a:tailEnd len="sm" w="sm" type="none"/>
          </a:ln>
        </p:spPr>
        <p:txBody>
          <a:bodyPr anchorCtr="0" anchor="ctr" bIns="41025" lIns="82100" spcFirstLastPara="1" rIns="82100" wrap="square" tIns="41025">
            <a:noAutofit/>
          </a:bodyPr>
          <a:lstStyle/>
          <a:p>
            <a:pPr indent="0" lvl="0" marL="0" marR="0" rtl="0" algn="ctr">
              <a:spcBef>
                <a:spcPts val="0"/>
              </a:spcBef>
              <a:spcAft>
                <a:spcPts val="0"/>
              </a:spcAft>
              <a:buNone/>
            </a:pPr>
            <a:r>
              <a:t/>
            </a:r>
            <a:endParaRPr b="0" i="0" sz="1616" u="none" cap="none" strike="noStrike">
              <a:solidFill>
                <a:srgbClr val="000000"/>
              </a:solidFill>
              <a:latin typeface="Calibri"/>
              <a:ea typeface="Calibri"/>
              <a:cs typeface="Calibri"/>
              <a:sym typeface="Calibri"/>
            </a:endParaRPr>
          </a:p>
        </p:txBody>
      </p:sp>
      <p:sp>
        <p:nvSpPr>
          <p:cNvPr id="316" name="Google Shape;316;p16"/>
          <p:cNvSpPr/>
          <p:nvPr/>
        </p:nvSpPr>
        <p:spPr>
          <a:xfrm>
            <a:off x="4569441" y="5640052"/>
            <a:ext cx="1017600" cy="265200"/>
          </a:xfrm>
          <a:prstGeom prst="roundRect">
            <a:avLst>
              <a:gd fmla="val 19354" name="adj"/>
            </a:avLst>
          </a:prstGeom>
          <a:solidFill>
            <a:srgbClr val="FFFFFF"/>
          </a:solidFill>
          <a:ln cap="flat" cmpd="sng" w="8550">
            <a:solidFill>
              <a:srgbClr val="CBD5E1"/>
            </a:solidFill>
            <a:prstDash val="solid"/>
            <a:round/>
            <a:headEnd len="sm" w="sm" type="none"/>
            <a:tailEnd len="sm" w="sm" type="none"/>
          </a:ln>
        </p:spPr>
        <p:txBody>
          <a:bodyPr anchorCtr="0" anchor="ctr" bIns="41025" lIns="82100" spcFirstLastPara="1" rIns="82100" wrap="square" tIns="41025">
            <a:noAutofit/>
          </a:bodyPr>
          <a:lstStyle/>
          <a:p>
            <a:pPr indent="0" lvl="0" marL="0" marR="0" rtl="0" algn="ctr">
              <a:spcBef>
                <a:spcPts val="0"/>
              </a:spcBef>
              <a:spcAft>
                <a:spcPts val="0"/>
              </a:spcAft>
              <a:buNone/>
            </a:pPr>
            <a:r>
              <a:t/>
            </a:r>
            <a:endParaRPr b="0" i="0" sz="1616" u="none" cap="none" strike="noStrike">
              <a:solidFill>
                <a:srgbClr val="000000"/>
              </a:solidFill>
              <a:latin typeface="Calibri"/>
              <a:ea typeface="Calibri"/>
              <a:cs typeface="Calibri"/>
              <a:sym typeface="Calibri"/>
            </a:endParaRPr>
          </a:p>
        </p:txBody>
      </p:sp>
      <p:sp>
        <p:nvSpPr>
          <p:cNvPr id="317" name="Google Shape;317;p16"/>
          <p:cNvSpPr/>
          <p:nvPr/>
        </p:nvSpPr>
        <p:spPr>
          <a:xfrm>
            <a:off x="5724033" y="5640052"/>
            <a:ext cx="915000" cy="265200"/>
          </a:xfrm>
          <a:prstGeom prst="roundRect">
            <a:avLst>
              <a:gd fmla="val 19354" name="adj"/>
            </a:avLst>
          </a:prstGeom>
          <a:solidFill>
            <a:srgbClr val="FFFFFF"/>
          </a:solidFill>
          <a:ln cap="flat" cmpd="sng" w="8550">
            <a:solidFill>
              <a:srgbClr val="CBD5E1"/>
            </a:solidFill>
            <a:prstDash val="solid"/>
            <a:round/>
            <a:headEnd len="sm" w="sm" type="none"/>
            <a:tailEnd len="sm" w="sm" type="none"/>
          </a:ln>
        </p:spPr>
        <p:txBody>
          <a:bodyPr anchorCtr="0" anchor="ctr" bIns="41025" lIns="82100" spcFirstLastPara="1" rIns="82100" wrap="square" tIns="41025">
            <a:noAutofit/>
          </a:bodyPr>
          <a:lstStyle/>
          <a:p>
            <a:pPr indent="0" lvl="0" marL="0" marR="0" rtl="0" algn="ctr">
              <a:spcBef>
                <a:spcPts val="0"/>
              </a:spcBef>
              <a:spcAft>
                <a:spcPts val="0"/>
              </a:spcAft>
              <a:buNone/>
            </a:pPr>
            <a:r>
              <a:t/>
            </a:r>
            <a:endParaRPr b="0" i="0" sz="1616" u="none" cap="none" strike="noStrike">
              <a:solidFill>
                <a:srgbClr val="000000"/>
              </a:solidFill>
              <a:latin typeface="Calibri"/>
              <a:ea typeface="Calibri"/>
              <a:cs typeface="Calibri"/>
              <a:sym typeface="Calibri"/>
            </a:endParaRPr>
          </a:p>
        </p:txBody>
      </p:sp>
      <p:sp>
        <p:nvSpPr>
          <p:cNvPr id="318" name="Google Shape;318;p16"/>
          <p:cNvSpPr/>
          <p:nvPr/>
        </p:nvSpPr>
        <p:spPr>
          <a:xfrm>
            <a:off x="6775996" y="5640052"/>
            <a:ext cx="1428300" cy="265200"/>
          </a:xfrm>
          <a:prstGeom prst="roundRect">
            <a:avLst>
              <a:gd fmla="val 19354" name="adj"/>
            </a:avLst>
          </a:prstGeom>
          <a:solidFill>
            <a:srgbClr val="FFFFFF"/>
          </a:solidFill>
          <a:ln cap="flat" cmpd="sng" w="8550">
            <a:solidFill>
              <a:srgbClr val="CBD5E1"/>
            </a:solidFill>
            <a:prstDash val="solid"/>
            <a:round/>
            <a:headEnd len="sm" w="sm" type="none"/>
            <a:tailEnd len="sm" w="sm" type="none"/>
          </a:ln>
        </p:spPr>
        <p:txBody>
          <a:bodyPr anchorCtr="0" anchor="ctr" bIns="41025" lIns="82100" spcFirstLastPara="1" rIns="82100" wrap="square" tIns="41025">
            <a:noAutofit/>
          </a:bodyPr>
          <a:lstStyle/>
          <a:p>
            <a:pPr indent="0" lvl="0" marL="0" marR="0" rtl="0" algn="ctr">
              <a:spcBef>
                <a:spcPts val="0"/>
              </a:spcBef>
              <a:spcAft>
                <a:spcPts val="0"/>
              </a:spcAft>
              <a:buNone/>
            </a:pPr>
            <a:r>
              <a:t/>
            </a:r>
            <a:endParaRPr b="0" i="0" sz="1616" u="none" cap="none" strike="noStrike">
              <a:solidFill>
                <a:srgbClr val="000000"/>
              </a:solidFill>
              <a:latin typeface="Calibri"/>
              <a:ea typeface="Calibri"/>
              <a:cs typeface="Calibri"/>
              <a:sym typeface="Calibri"/>
            </a:endParaRPr>
          </a:p>
        </p:txBody>
      </p:sp>
      <p:sp>
        <p:nvSpPr>
          <p:cNvPr id="319" name="Google Shape;319;p16"/>
          <p:cNvSpPr txBox="1"/>
          <p:nvPr/>
        </p:nvSpPr>
        <p:spPr>
          <a:xfrm>
            <a:off x="1259608" y="5366371"/>
            <a:ext cx="10194600" cy="165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77" u="none" cap="none" strike="noStrike">
                <a:solidFill>
                  <a:srgbClr val="0F172A"/>
                </a:solidFill>
                <a:latin typeface="Inter"/>
                <a:ea typeface="Inter"/>
                <a:cs typeface="Inter"/>
                <a:sym typeface="Inter"/>
              </a:rPr>
              <a:t>Input Feature Matrix (Log-Transformed)</a:t>
            </a:r>
            <a:endParaRPr sz="1257"/>
          </a:p>
        </p:txBody>
      </p:sp>
      <p:sp>
        <p:nvSpPr>
          <p:cNvPr id="320" name="Google Shape;320;p16"/>
          <p:cNvSpPr txBox="1"/>
          <p:nvPr/>
        </p:nvSpPr>
        <p:spPr>
          <a:xfrm>
            <a:off x="1268160" y="4331514"/>
            <a:ext cx="5769600" cy="186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12" u="none" cap="none" strike="noStrike">
                <a:solidFill>
                  <a:srgbClr val="0F172A"/>
                </a:solidFill>
                <a:latin typeface="Inter"/>
                <a:ea typeface="Inter"/>
                <a:cs typeface="Inter"/>
                <a:sym typeface="Inter"/>
              </a:rPr>
              <a:t>Data Partitioning</a:t>
            </a:r>
            <a:endParaRPr sz="1257"/>
          </a:p>
        </p:txBody>
      </p:sp>
      <p:sp>
        <p:nvSpPr>
          <p:cNvPr id="321" name="Google Shape;321;p16"/>
          <p:cNvSpPr txBox="1"/>
          <p:nvPr/>
        </p:nvSpPr>
        <p:spPr>
          <a:xfrm>
            <a:off x="1268160" y="4579537"/>
            <a:ext cx="5495100" cy="15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10" u="none" cap="none" strike="noStrike">
                <a:solidFill>
                  <a:srgbClr val="475569"/>
                </a:solidFill>
                <a:latin typeface="Inter"/>
                <a:ea typeface="Inter"/>
                <a:cs typeface="Inter"/>
                <a:sym typeface="Inter"/>
              </a:rPr>
              <a:t>44,761 training wallets and 11,191 held-out testing wallets.</a:t>
            </a:r>
            <a:endParaRPr sz="1257"/>
          </a:p>
        </p:txBody>
      </p:sp>
      <p:sp>
        <p:nvSpPr>
          <p:cNvPr id="322" name="Google Shape;322;p16"/>
          <p:cNvSpPr txBox="1"/>
          <p:nvPr/>
        </p:nvSpPr>
        <p:spPr>
          <a:xfrm>
            <a:off x="6297054" y="4331514"/>
            <a:ext cx="5157000" cy="186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12" u="none" cap="none" strike="noStrike">
                <a:solidFill>
                  <a:srgbClr val="0F172A"/>
                </a:solidFill>
                <a:latin typeface="Inter"/>
                <a:ea typeface="Inter"/>
                <a:cs typeface="Inter"/>
                <a:sym typeface="Inter"/>
              </a:rPr>
              <a:t>Models Evaluated</a:t>
            </a:r>
            <a:endParaRPr sz="1257"/>
          </a:p>
        </p:txBody>
      </p:sp>
      <p:sp>
        <p:nvSpPr>
          <p:cNvPr id="323" name="Google Shape;323;p16"/>
          <p:cNvSpPr txBox="1"/>
          <p:nvPr/>
        </p:nvSpPr>
        <p:spPr>
          <a:xfrm>
            <a:off x="6297054" y="4579537"/>
            <a:ext cx="5157000" cy="15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10" u="none" cap="none" strike="noStrike">
                <a:solidFill>
                  <a:srgbClr val="475569"/>
                </a:solidFill>
                <a:latin typeface="Inter"/>
                <a:ea typeface="Inter"/>
                <a:cs typeface="Inter"/>
                <a:sym typeface="Inter"/>
              </a:rPr>
              <a:t>Mean Baseline vs. Additive Linear Regression vs. HistGradientBoosting.</a:t>
            </a:r>
            <a:endParaRPr sz="1257"/>
          </a:p>
        </p:txBody>
      </p:sp>
      <p:sp>
        <p:nvSpPr>
          <p:cNvPr id="324" name="Google Shape;324;p16"/>
          <p:cNvSpPr txBox="1"/>
          <p:nvPr/>
        </p:nvSpPr>
        <p:spPr>
          <a:xfrm>
            <a:off x="1362238" y="5691367"/>
            <a:ext cx="795600" cy="145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43" u="none" cap="none" strike="noStrike">
                <a:solidFill>
                  <a:srgbClr val="1E293B"/>
                </a:solidFill>
                <a:latin typeface="Inter"/>
                <a:ea typeface="Inter"/>
                <a:cs typeface="Inter"/>
                <a:sym typeface="Inter"/>
              </a:rPr>
              <a:t>Trade Count</a:t>
            </a:r>
            <a:endParaRPr sz="1257"/>
          </a:p>
        </p:txBody>
      </p:sp>
      <p:sp>
        <p:nvSpPr>
          <p:cNvPr id="325" name="Google Shape;325;p16"/>
          <p:cNvSpPr txBox="1"/>
          <p:nvPr/>
        </p:nvSpPr>
        <p:spPr>
          <a:xfrm>
            <a:off x="2414201" y="5691367"/>
            <a:ext cx="872700" cy="145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43" u="none" cap="none" strike="noStrike">
                <a:solidFill>
                  <a:srgbClr val="1E293B"/>
                </a:solidFill>
                <a:latin typeface="Inter"/>
                <a:ea typeface="Inter"/>
                <a:cs typeface="Inter"/>
                <a:sym typeface="Inter"/>
              </a:rPr>
              <a:t>Market Count</a:t>
            </a:r>
            <a:endParaRPr sz="1257"/>
          </a:p>
        </p:txBody>
      </p:sp>
      <p:sp>
        <p:nvSpPr>
          <p:cNvPr id="326" name="Google Shape;326;p16"/>
          <p:cNvSpPr txBox="1"/>
          <p:nvPr/>
        </p:nvSpPr>
        <p:spPr>
          <a:xfrm>
            <a:off x="3543136" y="5691367"/>
            <a:ext cx="872700" cy="145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43" u="none" cap="none" strike="noStrike">
                <a:solidFill>
                  <a:srgbClr val="1E293B"/>
                </a:solidFill>
                <a:latin typeface="Inter"/>
                <a:ea typeface="Inter"/>
                <a:cs typeface="Inter"/>
                <a:sym typeface="Inter"/>
              </a:rPr>
              <a:t>Activity Span</a:t>
            </a:r>
            <a:endParaRPr sz="1257"/>
          </a:p>
        </p:txBody>
      </p:sp>
      <p:sp>
        <p:nvSpPr>
          <p:cNvPr id="327" name="Google Shape;327;p16"/>
          <p:cNvSpPr txBox="1"/>
          <p:nvPr/>
        </p:nvSpPr>
        <p:spPr>
          <a:xfrm>
            <a:off x="4672071" y="5691367"/>
            <a:ext cx="898200" cy="145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43" u="none" cap="none" strike="noStrike">
                <a:solidFill>
                  <a:srgbClr val="1E293B"/>
                </a:solidFill>
                <a:latin typeface="Inter"/>
                <a:ea typeface="Inter"/>
                <a:cs typeface="Inter"/>
                <a:sym typeface="Inter"/>
              </a:rPr>
              <a:t>Concentration</a:t>
            </a:r>
            <a:endParaRPr sz="1257"/>
          </a:p>
        </p:txBody>
      </p:sp>
      <p:sp>
        <p:nvSpPr>
          <p:cNvPr id="328" name="Google Shape;328;p16"/>
          <p:cNvSpPr txBox="1"/>
          <p:nvPr/>
        </p:nvSpPr>
        <p:spPr>
          <a:xfrm>
            <a:off x="5826664" y="5691367"/>
            <a:ext cx="795600" cy="145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43" u="none" cap="none" strike="noStrike">
                <a:solidFill>
                  <a:srgbClr val="1E293B"/>
                </a:solidFill>
                <a:latin typeface="Inter"/>
                <a:ea typeface="Inter"/>
                <a:cs typeface="Inter"/>
                <a:sym typeface="Inter"/>
              </a:rPr>
              <a:t>Total Outlay</a:t>
            </a:r>
            <a:endParaRPr sz="1257"/>
          </a:p>
        </p:txBody>
      </p:sp>
      <p:sp>
        <p:nvSpPr>
          <p:cNvPr id="329" name="Google Shape;329;p16"/>
          <p:cNvSpPr txBox="1"/>
          <p:nvPr/>
        </p:nvSpPr>
        <p:spPr>
          <a:xfrm>
            <a:off x="6878626" y="5691367"/>
            <a:ext cx="1308600" cy="145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43" u="none" cap="none" strike="noStrike">
                <a:solidFill>
                  <a:srgbClr val="1E293B"/>
                </a:solidFill>
                <a:latin typeface="Inter"/>
                <a:ea typeface="Inter"/>
                <a:cs typeface="Inter"/>
                <a:sym typeface="Inter"/>
              </a:rPr>
              <a:t>Max Single Purchase</a:t>
            </a:r>
            <a:endParaRPr sz="1257"/>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334" name="Shape 334"/>
        <p:cNvGrpSpPr/>
        <p:nvPr/>
      </p:nvGrpSpPr>
      <p:grpSpPr>
        <a:xfrm>
          <a:off x="0" y="0"/>
          <a:ext cx="0" cy="0"/>
          <a:chOff x="0" y="0"/>
          <a:chExt cx="0" cy="0"/>
        </a:xfrm>
      </p:grpSpPr>
      <p:sp>
        <p:nvSpPr>
          <p:cNvPr id="335" name="Google Shape;335;p17"/>
          <p:cNvSpPr/>
          <p:nvPr/>
        </p:nvSpPr>
        <p:spPr>
          <a:xfrm>
            <a:off x="812880" y="609480"/>
            <a:ext cx="10882800" cy="255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1300" u="none" strike="noStrike">
                <a:solidFill>
                  <a:srgbClr val="2DD4A0"/>
                </a:solidFill>
                <a:latin typeface="Inter"/>
                <a:ea typeface="Inter"/>
                <a:cs typeface="Inter"/>
                <a:sym typeface="Inter"/>
              </a:rPr>
              <a:t>WALLET · JIAHONG</a:t>
            </a:r>
            <a:endParaRPr b="0" sz="1300" u="none" strike="noStrike">
              <a:solidFill>
                <a:srgbClr val="FFFFFF"/>
              </a:solidFill>
              <a:latin typeface="Arial"/>
              <a:ea typeface="Arial"/>
              <a:cs typeface="Arial"/>
              <a:sym typeface="Arial"/>
            </a:endParaRPr>
          </a:p>
        </p:txBody>
      </p:sp>
      <p:sp>
        <p:nvSpPr>
          <p:cNvPr id="336" name="Google Shape;336;p17"/>
          <p:cNvSpPr txBox="1"/>
          <p:nvPr>
            <p:ph type="title"/>
          </p:nvPr>
        </p:nvSpPr>
        <p:spPr>
          <a:xfrm>
            <a:off x="812880" y="1018440"/>
            <a:ext cx="10882800" cy="471600"/>
          </a:xfrm>
          <a:prstGeom prst="rect">
            <a:avLst/>
          </a:prstGeom>
          <a:noFill/>
          <a:ln>
            <a:noFill/>
          </a:ln>
        </p:spPr>
        <p:txBody>
          <a:bodyPr anchorCtr="0" anchor="t" bIns="0" lIns="0" spcFirstLastPara="1" rIns="0" wrap="square" tIns="0">
            <a:normAutofit/>
          </a:bodyPr>
          <a:lstStyle/>
          <a:p>
            <a:pPr indent="0" lvl="0" marL="0" rtl="0" algn="l">
              <a:lnSpc>
                <a:spcPct val="110031"/>
              </a:lnSpc>
              <a:spcBef>
                <a:spcPts val="0"/>
              </a:spcBef>
              <a:spcAft>
                <a:spcPts val="0"/>
              </a:spcAft>
              <a:buClr>
                <a:srgbClr val="E8EEF8"/>
              </a:buClr>
              <a:buSzPts val="3200"/>
              <a:buFont typeface="Space Grotesk"/>
              <a:buNone/>
            </a:pPr>
            <a:r>
              <a:rPr b="1" lang="en-US" sz="3200" u="none" strike="noStrike">
                <a:solidFill>
                  <a:srgbClr val="E8EEF8"/>
                </a:solidFill>
                <a:latin typeface="Space Grotesk"/>
                <a:ea typeface="Space Grotesk"/>
                <a:cs typeface="Space Grotesk"/>
                <a:sym typeface="Space Grotesk"/>
              </a:rPr>
              <a:t>Results</a:t>
            </a:r>
            <a:endParaRPr b="0" sz="3200" u="none" strike="noStrike">
              <a:solidFill>
                <a:schemeClr val="lt1"/>
              </a:solidFill>
              <a:latin typeface="Inter"/>
              <a:ea typeface="Inter"/>
              <a:cs typeface="Inter"/>
              <a:sym typeface="Inter"/>
            </a:endParaRPr>
          </a:p>
        </p:txBody>
      </p:sp>
      <p:sp>
        <p:nvSpPr>
          <p:cNvPr id="337" name="Google Shape;337;p17"/>
          <p:cNvSpPr/>
          <p:nvPr/>
        </p:nvSpPr>
        <p:spPr>
          <a:xfrm>
            <a:off x="815760" y="1646280"/>
            <a:ext cx="5174640" cy="1188360"/>
          </a:xfrm>
          <a:prstGeom prst="roundRect">
            <a:avLst>
              <a:gd fmla="val 8277"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38" name="Google Shape;338;p17"/>
          <p:cNvSpPr/>
          <p:nvPr/>
        </p:nvSpPr>
        <p:spPr>
          <a:xfrm>
            <a:off x="1023840" y="1854000"/>
            <a:ext cx="4901760" cy="481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600" u="none" strike="noStrike">
                <a:solidFill>
                  <a:srgbClr val="9DB0CC"/>
                </a:solidFill>
                <a:latin typeface="Space Grotesk"/>
                <a:ea typeface="Space Grotesk"/>
                <a:cs typeface="Space Grotesk"/>
                <a:sym typeface="Space Grotesk"/>
              </a:rPr>
              <a:t>22.14¢</a:t>
            </a:r>
            <a:endParaRPr b="0" sz="3600" u="none" strike="noStrike">
              <a:solidFill>
                <a:srgbClr val="FFFFFF"/>
              </a:solidFill>
              <a:latin typeface="Arial"/>
              <a:ea typeface="Arial"/>
              <a:cs typeface="Arial"/>
              <a:sym typeface="Arial"/>
            </a:endParaRPr>
          </a:p>
        </p:txBody>
      </p:sp>
      <p:sp>
        <p:nvSpPr>
          <p:cNvPr id="339" name="Google Shape;339;p17"/>
          <p:cNvSpPr/>
          <p:nvPr/>
        </p:nvSpPr>
        <p:spPr>
          <a:xfrm>
            <a:off x="1023840" y="2387520"/>
            <a:ext cx="4901760" cy="239400"/>
          </a:xfrm>
          <a:prstGeom prst="rect">
            <a:avLst/>
          </a:prstGeom>
          <a:noFill/>
          <a:ln>
            <a:noFill/>
          </a:ln>
        </p:spPr>
        <p:txBody>
          <a:bodyPr anchorCtr="0" anchor="t" bIns="0" lIns="0" spcFirstLastPara="1" rIns="0" wrap="square" tIns="0">
            <a:noAutofit/>
          </a:bodyPr>
          <a:lstStyle/>
          <a:p>
            <a:pPr indent="0" lvl="0" marL="0" marR="0" rtl="0" algn="l">
              <a:lnSpc>
                <a:spcPct val="129923"/>
              </a:lnSpc>
              <a:spcBef>
                <a:spcPts val="0"/>
              </a:spcBef>
              <a:spcAft>
                <a:spcPts val="0"/>
              </a:spcAft>
              <a:buNone/>
            </a:pPr>
            <a:r>
              <a:rPr b="0" lang="en-US" sz="1300" u="none" strike="noStrike">
                <a:solidFill>
                  <a:srgbClr val="9DB0CC"/>
                </a:solidFill>
                <a:latin typeface="Inter"/>
                <a:ea typeface="Inter"/>
                <a:cs typeface="Inter"/>
                <a:sym typeface="Inter"/>
              </a:rPr>
              <a:t>mean baseline, test MAE</a:t>
            </a:r>
            <a:endParaRPr b="0" sz="1300" u="none" strike="noStrike">
              <a:solidFill>
                <a:srgbClr val="FFFFFF"/>
              </a:solidFill>
              <a:latin typeface="Arial"/>
              <a:ea typeface="Arial"/>
              <a:cs typeface="Arial"/>
              <a:sym typeface="Arial"/>
            </a:endParaRPr>
          </a:p>
        </p:txBody>
      </p:sp>
      <p:sp>
        <p:nvSpPr>
          <p:cNvPr id="340" name="Google Shape;340;p17"/>
          <p:cNvSpPr/>
          <p:nvPr/>
        </p:nvSpPr>
        <p:spPr>
          <a:xfrm>
            <a:off x="815760" y="2943360"/>
            <a:ext cx="5174640" cy="1188360"/>
          </a:xfrm>
          <a:prstGeom prst="roundRect">
            <a:avLst>
              <a:gd fmla="val 8277"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41" name="Google Shape;341;p17"/>
          <p:cNvSpPr/>
          <p:nvPr/>
        </p:nvSpPr>
        <p:spPr>
          <a:xfrm>
            <a:off x="1023840" y="3151080"/>
            <a:ext cx="4901760" cy="481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600" u="none" strike="noStrike">
                <a:solidFill>
                  <a:srgbClr val="4C8DFF"/>
                </a:solidFill>
                <a:latin typeface="Space Grotesk"/>
                <a:ea typeface="Space Grotesk"/>
                <a:cs typeface="Space Grotesk"/>
                <a:sym typeface="Space Grotesk"/>
              </a:rPr>
              <a:t>19.78¢</a:t>
            </a:r>
            <a:endParaRPr b="0" sz="3600" u="none" strike="noStrike">
              <a:solidFill>
                <a:srgbClr val="FFFFFF"/>
              </a:solidFill>
              <a:latin typeface="Arial"/>
              <a:ea typeface="Arial"/>
              <a:cs typeface="Arial"/>
              <a:sym typeface="Arial"/>
            </a:endParaRPr>
          </a:p>
        </p:txBody>
      </p:sp>
      <p:sp>
        <p:nvSpPr>
          <p:cNvPr id="342" name="Google Shape;342;p17"/>
          <p:cNvSpPr/>
          <p:nvPr/>
        </p:nvSpPr>
        <p:spPr>
          <a:xfrm>
            <a:off x="1023840" y="3684600"/>
            <a:ext cx="4901760" cy="239400"/>
          </a:xfrm>
          <a:prstGeom prst="rect">
            <a:avLst/>
          </a:prstGeom>
          <a:noFill/>
          <a:ln>
            <a:noFill/>
          </a:ln>
        </p:spPr>
        <p:txBody>
          <a:bodyPr anchorCtr="0" anchor="t" bIns="0" lIns="0" spcFirstLastPara="1" rIns="0" wrap="square" tIns="0">
            <a:noAutofit/>
          </a:bodyPr>
          <a:lstStyle/>
          <a:p>
            <a:pPr indent="0" lvl="0" marL="0" marR="0" rtl="0" algn="l">
              <a:lnSpc>
                <a:spcPct val="129923"/>
              </a:lnSpc>
              <a:spcBef>
                <a:spcPts val="0"/>
              </a:spcBef>
              <a:spcAft>
                <a:spcPts val="0"/>
              </a:spcAft>
              <a:buNone/>
            </a:pPr>
            <a:r>
              <a:rPr b="0" lang="en-US" sz="1300" u="none" strike="noStrike">
                <a:solidFill>
                  <a:srgbClr val="9DB0CC"/>
                </a:solidFill>
                <a:latin typeface="Inter"/>
                <a:ea typeface="Inter"/>
                <a:cs typeface="Inter"/>
                <a:sym typeface="Inter"/>
              </a:rPr>
              <a:t>linear regression</a:t>
            </a:r>
            <a:endParaRPr b="0" sz="1300" u="none" strike="noStrike">
              <a:solidFill>
                <a:srgbClr val="FFFFFF"/>
              </a:solidFill>
              <a:latin typeface="Arial"/>
              <a:ea typeface="Arial"/>
              <a:cs typeface="Arial"/>
              <a:sym typeface="Arial"/>
            </a:endParaRPr>
          </a:p>
        </p:txBody>
      </p:sp>
      <p:sp>
        <p:nvSpPr>
          <p:cNvPr id="343" name="Google Shape;343;p17"/>
          <p:cNvSpPr/>
          <p:nvPr/>
        </p:nvSpPr>
        <p:spPr>
          <a:xfrm>
            <a:off x="815760" y="4240440"/>
            <a:ext cx="5174640" cy="1188360"/>
          </a:xfrm>
          <a:prstGeom prst="roundRect">
            <a:avLst>
              <a:gd fmla="val 8277"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44" name="Google Shape;344;p17"/>
          <p:cNvSpPr/>
          <p:nvPr/>
        </p:nvSpPr>
        <p:spPr>
          <a:xfrm>
            <a:off x="1023840" y="4448160"/>
            <a:ext cx="4901760" cy="481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600" u="none" strike="noStrike">
                <a:solidFill>
                  <a:srgbClr val="2DD4A0"/>
                </a:solidFill>
                <a:latin typeface="Space Grotesk"/>
                <a:ea typeface="Space Grotesk"/>
                <a:cs typeface="Space Grotesk"/>
                <a:sym typeface="Space Grotesk"/>
              </a:rPr>
              <a:t>16.74¢</a:t>
            </a:r>
            <a:endParaRPr b="0" sz="3600" u="none" strike="noStrike">
              <a:solidFill>
                <a:srgbClr val="FFFFFF"/>
              </a:solidFill>
              <a:latin typeface="Arial"/>
              <a:ea typeface="Arial"/>
              <a:cs typeface="Arial"/>
              <a:sym typeface="Arial"/>
            </a:endParaRPr>
          </a:p>
        </p:txBody>
      </p:sp>
      <p:sp>
        <p:nvSpPr>
          <p:cNvPr id="345" name="Google Shape;345;p17"/>
          <p:cNvSpPr/>
          <p:nvPr/>
        </p:nvSpPr>
        <p:spPr>
          <a:xfrm>
            <a:off x="1023840" y="4981680"/>
            <a:ext cx="4901760" cy="239400"/>
          </a:xfrm>
          <a:prstGeom prst="rect">
            <a:avLst/>
          </a:prstGeom>
          <a:noFill/>
          <a:ln>
            <a:noFill/>
          </a:ln>
        </p:spPr>
        <p:txBody>
          <a:bodyPr anchorCtr="0" anchor="t" bIns="0" lIns="0" spcFirstLastPara="1" rIns="0" wrap="square" tIns="0">
            <a:noAutofit/>
          </a:bodyPr>
          <a:lstStyle/>
          <a:p>
            <a:pPr indent="0" lvl="0" marL="0" marR="0" rtl="0" algn="l">
              <a:lnSpc>
                <a:spcPct val="129923"/>
              </a:lnSpc>
              <a:spcBef>
                <a:spcPts val="0"/>
              </a:spcBef>
              <a:spcAft>
                <a:spcPts val="0"/>
              </a:spcAft>
              <a:buNone/>
            </a:pPr>
            <a:r>
              <a:rPr b="0" lang="en-US" sz="1300" u="none" strike="noStrike">
                <a:solidFill>
                  <a:srgbClr val="9DB0CC"/>
                </a:solidFill>
                <a:latin typeface="Inter"/>
                <a:ea typeface="Inter"/>
                <a:cs typeface="Inter"/>
                <a:sym typeface="Inter"/>
              </a:rPr>
              <a:t>gradient boosting</a:t>
            </a:r>
            <a:endParaRPr b="0" sz="1300" u="none" strike="noStrike">
              <a:solidFill>
                <a:srgbClr val="FFFFFF"/>
              </a:solidFill>
              <a:latin typeface="Arial"/>
              <a:ea typeface="Arial"/>
              <a:cs typeface="Arial"/>
              <a:sym typeface="Arial"/>
            </a:endParaRPr>
          </a:p>
        </p:txBody>
      </p:sp>
      <p:sp>
        <p:nvSpPr>
          <p:cNvPr id="346" name="Google Shape;346;p17"/>
          <p:cNvSpPr/>
          <p:nvPr/>
        </p:nvSpPr>
        <p:spPr>
          <a:xfrm>
            <a:off x="6197400" y="1643040"/>
            <a:ext cx="5181120" cy="3174120"/>
          </a:xfrm>
          <a:prstGeom prst="roundRect">
            <a:avLst>
              <a:gd fmla="val 3200" name="adj"/>
            </a:avLst>
          </a:prstGeom>
          <a:solidFill>
            <a:srgbClr val="FDFDFB"/>
          </a:solid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pic>
        <p:nvPicPr>
          <p:cNvPr descr="chart" id="347" name="Google Shape;347;p17"/>
          <p:cNvPicPr preferRelativeResize="0"/>
          <p:nvPr/>
        </p:nvPicPr>
        <p:blipFill rotWithShape="1">
          <a:blip r:embed="rId3">
            <a:alphaModFix/>
          </a:blip>
          <a:srcRect b="-8" l="0" r="0" t="-8"/>
          <a:stretch/>
        </p:blipFill>
        <p:spPr>
          <a:xfrm>
            <a:off x="6273720" y="1719360"/>
            <a:ext cx="5714280" cy="3021840"/>
          </a:xfrm>
          <a:prstGeom prst="rect">
            <a:avLst/>
          </a:prstGeom>
          <a:noFill/>
          <a:ln>
            <a:noFill/>
          </a:ln>
        </p:spPr>
      </p:pic>
      <p:sp>
        <p:nvSpPr>
          <p:cNvPr id="348" name="Google Shape;348;p17"/>
          <p:cNvSpPr/>
          <p:nvPr/>
        </p:nvSpPr>
        <p:spPr>
          <a:xfrm>
            <a:off x="6197400" y="4970160"/>
            <a:ext cx="5336280" cy="4870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lang="en-US" sz="1400" u="none" strike="noStrike">
                <a:solidFill>
                  <a:srgbClr val="E8EEF8"/>
                </a:solidFill>
                <a:latin typeface="Inter"/>
                <a:ea typeface="Inter"/>
                <a:cs typeface="Inter"/>
                <a:sym typeface="Inter"/>
              </a:rPr>
              <a:t>Boosting beats linear by 3.04¢ (95% interval 2.86 to 3.23¢), a 15.4% improvement. R²: 0.368 vs 0.197.</a:t>
            </a:r>
            <a:endParaRPr b="0" sz="1400" u="none" strike="noStrike">
              <a:solidFill>
                <a:srgbClr val="FFFFFF"/>
              </a:solidFill>
              <a:latin typeface="Arial"/>
              <a:ea typeface="Arial"/>
              <a:cs typeface="Arial"/>
              <a:sym typeface="Arial"/>
            </a:endParaRPr>
          </a:p>
        </p:txBody>
      </p:sp>
      <p:sp>
        <p:nvSpPr>
          <p:cNvPr id="349" name="Google Shape;349;p17"/>
          <p:cNvSpPr/>
          <p:nvPr/>
        </p:nvSpPr>
        <p:spPr>
          <a:xfrm>
            <a:off x="812880" y="6238440"/>
            <a:ext cx="9810000" cy="237960"/>
          </a:xfrm>
          <a:prstGeom prst="rect">
            <a:avLst/>
          </a:prstGeom>
          <a:noFill/>
          <a:ln>
            <a:noFill/>
          </a:ln>
        </p:spPr>
        <p:txBody>
          <a:bodyPr anchorCtr="0" anchor="t" bIns="0" lIns="0" spcFirstLastPara="1" rIns="0" wrap="square" tIns="0">
            <a:noAutofit/>
          </a:bodyPr>
          <a:lstStyle/>
          <a:p>
            <a:pPr indent="0" lvl="0" marL="0" marR="0" rtl="0" algn="l">
              <a:lnSpc>
                <a:spcPct val="140083"/>
              </a:lnSpc>
              <a:spcBef>
                <a:spcPts val="0"/>
              </a:spcBef>
              <a:spcAft>
                <a:spcPts val="0"/>
              </a:spcAft>
              <a:buNone/>
            </a:pPr>
            <a:r>
              <a:rPr b="0" lang="en-US" sz="1200" u="none" strike="noStrike">
                <a:solidFill>
                  <a:srgbClr val="9DB0CC"/>
                </a:solidFill>
                <a:latin typeface="Inter"/>
                <a:ea typeface="Inter"/>
                <a:cs typeface="Inter"/>
                <a:sym typeface="Inter"/>
              </a:rPr>
              <a:t>Wallet part · Slide 3 of 4</a:t>
            </a:r>
            <a:endParaRPr b="0" sz="1200" u="none" strike="noStrike">
              <a:solidFill>
                <a:srgbClr val="FFFFFF"/>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354" name="Shape 354"/>
        <p:cNvGrpSpPr/>
        <p:nvPr/>
      </p:nvGrpSpPr>
      <p:grpSpPr>
        <a:xfrm>
          <a:off x="0" y="0"/>
          <a:ext cx="0" cy="0"/>
          <a:chOff x="0" y="0"/>
          <a:chExt cx="0" cy="0"/>
        </a:xfrm>
      </p:grpSpPr>
      <p:sp>
        <p:nvSpPr>
          <p:cNvPr id="355" name="Google Shape;355;p18"/>
          <p:cNvSpPr/>
          <p:nvPr/>
        </p:nvSpPr>
        <p:spPr>
          <a:xfrm>
            <a:off x="812880" y="609480"/>
            <a:ext cx="10882800" cy="255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1300" u="none" strike="noStrike">
                <a:solidFill>
                  <a:srgbClr val="2DD4A0"/>
                </a:solidFill>
                <a:latin typeface="Inter"/>
                <a:ea typeface="Inter"/>
                <a:cs typeface="Inter"/>
                <a:sym typeface="Inter"/>
              </a:rPr>
              <a:t>WALLET · JIAHONG</a:t>
            </a:r>
            <a:endParaRPr b="0" sz="1300" u="none" strike="noStrike">
              <a:solidFill>
                <a:srgbClr val="FFFFFF"/>
              </a:solidFill>
              <a:latin typeface="Arial"/>
              <a:ea typeface="Arial"/>
              <a:cs typeface="Arial"/>
              <a:sym typeface="Arial"/>
            </a:endParaRPr>
          </a:p>
        </p:txBody>
      </p:sp>
      <p:sp>
        <p:nvSpPr>
          <p:cNvPr id="356" name="Google Shape;356;p18"/>
          <p:cNvSpPr txBox="1"/>
          <p:nvPr>
            <p:ph type="title"/>
          </p:nvPr>
        </p:nvSpPr>
        <p:spPr>
          <a:xfrm>
            <a:off x="812880" y="1018440"/>
            <a:ext cx="10882800" cy="471600"/>
          </a:xfrm>
          <a:prstGeom prst="rect">
            <a:avLst/>
          </a:prstGeom>
          <a:noFill/>
          <a:ln>
            <a:noFill/>
          </a:ln>
        </p:spPr>
        <p:txBody>
          <a:bodyPr anchorCtr="0" anchor="t" bIns="0" lIns="0" spcFirstLastPara="1" rIns="0" wrap="square" tIns="0">
            <a:normAutofit/>
          </a:bodyPr>
          <a:lstStyle/>
          <a:p>
            <a:pPr indent="0" lvl="0" marL="0" rtl="0" algn="l">
              <a:lnSpc>
                <a:spcPct val="110031"/>
              </a:lnSpc>
              <a:spcBef>
                <a:spcPts val="0"/>
              </a:spcBef>
              <a:spcAft>
                <a:spcPts val="0"/>
              </a:spcAft>
              <a:buClr>
                <a:srgbClr val="E8EEF8"/>
              </a:buClr>
              <a:buSzPts val="3200"/>
              <a:buFont typeface="Space Grotesk"/>
              <a:buNone/>
            </a:pPr>
            <a:r>
              <a:rPr b="1" lang="en-US" sz="3200" u="none" strike="noStrike">
                <a:solidFill>
                  <a:srgbClr val="E8EEF8"/>
                </a:solidFill>
                <a:latin typeface="Space Grotesk"/>
                <a:ea typeface="Space Grotesk"/>
                <a:cs typeface="Space Grotesk"/>
                <a:sym typeface="Space Grotesk"/>
              </a:rPr>
              <a:t>Interpretation</a:t>
            </a:r>
            <a:endParaRPr b="0" sz="3200" u="none" strike="noStrike">
              <a:solidFill>
                <a:schemeClr val="lt1"/>
              </a:solidFill>
              <a:latin typeface="Inter"/>
              <a:ea typeface="Inter"/>
              <a:cs typeface="Inter"/>
              <a:sym typeface="Inter"/>
            </a:endParaRPr>
          </a:p>
        </p:txBody>
      </p:sp>
      <p:sp>
        <p:nvSpPr>
          <p:cNvPr id="357" name="Google Shape;357;p18"/>
          <p:cNvSpPr/>
          <p:nvPr/>
        </p:nvSpPr>
        <p:spPr>
          <a:xfrm>
            <a:off x="812880" y="1643040"/>
            <a:ext cx="5993640" cy="3307320"/>
          </a:xfrm>
          <a:prstGeom prst="roundRect">
            <a:avLst>
              <a:gd fmla="val 3071" name="adj"/>
            </a:avLst>
          </a:prstGeom>
          <a:solidFill>
            <a:srgbClr val="FDFDFB"/>
          </a:solid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pic>
        <p:nvPicPr>
          <p:cNvPr descr="chart" id="358" name="Google Shape;358;p18"/>
          <p:cNvPicPr preferRelativeResize="0"/>
          <p:nvPr/>
        </p:nvPicPr>
        <p:blipFill rotWithShape="1">
          <a:blip r:embed="rId3">
            <a:alphaModFix/>
          </a:blip>
          <a:srcRect b="-16" l="0" r="0" t="-16"/>
          <a:stretch/>
        </p:blipFill>
        <p:spPr>
          <a:xfrm>
            <a:off x="888840" y="1719360"/>
            <a:ext cx="5841360" cy="3155040"/>
          </a:xfrm>
          <a:prstGeom prst="rect">
            <a:avLst/>
          </a:prstGeom>
          <a:noFill/>
          <a:ln>
            <a:noFill/>
          </a:ln>
        </p:spPr>
      </p:pic>
      <p:sp>
        <p:nvSpPr>
          <p:cNvPr id="359" name="Google Shape;359;p18"/>
          <p:cNvSpPr/>
          <p:nvPr/>
        </p:nvSpPr>
        <p:spPr>
          <a:xfrm>
            <a:off x="7089495" y="1643430"/>
            <a:ext cx="4362000" cy="1011000"/>
          </a:xfrm>
          <a:prstGeom prst="roundRect">
            <a:avLst>
              <a:gd fmla="val 9729" name="adj"/>
            </a:avLst>
          </a:prstGeom>
          <a:solidFill>
            <a:srgbClr val="121B2E"/>
          </a:solidFill>
          <a:ln cap="flat" cmpd="sng" w="9525">
            <a:solidFill>
              <a:srgbClr val="22304D"/>
            </a:solidFill>
            <a:prstDash val="solid"/>
            <a:round/>
            <a:headEnd len="sm" w="sm" type="none"/>
            <a:tailEnd len="sm" w="sm" type="none"/>
          </a:ln>
        </p:spPr>
        <p:txBody>
          <a:bodyPr anchorCtr="0" anchor="t" bIns="179275" lIns="178900" spcFirstLastPara="1" rIns="60825" wrap="square" tIns="179275">
            <a:noAutofit/>
          </a:bodyPr>
          <a:lstStyle/>
          <a:p>
            <a:pPr indent="0" lvl="0" marL="0" marR="0" rtl="0" algn="l">
              <a:lnSpc>
                <a:spcPct val="130000"/>
              </a:lnSpc>
              <a:spcBef>
                <a:spcPts val="0"/>
              </a:spcBef>
              <a:spcAft>
                <a:spcPts val="0"/>
              </a:spcAft>
              <a:buNone/>
            </a:pPr>
            <a:r>
              <a:rPr b="0" lang="en-US" sz="1400" u="none" strike="noStrike">
                <a:solidFill>
                  <a:srgbClr val="E8EEF8"/>
                </a:solidFill>
                <a:latin typeface="Inter"/>
                <a:ea typeface="Inter"/>
                <a:cs typeface="Inter"/>
                <a:sym typeface="Inter"/>
              </a:rPr>
              <a:t>Trade count matters most: shuffling it raises test error by about 6.32¢.</a:t>
            </a:r>
            <a:endParaRPr b="0" sz="1400" u="none" strike="noStrike">
              <a:solidFill>
                <a:srgbClr val="FFFFFF"/>
              </a:solidFill>
              <a:latin typeface="Arial"/>
              <a:ea typeface="Arial"/>
              <a:cs typeface="Arial"/>
              <a:sym typeface="Arial"/>
            </a:endParaRPr>
          </a:p>
        </p:txBody>
      </p:sp>
      <p:sp>
        <p:nvSpPr>
          <p:cNvPr id="360" name="Google Shape;360;p18"/>
          <p:cNvSpPr/>
          <p:nvPr/>
        </p:nvSpPr>
        <p:spPr>
          <a:xfrm>
            <a:off x="7089495" y="2788230"/>
            <a:ext cx="4362000" cy="1011000"/>
          </a:xfrm>
          <a:prstGeom prst="roundRect">
            <a:avLst>
              <a:gd fmla="val 9728" name="adj"/>
            </a:avLst>
          </a:prstGeom>
          <a:solidFill>
            <a:srgbClr val="121B2E"/>
          </a:solidFill>
          <a:ln cap="flat" cmpd="sng" w="9525">
            <a:solidFill>
              <a:srgbClr val="22304D"/>
            </a:solidFill>
            <a:prstDash val="solid"/>
            <a:round/>
            <a:headEnd len="sm" w="sm" type="none"/>
            <a:tailEnd len="sm" w="sm" type="none"/>
          </a:ln>
        </p:spPr>
        <p:txBody>
          <a:bodyPr anchorCtr="0" anchor="t" bIns="179275" lIns="178900" spcFirstLastPara="1" rIns="60825" wrap="square" tIns="179275">
            <a:noAutofit/>
          </a:bodyPr>
          <a:lstStyle/>
          <a:p>
            <a:pPr indent="0" lvl="0" marL="0" marR="0" rtl="0" algn="l">
              <a:lnSpc>
                <a:spcPct val="130000"/>
              </a:lnSpc>
              <a:spcBef>
                <a:spcPts val="0"/>
              </a:spcBef>
              <a:spcAft>
                <a:spcPts val="0"/>
              </a:spcAft>
              <a:buNone/>
            </a:pPr>
            <a:r>
              <a:rPr b="0" lang="en-US" sz="1400" u="none" strike="noStrike">
                <a:solidFill>
                  <a:srgbClr val="E8EEF8"/>
                </a:solidFill>
                <a:latin typeface="Inter"/>
                <a:ea typeface="Inter"/>
                <a:cs typeface="Inter"/>
                <a:sym typeface="Inter"/>
              </a:rPr>
              <a:t>Removing spending and largest purchase raises boosting error from 16.74¢ to 19.97¢.</a:t>
            </a:r>
            <a:endParaRPr b="0" sz="1400" u="none" strike="noStrike">
              <a:solidFill>
                <a:srgbClr val="FFFFFF"/>
              </a:solidFill>
              <a:latin typeface="Arial"/>
              <a:ea typeface="Arial"/>
              <a:cs typeface="Arial"/>
              <a:sym typeface="Arial"/>
            </a:endParaRPr>
          </a:p>
        </p:txBody>
      </p:sp>
      <p:sp>
        <p:nvSpPr>
          <p:cNvPr id="361" name="Google Shape;361;p18"/>
          <p:cNvSpPr/>
          <p:nvPr/>
        </p:nvSpPr>
        <p:spPr>
          <a:xfrm>
            <a:off x="7089495" y="3933390"/>
            <a:ext cx="4362000" cy="1011000"/>
          </a:xfrm>
          <a:prstGeom prst="roundRect">
            <a:avLst>
              <a:gd fmla="val 9728" name="adj"/>
            </a:avLst>
          </a:prstGeom>
          <a:solidFill>
            <a:srgbClr val="121B2E"/>
          </a:solidFill>
          <a:ln cap="flat" cmpd="sng" w="9525">
            <a:solidFill>
              <a:srgbClr val="22304D"/>
            </a:solidFill>
            <a:prstDash val="solid"/>
            <a:round/>
            <a:headEnd len="sm" w="sm" type="none"/>
            <a:tailEnd len="sm" w="sm" type="none"/>
          </a:ln>
        </p:spPr>
        <p:txBody>
          <a:bodyPr anchorCtr="0" anchor="t" bIns="179275" lIns="178900" spcFirstLastPara="1" rIns="60825" wrap="square" tIns="179275">
            <a:noAutofit/>
          </a:bodyPr>
          <a:lstStyle/>
          <a:p>
            <a:pPr indent="0" lvl="0" marL="0" marR="0" rtl="0" algn="l">
              <a:lnSpc>
                <a:spcPct val="130000"/>
              </a:lnSpc>
              <a:spcBef>
                <a:spcPts val="0"/>
              </a:spcBef>
              <a:spcAft>
                <a:spcPts val="0"/>
              </a:spcAft>
              <a:buNone/>
            </a:pPr>
            <a:r>
              <a:rPr b="0" lang="en-US" sz="1400" u="none" strike="noStrike">
                <a:solidFill>
                  <a:srgbClr val="F5A524"/>
                </a:solidFill>
                <a:latin typeface="Inter"/>
                <a:ea typeface="Inter"/>
                <a:cs typeface="Inter"/>
                <a:sym typeface="Inter"/>
              </a:rPr>
              <a:t>This is descriptive: not profit, trading skill or cause.</a:t>
            </a:r>
            <a:endParaRPr b="0" sz="1400" u="none" strike="noStrike">
              <a:solidFill>
                <a:srgbClr val="FFFFFF"/>
              </a:solidFill>
              <a:latin typeface="Arial"/>
              <a:ea typeface="Arial"/>
              <a:cs typeface="Arial"/>
              <a:sym typeface="Arial"/>
            </a:endParaRPr>
          </a:p>
        </p:txBody>
      </p:sp>
      <p:sp>
        <p:nvSpPr>
          <p:cNvPr id="362" name="Google Shape;362;p18"/>
          <p:cNvSpPr/>
          <p:nvPr/>
        </p:nvSpPr>
        <p:spPr>
          <a:xfrm>
            <a:off x="888855" y="6235590"/>
            <a:ext cx="9810000" cy="237900"/>
          </a:xfrm>
          <a:prstGeom prst="rect">
            <a:avLst/>
          </a:prstGeom>
          <a:noFill/>
          <a:ln>
            <a:noFill/>
          </a:ln>
        </p:spPr>
        <p:txBody>
          <a:bodyPr anchorCtr="0" anchor="t" bIns="0" lIns="0" spcFirstLastPara="1" rIns="0" wrap="square" tIns="0">
            <a:noAutofit/>
          </a:bodyPr>
          <a:lstStyle/>
          <a:p>
            <a:pPr indent="0" lvl="0" marL="0" marR="0" rtl="0" algn="l">
              <a:lnSpc>
                <a:spcPct val="140083"/>
              </a:lnSpc>
              <a:spcBef>
                <a:spcPts val="0"/>
              </a:spcBef>
              <a:spcAft>
                <a:spcPts val="0"/>
              </a:spcAft>
              <a:buNone/>
            </a:pPr>
            <a:r>
              <a:rPr b="0" lang="en-US" sz="1200" u="none" strike="noStrike">
                <a:solidFill>
                  <a:srgbClr val="9DB0CC"/>
                </a:solidFill>
                <a:latin typeface="Inter"/>
                <a:ea typeface="Inter"/>
                <a:cs typeface="Inter"/>
                <a:sym typeface="Inter"/>
              </a:rPr>
              <a:t>Wallet part · Slide 4 of 4</a:t>
            </a:r>
            <a:endParaRPr b="0" sz="1200" u="none" strike="noStrike">
              <a:solidFill>
                <a:srgbClr val="FFFFFF"/>
              </a:solidFill>
              <a:latin typeface="Arial"/>
              <a:ea typeface="Arial"/>
              <a:cs typeface="Arial"/>
              <a:sym typeface="Arial"/>
            </a:endParaRPr>
          </a:p>
        </p:txBody>
      </p:sp>
      <p:sp>
        <p:nvSpPr>
          <p:cNvPr id="363" name="Google Shape;363;p18"/>
          <p:cNvSpPr/>
          <p:nvPr/>
        </p:nvSpPr>
        <p:spPr>
          <a:xfrm>
            <a:off x="6998775" y="5078575"/>
            <a:ext cx="4580700" cy="1217100"/>
          </a:xfrm>
          <a:prstGeom prst="roundRect">
            <a:avLst>
              <a:gd fmla="val 7667" name="adj"/>
            </a:avLst>
          </a:prstGeom>
          <a:solidFill>
            <a:srgbClr val="FFFBE8"/>
          </a:solidFill>
          <a:ln cap="flat" cmpd="sng" w="7775">
            <a:solidFill>
              <a:srgbClr val="FDE047"/>
            </a:solidFill>
            <a:prstDash val="solid"/>
            <a:round/>
            <a:headEnd len="sm" w="sm" type="none"/>
            <a:tailEnd len="sm" w="sm" type="none"/>
          </a:ln>
        </p:spPr>
        <p:txBody>
          <a:bodyPr anchorCtr="0" anchor="ctr" bIns="37325" lIns="74650" spcFirstLastPara="1" rIns="74650" wrap="square" tIns="37325">
            <a:noAutofit/>
          </a:bodyPr>
          <a:lstStyle/>
          <a:p>
            <a:pPr indent="0" lvl="0" marL="0" marR="0" rtl="0" algn="ctr">
              <a:spcBef>
                <a:spcPts val="0"/>
              </a:spcBef>
              <a:spcAft>
                <a:spcPts val="0"/>
              </a:spcAft>
              <a:buNone/>
            </a:pPr>
            <a:r>
              <a:t/>
            </a:r>
            <a:endParaRPr b="0" i="0" sz="1470" u="none" cap="none" strike="noStrike">
              <a:solidFill>
                <a:srgbClr val="000000"/>
              </a:solidFill>
              <a:latin typeface="Calibri"/>
              <a:ea typeface="Calibri"/>
              <a:cs typeface="Calibri"/>
              <a:sym typeface="Calibri"/>
            </a:endParaRPr>
          </a:p>
        </p:txBody>
      </p:sp>
      <p:sp>
        <p:nvSpPr>
          <p:cNvPr id="364" name="Google Shape;364;p18"/>
          <p:cNvSpPr txBox="1"/>
          <p:nvPr/>
        </p:nvSpPr>
        <p:spPr>
          <a:xfrm>
            <a:off x="7224313" y="5304113"/>
            <a:ext cx="4852800" cy="169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2" u="none" cap="none" strike="noStrike">
                <a:solidFill>
                  <a:srgbClr val="854D0E"/>
                </a:solidFill>
                <a:latin typeface="Inter"/>
                <a:ea typeface="Inter"/>
                <a:cs typeface="Inter"/>
                <a:sym typeface="Inter"/>
              </a:rPr>
              <a:t>Scope Limitation Note</a:t>
            </a:r>
            <a:endParaRPr sz="1143"/>
          </a:p>
        </p:txBody>
      </p:sp>
      <p:sp>
        <p:nvSpPr>
          <p:cNvPr id="365" name="Google Shape;365;p18"/>
          <p:cNvSpPr txBox="1"/>
          <p:nvPr/>
        </p:nvSpPr>
        <p:spPr>
          <a:xfrm>
            <a:off x="7224313" y="5545204"/>
            <a:ext cx="4207500" cy="56550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919" u="none" cap="none" strike="noStrike">
                <a:solidFill>
                  <a:srgbClr val="A16207"/>
                </a:solidFill>
                <a:latin typeface="Inter"/>
                <a:ea typeface="Inter"/>
                <a:cs typeface="Inter"/>
                <a:sym typeface="Inter"/>
              </a:rPr>
              <a:t>This model captures </a:t>
            </a:r>
            <a:r>
              <a:rPr b="1" i="0" lang="en-US" sz="919" u="none" cap="none" strike="noStrike">
                <a:solidFill>
                  <a:srgbClr val="A16207"/>
                </a:solidFill>
                <a:latin typeface="Inter"/>
                <a:ea typeface="Inter"/>
                <a:cs typeface="Inter"/>
                <a:sym typeface="Inter"/>
              </a:rPr>
              <a:t>behavioral archetypes</a:t>
            </a:r>
            <a:r>
              <a:rPr b="0" i="0" lang="en-US" sz="919" u="none" cap="none" strike="noStrike">
                <a:solidFill>
                  <a:srgbClr val="A16207"/>
                </a:solidFill>
                <a:latin typeface="Inter"/>
                <a:ea typeface="Inter"/>
                <a:cs typeface="Inter"/>
                <a:sym typeface="Inter"/>
              </a:rPr>
              <a:t> (longshot bias vs. favorite buyers) rather than serving as a direct causal indicator of net profitability or trading skill.</a:t>
            </a:r>
            <a:endParaRPr sz="1143"/>
          </a:p>
        </p:txBody>
      </p:sp>
      <p:sp>
        <p:nvSpPr>
          <p:cNvPr id="366" name="Google Shape;366;p18"/>
          <p:cNvSpPr txBox="1"/>
          <p:nvPr/>
        </p:nvSpPr>
        <p:spPr>
          <a:xfrm>
            <a:off x="9218375" y="2136537"/>
            <a:ext cx="20241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284C7"/>
                </a:solidFill>
                <a:latin typeface="JetBrains Mono"/>
                <a:ea typeface="JetBrains Mono"/>
                <a:cs typeface="JetBrains Mono"/>
                <a:sym typeface="JetBrains Mono"/>
              </a:rPr>
              <a:t>+6.32¢ MAE Impact</a:t>
            </a:r>
            <a:endParaRPr/>
          </a:p>
        </p:txBody>
      </p:sp>
      <p:sp>
        <p:nvSpPr>
          <p:cNvPr id="367" name="Google Shape;367;p18"/>
          <p:cNvSpPr/>
          <p:nvPr/>
        </p:nvSpPr>
        <p:spPr>
          <a:xfrm>
            <a:off x="888850" y="5032976"/>
            <a:ext cx="4685100" cy="759000"/>
          </a:xfrm>
          <a:prstGeom prst="roundRect">
            <a:avLst>
              <a:gd fmla="val 9302" name="adj"/>
            </a:avLst>
          </a:prstGeom>
          <a:solidFill>
            <a:srgbClr val="F8FAFC"/>
          </a:solidFill>
          <a:ln cap="flat" cmpd="sng" w="8825">
            <a:solidFill>
              <a:srgbClr val="E2E8F0"/>
            </a:solidFill>
            <a:prstDash val="solid"/>
            <a:round/>
            <a:headEnd len="sm" w="sm" type="none"/>
            <a:tailEnd len="sm" w="sm" type="none"/>
          </a:ln>
        </p:spPr>
        <p:txBody>
          <a:bodyPr anchorCtr="0" anchor="ctr" bIns="42325" lIns="84700" spcFirstLastPara="1" rIns="84700" wrap="square" tIns="42325">
            <a:noAutofit/>
          </a:bodyPr>
          <a:lstStyle/>
          <a:p>
            <a:pPr indent="0" lvl="0" marL="0" marR="0" rtl="0" algn="ctr">
              <a:spcBef>
                <a:spcPts val="0"/>
              </a:spcBef>
              <a:spcAft>
                <a:spcPts val="0"/>
              </a:spcAft>
              <a:buNone/>
            </a:pPr>
            <a:r>
              <a:t/>
            </a:r>
            <a:endParaRPr b="0" i="0" sz="1667" u="none" cap="none" strike="noStrike">
              <a:solidFill>
                <a:srgbClr val="000000"/>
              </a:solidFill>
              <a:latin typeface="Calibri"/>
              <a:ea typeface="Calibri"/>
              <a:cs typeface="Calibri"/>
              <a:sym typeface="Calibri"/>
            </a:endParaRPr>
          </a:p>
        </p:txBody>
      </p:sp>
      <p:sp>
        <p:nvSpPr>
          <p:cNvPr id="368" name="Google Shape;368;p18"/>
          <p:cNvSpPr txBox="1"/>
          <p:nvPr/>
        </p:nvSpPr>
        <p:spPr>
          <a:xfrm>
            <a:off x="1074137" y="5456484"/>
            <a:ext cx="5393100" cy="149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73" u="none" cap="none" strike="noStrike">
                <a:solidFill>
                  <a:srgbClr val="64748B"/>
                </a:solidFill>
                <a:latin typeface="Inter"/>
                <a:ea typeface="Inter"/>
                <a:cs typeface="Inter"/>
                <a:sym typeface="Inter"/>
              </a:rPr>
              <a:t>Secondary indicators driving trading profile separation.</a:t>
            </a:r>
            <a:endParaRPr sz="1297"/>
          </a:p>
        </p:txBody>
      </p:sp>
      <p:sp>
        <p:nvSpPr>
          <p:cNvPr id="369" name="Google Shape;369;p18"/>
          <p:cNvSpPr txBox="1"/>
          <p:nvPr/>
        </p:nvSpPr>
        <p:spPr>
          <a:xfrm>
            <a:off x="1074137" y="5218261"/>
            <a:ext cx="2559000" cy="16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42" u="none" cap="none" strike="noStrike">
                <a:solidFill>
                  <a:srgbClr val="0F172A"/>
                </a:solidFill>
                <a:latin typeface="Inter"/>
                <a:ea typeface="Inter"/>
                <a:cs typeface="Inter"/>
                <a:sym typeface="Inter"/>
              </a:rPr>
              <a:t>Total Spending &amp; Max Purchase</a:t>
            </a:r>
            <a:endParaRPr sz="1297"/>
          </a:p>
        </p:txBody>
      </p:sp>
      <p:sp>
        <p:nvSpPr>
          <p:cNvPr id="370" name="Google Shape;370;p18"/>
          <p:cNvSpPr txBox="1"/>
          <p:nvPr/>
        </p:nvSpPr>
        <p:spPr>
          <a:xfrm>
            <a:off x="4065207" y="5218261"/>
            <a:ext cx="1654200" cy="17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12" u="none" cap="none" strike="noStrike">
                <a:solidFill>
                  <a:srgbClr val="0284C7"/>
                </a:solidFill>
                <a:latin typeface="JetBrains Mono"/>
                <a:ea typeface="JetBrains Mono"/>
                <a:cs typeface="JetBrains Mono"/>
                <a:sym typeface="JetBrains Mono"/>
              </a:rPr>
              <a:t>High Importance</a:t>
            </a:r>
            <a:endParaRPr sz="1297"/>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74" name="Shape 374"/>
        <p:cNvGrpSpPr/>
        <p:nvPr/>
      </p:nvGrpSpPr>
      <p:grpSpPr>
        <a:xfrm>
          <a:off x="0" y="0"/>
          <a:ext cx="0" cy="0"/>
          <a:chOff x="0" y="0"/>
          <a:chExt cx="0" cy="0"/>
        </a:xfrm>
      </p:grpSpPr>
      <p:sp>
        <p:nvSpPr>
          <p:cNvPr id="375" name="Google Shape;375;p19"/>
          <p:cNvSpPr/>
          <p:nvPr/>
        </p:nvSpPr>
        <p:spPr>
          <a:xfrm>
            <a:off x="3211128" y="4667142"/>
            <a:ext cx="1704900" cy="712200"/>
          </a:xfrm>
          <a:prstGeom prst="roundRect">
            <a:avLst>
              <a:gd fmla="val 18181" name="adj"/>
            </a:avLst>
          </a:prstGeom>
          <a:solidFill>
            <a:srgbClr val="1E293B"/>
          </a:solidFill>
          <a:ln cap="flat" cmpd="sng" w="10800">
            <a:solidFill>
              <a:srgbClr val="334155"/>
            </a:solidFill>
            <a:prstDash val="solid"/>
            <a:round/>
            <a:headEnd len="sm" w="sm" type="none"/>
            <a:tailEnd len="sm" w="sm" type="none"/>
          </a:ln>
        </p:spPr>
        <p:txBody>
          <a:bodyPr anchorCtr="0" anchor="ctr" bIns="51775" lIns="103550" spcFirstLastPara="1" rIns="103550" wrap="square" tIns="51775">
            <a:noAutofit/>
          </a:bodyPr>
          <a:lstStyle/>
          <a:p>
            <a:pPr indent="0" lvl="0" marL="0" marR="0" rtl="0" algn="ctr">
              <a:spcBef>
                <a:spcPts val="0"/>
              </a:spcBef>
              <a:spcAft>
                <a:spcPts val="0"/>
              </a:spcAft>
              <a:buNone/>
            </a:pPr>
            <a:r>
              <a:t/>
            </a:r>
            <a:endParaRPr b="0" i="0" sz="2039" u="none" cap="none" strike="noStrike">
              <a:solidFill>
                <a:schemeClr val="dk1"/>
              </a:solidFill>
              <a:latin typeface="Calibri"/>
              <a:ea typeface="Calibri"/>
              <a:cs typeface="Calibri"/>
              <a:sym typeface="Calibri"/>
            </a:endParaRPr>
          </a:p>
        </p:txBody>
      </p:sp>
      <p:sp>
        <p:nvSpPr>
          <p:cNvPr id="376" name="Google Shape;376;p19"/>
          <p:cNvSpPr/>
          <p:nvPr/>
        </p:nvSpPr>
        <p:spPr>
          <a:xfrm>
            <a:off x="5174766" y="4667142"/>
            <a:ext cx="1769400" cy="712200"/>
          </a:xfrm>
          <a:prstGeom prst="roundRect">
            <a:avLst>
              <a:gd fmla="val 18181" name="adj"/>
            </a:avLst>
          </a:prstGeom>
          <a:solidFill>
            <a:srgbClr val="1E293B"/>
          </a:solidFill>
          <a:ln cap="flat" cmpd="sng" w="10800">
            <a:solidFill>
              <a:srgbClr val="334155"/>
            </a:solidFill>
            <a:prstDash val="solid"/>
            <a:round/>
            <a:headEnd len="sm" w="sm" type="none"/>
            <a:tailEnd len="sm" w="sm" type="none"/>
          </a:ln>
        </p:spPr>
        <p:txBody>
          <a:bodyPr anchorCtr="0" anchor="ctr" bIns="51775" lIns="103550" spcFirstLastPara="1" rIns="103550" wrap="square" tIns="51775">
            <a:noAutofit/>
          </a:bodyPr>
          <a:lstStyle/>
          <a:p>
            <a:pPr indent="0" lvl="0" marL="0" marR="0" rtl="0" algn="ctr">
              <a:spcBef>
                <a:spcPts val="0"/>
              </a:spcBef>
              <a:spcAft>
                <a:spcPts val="0"/>
              </a:spcAft>
              <a:buNone/>
            </a:pPr>
            <a:r>
              <a:t/>
            </a:r>
            <a:endParaRPr b="0" i="0" sz="2039" u="none" cap="none" strike="noStrike">
              <a:solidFill>
                <a:schemeClr val="dk1"/>
              </a:solidFill>
              <a:latin typeface="Calibri"/>
              <a:ea typeface="Calibri"/>
              <a:cs typeface="Calibri"/>
              <a:sym typeface="Calibri"/>
            </a:endParaRPr>
          </a:p>
        </p:txBody>
      </p:sp>
      <p:sp>
        <p:nvSpPr>
          <p:cNvPr id="377" name="Google Shape;377;p19"/>
          <p:cNvSpPr/>
          <p:nvPr/>
        </p:nvSpPr>
        <p:spPr>
          <a:xfrm>
            <a:off x="7203139" y="4667142"/>
            <a:ext cx="1650900" cy="712200"/>
          </a:xfrm>
          <a:prstGeom prst="roundRect">
            <a:avLst>
              <a:gd fmla="val 18181" name="adj"/>
            </a:avLst>
          </a:prstGeom>
          <a:solidFill>
            <a:srgbClr val="1E293B"/>
          </a:solidFill>
          <a:ln cap="flat" cmpd="sng" w="10800">
            <a:solidFill>
              <a:srgbClr val="334155"/>
            </a:solidFill>
            <a:prstDash val="solid"/>
            <a:round/>
            <a:headEnd len="sm" w="sm" type="none"/>
            <a:tailEnd len="sm" w="sm" type="none"/>
          </a:ln>
        </p:spPr>
        <p:txBody>
          <a:bodyPr anchorCtr="0" anchor="ctr" bIns="51775" lIns="103550" spcFirstLastPara="1" rIns="103550" wrap="square" tIns="51775">
            <a:noAutofit/>
          </a:bodyPr>
          <a:lstStyle/>
          <a:p>
            <a:pPr indent="0" lvl="0" marL="0" marR="0" rtl="0" algn="ctr">
              <a:spcBef>
                <a:spcPts val="0"/>
              </a:spcBef>
              <a:spcAft>
                <a:spcPts val="0"/>
              </a:spcAft>
              <a:buNone/>
            </a:pPr>
            <a:r>
              <a:t/>
            </a:r>
            <a:endParaRPr b="0" i="0" sz="2039" u="none" cap="none" strike="noStrike">
              <a:solidFill>
                <a:schemeClr val="dk1"/>
              </a:solidFill>
              <a:latin typeface="Calibri"/>
              <a:ea typeface="Calibri"/>
              <a:cs typeface="Calibri"/>
              <a:sym typeface="Calibri"/>
            </a:endParaRPr>
          </a:p>
        </p:txBody>
      </p:sp>
      <p:sp>
        <p:nvSpPr>
          <p:cNvPr id="378" name="Google Shape;378;p19"/>
          <p:cNvSpPr txBox="1"/>
          <p:nvPr/>
        </p:nvSpPr>
        <p:spPr>
          <a:xfrm>
            <a:off x="3301516" y="1246450"/>
            <a:ext cx="5461800" cy="18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189" u="none" cap="none" strike="noStrike">
                <a:solidFill>
                  <a:srgbClr val="38BDF8"/>
                </a:solidFill>
                <a:latin typeface="JetBrains Mono"/>
                <a:ea typeface="JetBrains Mono"/>
                <a:cs typeface="JetBrains Mono"/>
                <a:sym typeface="JetBrains Mono"/>
              </a:rPr>
              <a:t>UCLA STATS C161 / C261 · MIDTERM PRESENTATION</a:t>
            </a:r>
            <a:endParaRPr sz="1586"/>
          </a:p>
        </p:txBody>
      </p:sp>
      <p:sp>
        <p:nvSpPr>
          <p:cNvPr id="379" name="Google Shape;379;p19"/>
          <p:cNvSpPr txBox="1"/>
          <p:nvPr/>
        </p:nvSpPr>
        <p:spPr>
          <a:xfrm>
            <a:off x="3809283" y="1613283"/>
            <a:ext cx="4446600" cy="732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757" u="none" cap="none" strike="noStrike">
                <a:solidFill>
                  <a:srgbClr val="FFFFFF"/>
                </a:solidFill>
                <a:latin typeface="Inter"/>
                <a:ea typeface="Inter"/>
                <a:cs typeface="Inter"/>
                <a:sym typeface="Inter"/>
              </a:rPr>
              <a:t>Thank You!</a:t>
            </a:r>
            <a:endParaRPr sz="1586"/>
          </a:p>
        </p:txBody>
      </p:sp>
      <p:sp>
        <p:nvSpPr>
          <p:cNvPr id="380" name="Google Shape;380;p19"/>
          <p:cNvSpPr txBox="1"/>
          <p:nvPr/>
        </p:nvSpPr>
        <p:spPr>
          <a:xfrm>
            <a:off x="1716850" y="2562735"/>
            <a:ext cx="8631300" cy="566700"/>
          </a:xfrm>
          <a:prstGeom prst="rect">
            <a:avLst/>
          </a:prstGeom>
          <a:noFill/>
          <a:ln>
            <a:noFill/>
          </a:ln>
        </p:spPr>
        <p:txBody>
          <a:bodyPr anchorCtr="0" anchor="t" bIns="0" lIns="0" spcFirstLastPara="1" rIns="0" wrap="square" tIns="0">
            <a:spAutoFit/>
          </a:bodyPr>
          <a:lstStyle/>
          <a:p>
            <a:pPr indent="0" lvl="0" marL="0" marR="0" rtl="0" algn="ctr">
              <a:lnSpc>
                <a:spcPct val="116666"/>
              </a:lnSpc>
              <a:spcBef>
                <a:spcPts val="0"/>
              </a:spcBef>
              <a:spcAft>
                <a:spcPts val="0"/>
              </a:spcAft>
              <a:buNone/>
            </a:pPr>
            <a:r>
              <a:rPr b="1" i="0" lang="en-US" sz="1699" u="none" cap="none" strike="noStrike">
                <a:solidFill>
                  <a:srgbClr val="94A3B8"/>
                </a:solidFill>
                <a:latin typeface="Inter"/>
                <a:ea typeface="Inter"/>
                <a:cs typeface="Inter"/>
                <a:sym typeface="Inter"/>
              </a:rPr>
              <a:t>Questions &amp; Comments?</a:t>
            </a:r>
            <a:br>
              <a:rPr b="0" i="0" lang="en-US" sz="2039" u="none" cap="none" strike="noStrike">
                <a:solidFill>
                  <a:schemeClr val="dk1"/>
                </a:solidFill>
                <a:latin typeface="Calibri"/>
                <a:ea typeface="Calibri"/>
                <a:cs typeface="Calibri"/>
                <a:sym typeface="Calibri"/>
              </a:rPr>
            </a:br>
            <a:r>
              <a:rPr b="0" i="0" lang="en-US" sz="1699" u="none" cap="none" strike="noStrike">
                <a:solidFill>
                  <a:srgbClr val="94A3B8"/>
                </a:solidFill>
                <a:latin typeface="Inter"/>
                <a:ea typeface="Inter"/>
                <a:cs typeface="Inter"/>
                <a:sym typeface="Inter"/>
              </a:rPr>
              <a:t> We welcome feedback on our calibration methodology and wallet profiling pipeline.</a:t>
            </a:r>
            <a:endParaRPr sz="1586"/>
          </a:p>
        </p:txBody>
      </p:sp>
      <p:sp>
        <p:nvSpPr>
          <p:cNvPr id="381" name="Google Shape;381;p19"/>
          <p:cNvSpPr txBox="1"/>
          <p:nvPr/>
        </p:nvSpPr>
        <p:spPr>
          <a:xfrm>
            <a:off x="3362177" y="4850558"/>
            <a:ext cx="1402800" cy="18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189" u="none" cap="none" strike="noStrike">
                <a:solidFill>
                  <a:srgbClr val="38BDF8"/>
                </a:solidFill>
                <a:latin typeface="Inter"/>
                <a:ea typeface="Inter"/>
                <a:cs typeface="Inter"/>
                <a:sym typeface="Inter"/>
              </a:rPr>
              <a:t>Leo Wong</a:t>
            </a:r>
            <a:endParaRPr sz="1586"/>
          </a:p>
        </p:txBody>
      </p:sp>
      <p:sp>
        <p:nvSpPr>
          <p:cNvPr id="382" name="Google Shape;382;p19"/>
          <p:cNvSpPr txBox="1"/>
          <p:nvPr/>
        </p:nvSpPr>
        <p:spPr>
          <a:xfrm>
            <a:off x="3362177" y="5033975"/>
            <a:ext cx="1402800" cy="156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019" u="none" cap="none" strike="noStrike">
                <a:solidFill>
                  <a:srgbClr val="64748B"/>
                </a:solidFill>
                <a:latin typeface="Inter"/>
                <a:ea typeface="Inter"/>
                <a:cs typeface="Inter"/>
                <a:sym typeface="Inter"/>
              </a:rPr>
              <a:t>Literature &amp; Deck</a:t>
            </a:r>
            <a:endParaRPr sz="1586"/>
          </a:p>
        </p:txBody>
      </p:sp>
      <p:sp>
        <p:nvSpPr>
          <p:cNvPr id="383" name="Google Shape;383;p19"/>
          <p:cNvSpPr txBox="1"/>
          <p:nvPr/>
        </p:nvSpPr>
        <p:spPr>
          <a:xfrm>
            <a:off x="5325815" y="4850558"/>
            <a:ext cx="1467300" cy="18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189" u="none" cap="none" strike="noStrike">
                <a:solidFill>
                  <a:srgbClr val="38BDF8"/>
                </a:solidFill>
                <a:latin typeface="Inter"/>
                <a:ea typeface="Inter"/>
                <a:cs typeface="Inter"/>
                <a:sym typeface="Inter"/>
              </a:rPr>
              <a:t>Aaron Wen</a:t>
            </a:r>
            <a:endParaRPr sz="1586"/>
          </a:p>
        </p:txBody>
      </p:sp>
      <p:sp>
        <p:nvSpPr>
          <p:cNvPr id="384" name="Google Shape;384;p19"/>
          <p:cNvSpPr txBox="1"/>
          <p:nvPr/>
        </p:nvSpPr>
        <p:spPr>
          <a:xfrm>
            <a:off x="5325815" y="5033975"/>
            <a:ext cx="1467300" cy="156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019" u="none" cap="none" strike="noStrike">
                <a:solidFill>
                  <a:srgbClr val="64748B"/>
                </a:solidFill>
                <a:latin typeface="Inter"/>
                <a:ea typeface="Inter"/>
                <a:cs typeface="Inter"/>
                <a:sym typeface="Inter"/>
              </a:rPr>
              <a:t>Market Calibration</a:t>
            </a:r>
            <a:endParaRPr sz="1586"/>
          </a:p>
        </p:txBody>
      </p:sp>
      <p:sp>
        <p:nvSpPr>
          <p:cNvPr id="385" name="Google Shape;385;p19"/>
          <p:cNvSpPr txBox="1"/>
          <p:nvPr/>
        </p:nvSpPr>
        <p:spPr>
          <a:xfrm>
            <a:off x="7354188" y="4850558"/>
            <a:ext cx="1348800" cy="18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189" u="none" cap="none" strike="noStrike">
                <a:solidFill>
                  <a:srgbClr val="38BDF8"/>
                </a:solidFill>
                <a:latin typeface="Inter"/>
                <a:ea typeface="Inter"/>
                <a:cs typeface="Inter"/>
                <a:sym typeface="Inter"/>
              </a:rPr>
              <a:t>Jiahong Chen</a:t>
            </a:r>
            <a:endParaRPr sz="1586"/>
          </a:p>
        </p:txBody>
      </p:sp>
      <p:sp>
        <p:nvSpPr>
          <p:cNvPr id="386" name="Google Shape;386;p19"/>
          <p:cNvSpPr txBox="1"/>
          <p:nvPr/>
        </p:nvSpPr>
        <p:spPr>
          <a:xfrm>
            <a:off x="7354188" y="5033975"/>
            <a:ext cx="1348800" cy="156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019" u="none" cap="none" strike="noStrike">
                <a:solidFill>
                  <a:srgbClr val="64748B"/>
                </a:solidFill>
                <a:latin typeface="Inter"/>
                <a:ea typeface="Inter"/>
                <a:cs typeface="Inter"/>
                <a:sym typeface="Inter"/>
              </a:rPr>
              <a:t>Wallet Analysis</a:t>
            </a:r>
            <a:endParaRPr sz="1586"/>
          </a:p>
        </p:txBody>
      </p:sp>
      <p:sp>
        <p:nvSpPr>
          <p:cNvPr id="387" name="Google Shape;387;p19"/>
          <p:cNvSpPr/>
          <p:nvPr/>
        </p:nvSpPr>
        <p:spPr>
          <a:xfrm>
            <a:off x="4880877" y="3617150"/>
            <a:ext cx="2303100" cy="410100"/>
          </a:xfrm>
          <a:prstGeom prst="roundRect">
            <a:avLst>
              <a:gd fmla="val 15789" name="adj"/>
            </a:avLst>
          </a:prstGeom>
          <a:solidFill>
            <a:srgbClr val="13283F"/>
          </a:solidFill>
          <a:ln>
            <a:noFill/>
          </a:ln>
        </p:spPr>
        <p:txBody>
          <a:bodyPr anchorCtr="0" anchor="ctr" bIns="51775" lIns="103550" spcFirstLastPara="1" rIns="103550" wrap="square" tIns="51775">
            <a:noAutofit/>
          </a:bodyPr>
          <a:lstStyle/>
          <a:p>
            <a:pPr indent="0" lvl="0" marL="0" marR="0" rtl="0" algn="ctr">
              <a:spcBef>
                <a:spcPts val="0"/>
              </a:spcBef>
              <a:spcAft>
                <a:spcPts val="0"/>
              </a:spcAft>
              <a:buNone/>
            </a:pPr>
            <a:r>
              <a:t/>
            </a:r>
            <a:endParaRPr b="0" i="0" sz="2039" u="none" cap="none" strike="noStrike">
              <a:solidFill>
                <a:srgbClr val="000000"/>
              </a:solidFill>
              <a:latin typeface="Calibri"/>
              <a:ea typeface="Calibri"/>
              <a:cs typeface="Calibri"/>
              <a:sym typeface="Calibri"/>
            </a:endParaRPr>
          </a:p>
        </p:txBody>
      </p:sp>
      <p:sp>
        <p:nvSpPr>
          <p:cNvPr id="388" name="Google Shape;388;p19"/>
          <p:cNvSpPr txBox="1"/>
          <p:nvPr/>
        </p:nvSpPr>
        <p:spPr>
          <a:xfrm>
            <a:off x="4953481" y="3730701"/>
            <a:ext cx="2157900" cy="18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189" u="none" cap="none" strike="noStrike">
                <a:solidFill>
                  <a:srgbClr val="38BDF8"/>
                </a:solidFill>
                <a:latin typeface="JetBrains Mono"/>
                <a:ea typeface="JetBrains Mono"/>
                <a:cs typeface="JetBrains Mono"/>
                <a:sym typeface="JetBrains Mono"/>
              </a:rPr>
              <a:t>Q&amp;A Session (~3 mins) </a:t>
            </a:r>
            <a:endParaRPr sz="1586"/>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393" name="Shape 393"/>
        <p:cNvGrpSpPr/>
        <p:nvPr/>
      </p:nvGrpSpPr>
      <p:grpSpPr>
        <a:xfrm>
          <a:off x="0" y="0"/>
          <a:ext cx="0" cy="0"/>
          <a:chOff x="0" y="0"/>
          <a:chExt cx="0" cy="0"/>
        </a:xfrm>
      </p:grpSpPr>
      <p:sp>
        <p:nvSpPr>
          <p:cNvPr id="394" name="Google Shape;394;p20"/>
          <p:cNvSpPr/>
          <p:nvPr/>
        </p:nvSpPr>
        <p:spPr>
          <a:xfrm>
            <a:off x="812880" y="609480"/>
            <a:ext cx="10882800" cy="255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1300" u="none" strike="noStrike">
                <a:solidFill>
                  <a:srgbClr val="2DD4A0"/>
                </a:solidFill>
                <a:latin typeface="Inter"/>
                <a:ea typeface="Inter"/>
                <a:cs typeface="Inter"/>
                <a:sym typeface="Inter"/>
              </a:rPr>
              <a:t>BACKUP · FOR Q&amp;A</a:t>
            </a:r>
            <a:endParaRPr b="0" sz="1300" u="none" strike="noStrike">
              <a:solidFill>
                <a:srgbClr val="FFFFFF"/>
              </a:solidFill>
              <a:latin typeface="Arial"/>
              <a:ea typeface="Arial"/>
              <a:cs typeface="Arial"/>
              <a:sym typeface="Arial"/>
            </a:endParaRPr>
          </a:p>
        </p:txBody>
      </p:sp>
      <p:sp>
        <p:nvSpPr>
          <p:cNvPr id="395" name="Google Shape;395;p20"/>
          <p:cNvSpPr txBox="1"/>
          <p:nvPr>
            <p:ph type="title"/>
          </p:nvPr>
        </p:nvSpPr>
        <p:spPr>
          <a:xfrm>
            <a:off x="812880" y="1018440"/>
            <a:ext cx="10882800" cy="471600"/>
          </a:xfrm>
          <a:prstGeom prst="rect">
            <a:avLst/>
          </a:prstGeom>
          <a:noFill/>
          <a:ln>
            <a:noFill/>
          </a:ln>
        </p:spPr>
        <p:txBody>
          <a:bodyPr anchorCtr="0" anchor="t" bIns="0" lIns="0" spcFirstLastPara="1" rIns="0" wrap="square" tIns="0">
            <a:normAutofit/>
          </a:bodyPr>
          <a:lstStyle/>
          <a:p>
            <a:pPr indent="0" lvl="0" marL="0" rtl="0" algn="l">
              <a:lnSpc>
                <a:spcPct val="110031"/>
              </a:lnSpc>
              <a:spcBef>
                <a:spcPts val="0"/>
              </a:spcBef>
              <a:spcAft>
                <a:spcPts val="0"/>
              </a:spcAft>
              <a:buClr>
                <a:srgbClr val="E8EEF8"/>
              </a:buClr>
              <a:buSzPts val="3200"/>
              <a:buFont typeface="Space Grotesk"/>
              <a:buNone/>
            </a:pPr>
            <a:r>
              <a:rPr b="1" lang="en-US" sz="3200" u="none" strike="noStrike">
                <a:solidFill>
                  <a:srgbClr val="E8EEF8"/>
                </a:solidFill>
                <a:latin typeface="Space Grotesk"/>
                <a:ea typeface="Space Grotesk"/>
                <a:cs typeface="Space Grotesk"/>
                <a:sym typeface="Space Grotesk"/>
              </a:rPr>
              <a:t>Details if asked</a:t>
            </a:r>
            <a:endParaRPr b="0" sz="3200" u="none" strike="noStrike">
              <a:solidFill>
                <a:schemeClr val="lt1"/>
              </a:solidFill>
              <a:latin typeface="Inter"/>
              <a:ea typeface="Inter"/>
              <a:cs typeface="Inter"/>
              <a:sym typeface="Inter"/>
            </a:endParaRPr>
          </a:p>
        </p:txBody>
      </p:sp>
      <p:sp>
        <p:nvSpPr>
          <p:cNvPr id="396" name="Google Shape;396;p20"/>
          <p:cNvSpPr/>
          <p:nvPr/>
        </p:nvSpPr>
        <p:spPr>
          <a:xfrm>
            <a:off x="815760" y="1646280"/>
            <a:ext cx="3379680" cy="1608480"/>
          </a:xfrm>
          <a:prstGeom prst="roundRect">
            <a:avLst>
              <a:gd fmla="val 6116"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97" name="Google Shape;397;p20"/>
          <p:cNvSpPr/>
          <p:nvPr/>
        </p:nvSpPr>
        <p:spPr>
          <a:xfrm>
            <a:off x="1023840" y="1854000"/>
            <a:ext cx="3052800" cy="283680"/>
          </a:xfrm>
          <a:prstGeom prst="rect">
            <a:avLst/>
          </a:prstGeom>
          <a:noFill/>
          <a:ln>
            <a:noFill/>
          </a:ln>
        </p:spPr>
        <p:txBody>
          <a:bodyPr anchorCtr="0" anchor="t" bIns="0" lIns="0" spcFirstLastPara="1" rIns="0" wrap="square" tIns="0">
            <a:noAutofit/>
          </a:bodyPr>
          <a:lstStyle/>
          <a:p>
            <a:pPr indent="0" lvl="0" marL="0" marR="0" rtl="0" algn="l">
              <a:lnSpc>
                <a:spcPct val="120058"/>
              </a:lnSpc>
              <a:spcBef>
                <a:spcPts val="0"/>
              </a:spcBef>
              <a:spcAft>
                <a:spcPts val="0"/>
              </a:spcAft>
              <a:buNone/>
            </a:pPr>
            <a:r>
              <a:rPr b="1" lang="en-US" sz="1700" u="none" strike="noStrike">
                <a:solidFill>
                  <a:srgbClr val="2DD4A0"/>
                </a:solidFill>
                <a:latin typeface="Space Grotesk"/>
                <a:ea typeface="Space Grotesk"/>
                <a:cs typeface="Space Grotesk"/>
                <a:sym typeface="Space Grotesk"/>
              </a:rPr>
              <a:t>Train and test</a:t>
            </a:r>
            <a:endParaRPr b="0" sz="1700" u="none" strike="noStrike">
              <a:solidFill>
                <a:srgbClr val="FFFFFF"/>
              </a:solidFill>
              <a:latin typeface="Arial"/>
              <a:ea typeface="Arial"/>
              <a:cs typeface="Arial"/>
              <a:sym typeface="Arial"/>
            </a:endParaRPr>
          </a:p>
        </p:txBody>
      </p:sp>
      <p:sp>
        <p:nvSpPr>
          <p:cNvPr id="398" name="Google Shape;398;p20"/>
          <p:cNvSpPr/>
          <p:nvPr/>
        </p:nvSpPr>
        <p:spPr>
          <a:xfrm>
            <a:off x="1023840" y="2189520"/>
            <a:ext cx="3052800" cy="883080"/>
          </a:xfrm>
          <a:prstGeom prst="rect">
            <a:avLst/>
          </a:prstGeom>
          <a:noFill/>
          <a:ln>
            <a:noFill/>
          </a:ln>
        </p:spPr>
        <p:txBody>
          <a:bodyPr anchorCtr="0" anchor="t" bIns="0" lIns="0" spcFirstLastPara="1" rIns="0" wrap="square" tIns="0">
            <a:noAutofit/>
          </a:bodyPr>
          <a:lstStyle/>
          <a:p>
            <a:pPr indent="0" lvl="0" marL="0" marR="0" rtl="0" algn="l">
              <a:lnSpc>
                <a:spcPct val="129923"/>
              </a:lnSpc>
              <a:spcBef>
                <a:spcPts val="0"/>
              </a:spcBef>
              <a:spcAft>
                <a:spcPts val="0"/>
              </a:spcAft>
              <a:buNone/>
            </a:pPr>
            <a:r>
              <a:rPr b="0" lang="en-US" sz="1300" u="none" strike="noStrike">
                <a:solidFill>
                  <a:srgbClr val="E8EEF8"/>
                </a:solidFill>
                <a:latin typeface="Inter"/>
                <a:ea typeface="Inter"/>
                <a:cs typeface="Inter"/>
                <a:sym typeface="Inter"/>
              </a:rPr>
              <a:t>Train: 841 events, 3,215 markets, all closed before Sep 1. Test: 860 events, 3,511 markets. An event that straddles Sep 1 goes wholly to test.</a:t>
            </a:r>
            <a:endParaRPr b="0" sz="1300" u="none" strike="noStrike">
              <a:solidFill>
                <a:srgbClr val="FFFFFF"/>
              </a:solidFill>
              <a:latin typeface="Arial"/>
              <a:ea typeface="Arial"/>
              <a:cs typeface="Arial"/>
              <a:sym typeface="Arial"/>
            </a:endParaRPr>
          </a:p>
        </p:txBody>
      </p:sp>
      <p:sp>
        <p:nvSpPr>
          <p:cNvPr id="399" name="Google Shape;399;p20"/>
          <p:cNvSpPr/>
          <p:nvPr/>
        </p:nvSpPr>
        <p:spPr>
          <a:xfrm>
            <a:off x="4405680" y="1646280"/>
            <a:ext cx="3379680" cy="1608480"/>
          </a:xfrm>
          <a:prstGeom prst="roundRect">
            <a:avLst>
              <a:gd fmla="val 6116"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400" name="Google Shape;400;p20"/>
          <p:cNvSpPr/>
          <p:nvPr/>
        </p:nvSpPr>
        <p:spPr>
          <a:xfrm>
            <a:off x="4613760" y="1854000"/>
            <a:ext cx="3052800" cy="283680"/>
          </a:xfrm>
          <a:prstGeom prst="rect">
            <a:avLst/>
          </a:prstGeom>
          <a:noFill/>
          <a:ln>
            <a:noFill/>
          </a:ln>
        </p:spPr>
        <p:txBody>
          <a:bodyPr anchorCtr="0" anchor="t" bIns="0" lIns="0" spcFirstLastPara="1" rIns="0" wrap="square" tIns="0">
            <a:noAutofit/>
          </a:bodyPr>
          <a:lstStyle/>
          <a:p>
            <a:pPr indent="0" lvl="0" marL="0" marR="0" rtl="0" algn="l">
              <a:lnSpc>
                <a:spcPct val="120058"/>
              </a:lnSpc>
              <a:spcBef>
                <a:spcPts val="0"/>
              </a:spcBef>
              <a:spcAft>
                <a:spcPts val="0"/>
              </a:spcAft>
              <a:buNone/>
            </a:pPr>
            <a:r>
              <a:rPr b="1" lang="en-US" sz="1700" u="none" strike="noStrike">
                <a:solidFill>
                  <a:srgbClr val="4C8DFF"/>
                </a:solidFill>
                <a:latin typeface="Space Grotesk"/>
                <a:ea typeface="Space Grotesk"/>
                <a:cs typeface="Space Grotesk"/>
                <a:sym typeface="Space Grotesk"/>
              </a:rPr>
              <a:t>Mid-range prices</a:t>
            </a:r>
            <a:endParaRPr b="0" sz="1700" u="none" strike="noStrike">
              <a:solidFill>
                <a:srgbClr val="FFFFFF"/>
              </a:solidFill>
              <a:latin typeface="Arial"/>
              <a:ea typeface="Arial"/>
              <a:cs typeface="Arial"/>
              <a:sym typeface="Arial"/>
            </a:endParaRPr>
          </a:p>
        </p:txBody>
      </p:sp>
      <p:sp>
        <p:nvSpPr>
          <p:cNvPr id="401" name="Google Shape;401;p20"/>
          <p:cNvSpPr/>
          <p:nvPr/>
        </p:nvSpPr>
        <p:spPr>
          <a:xfrm>
            <a:off x="4613760" y="2189520"/>
            <a:ext cx="3052800" cy="668520"/>
          </a:xfrm>
          <a:prstGeom prst="rect">
            <a:avLst/>
          </a:prstGeom>
          <a:noFill/>
          <a:ln>
            <a:noFill/>
          </a:ln>
        </p:spPr>
        <p:txBody>
          <a:bodyPr anchorCtr="0" anchor="t" bIns="0" lIns="0" spcFirstLastPara="1" rIns="0" wrap="square" tIns="0">
            <a:noAutofit/>
          </a:bodyPr>
          <a:lstStyle/>
          <a:p>
            <a:pPr indent="0" lvl="0" marL="0" marR="0" rtl="0" algn="l">
              <a:lnSpc>
                <a:spcPct val="129923"/>
              </a:lnSpc>
              <a:spcBef>
                <a:spcPts val="0"/>
              </a:spcBef>
              <a:spcAft>
                <a:spcPts val="0"/>
              </a:spcAft>
              <a:buNone/>
            </a:pPr>
            <a:r>
              <a:rPr b="0" lang="en-US" sz="1300" u="none" strike="noStrike">
                <a:solidFill>
                  <a:srgbClr val="E8EEF8"/>
                </a:solidFill>
                <a:latin typeface="Inter"/>
                <a:ea typeface="Inter"/>
                <a:cs typeface="Inter"/>
                <a:sym typeface="Inter"/>
              </a:rPr>
              <a:t>Only prices from 5¢ to 95¢: test Brier at 24h is 0.148 for the market and 0.150 for both models.</a:t>
            </a:r>
            <a:endParaRPr b="0" sz="1300" u="none" strike="noStrike">
              <a:solidFill>
                <a:srgbClr val="FFFFFF"/>
              </a:solidFill>
              <a:latin typeface="Arial"/>
              <a:ea typeface="Arial"/>
              <a:cs typeface="Arial"/>
              <a:sym typeface="Arial"/>
            </a:endParaRPr>
          </a:p>
        </p:txBody>
      </p:sp>
      <p:sp>
        <p:nvSpPr>
          <p:cNvPr id="402" name="Google Shape;402;p20"/>
          <p:cNvSpPr/>
          <p:nvPr/>
        </p:nvSpPr>
        <p:spPr>
          <a:xfrm>
            <a:off x="7995600" y="1646280"/>
            <a:ext cx="3379680" cy="1608480"/>
          </a:xfrm>
          <a:prstGeom prst="roundRect">
            <a:avLst>
              <a:gd fmla="val 6116" name="adj"/>
            </a:avLst>
          </a:prstGeom>
          <a:solidFill>
            <a:srgbClr val="121B2E"/>
          </a:solidFill>
          <a:ln cap="flat" cmpd="sng" w="9525">
            <a:solidFill>
              <a:srgbClr val="22304D"/>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403" name="Google Shape;403;p20"/>
          <p:cNvSpPr/>
          <p:nvPr/>
        </p:nvSpPr>
        <p:spPr>
          <a:xfrm>
            <a:off x="8203680" y="1854000"/>
            <a:ext cx="3052800" cy="283680"/>
          </a:xfrm>
          <a:prstGeom prst="rect">
            <a:avLst/>
          </a:prstGeom>
          <a:noFill/>
          <a:ln>
            <a:noFill/>
          </a:ln>
        </p:spPr>
        <p:txBody>
          <a:bodyPr anchorCtr="0" anchor="t" bIns="0" lIns="0" spcFirstLastPara="1" rIns="0" wrap="square" tIns="0">
            <a:noAutofit/>
          </a:bodyPr>
          <a:lstStyle/>
          <a:p>
            <a:pPr indent="0" lvl="0" marL="0" marR="0" rtl="0" algn="l">
              <a:lnSpc>
                <a:spcPct val="120058"/>
              </a:lnSpc>
              <a:spcBef>
                <a:spcPts val="0"/>
              </a:spcBef>
              <a:spcAft>
                <a:spcPts val="0"/>
              </a:spcAft>
              <a:buNone/>
            </a:pPr>
            <a:r>
              <a:rPr b="1" lang="en-US" sz="1700" u="none" strike="noStrike">
                <a:solidFill>
                  <a:srgbClr val="F5A524"/>
                </a:solidFill>
                <a:latin typeface="Space Grotesk"/>
                <a:ea typeface="Space Grotesk"/>
                <a:cs typeface="Space Grotesk"/>
                <a:sym typeface="Space Grotesk"/>
              </a:rPr>
              <a:t>Slopes by category</a:t>
            </a:r>
            <a:endParaRPr b="0" sz="1700" u="none" strike="noStrike">
              <a:solidFill>
                <a:srgbClr val="FFFFFF"/>
              </a:solidFill>
              <a:latin typeface="Arial"/>
              <a:ea typeface="Arial"/>
              <a:cs typeface="Arial"/>
              <a:sym typeface="Arial"/>
            </a:endParaRPr>
          </a:p>
        </p:txBody>
      </p:sp>
      <p:sp>
        <p:nvSpPr>
          <p:cNvPr id="404" name="Google Shape;404;p20"/>
          <p:cNvSpPr/>
          <p:nvPr/>
        </p:nvSpPr>
        <p:spPr>
          <a:xfrm>
            <a:off x="8203680" y="2189520"/>
            <a:ext cx="3052800" cy="883080"/>
          </a:xfrm>
          <a:prstGeom prst="rect">
            <a:avLst/>
          </a:prstGeom>
          <a:noFill/>
          <a:ln>
            <a:noFill/>
          </a:ln>
        </p:spPr>
        <p:txBody>
          <a:bodyPr anchorCtr="0" anchor="t" bIns="0" lIns="0" spcFirstLastPara="1" rIns="0" wrap="square" tIns="0">
            <a:noAutofit/>
          </a:bodyPr>
          <a:lstStyle/>
          <a:p>
            <a:pPr indent="0" lvl="0" marL="0" marR="0" rtl="0" algn="l">
              <a:lnSpc>
                <a:spcPct val="129923"/>
              </a:lnSpc>
              <a:spcBef>
                <a:spcPts val="0"/>
              </a:spcBef>
              <a:spcAft>
                <a:spcPts val="0"/>
              </a:spcAft>
              <a:buNone/>
            </a:pPr>
            <a:r>
              <a:rPr b="0" lang="en-US" sz="1300" u="none" strike="noStrike">
                <a:solidFill>
                  <a:srgbClr val="E8EEF8"/>
                </a:solidFill>
                <a:latin typeface="Inter"/>
                <a:ea typeface="Inter"/>
                <a:cs typeface="Inter"/>
                <a:sym typeface="Inter"/>
              </a:rPr>
              <a:t>At 24h: Politics 1.03, Technology 1.11, Entertainment 1.12, Economy 0.92. Only Entertainment’s interval sits just above 1 (1.00 to 1.29).</a:t>
            </a:r>
            <a:endParaRPr b="0" sz="1300" u="none" strike="noStrike">
              <a:solidFill>
                <a:srgbClr val="FFFFFF"/>
              </a:solidFill>
              <a:latin typeface="Arial"/>
              <a:ea typeface="Arial"/>
              <a:cs typeface="Arial"/>
              <a:sym typeface="Arial"/>
            </a:endParaRPr>
          </a:p>
        </p:txBody>
      </p:sp>
      <p:sp>
        <p:nvSpPr>
          <p:cNvPr id="405" name="Google Shape;405;p20"/>
          <p:cNvSpPr/>
          <p:nvPr/>
        </p:nvSpPr>
        <p:spPr>
          <a:xfrm>
            <a:off x="812880" y="6238440"/>
            <a:ext cx="9810000" cy="237960"/>
          </a:xfrm>
          <a:prstGeom prst="rect">
            <a:avLst/>
          </a:prstGeom>
          <a:noFill/>
          <a:ln>
            <a:noFill/>
          </a:ln>
        </p:spPr>
        <p:txBody>
          <a:bodyPr anchorCtr="0" anchor="t" bIns="0" lIns="0" spcFirstLastPara="1" rIns="0" wrap="square" tIns="0">
            <a:noAutofit/>
          </a:bodyPr>
          <a:lstStyle/>
          <a:p>
            <a:pPr indent="0" lvl="0" marL="0" marR="0" rtl="0" algn="l">
              <a:lnSpc>
                <a:spcPct val="140083"/>
              </a:lnSpc>
              <a:spcBef>
                <a:spcPts val="0"/>
              </a:spcBef>
              <a:spcAft>
                <a:spcPts val="0"/>
              </a:spcAft>
              <a:buNone/>
            </a:pPr>
            <a:r>
              <a:rPr b="0" lang="en-US" sz="1200" u="none" strike="noStrike">
                <a:solidFill>
                  <a:srgbClr val="9DB0CC"/>
                </a:solidFill>
                <a:latin typeface="Inter"/>
                <a:ea typeface="Inter"/>
                <a:cs typeface="Inter"/>
                <a:sym typeface="Inter"/>
              </a:rPr>
              <a:t>Backup</a:t>
            </a:r>
            <a:endParaRPr b="0" sz="1200" u="none" strike="noStrike">
              <a:solidFill>
                <a:srgbClr val="FFFFFF"/>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Can AI Beat the Crowd? Prediction Market Midterm">
  <a:themeElements>
    <a:clrScheme name="Can AI Beat the Crowd? Prediction Market Midterm">
      <a:dk1>
        <a:srgbClr val="0B1220"/>
      </a:dk1>
      <a:lt1>
        <a:srgbClr val="E8EEF8"/>
      </a:lt1>
      <a:dk2>
        <a:srgbClr val="212836"/>
      </a:dk2>
      <a:lt2>
        <a:srgbClr val="B1B7C2"/>
      </a:lt2>
      <a:accent1>
        <a:srgbClr val="9DB0CC"/>
      </a:accent1>
      <a:accent2>
        <a:srgbClr val="2DD4A0"/>
      </a:accent2>
      <a:accent3>
        <a:srgbClr val="F5A524"/>
      </a:accent3>
      <a:accent4>
        <a:srgbClr val="4C8DFF"/>
      </a:accent4>
      <a:accent5>
        <a:srgbClr val="9AA0A6"/>
      </a:accent5>
      <a:accent6>
        <a:srgbClr val="9096A2"/>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