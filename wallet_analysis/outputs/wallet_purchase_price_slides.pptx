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e1e2d8e6cd94631" /><Relationship Type="http://schemas.openxmlformats.org/officeDocument/2006/relationships/extended-properties" Target="/docProps/app.xml" Id="R63181aaebcd04f06" /><Relationship Type="http://schemas.openxmlformats.org/officeDocument/2006/relationships/officeDocument" Target="/ppt/presentation.xml" Id="R03126dfdb3fb4475" /></Relationships>
</file>

<file path=ppt/presentation.xml><?xml version="1.0" encoding="utf-8"?>
<p:presentation xmlns:p="http://schemas.openxmlformats.org/presentationml/2006/main">
  <p:sldMasterIdLst>
    <p:sldMasterId xmlns:r="http://schemas.openxmlformats.org/officeDocument/2006/relationships" id="2147483648" r:id="R303c3aa6245340f0"/>
  </p:sldMasterIdLst>
  <p:notesMasterIdLst>
    <p:notesMasterId xmlns:r="http://schemas.openxmlformats.org/officeDocument/2006/relationships" r:id="R4b2d2a062f8f43ae"/>
  </p:notesMasterIdLst>
  <p:sldIdLst>
    <p:sldId xmlns:r="http://schemas.openxmlformats.org/officeDocument/2006/relationships" id="256" r:id="R865168c79e7a4981"/>
    <p:sldId xmlns:r="http://schemas.openxmlformats.org/officeDocument/2006/relationships" id="257" r:id="R49154cbfc8504e16"/>
    <p:sldId xmlns:r="http://schemas.openxmlformats.org/officeDocument/2006/relationships" id="258" r:id="R6b40a86df5064602"/>
    <p:sldId xmlns:r="http://schemas.openxmlformats.org/officeDocument/2006/relationships" id="259" r:id="Reeec2d0e5d0f4e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f556c38b1949f8" /><Relationship Type="http://schemas.openxmlformats.org/officeDocument/2006/relationships/slideMaster" Target="/ppt/slideMasters/slideMaster1.xml" Id="R303c3aa6245340f0" /><Relationship Type="http://schemas.openxmlformats.org/officeDocument/2006/relationships/notesMaster" Target="/ppt/notesMasters/notesMaster1.xml" Id="R4b2d2a062f8f43ae" /><Relationship Type="http://schemas.openxmlformats.org/officeDocument/2006/relationships/presProps" Target="/ppt/presProps.xml" Id="R06eef2177620465e" /><Relationship Type="http://schemas.openxmlformats.org/officeDocument/2006/relationships/tableStyles" Target="/ppt/tableStyles.xml" Id="R6f5e4305e17e43d5" /><Relationship Type="http://schemas.openxmlformats.org/officeDocument/2006/relationships/slide" Target="/ppt/slides/slide1.xml" Id="R865168c79e7a4981" /><Relationship Type="http://schemas.openxmlformats.org/officeDocument/2006/relationships/slide" Target="/ppt/slides/slide2.xml" Id="R49154cbfc8504e16" /><Relationship Type="http://schemas.openxmlformats.org/officeDocument/2006/relationships/slide" Target="/ppt/slides/slide3.xml" Id="R6b40a86df5064602" /><Relationship Type="http://schemas.openxmlformats.org/officeDocument/2006/relationships/slide" Target="/ppt/slides/slide4.xml" Id="Reeec2d0e5d0f4e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a03b161f0f46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2099b79fdc4aef" /><Relationship Type="http://schemas.openxmlformats.org/officeDocument/2006/relationships/notesMaster" Target="/ppt/notesMasters/notesMaster1.xml" Id="Ra849e44e86714b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abfff1f3ae409d" /><Relationship Type="http://schemas.openxmlformats.org/officeDocument/2006/relationships/notesMaster" Target="/ppt/notesMasters/notesMaster1.xml" Id="Rf52f82c8127f42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8688665e994f75" /><Relationship Type="http://schemas.openxmlformats.org/officeDocument/2006/relationships/notesMaster" Target="/ppt/notesMasters/notesMaster1.xml" Id="R9c6ddc9b019640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1a7a30020441e3" /><Relationship Type="http://schemas.openxmlformats.org/officeDocument/2006/relationships/notesMaster" Target="/ppt/notesMasters/notesMaster1.xml" Id="R09f8d4807d0641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question is how well wallet trading characteristics predict average purchase price, and whether gradient boosting improves on linear regression. The dataset contains 55,952 wallets, with one row per wallet. The target is the volume weighted price of shares each wallet bought. The histogram summarizes training wallets and uses five broader price bins for readability. We retain all wallets and completely exclude the confirmed flag. This cohort comes from five selected event groups, so we describe the wallets in this dataset. A higher or lower purchase price does not itself tell us whether the wallet made a profit.</a:t>
            </a:r>
          </a:p>
          <a:p xmlns:a="http://schemas.openxmlformats.org/drawingml/2006/main">
            <a:r>
              <a:t/>
            </a:r>
          </a:p>
          <a:p xmlns:a="http://schemas.openxmlformats.org/drawingml/2006/main">
            <a:r>
              <a:t>Sources: wallet_analysis/data/wallet_features.csv; the opening data dictionary in the course insider_demo.ipynb; tables/target_histogram_training.csv. The native slide histogram aggregates each five adjacent bins from Figure 01. No target values from the final test set enter this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reserve twenty percent of the wallets for final evaluation, using one fixed random split. This gives 44,761 training wallets and 11,191 test wallets. Every method receives exactly the same test wallets. Five-fold validation happens entirely inside training. We compare a mean baseline, an additive linear regression, and histogram gradient boosting, which can capture nonlinear patterns and interactions. The inputs are trade count, market count, observed activity span, concentration, total spending, and largest purchase. Five skewed predictors use log of one plus the value. Linear regression also standardizes its inputs using training statistics. We select boosting settings from a small six-configuration grid using validation MAE. The test set stays outside model selection.</a:t>
            </a:r>
          </a:p>
          <a:p xmlns:a="http://schemas.openxmlformats.org/drawingml/2006/main">
            <a:r>
              <a:t/>
            </a:r>
          </a:p>
          <a:p xmlns:a="http://schemas.openxmlformats.org/drawingml/2006/main">
            <a:r>
              <a:t>Sources: code/analyze_wallet_prices.py; tables/wallet_split.csv; tables/cv_grid_full.csv; https://scikit-learn.org/1.7/modules/cross_validation.html; https://scikit-learn.org/1.7/modules/generated/sklearn.ensemble.HistGradientBoostingRegressor.html. Fixed settings: 250 iterations, learning rate 0.06, minimum leaf size 30, early stopping disabled. Grid: maximum leaves 7, 15, 31 and L2 regularization 0 or 1. Both learned models fit squared error. Selected full specification: 31 leaves and L2=1.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held out wallets, the mean baseline has an average absolute error of 22.14 cents per share. Linear regression reduces this to 19.78 cents, and gradient boosting reduces it further to 16.74 cents. That is a 15.4 percent improvement over linear regression. The absolute difference is 3.04 cents, with a paired wallet-bootstrap interval from 2.86 to 3.23 cents. Boosting also has a higher R squared, about 0.368 compared with 0.197 for linear regression. The model comparison is consistent across MAE, RMSE, and R squared. These intervals describe uncertainty on the test wallets conditional on our fitted models. They assume independent wallets, which may be imperfect because wallets can trade in common markets.</a:t>
            </a:r>
          </a:p>
          <a:p xmlns:a="http://schemas.openxmlformats.org/drawingml/2006/main">
            <a:r>
              <a:t/>
            </a:r>
          </a:p>
          <a:p xmlns:a="http://schemas.openxmlformats.org/drawingml/2006/main">
            <a:r>
              <a:t>Sources: tables/primary_model_metrics.csv; tables/paired_bootstrap_comparisons.csv; Figure 06. The editable chart preserves the point estimates. Individual-model MAE intervals and RMSE values remain in the comprehensive report. R² compares test squared error with variation around the test mean. No predictions are clipped in the main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interpret the flexible model, we shuffle one predictor at a time and measure the increase in test MAE. Trade count produces the largest increase, about 6.32 cents. Spending, largest purchase, and number of markets also contribute. This measures reliance by the fitted model, and it does not tell us whether an input raises or lowers price. Correlated predictors complicate attribution. In a sensitivity analysis, removing spending and largest purchase increases boosting error from 16.74 to 19.97 cents, so the monetary summaries add information. They are computed from the same observed trades as the target. The analysis therefore predicts differences across wallets within the observed history. Market choice and timing may explain part of those differences. We cannot infer profit, trading skill, future forecasting accuracy, or causal effects from this table.</a:t>
            </a:r>
          </a:p>
          <a:p xmlns:a="http://schemas.openxmlformats.org/drawingml/2006/main">
            <a:r>
              <a:t/>
            </a:r>
          </a:p>
          <a:p xmlns:a="http://schemas.openxmlformats.org/drawingml/2006/main">
            <a:r>
              <a:t>Sources: tables/permutation_importance_test.csv; tables/all_model_metrics.csv; Figure 12 and Figure 14; https://scikit-learn.org/1.7/modules/permutation_importance.html. Native chart values are mean error increases over 20 shuffles. Shuffle standard deviations are in the comprehensive report and are not causal confidence intervals. The activity-only boosting comparison uses its own training-only search with the same grid. The confirmed flag is absent from the entire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1953f475ed46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e2e24a651043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a77bd30ebc4c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89785befa5408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3e7e16d4d24a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035214c114d47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F8440A-1D83-41D4-A039-BDF76EE118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D394F4-4C37-461E-814D-F5E210FC73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D4EE006-7593-41C8-A611-2911AF5193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AE78B5-F49F-4975-8198-F144384E94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E9ABB8-D19C-421C-9F03-F0374ABCDF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365DAE-0166-4C77-B76D-8572895C26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6AA0E2-8FE2-4B2C-8EED-83D76FCCBD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B85B46-FBD0-4F89-867E-A2A9E2B6D5B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1F810D-A48E-46E5-B4CC-93BB0C4E81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BA9F984-9A0F-4EE1-9C8D-F508361BD3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e9a22cce434e97" /><Relationship Type="http://schemas.openxmlformats.org/officeDocument/2006/relationships/slideLayout" Target="/ppt/slideLayouts/slideLayout1.xml" Id="R208679eeb204493b" /><Relationship Type="http://schemas.openxmlformats.org/officeDocument/2006/relationships/slideLayout" Target="/ppt/slideLayouts/slideLayout2.xml" Id="R308d7b37928940ca" /><Relationship Type="http://schemas.openxmlformats.org/officeDocument/2006/relationships/slideLayout" Target="/ppt/slideLayouts/slideLayout3.xml" Id="R024ab4d2e8384ee3" /><Relationship Type="http://schemas.openxmlformats.org/officeDocument/2006/relationships/slideLayout" Target="/ppt/slideLayouts/slideLayout4.xml" Id="Rcf273b791cbf4ba6" /><Relationship Type="http://schemas.openxmlformats.org/officeDocument/2006/relationships/slideLayout" Target="/ppt/slideLayouts/slideLayout5.xml" Id="R8c6c62c37ae3430a" /><Relationship Type="http://schemas.openxmlformats.org/officeDocument/2006/relationships/slideLayout" Target="/ppt/slideLayouts/slideLayout6.xml" Id="Ree51fed93a3849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8679eeb204493b"/>
    <p:sldLayoutId xmlns:r="http://schemas.openxmlformats.org/officeDocument/2006/relationships" id="2147483650" r:id="R308d7b37928940ca"/>
    <p:sldLayoutId xmlns:r="http://schemas.openxmlformats.org/officeDocument/2006/relationships" id="2147483651" r:id="R024ab4d2e8384ee3"/>
    <p:sldLayoutId xmlns:r="http://schemas.openxmlformats.org/officeDocument/2006/relationships" id="2147483652" r:id="Rcf273b791cbf4ba6"/>
    <p:sldLayoutId xmlns:r="http://schemas.openxmlformats.org/officeDocument/2006/relationships" id="2147483653" r:id="R8c6c62c37ae3430a"/>
    <p:sldLayoutId xmlns:r="http://schemas.openxmlformats.org/officeDocument/2006/relationships" id="2147483654" r:id="Ree51fed93a3849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f0030621a348ea" /><Relationship Type="http://schemas.openxmlformats.org/officeDocument/2006/relationships/chart" Target="/ppt/slides/charts/chart1.xml" Id="R8cdd451ce69048ab" /><Relationship Type="http://schemas.openxmlformats.org/officeDocument/2006/relationships/notesSlide" Target="/ppt/notesSlides/notesSlide1.xml" Id="R62149888a12a41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f910e0412147a0" /><Relationship Type="http://schemas.openxmlformats.org/officeDocument/2006/relationships/notesSlide" Target="/ppt/notesSlides/notesSlide2.xml" Id="Rb5133069e1944e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e3deeb5cd941a0" /><Relationship Type="http://schemas.openxmlformats.org/officeDocument/2006/relationships/chart" Target="/ppt/slides/charts/chart2.xml" Id="R632b66a7cbf745f3" /><Relationship Type="http://schemas.openxmlformats.org/officeDocument/2006/relationships/notesSlide" Target="/ppt/notesSlides/notesSlide3.xml" Id="R7f119695829f4e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124eae913e44be" /><Relationship Type="http://schemas.openxmlformats.org/officeDocument/2006/relationships/chart" Target="/ppt/slides/charts/chart3.xml" Id="R9425d3dbb5a34261" /><Relationship Type="http://schemas.openxmlformats.org/officeDocument/2006/relationships/notesSlide" Target="/ppt/notesSlides/notesSlide4.xml" Id="R999ad477840642c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263449"/>
                </a:solidFill>
                <a:latin typeface="Arial"/>
                <a:ea typeface="Arial"/>
                <a:cs typeface="Arial"/>
              </a:rPr>
              <a:t>Training price distribution</a:t>
            </a:r>
          </a:p>
        </c:rich>
      </c:tx>
      <c:overlay val="0"/>
      <c:txPr>
        <a:bodyPr xmlns:a="http://schemas.openxmlformats.org/drawingml/2006/main" anchorCtr="1"/>
        <a:lstStyle xmlns:a="http://schemas.openxmlformats.org/drawingml/2006/main"/>
        <a:p xmlns:a="http://schemas.openxmlformats.org/drawingml/2006/main">
          <a:pPr>
            <a:defRPr sz="1950" b="1">
              <a:solidFill>
                <a:srgbClr val="263449"/>
              </a:solidFill>
              <a:latin typeface="Arial"/>
              <a:ea typeface="Arial"/>
              <a:cs typeface="Arial"/>
            </a:defRPr>
          </a:pPr>
        </a:p>
      </c:txPr>
    </c:title>
    <c:plotArea>
      <c:barChart>
        <c:barDir val="col"/>
        <c:varyColors val="0"/>
        <c:ser>
          <c:idx val="0"/>
          <c:order val="0"/>
          <c:tx>
            <c:v>Share of training wallets</c:v>
          </c:tx>
          <c:spPr>
            <a:solidFill xmlns:a="http://schemas.openxmlformats.org/drawingml/2006/main">
              <a:srgbClr val="315C8C"/>
            </a:solidFill>
          </c:spPr>
          <c:invertIfNegative val="0"/>
          <c:cat>
            <c:strRef>
              <c:f>'Chart Data'!$A$2:$A$6</c:f>
              <c:strCache>
                <c:ptCount val="5"/>
                <c:pt idx="0">
                  <c:v>0.0–0.2</c:v>
                </c:pt>
                <c:pt idx="1">
                  <c:v>0.2–0.4</c:v>
                </c:pt>
                <c:pt idx="2">
                  <c:v>0.4–0.6</c:v>
                </c:pt>
                <c:pt idx="3">
                  <c:v>0.6–0.8</c:v>
                </c:pt>
                <c:pt idx="4">
                  <c:v>0.8–1.0</c:v>
                </c:pt>
              </c:strCache>
            </c:strRef>
          </c:cat>
          <c:val>
            <c:numRef>
              <c:f>'Chart Data'!$B$2:$B$6</c:f>
              <c:numCache>
                <c:formatCode>0%</c:formatCode>
                <c:ptCount val="5"/>
                <c:pt idx="0">
                  <c:v>0.0946359554</c:v>
                </c:pt>
                <c:pt idx="1">
                  <c:v>0.0764504814</c:v>
                </c:pt>
                <c:pt idx="2">
                  <c:v>0.1594915216</c:v>
                </c:pt>
                <c:pt idx="3">
                  <c:v>0.2650521659</c:v>
                </c:pt>
                <c:pt idx="4">
                  <c:v>0.4043698755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8"/>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Average purchase price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00">
                <a:solidFill>
                  <a:srgbClr val="627085"/>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E8ECF1"/>
              </a:solidFill>
            </a:ln>
          </c:spPr>
        </c:majorGridlines>
        <c:numFmt formatCode="0%"/>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00">
                <a:solidFill>
                  <a:srgbClr val="627085"/>
                </a:solidFill>
                <a:latin typeface="Arial"/>
                <a:ea typeface="Arial"/>
                <a:cs typeface="Arial"/>
              </a:defRPr>
            </a:pPr>
          </a:p>
        </c:txPr>
        <c:crossAx val="48650112"/>
        <c:crossBetween val="between"/>
        <c:majorUnit val="0.1"/>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b="1">
                <a:solidFill>
                  <a:srgbClr val="263449"/>
                </a:solidFill>
                <a:latin typeface="Arial"/>
                <a:ea typeface="Arial"/>
                <a:cs typeface="Arial"/>
              </a:rPr>
              <a:t>Test MAE in cents per share</a:t>
            </a:r>
          </a:p>
        </c:rich>
      </c:tx>
      <c:overlay val="0"/>
      <c:txPr>
        <a:bodyPr xmlns:a="http://schemas.openxmlformats.org/drawingml/2006/main" anchorCtr="1"/>
        <a:lstStyle xmlns:a="http://schemas.openxmlformats.org/drawingml/2006/main"/>
        <a:p xmlns:a="http://schemas.openxmlformats.org/drawingml/2006/main">
          <a:pPr>
            <a:defRPr sz="1950" b="1">
              <a:solidFill>
                <a:srgbClr val="263449"/>
              </a:solidFill>
              <a:latin typeface="Arial"/>
              <a:ea typeface="Arial"/>
              <a:cs typeface="Arial"/>
            </a:defRPr>
          </a:pPr>
        </a:p>
      </c:txPr>
    </c:title>
    <c:plotArea>
      <c:barChart>
        <c:barDir val="col"/>
        <c:varyColors val="0"/>
        <c:ser>
          <c:idx val="0"/>
          <c:order val="0"/>
          <c:tx>
            <c:v>MAE</c:v>
          </c:tx>
          <c:spPr>
            <a:solidFill xmlns:a="http://schemas.openxmlformats.org/drawingml/2006/main">
              <a:srgbClr val="315C8C"/>
            </a:solidFill>
          </c:spPr>
          <c:invertIfNegative val="0"/>
          <c:dPt>
            <c:idx val="0"/>
            <c:invertIfNegative val="0"/>
            <c:spPr>
              <a:solidFill xmlns:a="http://schemas.openxmlformats.org/drawingml/2006/main">
                <a:srgbClr val="9AA4B2"/>
              </a:solidFill>
            </c:spPr>
          </c:dPt>
          <c:dPt>
            <c:idx val="1"/>
            <c:invertIfNegative val="0"/>
            <c:spPr>
              <a:solidFill xmlns:a="http://schemas.openxmlformats.org/drawingml/2006/main">
                <a:srgbClr val="315C8C"/>
              </a:solidFill>
            </c:spPr>
          </c:dPt>
          <c:dPt>
            <c:idx val="2"/>
            <c:invertIfNegative val="0"/>
            <c:spPr>
              <a:solidFill xmlns:a="http://schemas.openxmlformats.org/drawingml/2006/main">
                <a:srgbClr val="DF7137"/>
              </a:solidFill>
            </c:spPr>
          </c:dPt>
          <c:cat>
            <c:strRef>
              <c:f>'Chart Data'!$A$2:$A$4</c:f>
              <c:strCache>
                <c:ptCount val="3"/>
                <c:pt idx="0">
                  <c:v>Mean baseline</c:v>
                </c:pt>
                <c:pt idx="1">
                  <c:v>Linear regression</c:v>
                </c:pt>
                <c:pt idx="2">
                  <c:v>Gradient boosting</c:v>
                </c:pt>
              </c:strCache>
            </c:strRef>
          </c:cat>
          <c:val>
            <c:numRef>
              <c:f>'Chart Data'!$B$2:$B$4</c:f>
              <c:numCache>
                <c:formatCode>0</c:formatCode>
                <c:ptCount val="3"/>
                <c:pt idx="0">
                  <c:v>22.14207059</c:v>
                </c:pt>
                <c:pt idx="1">
                  <c:v>19.78049482</c:v>
                </c:pt>
                <c:pt idx="2">
                  <c:v>16.73620722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26344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75">
                <a:solidFill>
                  <a:srgbClr val="263449"/>
                </a:solidFill>
                <a:latin typeface="Arial"/>
                <a:ea typeface="Arial"/>
                <a:cs typeface="Arial"/>
              </a:defRPr>
            </a:pPr>
          </a:p>
        </c:txPr>
        <c:crossAx val="48672768"/>
      </c:catAx>
      <c:valAx>
        <c:axId val="48672768"/>
        <c:scaling>
          <c:orientation val="minMax"/>
          <c:max val="27"/>
          <c:min val="0"/>
        </c:scaling>
        <c:delete val="0"/>
        <c:axPos val="l"/>
        <c:majorGridlines>
          <c:spPr>
            <a:ln xmlns:a="http://schemas.openxmlformats.org/drawingml/2006/main" w="9525">
              <a:solidFill>
                <a:srgbClr val="E8ECF1"/>
              </a:solidFill>
            </a:ln>
          </c:spPr>
        </c:majorGridlines>
        <c:numFmt formatCode="0"/>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00">
                <a:solidFill>
                  <a:srgbClr val="627085"/>
                </a:solidFill>
                <a:latin typeface="Arial"/>
                <a:ea typeface="Arial"/>
                <a:cs typeface="Aria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263449"/>
                </a:solidFill>
                <a:latin typeface="Arial"/>
                <a:ea typeface="Arial"/>
                <a:cs typeface="Arial"/>
              </a:rPr>
              <a:t>Increase in MAE after shuffling (cents)</a:t>
            </a:r>
          </a:p>
        </c:rich>
      </c:tx>
      <c:overlay val="0"/>
      <c:txPr>
        <a:bodyPr xmlns:a="http://schemas.openxmlformats.org/drawingml/2006/main" anchorCtr="1"/>
        <a:lstStyle xmlns:a="http://schemas.openxmlformats.org/drawingml/2006/main"/>
        <a:p xmlns:a="http://schemas.openxmlformats.org/drawingml/2006/main">
          <a:pPr>
            <a:defRPr sz="1875" b="1">
              <a:solidFill>
                <a:srgbClr val="263449"/>
              </a:solidFill>
              <a:latin typeface="Arial"/>
              <a:ea typeface="Arial"/>
              <a:cs typeface="Arial"/>
            </a:defRPr>
          </a:pPr>
        </a:p>
      </c:txPr>
    </c:title>
    <c:plotArea>
      <c:barChart>
        <c:barDir val="bar"/>
        <c:varyColors val="0"/>
        <c:ser>
          <c:idx val="0"/>
          <c:order val="0"/>
          <c:tx>
            <c:v>Increase in MAE</c:v>
          </c:tx>
          <c:spPr>
            <a:solidFill xmlns:a="http://schemas.openxmlformats.org/drawingml/2006/main">
              <a:srgbClr val="315C8C"/>
            </a:solidFill>
          </c:spPr>
          <c:invertIfNegative val="0"/>
          <c:cat>
            <c:strRef>
              <c:f>'Chart Data'!$A$2:$A$7</c:f>
              <c:strCache>
                <c:ptCount val="6"/>
                <c:pt idx="0">
                  <c:v>Concentration</c:v>
                </c:pt>
                <c:pt idx="1">
                  <c:v>Observed span</c:v>
                </c:pt>
                <c:pt idx="2">
                  <c:v>Markets traded</c:v>
                </c:pt>
                <c:pt idx="3">
                  <c:v>Largest purchase</c:v>
                </c:pt>
                <c:pt idx="4">
                  <c:v>Total spending</c:v>
                </c:pt>
                <c:pt idx="5">
                  <c:v>Trade count</c:v>
                </c:pt>
              </c:strCache>
            </c:strRef>
          </c:cat>
          <c:val>
            <c:numRef>
              <c:f>'Chart Data'!$B$2:$B$7</c:f>
              <c:numCache>
                <c:formatCode>General</c:formatCode>
                <c:ptCount val="6"/>
                <c:pt idx="0">
                  <c:v>0.69712797</c:v>
                </c:pt>
                <c:pt idx="1">
                  <c:v>2.16132634</c:v>
                </c:pt>
                <c:pt idx="2">
                  <c:v>3.43561925</c:v>
                </c:pt>
                <c:pt idx="3">
                  <c:v>3.4705788</c:v>
                </c:pt>
                <c:pt idx="4">
                  <c:v>3.7638681</c:v>
                </c:pt>
                <c:pt idx="5">
                  <c:v>6.31779541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b="1">
                  <a:solidFill>
                    <a:srgbClr val="263449"/>
                  </a:solidFill>
                  <a:latin typeface="Arial"/>
                  <a:ea typeface="Arial"/>
                  <a:cs typeface="Arial"/>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majorGridlines>
          <c:spPr>
            <a:ln xmlns:a="http://schemas.openxmlformats.org/drawingml/2006/main" w="9525">
              <a:solidFill>
                <a:srgbClr val="E8ECF1"/>
              </a:solidFill>
            </a:ln>
          </c:spPr>
        </c:majorGridlines>
        <c:numFmt formatCode="0.0"/>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500">
                <a:solidFill>
                  <a:srgbClr val="62708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BD0D8"/>
            </a:solidFill>
            <a:prstDash val="solid"/>
          </a:ln>
        </c:spPr>
        <c:txPr>
          <a:bodyPr xmlns:a="http://schemas.openxmlformats.org/drawingml/2006/main" anchorCtr="1"/>
          <a:lstStyle xmlns:a="http://schemas.openxmlformats.org/drawingml/2006/main"/>
          <a:p xmlns:a="http://schemas.openxmlformats.org/drawingml/2006/main">
            <a:pPr>
              <a:defRPr sz="1650">
                <a:solidFill>
                  <a:srgbClr val="26344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EA26C106-FC21-466C-BA2E-8BAE2C8A2508}"/>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Question and data</a:t>
            </a:r>
          </a:p>
        </p:txBody>
      </p:sp>
      <p:sp>
        <p:nvSpPr>
          <p:cNvPr id="3" name="research-question">
            <a:extLst xmlns:a="http://schemas.openxmlformats.org/drawingml/2006/main">
              <a:ext uri="{FF2B5EF4-FFF2-40B4-BE49-F238E27FC236}">
                <a16:creationId xmlns:a16="http://schemas.microsoft.com/office/drawing/2014/main" id="{F6B3438A-132D-4572-9380-A3430F63BBEF}"/>
              </a:ext>
            </a:extLst>
          </p:cNvPr>
          <p:cNvSpPr>
            <a:spLocks xmlns:a="http://schemas.openxmlformats.org/drawingml/2006/main" noGrp="1"/>
          </p:cNvSpPr>
          <p:nvPr/>
        </p:nvSpPr>
        <p:spPr>
          <a:xfrm xmlns:a="http://schemas.openxmlformats.org/drawingml/2006/main">
            <a:off x="609600" y="1371600"/>
            <a:ext cx="4857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63449"/>
                </a:solidFill>
                <a:latin typeface="Arial"/>
                <a:ea typeface="Arial"/>
                <a:cs typeface="Arial"/>
              </a:defRPr>
            </a:defPPr>
            <a:lvl1pPr algn="l">
              <a:defRPr sz="2325" b="1">
                <a:solidFill>
                  <a:srgbClr val="263449"/>
                </a:solidFill>
                <a:latin typeface="Arial"/>
                <a:ea typeface="Arial"/>
                <a:cs typeface="Arial"/>
              </a:defRPr>
            </a:lvl1pPr>
            <a:lvl2pPr algn="l">
              <a:defRPr sz="2325" b="1">
                <a:solidFill>
                  <a:srgbClr val="263449"/>
                </a:solidFill>
                <a:latin typeface="Arial"/>
                <a:ea typeface="Arial"/>
                <a:cs typeface="Arial"/>
              </a:defRPr>
            </a:lvl2pPr>
            <a:lvl3pPr algn="l">
              <a:defRPr sz="2325" b="1">
                <a:solidFill>
                  <a:srgbClr val="263449"/>
                </a:solidFill>
                <a:latin typeface="Arial"/>
                <a:ea typeface="Arial"/>
                <a:cs typeface="Arial"/>
              </a:defRPr>
            </a:lvl3pPr>
            <a:lvl4pPr algn="l">
              <a:defRPr sz="2325" b="1">
                <a:solidFill>
                  <a:srgbClr val="263449"/>
                </a:solidFill>
                <a:latin typeface="Arial"/>
                <a:ea typeface="Arial"/>
                <a:cs typeface="Arial"/>
              </a:defRPr>
            </a:lvl4pPr>
            <a:lvl5pPr algn="l">
              <a:defRPr sz="2325" b="1">
                <a:solidFill>
                  <a:srgbClr val="263449"/>
                </a:solidFill>
                <a:latin typeface="Arial"/>
                <a:ea typeface="Arial"/>
                <a:cs typeface="Arial"/>
              </a:defRPr>
            </a:lvl5pPr>
            <a:lvl6pPr algn="l">
              <a:defRPr sz="2325" b="1">
                <a:solidFill>
                  <a:srgbClr val="263449"/>
                </a:solidFill>
                <a:latin typeface="Arial"/>
                <a:ea typeface="Arial"/>
                <a:cs typeface="Arial"/>
              </a:defRPr>
            </a:lvl6pPr>
            <a:lvl7pPr algn="l">
              <a:defRPr sz="2325" b="1">
                <a:solidFill>
                  <a:srgbClr val="263449"/>
                </a:solidFill>
                <a:latin typeface="Arial"/>
                <a:ea typeface="Arial"/>
                <a:cs typeface="Arial"/>
              </a:defRPr>
            </a:lvl7pPr>
            <a:lvl8pPr algn="l">
              <a:defRPr sz="2325" b="1">
                <a:solidFill>
                  <a:srgbClr val="263449"/>
                </a:solidFill>
                <a:latin typeface="Arial"/>
                <a:ea typeface="Arial"/>
                <a:cs typeface="Arial"/>
              </a:defRPr>
            </a:lvl8pPr>
            <a:lvl9pPr algn="l">
              <a:defRPr sz="2325" b="1">
                <a:solidFill>
                  <a:srgbClr val="263449"/>
                </a:solidFill>
                <a:latin typeface="Arial"/>
                <a:ea typeface="Arial"/>
                <a:cs typeface="Arial"/>
              </a:defRPr>
            </a:lvl9pPr>
          </a:lstStyle>
          <a:p xmlns:a="http://schemas.openxmlformats.org/drawingml/2006/main">
            <a:pPr algn="l">
              <a:defRPr sz="2325" b="1">
                <a:solidFill>
                  <a:srgbClr val="263449"/>
                </a:solidFill>
                <a:latin typeface="Arial"/>
                <a:ea typeface="Arial"/>
                <a:cs typeface="Arial"/>
              </a:defRPr>
            </a:pPr>
            <a:r>
              <a:rPr sz="2325" b="1">
                <a:solidFill>
                  <a:srgbClr val="263449"/>
                </a:solidFill>
                <a:latin typeface="Arial"/>
                <a:ea typeface="Arial"/>
                <a:cs typeface="Arial"/>
              </a:rPr>
              <a:t>How well do wallet characteristics predict average purchase price, and does boosting improve on linear regression?</a:t>
            </a:r>
          </a:p>
        </p:txBody>
      </p:sp>
      <p:sp>
        <p:nvSpPr>
          <p:cNvPr id="4" name="sample-size">
            <a:extLst xmlns:a="http://schemas.openxmlformats.org/drawingml/2006/main">
              <a:ext uri="{FF2B5EF4-FFF2-40B4-BE49-F238E27FC236}">
                <a16:creationId xmlns:a16="http://schemas.microsoft.com/office/drawing/2014/main" id="{F81F7780-097A-4F01-A347-EC01EBF03922}"/>
              </a:ext>
            </a:extLst>
          </p:cNvPr>
          <p:cNvSpPr>
            <a:spLocks xmlns:a="http://schemas.openxmlformats.org/drawingml/2006/main" noGrp="1"/>
          </p:cNvSpPr>
          <p:nvPr/>
        </p:nvSpPr>
        <p:spPr>
          <a:xfrm xmlns:a="http://schemas.openxmlformats.org/drawingml/2006/main">
            <a:off x="609600" y="33718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315C8C"/>
                </a:solidFill>
                <a:latin typeface="Arial"/>
                <a:ea typeface="Arial"/>
                <a:cs typeface="Arial"/>
              </a:defRPr>
            </a:defPPr>
            <a:lvl1pPr algn="l">
              <a:defRPr sz="2550" b="1">
                <a:solidFill>
                  <a:srgbClr val="315C8C"/>
                </a:solidFill>
                <a:latin typeface="Arial"/>
                <a:ea typeface="Arial"/>
                <a:cs typeface="Arial"/>
              </a:defRPr>
            </a:lvl1pPr>
            <a:lvl2pPr algn="l">
              <a:defRPr sz="2550" b="1">
                <a:solidFill>
                  <a:srgbClr val="315C8C"/>
                </a:solidFill>
                <a:latin typeface="Arial"/>
                <a:ea typeface="Arial"/>
                <a:cs typeface="Arial"/>
              </a:defRPr>
            </a:lvl2pPr>
            <a:lvl3pPr algn="l">
              <a:defRPr sz="2550" b="1">
                <a:solidFill>
                  <a:srgbClr val="315C8C"/>
                </a:solidFill>
                <a:latin typeface="Arial"/>
                <a:ea typeface="Arial"/>
                <a:cs typeface="Arial"/>
              </a:defRPr>
            </a:lvl3pPr>
            <a:lvl4pPr algn="l">
              <a:defRPr sz="2550" b="1">
                <a:solidFill>
                  <a:srgbClr val="315C8C"/>
                </a:solidFill>
                <a:latin typeface="Arial"/>
                <a:ea typeface="Arial"/>
                <a:cs typeface="Arial"/>
              </a:defRPr>
            </a:lvl4pPr>
            <a:lvl5pPr algn="l">
              <a:defRPr sz="2550" b="1">
                <a:solidFill>
                  <a:srgbClr val="315C8C"/>
                </a:solidFill>
                <a:latin typeface="Arial"/>
                <a:ea typeface="Arial"/>
                <a:cs typeface="Arial"/>
              </a:defRPr>
            </a:lvl5pPr>
            <a:lvl6pPr algn="l">
              <a:defRPr sz="2550" b="1">
                <a:solidFill>
                  <a:srgbClr val="315C8C"/>
                </a:solidFill>
                <a:latin typeface="Arial"/>
                <a:ea typeface="Arial"/>
                <a:cs typeface="Arial"/>
              </a:defRPr>
            </a:lvl6pPr>
            <a:lvl7pPr algn="l">
              <a:defRPr sz="2550" b="1">
                <a:solidFill>
                  <a:srgbClr val="315C8C"/>
                </a:solidFill>
                <a:latin typeface="Arial"/>
                <a:ea typeface="Arial"/>
                <a:cs typeface="Arial"/>
              </a:defRPr>
            </a:lvl7pPr>
            <a:lvl8pPr algn="l">
              <a:defRPr sz="2550" b="1">
                <a:solidFill>
                  <a:srgbClr val="315C8C"/>
                </a:solidFill>
                <a:latin typeface="Arial"/>
                <a:ea typeface="Arial"/>
                <a:cs typeface="Arial"/>
              </a:defRPr>
            </a:lvl8pPr>
            <a:lvl9pPr algn="l">
              <a:defRPr sz="2550" b="1">
                <a:solidFill>
                  <a:srgbClr val="315C8C"/>
                </a:solidFill>
                <a:latin typeface="Arial"/>
                <a:ea typeface="Arial"/>
                <a:cs typeface="Arial"/>
              </a:defRPr>
            </a:lvl9pPr>
          </a:lstStyle>
          <a:p xmlns:a="http://schemas.openxmlformats.org/drawingml/2006/main">
            <a:pPr algn="l">
              <a:defRPr sz="2550" b="1">
                <a:solidFill>
                  <a:srgbClr val="315C8C"/>
                </a:solidFill>
                <a:latin typeface="Arial"/>
                <a:ea typeface="Arial"/>
                <a:cs typeface="Arial"/>
              </a:defRPr>
            </a:pPr>
            <a:r>
              <a:rPr sz="2550" b="1">
                <a:solidFill>
                  <a:srgbClr val="315C8C"/>
                </a:solidFill>
                <a:latin typeface="Arial"/>
                <a:ea typeface="Arial"/>
                <a:cs typeface="Arial"/>
              </a:rPr>
              <a:t>55,952 wallets</a:t>
            </a:r>
          </a:p>
        </p:txBody>
      </p:sp>
      <p:sp>
        <p:nvSpPr>
          <p:cNvPr id="5" name="data-description">
            <a:extLst xmlns:a="http://schemas.openxmlformats.org/drawingml/2006/main">
              <a:ext uri="{FF2B5EF4-FFF2-40B4-BE49-F238E27FC236}">
                <a16:creationId xmlns:a16="http://schemas.microsoft.com/office/drawing/2014/main" id="{665DC14A-B8D4-4D57-A2C3-2CC481F2DCF6}"/>
              </a:ext>
            </a:extLst>
          </p:cNvPr>
          <p:cNvSpPr>
            <a:spLocks xmlns:a="http://schemas.openxmlformats.org/drawingml/2006/main" noGrp="1"/>
          </p:cNvSpPr>
          <p:nvPr/>
        </p:nvSpPr>
        <p:spPr>
          <a:xfrm xmlns:a="http://schemas.openxmlformats.org/drawingml/2006/main">
            <a:off x="609600" y="4029075"/>
            <a:ext cx="5000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One row per wallet</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Target: volume weighted price per share</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All wallets retained. Confirmed flag excluded.</a:t>
            </a:r>
          </a:p>
        </p:txBody>
      </p:sp>
      <p:sp>
        <p:nvSpPr>
          <p:cNvPr id="6" name="cohort-scope">
            <a:extLst xmlns:a="http://schemas.openxmlformats.org/drawingml/2006/main">
              <a:ext uri="{FF2B5EF4-FFF2-40B4-BE49-F238E27FC236}">
                <a16:creationId xmlns:a16="http://schemas.microsoft.com/office/drawing/2014/main" id="{5FE7B5CB-41B3-4E0E-AFEB-49E64E5C0CC0}"/>
              </a:ext>
            </a:extLst>
          </p:cNvPr>
          <p:cNvSpPr>
            <a:spLocks xmlns:a="http://schemas.openxmlformats.org/drawingml/2006/main" noGrp="1"/>
          </p:cNvSpPr>
          <p:nvPr/>
        </p:nvSpPr>
        <p:spPr>
          <a:xfrm xmlns:a="http://schemas.openxmlformats.org/drawingml/2006/main">
            <a:off x="609600" y="6048375"/>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7085"/>
                </a:solidFill>
                <a:latin typeface="Arial"/>
                <a:ea typeface="Arial"/>
                <a:cs typeface="Arial"/>
              </a:defRPr>
            </a:defPPr>
            <a:lvl1pPr algn="l">
              <a:defRPr sz="1500" b="0">
                <a:solidFill>
                  <a:srgbClr val="627085"/>
                </a:solidFill>
                <a:latin typeface="Arial"/>
                <a:ea typeface="Arial"/>
                <a:cs typeface="Arial"/>
              </a:defRPr>
            </a:lvl1pPr>
            <a:lvl2pPr algn="l">
              <a:defRPr sz="1500" b="0">
                <a:solidFill>
                  <a:srgbClr val="627085"/>
                </a:solidFill>
                <a:latin typeface="Arial"/>
                <a:ea typeface="Arial"/>
                <a:cs typeface="Arial"/>
              </a:defRPr>
            </a:lvl2pPr>
            <a:lvl3pPr algn="l">
              <a:defRPr sz="1500" b="0">
                <a:solidFill>
                  <a:srgbClr val="627085"/>
                </a:solidFill>
                <a:latin typeface="Arial"/>
                <a:ea typeface="Arial"/>
                <a:cs typeface="Arial"/>
              </a:defRPr>
            </a:lvl3pPr>
            <a:lvl4pPr algn="l">
              <a:defRPr sz="1500" b="0">
                <a:solidFill>
                  <a:srgbClr val="627085"/>
                </a:solidFill>
                <a:latin typeface="Arial"/>
                <a:ea typeface="Arial"/>
                <a:cs typeface="Arial"/>
              </a:defRPr>
            </a:lvl4pPr>
            <a:lvl5pPr algn="l">
              <a:defRPr sz="1500" b="0">
                <a:solidFill>
                  <a:srgbClr val="627085"/>
                </a:solidFill>
                <a:latin typeface="Arial"/>
                <a:ea typeface="Arial"/>
                <a:cs typeface="Arial"/>
              </a:defRPr>
            </a:lvl5pPr>
            <a:lvl6pPr algn="l">
              <a:defRPr sz="1500" b="0">
                <a:solidFill>
                  <a:srgbClr val="627085"/>
                </a:solidFill>
                <a:latin typeface="Arial"/>
                <a:ea typeface="Arial"/>
                <a:cs typeface="Arial"/>
              </a:defRPr>
            </a:lvl6pPr>
            <a:lvl7pPr algn="l">
              <a:defRPr sz="1500" b="0">
                <a:solidFill>
                  <a:srgbClr val="627085"/>
                </a:solidFill>
                <a:latin typeface="Arial"/>
                <a:ea typeface="Arial"/>
                <a:cs typeface="Arial"/>
              </a:defRPr>
            </a:lvl7pPr>
            <a:lvl8pPr algn="l">
              <a:defRPr sz="1500" b="0">
                <a:solidFill>
                  <a:srgbClr val="627085"/>
                </a:solidFill>
                <a:latin typeface="Arial"/>
                <a:ea typeface="Arial"/>
                <a:cs typeface="Arial"/>
              </a:defRPr>
            </a:lvl8pPr>
            <a:lvl9pPr algn="l">
              <a:defRPr sz="1500" b="0">
                <a:solidFill>
                  <a:srgbClr val="627085"/>
                </a:solidFill>
                <a:latin typeface="Arial"/>
                <a:ea typeface="Arial"/>
                <a:cs typeface="Arial"/>
              </a:defRPr>
            </a:lvl9pPr>
          </a:lstStyle>
          <a:p xmlns:a="http://schemas.openxmlformats.org/drawingml/2006/main">
            <a:pPr algn="l">
              <a:defRPr sz="1500" b="0">
                <a:solidFill>
                  <a:srgbClr val="627085"/>
                </a:solidFill>
                <a:latin typeface="Arial"/>
                <a:ea typeface="Arial"/>
                <a:cs typeface="Arial"/>
              </a:defRPr>
            </a:pPr>
            <a:r>
              <a:rPr sz="1500" b="0">
                <a:solidFill>
                  <a:srgbClr val="627085"/>
                </a:solidFill>
                <a:latin typeface="Arial"/>
                <a:ea typeface="Arial"/>
                <a:cs typeface="Arial"/>
              </a:rPr>
              <a:t>Selected event cohort. Prices summarize observed trading history.</a:t>
            </a:r>
          </a:p>
        </p:txBody>
      </p:sp>
      <p:graphicFrame>
        <p:nvGraphicFramePr>
          <p:cNvPr id="7" name="Chart">
            <a:extLst xmlns:a="http://schemas.openxmlformats.org/drawingml/2006/main">
              <a:ext uri="{FF2B5EF4-FFF2-40B4-BE49-F238E27FC236}">
                <a16:creationId xmlns:a16="http://schemas.microsoft.com/office/drawing/2014/main" id="{A9A35813-0EEE-43CC-9E56-61D25C16CD71}"/>
              </a:ext>
            </a:extLst>
          </p:cNvPr>
          <p:cNvGraphicFramePr/>
          <p:nvPr/>
        </p:nvGraphicFramePr>
        <p:xfrm>
          <a:off xmlns:a="http://schemas.openxmlformats.org/drawingml/2006/main" x="6057900" y="1362075"/>
          <a:ext xmlns:a="http://schemas.openxmlformats.org/drawingml/2006/main" cx="5524500" cy="3952875"/>
        </p:xfrm>
        <a:graphic xmlns:a="http://schemas.openxmlformats.org/drawingml/2006/main">
          <a:graphicData uri="http://schemas.openxmlformats.org/drawingml/2006/chart">
            <c:chart xmlns:r="http://schemas.openxmlformats.org/officeDocument/2006/relationships" xmlns:c="http://schemas.openxmlformats.org/drawingml/2006/chart" r:id="R8cdd451ce69048ab"/>
          </a:graphicData>
        </a:graphic>
      </p:graphicFrame>
    </p:spTree>
    <p:extLst>
      <p:ext uri="{BB962C8B-B14F-4D97-AF65-F5344CB8AC3E}">
        <p14:creationId xmlns:p14="http://schemas.microsoft.com/office/powerpoint/2010/main" val="20036275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47347A3-70CA-418B-8807-770F78EDFD6C}"/>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Approach</a:t>
            </a:r>
          </a:p>
        </p:txBody>
      </p:sp>
      <p:sp>
        <p:nvSpPr>
          <p:cNvPr id="3" name="split-heading">
            <a:extLst xmlns:a="http://schemas.openxmlformats.org/drawingml/2006/main">
              <a:ext uri="{FF2B5EF4-FFF2-40B4-BE49-F238E27FC236}">
                <a16:creationId xmlns:a16="http://schemas.microsoft.com/office/drawing/2014/main" id="{08DB01AA-5B80-4400-A700-590352E03C78}"/>
              </a:ext>
            </a:extLst>
          </p:cNvPr>
          <p:cNvSpPr>
            <a:spLocks xmlns:a="http://schemas.openxmlformats.org/drawingml/2006/main" noGrp="1"/>
          </p:cNvSpPr>
          <p:nvPr/>
        </p:nvSpPr>
        <p:spPr>
          <a:xfrm xmlns:a="http://schemas.openxmlformats.org/drawingml/2006/main">
            <a:off x="609600" y="136207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263449"/>
                </a:solidFill>
                <a:latin typeface="Arial"/>
                <a:ea typeface="Arial"/>
                <a:cs typeface="Arial"/>
              </a:defRPr>
            </a:defPPr>
            <a:lvl1pPr algn="l">
              <a:defRPr sz="2100" b="1">
                <a:solidFill>
                  <a:srgbClr val="263449"/>
                </a:solidFill>
                <a:latin typeface="Arial"/>
                <a:ea typeface="Arial"/>
                <a:cs typeface="Arial"/>
              </a:defRPr>
            </a:lvl1pPr>
            <a:lvl2pPr algn="l">
              <a:defRPr sz="2100" b="1">
                <a:solidFill>
                  <a:srgbClr val="263449"/>
                </a:solidFill>
                <a:latin typeface="Arial"/>
                <a:ea typeface="Arial"/>
                <a:cs typeface="Arial"/>
              </a:defRPr>
            </a:lvl2pPr>
            <a:lvl3pPr algn="l">
              <a:defRPr sz="2100" b="1">
                <a:solidFill>
                  <a:srgbClr val="263449"/>
                </a:solidFill>
                <a:latin typeface="Arial"/>
                <a:ea typeface="Arial"/>
                <a:cs typeface="Arial"/>
              </a:defRPr>
            </a:lvl3pPr>
            <a:lvl4pPr algn="l">
              <a:defRPr sz="2100" b="1">
                <a:solidFill>
                  <a:srgbClr val="263449"/>
                </a:solidFill>
                <a:latin typeface="Arial"/>
                <a:ea typeface="Arial"/>
                <a:cs typeface="Arial"/>
              </a:defRPr>
            </a:lvl4pPr>
            <a:lvl5pPr algn="l">
              <a:defRPr sz="2100" b="1">
                <a:solidFill>
                  <a:srgbClr val="263449"/>
                </a:solidFill>
                <a:latin typeface="Arial"/>
                <a:ea typeface="Arial"/>
                <a:cs typeface="Arial"/>
              </a:defRPr>
            </a:lvl5pPr>
            <a:lvl6pPr algn="l">
              <a:defRPr sz="2100" b="1">
                <a:solidFill>
                  <a:srgbClr val="263449"/>
                </a:solidFill>
                <a:latin typeface="Arial"/>
                <a:ea typeface="Arial"/>
                <a:cs typeface="Arial"/>
              </a:defRPr>
            </a:lvl6pPr>
            <a:lvl7pPr algn="l">
              <a:defRPr sz="2100" b="1">
                <a:solidFill>
                  <a:srgbClr val="263449"/>
                </a:solidFill>
                <a:latin typeface="Arial"/>
                <a:ea typeface="Arial"/>
                <a:cs typeface="Arial"/>
              </a:defRPr>
            </a:lvl7pPr>
            <a:lvl8pPr algn="l">
              <a:defRPr sz="2100" b="1">
                <a:solidFill>
                  <a:srgbClr val="263449"/>
                </a:solidFill>
                <a:latin typeface="Arial"/>
                <a:ea typeface="Arial"/>
                <a:cs typeface="Arial"/>
              </a:defRPr>
            </a:lvl8pPr>
            <a:lvl9pPr algn="l">
              <a:defRPr sz="2100" b="1">
                <a:solidFill>
                  <a:srgbClr val="263449"/>
                </a:solidFill>
                <a:latin typeface="Arial"/>
                <a:ea typeface="Arial"/>
                <a:cs typeface="Arial"/>
              </a:defRPr>
            </a:lvl9pPr>
          </a:lstStyle>
          <a:p xmlns:a="http://schemas.openxmlformats.org/drawingml/2006/main">
            <a:pPr algn="l">
              <a:defRPr sz="2100" b="1">
                <a:solidFill>
                  <a:srgbClr val="263449"/>
                </a:solidFill>
                <a:latin typeface="Arial"/>
                <a:ea typeface="Arial"/>
                <a:cs typeface="Arial"/>
              </a:defRPr>
            </a:pPr>
            <a:r>
              <a:rPr sz="2100" b="1">
                <a:solidFill>
                  <a:srgbClr val="263449"/>
                </a:solidFill>
                <a:latin typeface="Arial"/>
                <a:ea typeface="Arial"/>
                <a:cs typeface="Arial"/>
              </a:rPr>
              <a:t>One fixed wallet split</a:t>
            </a:r>
          </a:p>
        </p:txBody>
      </p:sp>
      <p:sp>
        <p:nvSpPr>
          <p:cNvPr id="4" name="split-counts">
            <a:extLst xmlns:a="http://schemas.openxmlformats.org/drawingml/2006/main">
              <a:ext uri="{FF2B5EF4-FFF2-40B4-BE49-F238E27FC236}">
                <a16:creationId xmlns:a16="http://schemas.microsoft.com/office/drawing/2014/main" id="{B2B9D02D-517D-4B93-8546-62F9728F0D61}"/>
              </a:ext>
            </a:extLst>
          </p:cNvPr>
          <p:cNvSpPr>
            <a:spLocks xmlns:a="http://schemas.openxmlformats.org/drawingml/2006/main" noGrp="1"/>
          </p:cNvSpPr>
          <p:nvPr/>
        </p:nvSpPr>
        <p:spPr>
          <a:xfrm xmlns:a="http://schemas.openxmlformats.org/drawingml/2006/main">
            <a:off x="609600" y="1914525"/>
            <a:ext cx="4953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315C8C"/>
                </a:solidFill>
                <a:latin typeface="Arial"/>
                <a:ea typeface="Arial"/>
                <a:cs typeface="Arial"/>
              </a:defRPr>
            </a:defPPr>
            <a:lvl1pPr algn="l">
              <a:defRPr sz="2325" b="0">
                <a:solidFill>
                  <a:srgbClr val="315C8C"/>
                </a:solidFill>
                <a:latin typeface="Arial"/>
                <a:ea typeface="Arial"/>
                <a:cs typeface="Arial"/>
              </a:defRPr>
            </a:lvl1pPr>
            <a:lvl2pPr algn="l">
              <a:defRPr sz="2325" b="0">
                <a:solidFill>
                  <a:srgbClr val="315C8C"/>
                </a:solidFill>
                <a:latin typeface="Arial"/>
                <a:ea typeface="Arial"/>
                <a:cs typeface="Arial"/>
              </a:defRPr>
            </a:lvl2pPr>
            <a:lvl3pPr algn="l">
              <a:defRPr sz="2325" b="0">
                <a:solidFill>
                  <a:srgbClr val="315C8C"/>
                </a:solidFill>
                <a:latin typeface="Arial"/>
                <a:ea typeface="Arial"/>
                <a:cs typeface="Arial"/>
              </a:defRPr>
            </a:lvl3pPr>
            <a:lvl4pPr algn="l">
              <a:defRPr sz="2325" b="0">
                <a:solidFill>
                  <a:srgbClr val="315C8C"/>
                </a:solidFill>
                <a:latin typeface="Arial"/>
                <a:ea typeface="Arial"/>
                <a:cs typeface="Arial"/>
              </a:defRPr>
            </a:lvl4pPr>
            <a:lvl5pPr algn="l">
              <a:defRPr sz="2325" b="0">
                <a:solidFill>
                  <a:srgbClr val="315C8C"/>
                </a:solidFill>
                <a:latin typeface="Arial"/>
                <a:ea typeface="Arial"/>
                <a:cs typeface="Arial"/>
              </a:defRPr>
            </a:lvl5pPr>
            <a:lvl6pPr algn="l">
              <a:defRPr sz="2325" b="0">
                <a:solidFill>
                  <a:srgbClr val="315C8C"/>
                </a:solidFill>
                <a:latin typeface="Arial"/>
                <a:ea typeface="Arial"/>
                <a:cs typeface="Arial"/>
              </a:defRPr>
            </a:lvl6pPr>
            <a:lvl7pPr algn="l">
              <a:defRPr sz="2325" b="0">
                <a:solidFill>
                  <a:srgbClr val="315C8C"/>
                </a:solidFill>
                <a:latin typeface="Arial"/>
                <a:ea typeface="Arial"/>
                <a:cs typeface="Arial"/>
              </a:defRPr>
            </a:lvl7pPr>
            <a:lvl8pPr algn="l">
              <a:defRPr sz="2325" b="0">
                <a:solidFill>
                  <a:srgbClr val="315C8C"/>
                </a:solidFill>
                <a:latin typeface="Arial"/>
                <a:ea typeface="Arial"/>
                <a:cs typeface="Arial"/>
              </a:defRPr>
            </a:lvl8pPr>
            <a:lvl9pPr algn="l">
              <a:defRPr sz="2325" b="0">
                <a:solidFill>
                  <a:srgbClr val="315C8C"/>
                </a:solidFill>
                <a:latin typeface="Arial"/>
                <a:ea typeface="Arial"/>
                <a:cs typeface="Arial"/>
              </a:defRPr>
            </a:lvl9pPr>
          </a:lstStyle>
          <a:p xmlns:a="http://schemas.openxmlformats.org/drawingml/2006/main">
            <a:pPr algn="l">
              <a:defRPr sz="2325" b="0">
                <a:solidFill>
                  <a:srgbClr val="315C8C"/>
                </a:solidFill>
                <a:latin typeface="Arial"/>
                <a:ea typeface="Arial"/>
                <a:cs typeface="Arial"/>
              </a:defRPr>
            </a:pPr>
            <a:r>
              <a:rPr sz="2325" b="0">
                <a:solidFill>
                  <a:srgbClr val="315C8C"/>
                </a:solidFill>
                <a:latin typeface="Arial"/>
                <a:ea typeface="Arial"/>
                <a:cs typeface="Arial"/>
              </a:rPr>
              <a:t>44,761 training wallets</a:t>
            </a:r>
          </a:p>
          <a:p xmlns:a="http://schemas.openxmlformats.org/drawingml/2006/main">
            <a:pPr algn="l">
              <a:defRPr sz="2325" b="0">
                <a:solidFill>
                  <a:srgbClr val="315C8C"/>
                </a:solidFill>
                <a:latin typeface="Arial"/>
                <a:ea typeface="Arial"/>
                <a:cs typeface="Arial"/>
              </a:defRPr>
            </a:pPr>
            <a:r>
              <a:rPr sz="2325" b="0">
                <a:solidFill>
                  <a:srgbClr val="315C8C"/>
                </a:solidFill>
                <a:latin typeface="Arial"/>
                <a:ea typeface="Arial"/>
                <a:cs typeface="Arial"/>
              </a:rPr>
              <a:t>11,191 test wallets</a:t>
            </a:r>
          </a:p>
        </p:txBody>
      </p:sp>
      <p:sp>
        <p:nvSpPr>
          <p:cNvPr id="5" name="validation-heading">
            <a:extLst xmlns:a="http://schemas.openxmlformats.org/drawingml/2006/main">
              <a:ext uri="{FF2B5EF4-FFF2-40B4-BE49-F238E27FC236}">
                <a16:creationId xmlns:a16="http://schemas.microsoft.com/office/drawing/2014/main" id="{F833FE3D-5026-4D64-ACC6-2F991144FA6B}"/>
              </a:ext>
            </a:extLst>
          </p:cNvPr>
          <p:cNvSpPr>
            <a:spLocks xmlns:a="http://schemas.openxmlformats.org/drawingml/2006/main" noGrp="1"/>
          </p:cNvSpPr>
          <p:nvPr/>
        </p:nvSpPr>
        <p:spPr>
          <a:xfrm xmlns:a="http://schemas.openxmlformats.org/drawingml/2006/main">
            <a:off x="609600" y="3143250"/>
            <a:ext cx="509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63449"/>
                </a:solidFill>
                <a:latin typeface="Arial"/>
                <a:ea typeface="Arial"/>
                <a:cs typeface="Arial"/>
              </a:defRPr>
            </a:defPPr>
            <a:lvl1pPr algn="l">
              <a:defRPr sz="2025" b="1">
                <a:solidFill>
                  <a:srgbClr val="263449"/>
                </a:solidFill>
                <a:latin typeface="Arial"/>
                <a:ea typeface="Arial"/>
                <a:cs typeface="Arial"/>
              </a:defRPr>
            </a:lvl1pPr>
            <a:lvl2pPr algn="l">
              <a:defRPr sz="2025" b="1">
                <a:solidFill>
                  <a:srgbClr val="263449"/>
                </a:solidFill>
                <a:latin typeface="Arial"/>
                <a:ea typeface="Arial"/>
                <a:cs typeface="Arial"/>
              </a:defRPr>
            </a:lvl2pPr>
            <a:lvl3pPr algn="l">
              <a:defRPr sz="2025" b="1">
                <a:solidFill>
                  <a:srgbClr val="263449"/>
                </a:solidFill>
                <a:latin typeface="Arial"/>
                <a:ea typeface="Arial"/>
                <a:cs typeface="Arial"/>
              </a:defRPr>
            </a:lvl3pPr>
            <a:lvl4pPr algn="l">
              <a:defRPr sz="2025" b="1">
                <a:solidFill>
                  <a:srgbClr val="263449"/>
                </a:solidFill>
                <a:latin typeface="Arial"/>
                <a:ea typeface="Arial"/>
                <a:cs typeface="Arial"/>
              </a:defRPr>
            </a:lvl4pPr>
            <a:lvl5pPr algn="l">
              <a:defRPr sz="2025" b="1">
                <a:solidFill>
                  <a:srgbClr val="263449"/>
                </a:solidFill>
                <a:latin typeface="Arial"/>
                <a:ea typeface="Arial"/>
                <a:cs typeface="Arial"/>
              </a:defRPr>
            </a:lvl5pPr>
            <a:lvl6pPr algn="l">
              <a:defRPr sz="2025" b="1">
                <a:solidFill>
                  <a:srgbClr val="263449"/>
                </a:solidFill>
                <a:latin typeface="Arial"/>
                <a:ea typeface="Arial"/>
                <a:cs typeface="Arial"/>
              </a:defRPr>
            </a:lvl6pPr>
            <a:lvl7pPr algn="l">
              <a:defRPr sz="2025" b="1">
                <a:solidFill>
                  <a:srgbClr val="263449"/>
                </a:solidFill>
                <a:latin typeface="Arial"/>
                <a:ea typeface="Arial"/>
                <a:cs typeface="Arial"/>
              </a:defRPr>
            </a:lvl7pPr>
            <a:lvl8pPr algn="l">
              <a:defRPr sz="2025" b="1">
                <a:solidFill>
                  <a:srgbClr val="263449"/>
                </a:solidFill>
                <a:latin typeface="Arial"/>
                <a:ea typeface="Arial"/>
                <a:cs typeface="Arial"/>
              </a:defRPr>
            </a:lvl8pPr>
            <a:lvl9pPr algn="l">
              <a:defRPr sz="2025" b="1">
                <a:solidFill>
                  <a:srgbClr val="263449"/>
                </a:solidFill>
                <a:latin typeface="Arial"/>
                <a:ea typeface="Arial"/>
                <a:cs typeface="Arial"/>
              </a:defRPr>
            </a:lvl9pPr>
          </a:lstStyle>
          <a:p xmlns:a="http://schemas.openxmlformats.org/drawingml/2006/main">
            <a:pPr algn="l">
              <a:defRPr sz="2025" b="1">
                <a:solidFill>
                  <a:srgbClr val="263449"/>
                </a:solidFill>
                <a:latin typeface="Arial"/>
                <a:ea typeface="Arial"/>
                <a:cs typeface="Arial"/>
              </a:defRPr>
            </a:pPr>
            <a:r>
              <a:rPr sz="2025" b="1">
                <a:solidFill>
                  <a:srgbClr val="263449"/>
                </a:solidFill>
                <a:latin typeface="Arial"/>
                <a:ea typeface="Arial"/>
                <a:cs typeface="Arial"/>
              </a:rPr>
              <a:t>Model selection within training</a:t>
            </a:r>
          </a:p>
        </p:txBody>
      </p:sp>
      <p:sp>
        <p:nvSpPr>
          <p:cNvPr id="6" name="validation-text">
            <a:extLst xmlns:a="http://schemas.openxmlformats.org/drawingml/2006/main">
              <a:ext uri="{FF2B5EF4-FFF2-40B4-BE49-F238E27FC236}">
                <a16:creationId xmlns:a16="http://schemas.microsoft.com/office/drawing/2014/main" id="{335FF7A1-3F2B-42E5-BB76-E8B6A9F0BD20}"/>
              </a:ext>
            </a:extLst>
          </p:cNvPr>
          <p:cNvSpPr>
            <a:spLocks xmlns:a="http://schemas.openxmlformats.org/drawingml/2006/main" noGrp="1"/>
          </p:cNvSpPr>
          <p:nvPr/>
        </p:nvSpPr>
        <p:spPr>
          <a:xfrm xmlns:a="http://schemas.openxmlformats.org/drawingml/2006/main">
            <a:off x="609600" y="3619500"/>
            <a:ext cx="4953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Five-fold validation selects one of six boosting configurations.</a:t>
            </a:r>
          </a:p>
        </p:txBody>
      </p:sp>
      <p:sp>
        <p:nvSpPr>
          <p:cNvPr id="7" name="transformation-text">
            <a:extLst xmlns:a="http://schemas.openxmlformats.org/drawingml/2006/main">
              <a:ext uri="{FF2B5EF4-FFF2-40B4-BE49-F238E27FC236}">
                <a16:creationId xmlns:a16="http://schemas.microsoft.com/office/drawing/2014/main" id="{7AD3DEB3-7E68-4B4B-BB92-AC12B0D799FF}"/>
              </a:ext>
            </a:extLst>
          </p:cNvPr>
          <p:cNvSpPr>
            <a:spLocks xmlns:a="http://schemas.openxmlformats.org/drawingml/2006/main" noGrp="1"/>
          </p:cNvSpPr>
          <p:nvPr/>
        </p:nvSpPr>
        <p:spPr>
          <a:xfrm xmlns:a="http://schemas.openxmlformats.org/drawingml/2006/main">
            <a:off x="609600" y="4695825"/>
            <a:ext cx="5095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449"/>
                </a:solidFill>
                <a:latin typeface="Arial"/>
                <a:ea typeface="Arial"/>
                <a:cs typeface="Arial"/>
              </a:defRPr>
            </a:defPPr>
            <a:lvl1pPr algn="l">
              <a:defRPr sz="1800" b="0">
                <a:solidFill>
                  <a:srgbClr val="263449"/>
                </a:solidFill>
                <a:latin typeface="Arial"/>
                <a:ea typeface="Arial"/>
                <a:cs typeface="Arial"/>
              </a:defRPr>
            </a:lvl1pPr>
            <a:lvl2pPr algn="l">
              <a:defRPr sz="1800" b="0">
                <a:solidFill>
                  <a:srgbClr val="263449"/>
                </a:solidFill>
                <a:latin typeface="Arial"/>
                <a:ea typeface="Arial"/>
                <a:cs typeface="Arial"/>
              </a:defRPr>
            </a:lvl2pPr>
            <a:lvl3pPr algn="l">
              <a:defRPr sz="1800" b="0">
                <a:solidFill>
                  <a:srgbClr val="263449"/>
                </a:solidFill>
                <a:latin typeface="Arial"/>
                <a:ea typeface="Arial"/>
                <a:cs typeface="Arial"/>
              </a:defRPr>
            </a:lvl3pPr>
            <a:lvl4pPr algn="l">
              <a:defRPr sz="1800" b="0">
                <a:solidFill>
                  <a:srgbClr val="263449"/>
                </a:solidFill>
                <a:latin typeface="Arial"/>
                <a:ea typeface="Arial"/>
                <a:cs typeface="Arial"/>
              </a:defRPr>
            </a:lvl4pPr>
            <a:lvl5pPr algn="l">
              <a:defRPr sz="1800" b="0">
                <a:solidFill>
                  <a:srgbClr val="263449"/>
                </a:solidFill>
                <a:latin typeface="Arial"/>
                <a:ea typeface="Arial"/>
                <a:cs typeface="Arial"/>
              </a:defRPr>
            </a:lvl5pPr>
            <a:lvl6pPr algn="l">
              <a:defRPr sz="1800" b="0">
                <a:solidFill>
                  <a:srgbClr val="263449"/>
                </a:solidFill>
                <a:latin typeface="Arial"/>
                <a:ea typeface="Arial"/>
                <a:cs typeface="Arial"/>
              </a:defRPr>
            </a:lvl6pPr>
            <a:lvl7pPr algn="l">
              <a:defRPr sz="1800" b="0">
                <a:solidFill>
                  <a:srgbClr val="263449"/>
                </a:solidFill>
                <a:latin typeface="Arial"/>
                <a:ea typeface="Arial"/>
                <a:cs typeface="Arial"/>
              </a:defRPr>
            </a:lvl7pPr>
            <a:lvl8pPr algn="l">
              <a:defRPr sz="1800" b="0">
                <a:solidFill>
                  <a:srgbClr val="263449"/>
                </a:solidFill>
                <a:latin typeface="Arial"/>
                <a:ea typeface="Arial"/>
                <a:cs typeface="Arial"/>
              </a:defRPr>
            </a:lvl8pPr>
            <a:lvl9pPr algn="l">
              <a:defRPr sz="1800" b="0">
                <a:solidFill>
                  <a:srgbClr val="263449"/>
                </a:solidFill>
                <a:latin typeface="Arial"/>
                <a:ea typeface="Arial"/>
                <a:cs typeface="Arial"/>
              </a:defRPr>
            </a:lvl9pPr>
          </a:lstStyle>
          <a:p xmlns:a="http://schemas.openxmlformats.org/drawingml/2006/main">
            <a:pPr algn="l">
              <a:defRPr sz="1800" b="0">
                <a:solidFill>
                  <a:srgbClr val="263449"/>
                </a:solidFill>
                <a:latin typeface="Arial"/>
                <a:ea typeface="Arial"/>
                <a:cs typeface="Arial"/>
              </a:defRPr>
            </a:pPr>
            <a:r>
              <a:rPr sz="1800" b="0">
                <a:solidFill>
                  <a:srgbClr val="263449"/>
                </a:solidFill>
                <a:latin typeface="Arial"/>
                <a:ea typeface="Arial"/>
                <a:cs typeface="Arial"/>
              </a:rPr>
              <a:t>Log-transform five skewed predictors.</a:t>
            </a:r>
          </a:p>
          <a:p xmlns:a="http://schemas.openxmlformats.org/drawingml/2006/main">
            <a:pPr algn="l">
              <a:defRPr sz="1800" b="0">
                <a:solidFill>
                  <a:srgbClr val="263449"/>
                </a:solidFill>
                <a:latin typeface="Arial"/>
                <a:ea typeface="Arial"/>
                <a:cs typeface="Arial"/>
              </a:defRPr>
            </a:pPr>
            <a:r>
              <a:rPr sz="1800" b="0">
                <a:solidFill>
                  <a:srgbClr val="263449"/>
                </a:solidFill>
                <a:latin typeface="Arial"/>
                <a:ea typeface="Arial"/>
                <a:cs typeface="Arial"/>
              </a:rPr>
              <a:t>Standardize inputs for linear regression.</a:t>
            </a:r>
          </a:p>
        </p:txBody>
      </p:sp>
      <p:graphicFrame>
        <p:nvGraphicFramePr>
          <p:cNvPr id="8" name="">
            <a:extLst xmlns:a="http://schemas.openxmlformats.org/drawingml/2006/main">
              <a:ext uri="{FF2B5EF4-FFF2-40B4-BE49-F238E27FC236}">
                <a16:creationId xmlns:a16="http://schemas.microsoft.com/office/drawing/2014/main" id="{CAFB29BE-489A-4487-AF49-23860B361B41}"/>
              </a:ext>
            </a:extLst>
          </p:cNvPr>
          <p:cNvGraphicFramePr/>
          <p:nvPr/>
        </p:nvGraphicFramePr>
        <p:xfrm>
          <a:off xmlns:a="http://schemas.openxmlformats.org/drawingml/2006/main" x="6219825" y="1438275"/>
          <a:ext xmlns:a="http://schemas.openxmlformats.org/drawingml/2006/main" cx="5362575" cy="3114675"/>
        </p:xfrm>
        <a:graphic xmlns:a="http://schemas.openxmlformats.org/drawingml/2006/main">
          <a:graphicData uri="http://schemas.openxmlformats.org/drawingml/2006/table">
            <a:tbl>
              <a:tblPr/>
              <a:tblGrid>
                <a:gridCol w="2124075"/>
                <a:gridCol w="3238500"/>
              </a:tblGrid>
              <a:tr h="485775">
                <a:tc>
                  <a:txBody>
                    <a:bodyPr lIns="123825" tIns="85725" rIns="114300" bIns="85725"/>
                    <a:lstStyle/>
                    <a:p>
                      <a:r>
                        <a:rPr sz="1725" b="1">
                          <a:solidFill>
                            <a:srgbClr val="FFFFFF"/>
                          </a:solidFill>
                          <a:latin typeface="Arial"/>
                          <a:ea typeface="Arial"/>
                          <a:cs typeface="Arial"/>
                        </a:rPr>
                        <a:t>Comparison</a:t>
                      </a:r>
                    </a:p>
                  </a:txBody>
                  <a:tcPr marL="91440" marR="91440" marT="45720" marB="45720" anchor="ctr">
                    <a:lnL w="6668">
                      <a:solidFill>
                        <a:srgbClr val="D9DFE7"/>
                      </a:solidFill>
                      <a:prstDash val="solid"/>
                    </a:lnL>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c>
                  <a:txBody>
                    <a:bodyPr lIns="123825" tIns="85725" rIns="114300" bIns="85725"/>
                    <a:lstStyle/>
                    <a:p>
                      <a:r>
                        <a:rPr sz="1725" b="1">
                          <a:solidFill>
                            <a:srgbClr val="FFFFFF"/>
                          </a:solidFill>
                          <a:latin typeface="Arial"/>
                          <a:ea typeface="Arial"/>
                          <a:cs typeface="Arial"/>
                        </a:rPr>
                        <a:t>Prediction rule</a:t>
                      </a:r>
                    </a:p>
                  </a:txBody>
                  <a:tcPr marL="91440" marR="91440" marT="45720" marB="45720" anchor="ctr">
                    <a:lnR w="6668">
                      <a:solidFill>
                        <a:srgbClr val="D9DFE7"/>
                      </a:solidFill>
                      <a:prstDash val="solid"/>
                    </a:lnR>
                    <a:lnT w="6668">
                      <a:solidFill>
                        <a:srgbClr val="D9DFE7"/>
                      </a:solidFill>
                      <a:prstDash val="solid"/>
                    </a:lnT>
                    <a:lnB w="6668">
                      <a:solidFill>
                        <a:srgbClr val="D9DFE7"/>
                      </a:solidFill>
                      <a:prstDash val="solid"/>
                    </a:lnB>
                    <a:solidFill>
                      <a:srgbClr val="263F5C"/>
                    </a:solidFill>
                  </a:tcPr>
                </a:tc>
              </a:tr>
              <a:tr h="876300">
                <a:tc>
                  <a:txBody>
                    <a:bodyPr lIns="123825" tIns="85725" rIns="114300" bIns="85725"/>
                    <a:lstStyle/>
                    <a:p>
                      <a:r>
                        <a:rPr sz="1725" b="0">
                          <a:solidFill>
                            <a:srgbClr val="263449"/>
                          </a:solidFill>
                          <a:latin typeface="Arial"/>
                          <a:ea typeface="Arial"/>
                          <a:cs typeface="Arial"/>
                        </a:rPr>
                        <a:t>Mean baseline</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23825" tIns="85725" rIns="114300" bIns="85725"/>
                    <a:lstStyle/>
                    <a:p>
                      <a:r>
                        <a:rPr sz="1725" b="0">
                          <a:solidFill>
                            <a:srgbClr val="263449"/>
                          </a:solidFill>
                          <a:latin typeface="Arial"/>
                          <a:ea typeface="Arial"/>
                          <a:cs typeface="Arial"/>
                        </a:rPr>
                        <a:t>Training mean for every wallet</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876300">
                <a:tc>
                  <a:txBody>
                    <a:bodyPr lIns="123825" tIns="85725" rIns="114300" bIns="85725"/>
                    <a:lstStyle/>
                    <a:p>
                      <a:r>
                        <a:rPr sz="1725" b="0">
                          <a:solidFill>
                            <a:srgbClr val="263449"/>
                          </a:solidFill>
                          <a:latin typeface="Arial"/>
                          <a:ea typeface="Arial"/>
                          <a:cs typeface="Arial"/>
                        </a:rPr>
                        <a:t>Linear regression</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23825" tIns="85725" rIns="114300" bIns="85725"/>
                    <a:lstStyle/>
                    <a:p>
                      <a:r>
                        <a:rPr sz="1725" b="0">
                          <a:solidFill>
                            <a:srgbClr val="263449"/>
                          </a:solidFill>
                          <a:latin typeface="Arial"/>
                          <a:ea typeface="Arial"/>
                          <a:cs typeface="Arial"/>
                        </a:rPr>
                        <a:t>Additive associations</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r h="876300">
                <a:tc>
                  <a:txBody>
                    <a:bodyPr lIns="123825" tIns="85725" rIns="114300" bIns="85725"/>
                    <a:lstStyle/>
                    <a:p>
                      <a:r>
                        <a:rPr sz="1725" b="0">
                          <a:solidFill>
                            <a:srgbClr val="263449"/>
                          </a:solidFill>
                          <a:latin typeface="Arial"/>
                          <a:ea typeface="Arial"/>
                          <a:cs typeface="Arial"/>
                        </a:rPr>
                        <a:t>Gradient boosting</a:t>
                      </a:r>
                    </a:p>
                  </a:txBody>
                  <a:tcPr marL="91440" marR="91440" marT="45720" marB="45720" anchor="ctr">
                    <a:lnL w="6668">
                      <a:solidFill>
                        <a:srgbClr val="D9DFE7"/>
                      </a:solidFill>
                      <a:prstDash val="solid"/>
                    </a:lnL>
                    <a:lnR w="6668">
                      <a:solidFill>
                        <a:srgbClr val="D9DFE7"/>
                      </a:solidFill>
                      <a:prstDash val="solid"/>
                    </a:lnR>
                    <a:lnB w="6668">
                      <a:solidFill>
                        <a:srgbClr val="D9DFE7"/>
                      </a:solidFill>
                      <a:prstDash val="solid"/>
                    </a:lnB>
                    <a:solidFill>
                      <a:srgbClr val="FFFFFF"/>
                    </a:solidFill>
                  </a:tcPr>
                </a:tc>
                <a:tc>
                  <a:txBody>
                    <a:bodyPr lIns="123825" tIns="85725" rIns="114300" bIns="85725"/>
                    <a:lstStyle/>
                    <a:p>
                      <a:r>
                        <a:rPr sz="1725" b="0">
                          <a:solidFill>
                            <a:srgbClr val="263449"/>
                          </a:solidFill>
                          <a:latin typeface="Arial"/>
                          <a:ea typeface="Arial"/>
                          <a:cs typeface="Arial"/>
                        </a:rPr>
                        <a:t>Nonlinear patterns and interactions</a:t>
                      </a:r>
                    </a:p>
                  </a:txBody>
                  <a:tcPr marL="91440" marR="91440" marT="45720" marB="45720" anchor="ctr">
                    <a:lnR w="6668">
                      <a:solidFill>
                        <a:srgbClr val="D9DFE7"/>
                      </a:solidFill>
                      <a:prstDash val="solid"/>
                    </a:lnR>
                    <a:lnB w="6668">
                      <a:solidFill>
                        <a:srgbClr val="D9DFE7"/>
                      </a:solidFill>
                      <a:prstDash val="solid"/>
                    </a:lnB>
                    <a:solidFill>
                      <a:srgbClr val="FFFFFF"/>
                    </a:solidFill>
                  </a:tcPr>
                </a:tc>
              </a:tr>
            </a:tbl>
          </a:graphicData>
        </a:graphic>
      </p:graphicFrame>
      <p:sp>
        <p:nvSpPr>
          <p:cNvPr id="9" name="predictor-list">
            <a:extLst xmlns:a="http://schemas.openxmlformats.org/drawingml/2006/main">
              <a:ext uri="{FF2B5EF4-FFF2-40B4-BE49-F238E27FC236}">
                <a16:creationId xmlns:a16="http://schemas.microsoft.com/office/drawing/2014/main" id="{AA4D8303-F645-474D-BC06-CA06E2A7CEF2}"/>
              </a:ext>
            </a:extLst>
          </p:cNvPr>
          <p:cNvSpPr>
            <a:spLocks xmlns:a="http://schemas.openxmlformats.org/drawingml/2006/main" noGrp="1"/>
          </p:cNvSpPr>
          <p:nvPr/>
        </p:nvSpPr>
        <p:spPr>
          <a:xfrm xmlns:a="http://schemas.openxmlformats.org/drawingml/2006/main">
            <a:off x="6219825" y="4810125"/>
            <a:ext cx="53625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449"/>
                </a:solidFill>
                <a:latin typeface="Arial"/>
                <a:ea typeface="Arial"/>
                <a:cs typeface="Arial"/>
              </a:defRPr>
            </a:defPPr>
            <a:lvl1pPr algn="l">
              <a:defRPr sz="1725" b="0">
                <a:solidFill>
                  <a:srgbClr val="263449"/>
                </a:solidFill>
                <a:latin typeface="Arial"/>
                <a:ea typeface="Arial"/>
                <a:cs typeface="Arial"/>
              </a:defRPr>
            </a:lvl1pPr>
            <a:lvl2pPr algn="l">
              <a:defRPr sz="1725" b="0">
                <a:solidFill>
                  <a:srgbClr val="263449"/>
                </a:solidFill>
                <a:latin typeface="Arial"/>
                <a:ea typeface="Arial"/>
                <a:cs typeface="Arial"/>
              </a:defRPr>
            </a:lvl2pPr>
            <a:lvl3pPr algn="l">
              <a:defRPr sz="1725" b="0">
                <a:solidFill>
                  <a:srgbClr val="263449"/>
                </a:solidFill>
                <a:latin typeface="Arial"/>
                <a:ea typeface="Arial"/>
                <a:cs typeface="Arial"/>
              </a:defRPr>
            </a:lvl3pPr>
            <a:lvl4pPr algn="l">
              <a:defRPr sz="1725" b="0">
                <a:solidFill>
                  <a:srgbClr val="263449"/>
                </a:solidFill>
                <a:latin typeface="Arial"/>
                <a:ea typeface="Arial"/>
                <a:cs typeface="Arial"/>
              </a:defRPr>
            </a:lvl4pPr>
            <a:lvl5pPr algn="l">
              <a:defRPr sz="1725" b="0">
                <a:solidFill>
                  <a:srgbClr val="263449"/>
                </a:solidFill>
                <a:latin typeface="Arial"/>
                <a:ea typeface="Arial"/>
                <a:cs typeface="Arial"/>
              </a:defRPr>
            </a:lvl5pPr>
            <a:lvl6pPr algn="l">
              <a:defRPr sz="1725" b="0">
                <a:solidFill>
                  <a:srgbClr val="263449"/>
                </a:solidFill>
                <a:latin typeface="Arial"/>
                <a:ea typeface="Arial"/>
                <a:cs typeface="Arial"/>
              </a:defRPr>
            </a:lvl6pPr>
            <a:lvl7pPr algn="l">
              <a:defRPr sz="1725" b="0">
                <a:solidFill>
                  <a:srgbClr val="263449"/>
                </a:solidFill>
                <a:latin typeface="Arial"/>
                <a:ea typeface="Arial"/>
                <a:cs typeface="Arial"/>
              </a:defRPr>
            </a:lvl7pPr>
            <a:lvl8pPr algn="l">
              <a:defRPr sz="1725" b="0">
                <a:solidFill>
                  <a:srgbClr val="263449"/>
                </a:solidFill>
                <a:latin typeface="Arial"/>
                <a:ea typeface="Arial"/>
                <a:cs typeface="Arial"/>
              </a:defRPr>
            </a:lvl8pPr>
            <a:lvl9pPr algn="l">
              <a:defRPr sz="1725" b="0">
                <a:solidFill>
                  <a:srgbClr val="263449"/>
                </a:solidFill>
                <a:latin typeface="Arial"/>
                <a:ea typeface="Arial"/>
                <a:cs typeface="Arial"/>
              </a:defRPr>
            </a:lvl9pPr>
          </a:lstStyle>
          <a:p xmlns:a="http://schemas.openxmlformats.org/drawingml/2006/main">
            <a:pPr algn="l">
              <a:defRPr sz="1725" b="0">
                <a:solidFill>
                  <a:srgbClr val="263449"/>
                </a:solidFill>
                <a:latin typeface="Arial"/>
                <a:ea typeface="Arial"/>
                <a:cs typeface="Arial"/>
              </a:defRPr>
            </a:pPr>
            <a:r>
              <a:rPr sz="1725" b="0">
                <a:solidFill>
                  <a:srgbClr val="263449"/>
                </a:solidFill>
                <a:latin typeface="Arial"/>
                <a:ea typeface="Arial"/>
                <a:cs typeface="Arial"/>
              </a:rPr>
              <a:t>Inputs: trade count, markets traded, observed span, concentration, spending, largest purchase.</a:t>
            </a:r>
          </a:p>
        </p:txBody>
      </p:sp>
      <p:sp>
        <p:nvSpPr>
          <p:cNvPr id="10" name="evaluation-rule">
            <a:extLst xmlns:a="http://schemas.openxmlformats.org/drawingml/2006/main">
              <a:ext uri="{FF2B5EF4-FFF2-40B4-BE49-F238E27FC236}">
                <a16:creationId xmlns:a16="http://schemas.microsoft.com/office/drawing/2014/main" id="{F45FD97A-0190-48E0-B3C9-8CD5A4579499}"/>
              </a:ext>
            </a:extLst>
          </p:cNvPr>
          <p:cNvSpPr>
            <a:spLocks xmlns:a="http://schemas.openxmlformats.org/drawingml/2006/main" noGrp="1"/>
          </p:cNvSpPr>
          <p:nvPr/>
        </p:nvSpPr>
        <p:spPr>
          <a:xfrm xmlns:a="http://schemas.openxmlformats.org/drawingml/2006/main">
            <a:off x="609600" y="61055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7085"/>
                </a:solidFill>
                <a:latin typeface="Arial"/>
                <a:ea typeface="Arial"/>
                <a:cs typeface="Arial"/>
              </a:defRPr>
            </a:defPPr>
            <a:lvl1pPr algn="l">
              <a:defRPr sz="1500" b="0">
                <a:solidFill>
                  <a:srgbClr val="627085"/>
                </a:solidFill>
                <a:latin typeface="Arial"/>
                <a:ea typeface="Arial"/>
                <a:cs typeface="Arial"/>
              </a:defRPr>
            </a:lvl1pPr>
            <a:lvl2pPr algn="l">
              <a:defRPr sz="1500" b="0">
                <a:solidFill>
                  <a:srgbClr val="627085"/>
                </a:solidFill>
                <a:latin typeface="Arial"/>
                <a:ea typeface="Arial"/>
                <a:cs typeface="Arial"/>
              </a:defRPr>
            </a:lvl2pPr>
            <a:lvl3pPr algn="l">
              <a:defRPr sz="1500" b="0">
                <a:solidFill>
                  <a:srgbClr val="627085"/>
                </a:solidFill>
                <a:latin typeface="Arial"/>
                <a:ea typeface="Arial"/>
                <a:cs typeface="Arial"/>
              </a:defRPr>
            </a:lvl3pPr>
            <a:lvl4pPr algn="l">
              <a:defRPr sz="1500" b="0">
                <a:solidFill>
                  <a:srgbClr val="627085"/>
                </a:solidFill>
                <a:latin typeface="Arial"/>
                <a:ea typeface="Arial"/>
                <a:cs typeface="Arial"/>
              </a:defRPr>
            </a:lvl4pPr>
            <a:lvl5pPr algn="l">
              <a:defRPr sz="1500" b="0">
                <a:solidFill>
                  <a:srgbClr val="627085"/>
                </a:solidFill>
                <a:latin typeface="Arial"/>
                <a:ea typeface="Arial"/>
                <a:cs typeface="Arial"/>
              </a:defRPr>
            </a:lvl5pPr>
            <a:lvl6pPr algn="l">
              <a:defRPr sz="1500" b="0">
                <a:solidFill>
                  <a:srgbClr val="627085"/>
                </a:solidFill>
                <a:latin typeface="Arial"/>
                <a:ea typeface="Arial"/>
                <a:cs typeface="Arial"/>
              </a:defRPr>
            </a:lvl6pPr>
            <a:lvl7pPr algn="l">
              <a:defRPr sz="1500" b="0">
                <a:solidFill>
                  <a:srgbClr val="627085"/>
                </a:solidFill>
                <a:latin typeface="Arial"/>
                <a:ea typeface="Arial"/>
                <a:cs typeface="Arial"/>
              </a:defRPr>
            </a:lvl7pPr>
            <a:lvl8pPr algn="l">
              <a:defRPr sz="1500" b="0">
                <a:solidFill>
                  <a:srgbClr val="627085"/>
                </a:solidFill>
                <a:latin typeface="Arial"/>
                <a:ea typeface="Arial"/>
                <a:cs typeface="Arial"/>
              </a:defRPr>
            </a:lvl8pPr>
            <a:lvl9pPr algn="l">
              <a:defRPr sz="1500" b="0">
                <a:solidFill>
                  <a:srgbClr val="627085"/>
                </a:solidFill>
                <a:latin typeface="Arial"/>
                <a:ea typeface="Arial"/>
                <a:cs typeface="Arial"/>
              </a:defRPr>
            </a:lvl9pPr>
          </a:lstStyle>
          <a:p xmlns:a="http://schemas.openxmlformats.org/drawingml/2006/main">
            <a:pPr algn="l">
              <a:defRPr sz="1500" b="0">
                <a:solidFill>
                  <a:srgbClr val="627085"/>
                </a:solidFill>
                <a:latin typeface="Arial"/>
                <a:ea typeface="Arial"/>
                <a:cs typeface="Arial"/>
              </a:defRPr>
            </a:pPr>
            <a:r>
              <a:rPr sz="1500" b="0">
                <a:solidFill>
                  <a:srgbClr val="627085"/>
                </a:solidFill>
                <a:latin typeface="Arial"/>
                <a:ea typeface="Arial"/>
                <a:cs typeface="Arial"/>
              </a:rPr>
              <a:t>Same test wallets for every model. Primary metric: MAE. Secondary checks: RMSE and R².</a:t>
            </a:r>
          </a:p>
        </p:txBody>
      </p:sp>
    </p:spTree>
    <p:extLst>
      <p:ext uri="{BB962C8B-B14F-4D97-AF65-F5344CB8AC3E}">
        <p14:creationId xmlns:p14="http://schemas.microsoft.com/office/powerpoint/2010/main" val="20350782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4A227DE-93C6-49ED-9A3B-B0080D7A0B6B}"/>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Results</a:t>
            </a:r>
          </a:p>
        </p:txBody>
      </p:sp>
      <p:graphicFrame>
        <p:nvGraphicFramePr>
          <p:cNvPr id="3" name="Chart">
            <a:extLst xmlns:a="http://schemas.openxmlformats.org/drawingml/2006/main">
              <a:ext uri="{FF2B5EF4-FFF2-40B4-BE49-F238E27FC236}">
                <a16:creationId xmlns:a16="http://schemas.microsoft.com/office/drawing/2014/main" id="{3D8E93E3-D8C3-4884-8F7D-EAD5B684CBD3}"/>
              </a:ext>
            </a:extLst>
          </p:cNvPr>
          <p:cNvGraphicFramePr/>
          <p:nvPr/>
        </p:nvGraphicFramePr>
        <p:xfrm>
          <a:off xmlns:a="http://schemas.openxmlformats.org/drawingml/2006/main" x="609600" y="1304925"/>
          <a:ext xmlns:a="http://schemas.openxmlformats.org/drawingml/2006/main" cx="7372350" cy="3762375"/>
        </p:xfrm>
        <a:graphic xmlns:a="http://schemas.openxmlformats.org/drawingml/2006/main">
          <a:graphicData uri="http://schemas.openxmlformats.org/drawingml/2006/chart">
            <c:chart xmlns:r="http://schemas.openxmlformats.org/officeDocument/2006/relationships" xmlns:c="http://schemas.openxmlformats.org/drawingml/2006/chart" r:id="R632b66a7cbf745f3"/>
          </a:graphicData>
        </a:graphic>
      </p:graphicFrame>
      <p:sp>
        <p:nvSpPr>
          <p:cNvPr id="4" name="relative-improvement">
            <a:extLst xmlns:a="http://schemas.openxmlformats.org/drawingml/2006/main">
              <a:ext uri="{FF2B5EF4-FFF2-40B4-BE49-F238E27FC236}">
                <a16:creationId xmlns:a16="http://schemas.microsoft.com/office/drawing/2014/main" id="{1EA92186-2FF9-4C16-AB9E-78CE27679F66}"/>
              </a:ext>
            </a:extLst>
          </p:cNvPr>
          <p:cNvSpPr>
            <a:spLocks xmlns:a="http://schemas.openxmlformats.org/drawingml/2006/main" noGrp="1"/>
          </p:cNvSpPr>
          <p:nvPr/>
        </p:nvSpPr>
        <p:spPr>
          <a:xfrm xmlns:a="http://schemas.openxmlformats.org/drawingml/2006/main">
            <a:off x="8429625" y="1495425"/>
            <a:ext cx="314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550" b="1">
                <a:solidFill>
                  <a:srgbClr val="DF7137"/>
                </a:solidFill>
                <a:latin typeface="Arial"/>
                <a:ea typeface="Arial"/>
                <a:cs typeface="Arial"/>
              </a:defRPr>
            </a:defPPr>
            <a:lvl1pPr algn="l">
              <a:defRPr sz="5550" b="1">
                <a:solidFill>
                  <a:srgbClr val="DF7137"/>
                </a:solidFill>
                <a:latin typeface="Arial"/>
                <a:ea typeface="Arial"/>
                <a:cs typeface="Arial"/>
              </a:defRPr>
            </a:lvl1pPr>
            <a:lvl2pPr algn="l">
              <a:defRPr sz="5550" b="1">
                <a:solidFill>
                  <a:srgbClr val="DF7137"/>
                </a:solidFill>
                <a:latin typeface="Arial"/>
                <a:ea typeface="Arial"/>
                <a:cs typeface="Arial"/>
              </a:defRPr>
            </a:lvl2pPr>
            <a:lvl3pPr algn="l">
              <a:defRPr sz="5550" b="1">
                <a:solidFill>
                  <a:srgbClr val="DF7137"/>
                </a:solidFill>
                <a:latin typeface="Arial"/>
                <a:ea typeface="Arial"/>
                <a:cs typeface="Arial"/>
              </a:defRPr>
            </a:lvl3pPr>
            <a:lvl4pPr algn="l">
              <a:defRPr sz="5550" b="1">
                <a:solidFill>
                  <a:srgbClr val="DF7137"/>
                </a:solidFill>
                <a:latin typeface="Arial"/>
                <a:ea typeface="Arial"/>
                <a:cs typeface="Arial"/>
              </a:defRPr>
            </a:lvl4pPr>
            <a:lvl5pPr algn="l">
              <a:defRPr sz="5550" b="1">
                <a:solidFill>
                  <a:srgbClr val="DF7137"/>
                </a:solidFill>
                <a:latin typeface="Arial"/>
                <a:ea typeface="Arial"/>
                <a:cs typeface="Arial"/>
              </a:defRPr>
            </a:lvl5pPr>
            <a:lvl6pPr algn="l">
              <a:defRPr sz="5550" b="1">
                <a:solidFill>
                  <a:srgbClr val="DF7137"/>
                </a:solidFill>
                <a:latin typeface="Arial"/>
                <a:ea typeface="Arial"/>
                <a:cs typeface="Arial"/>
              </a:defRPr>
            </a:lvl6pPr>
            <a:lvl7pPr algn="l">
              <a:defRPr sz="5550" b="1">
                <a:solidFill>
                  <a:srgbClr val="DF7137"/>
                </a:solidFill>
                <a:latin typeface="Arial"/>
                <a:ea typeface="Arial"/>
                <a:cs typeface="Arial"/>
              </a:defRPr>
            </a:lvl7pPr>
            <a:lvl8pPr algn="l">
              <a:defRPr sz="5550" b="1">
                <a:solidFill>
                  <a:srgbClr val="DF7137"/>
                </a:solidFill>
                <a:latin typeface="Arial"/>
                <a:ea typeface="Arial"/>
                <a:cs typeface="Arial"/>
              </a:defRPr>
            </a:lvl8pPr>
            <a:lvl9pPr algn="l">
              <a:defRPr sz="5550" b="1">
                <a:solidFill>
                  <a:srgbClr val="DF7137"/>
                </a:solidFill>
                <a:latin typeface="Arial"/>
                <a:ea typeface="Arial"/>
                <a:cs typeface="Arial"/>
              </a:defRPr>
            </a:lvl9pPr>
          </a:lstStyle>
          <a:p xmlns:a="http://schemas.openxmlformats.org/drawingml/2006/main">
            <a:pPr algn="l">
              <a:defRPr sz="5550" b="1">
                <a:solidFill>
                  <a:srgbClr val="DF7137"/>
                </a:solidFill>
                <a:latin typeface="Arial"/>
                <a:ea typeface="Arial"/>
                <a:cs typeface="Arial"/>
              </a:defRPr>
            </a:pPr>
            <a:r>
              <a:rPr sz="5550" b="1">
                <a:solidFill>
                  <a:srgbClr val="DF7137"/>
                </a:solidFill>
                <a:latin typeface="Arial"/>
                <a:ea typeface="Arial"/>
                <a:cs typeface="Arial"/>
              </a:rPr>
              <a:t>15.4%</a:t>
            </a:r>
          </a:p>
        </p:txBody>
      </p:sp>
      <p:sp>
        <p:nvSpPr>
          <p:cNvPr id="5" name="relative-improvement-label">
            <a:extLst xmlns:a="http://schemas.openxmlformats.org/drawingml/2006/main">
              <a:ext uri="{FF2B5EF4-FFF2-40B4-BE49-F238E27FC236}">
                <a16:creationId xmlns:a16="http://schemas.microsoft.com/office/drawing/2014/main" id="{FED647D9-8B8D-41E7-9885-F0E2345B87CF}"/>
              </a:ext>
            </a:extLst>
          </p:cNvPr>
          <p:cNvSpPr>
            <a:spLocks xmlns:a="http://schemas.openxmlformats.org/drawingml/2006/main" noGrp="1"/>
          </p:cNvSpPr>
          <p:nvPr/>
        </p:nvSpPr>
        <p:spPr>
          <a:xfrm xmlns:a="http://schemas.openxmlformats.org/drawingml/2006/main">
            <a:off x="8429625" y="2533650"/>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63449"/>
                </a:solidFill>
                <a:latin typeface="Arial"/>
                <a:ea typeface="Arial"/>
                <a:cs typeface="Arial"/>
              </a:defRPr>
            </a:defPPr>
            <a:lvl1pPr algn="l">
              <a:defRPr sz="2175" b="0">
                <a:solidFill>
                  <a:srgbClr val="263449"/>
                </a:solidFill>
                <a:latin typeface="Arial"/>
                <a:ea typeface="Arial"/>
                <a:cs typeface="Arial"/>
              </a:defRPr>
            </a:lvl1pPr>
            <a:lvl2pPr algn="l">
              <a:defRPr sz="2175" b="0">
                <a:solidFill>
                  <a:srgbClr val="263449"/>
                </a:solidFill>
                <a:latin typeface="Arial"/>
                <a:ea typeface="Arial"/>
                <a:cs typeface="Arial"/>
              </a:defRPr>
            </a:lvl2pPr>
            <a:lvl3pPr algn="l">
              <a:defRPr sz="2175" b="0">
                <a:solidFill>
                  <a:srgbClr val="263449"/>
                </a:solidFill>
                <a:latin typeface="Arial"/>
                <a:ea typeface="Arial"/>
                <a:cs typeface="Arial"/>
              </a:defRPr>
            </a:lvl3pPr>
            <a:lvl4pPr algn="l">
              <a:defRPr sz="2175" b="0">
                <a:solidFill>
                  <a:srgbClr val="263449"/>
                </a:solidFill>
                <a:latin typeface="Arial"/>
                <a:ea typeface="Arial"/>
                <a:cs typeface="Arial"/>
              </a:defRPr>
            </a:lvl4pPr>
            <a:lvl5pPr algn="l">
              <a:defRPr sz="2175" b="0">
                <a:solidFill>
                  <a:srgbClr val="263449"/>
                </a:solidFill>
                <a:latin typeface="Arial"/>
                <a:ea typeface="Arial"/>
                <a:cs typeface="Arial"/>
              </a:defRPr>
            </a:lvl5pPr>
            <a:lvl6pPr algn="l">
              <a:defRPr sz="2175" b="0">
                <a:solidFill>
                  <a:srgbClr val="263449"/>
                </a:solidFill>
                <a:latin typeface="Arial"/>
                <a:ea typeface="Arial"/>
                <a:cs typeface="Arial"/>
              </a:defRPr>
            </a:lvl6pPr>
            <a:lvl7pPr algn="l">
              <a:defRPr sz="2175" b="0">
                <a:solidFill>
                  <a:srgbClr val="263449"/>
                </a:solidFill>
                <a:latin typeface="Arial"/>
                <a:ea typeface="Arial"/>
                <a:cs typeface="Arial"/>
              </a:defRPr>
            </a:lvl7pPr>
            <a:lvl8pPr algn="l">
              <a:defRPr sz="2175" b="0">
                <a:solidFill>
                  <a:srgbClr val="263449"/>
                </a:solidFill>
                <a:latin typeface="Arial"/>
                <a:ea typeface="Arial"/>
                <a:cs typeface="Arial"/>
              </a:defRPr>
            </a:lvl8pPr>
            <a:lvl9pPr algn="l">
              <a:defRPr sz="2175" b="0">
                <a:solidFill>
                  <a:srgbClr val="263449"/>
                </a:solidFill>
                <a:latin typeface="Arial"/>
                <a:ea typeface="Arial"/>
                <a:cs typeface="Arial"/>
              </a:defRPr>
            </a:lvl9pPr>
          </a:lstStyle>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lower MAE than</a:t>
            </a:r>
          </a:p>
          <a:p xmlns:a="http://schemas.openxmlformats.org/drawingml/2006/main">
            <a:pPr algn="l">
              <a:defRPr sz="2175" b="0">
                <a:solidFill>
                  <a:srgbClr val="263449"/>
                </a:solidFill>
                <a:latin typeface="Arial"/>
                <a:ea typeface="Arial"/>
                <a:cs typeface="Arial"/>
              </a:defRPr>
            </a:pPr>
            <a:r>
              <a:rPr sz="2175" b="0">
                <a:solidFill>
                  <a:srgbClr val="263449"/>
                </a:solidFill>
                <a:latin typeface="Arial"/>
                <a:ea typeface="Arial"/>
                <a:cs typeface="Arial"/>
              </a:rPr>
              <a:t>linear regression</a:t>
            </a:r>
          </a:p>
        </p:txBody>
      </p:sp>
      <p:sp>
        <p:nvSpPr>
          <p:cNvPr id="6" name="r-squared">
            <a:extLst xmlns:a="http://schemas.openxmlformats.org/drawingml/2006/main">
              <a:ext uri="{FF2B5EF4-FFF2-40B4-BE49-F238E27FC236}">
                <a16:creationId xmlns:a16="http://schemas.microsoft.com/office/drawing/2014/main" id="{321E7533-98BC-438B-8101-B09379F1A0D6}"/>
              </a:ext>
            </a:extLst>
          </p:cNvPr>
          <p:cNvSpPr>
            <a:spLocks xmlns:a="http://schemas.openxmlformats.org/drawingml/2006/main" noGrp="1"/>
          </p:cNvSpPr>
          <p:nvPr/>
        </p:nvSpPr>
        <p:spPr>
          <a:xfrm xmlns:a="http://schemas.openxmlformats.org/drawingml/2006/main">
            <a:off x="8429625" y="3819525"/>
            <a:ext cx="314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15C8C"/>
                </a:solidFill>
                <a:latin typeface="Arial"/>
                <a:ea typeface="Arial"/>
                <a:cs typeface="Arial"/>
              </a:defRPr>
            </a:defPPr>
            <a:lvl1pPr algn="l">
              <a:defRPr sz="2775" b="1">
                <a:solidFill>
                  <a:srgbClr val="315C8C"/>
                </a:solidFill>
                <a:latin typeface="Arial"/>
                <a:ea typeface="Arial"/>
                <a:cs typeface="Arial"/>
              </a:defRPr>
            </a:lvl1pPr>
            <a:lvl2pPr algn="l">
              <a:defRPr sz="2775" b="1">
                <a:solidFill>
                  <a:srgbClr val="315C8C"/>
                </a:solidFill>
                <a:latin typeface="Arial"/>
                <a:ea typeface="Arial"/>
                <a:cs typeface="Arial"/>
              </a:defRPr>
            </a:lvl2pPr>
            <a:lvl3pPr algn="l">
              <a:defRPr sz="2775" b="1">
                <a:solidFill>
                  <a:srgbClr val="315C8C"/>
                </a:solidFill>
                <a:latin typeface="Arial"/>
                <a:ea typeface="Arial"/>
                <a:cs typeface="Arial"/>
              </a:defRPr>
            </a:lvl3pPr>
            <a:lvl4pPr algn="l">
              <a:defRPr sz="2775" b="1">
                <a:solidFill>
                  <a:srgbClr val="315C8C"/>
                </a:solidFill>
                <a:latin typeface="Arial"/>
                <a:ea typeface="Arial"/>
                <a:cs typeface="Arial"/>
              </a:defRPr>
            </a:lvl4pPr>
            <a:lvl5pPr algn="l">
              <a:defRPr sz="2775" b="1">
                <a:solidFill>
                  <a:srgbClr val="315C8C"/>
                </a:solidFill>
                <a:latin typeface="Arial"/>
                <a:ea typeface="Arial"/>
                <a:cs typeface="Arial"/>
              </a:defRPr>
            </a:lvl5pPr>
            <a:lvl6pPr algn="l">
              <a:defRPr sz="2775" b="1">
                <a:solidFill>
                  <a:srgbClr val="315C8C"/>
                </a:solidFill>
                <a:latin typeface="Arial"/>
                <a:ea typeface="Arial"/>
                <a:cs typeface="Arial"/>
              </a:defRPr>
            </a:lvl6pPr>
            <a:lvl7pPr algn="l">
              <a:defRPr sz="2775" b="1">
                <a:solidFill>
                  <a:srgbClr val="315C8C"/>
                </a:solidFill>
                <a:latin typeface="Arial"/>
                <a:ea typeface="Arial"/>
                <a:cs typeface="Arial"/>
              </a:defRPr>
            </a:lvl7pPr>
            <a:lvl8pPr algn="l">
              <a:defRPr sz="2775" b="1">
                <a:solidFill>
                  <a:srgbClr val="315C8C"/>
                </a:solidFill>
                <a:latin typeface="Arial"/>
                <a:ea typeface="Arial"/>
                <a:cs typeface="Arial"/>
              </a:defRPr>
            </a:lvl8pPr>
            <a:lvl9pPr algn="l">
              <a:defRPr sz="2775" b="1">
                <a:solidFill>
                  <a:srgbClr val="315C8C"/>
                </a:solidFill>
                <a:latin typeface="Arial"/>
                <a:ea typeface="Arial"/>
                <a:cs typeface="Arial"/>
              </a:defRPr>
            </a:lvl9pPr>
          </a:lstStyle>
          <a:p xmlns:a="http://schemas.openxmlformats.org/drawingml/2006/main">
            <a:pPr algn="l">
              <a:defRPr sz="2775" b="1">
                <a:solidFill>
                  <a:srgbClr val="315C8C"/>
                </a:solidFill>
                <a:latin typeface="Arial"/>
                <a:ea typeface="Arial"/>
                <a:cs typeface="Arial"/>
              </a:defRPr>
            </a:pPr>
            <a:r>
              <a:rPr sz="2775" b="1">
                <a:solidFill>
                  <a:srgbClr val="315C8C"/>
                </a:solidFill>
                <a:latin typeface="Arial"/>
                <a:ea typeface="Arial"/>
                <a:cs typeface="Arial"/>
              </a:rPr>
              <a:t>R² 0.368</a:t>
            </a:r>
          </a:p>
        </p:txBody>
      </p:sp>
      <p:sp>
        <p:nvSpPr>
          <p:cNvPr id="7" name="r-squared-reference">
            <a:extLst xmlns:a="http://schemas.openxmlformats.org/drawingml/2006/main">
              <a:ext uri="{FF2B5EF4-FFF2-40B4-BE49-F238E27FC236}">
                <a16:creationId xmlns:a16="http://schemas.microsoft.com/office/drawing/2014/main" id="{062BC526-BEBE-4EC1-A64E-5C5745CB0CFA}"/>
              </a:ext>
            </a:extLst>
          </p:cNvPr>
          <p:cNvSpPr>
            <a:spLocks xmlns:a="http://schemas.openxmlformats.org/drawingml/2006/main" noGrp="1"/>
          </p:cNvSpPr>
          <p:nvPr/>
        </p:nvSpPr>
        <p:spPr>
          <a:xfrm xmlns:a="http://schemas.openxmlformats.org/drawingml/2006/main">
            <a:off x="8429625" y="43815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263449"/>
                </a:solidFill>
                <a:latin typeface="Arial"/>
                <a:ea typeface="Arial"/>
                <a:cs typeface="Arial"/>
              </a:defRPr>
            </a:defPPr>
            <a:lvl1pPr algn="l">
              <a:defRPr sz="1725" b="0">
                <a:solidFill>
                  <a:srgbClr val="263449"/>
                </a:solidFill>
                <a:latin typeface="Arial"/>
                <a:ea typeface="Arial"/>
                <a:cs typeface="Arial"/>
              </a:defRPr>
            </a:lvl1pPr>
            <a:lvl2pPr algn="l">
              <a:defRPr sz="1725" b="0">
                <a:solidFill>
                  <a:srgbClr val="263449"/>
                </a:solidFill>
                <a:latin typeface="Arial"/>
                <a:ea typeface="Arial"/>
                <a:cs typeface="Arial"/>
              </a:defRPr>
            </a:lvl2pPr>
            <a:lvl3pPr algn="l">
              <a:defRPr sz="1725" b="0">
                <a:solidFill>
                  <a:srgbClr val="263449"/>
                </a:solidFill>
                <a:latin typeface="Arial"/>
                <a:ea typeface="Arial"/>
                <a:cs typeface="Arial"/>
              </a:defRPr>
            </a:lvl3pPr>
            <a:lvl4pPr algn="l">
              <a:defRPr sz="1725" b="0">
                <a:solidFill>
                  <a:srgbClr val="263449"/>
                </a:solidFill>
                <a:latin typeface="Arial"/>
                <a:ea typeface="Arial"/>
                <a:cs typeface="Arial"/>
              </a:defRPr>
            </a:lvl4pPr>
            <a:lvl5pPr algn="l">
              <a:defRPr sz="1725" b="0">
                <a:solidFill>
                  <a:srgbClr val="263449"/>
                </a:solidFill>
                <a:latin typeface="Arial"/>
                <a:ea typeface="Arial"/>
                <a:cs typeface="Arial"/>
              </a:defRPr>
            </a:lvl5pPr>
            <a:lvl6pPr algn="l">
              <a:defRPr sz="1725" b="0">
                <a:solidFill>
                  <a:srgbClr val="263449"/>
                </a:solidFill>
                <a:latin typeface="Arial"/>
                <a:ea typeface="Arial"/>
                <a:cs typeface="Arial"/>
              </a:defRPr>
            </a:lvl6pPr>
            <a:lvl7pPr algn="l">
              <a:defRPr sz="1725" b="0">
                <a:solidFill>
                  <a:srgbClr val="263449"/>
                </a:solidFill>
                <a:latin typeface="Arial"/>
                <a:ea typeface="Arial"/>
                <a:cs typeface="Arial"/>
              </a:defRPr>
            </a:lvl7pPr>
            <a:lvl8pPr algn="l">
              <a:defRPr sz="1725" b="0">
                <a:solidFill>
                  <a:srgbClr val="263449"/>
                </a:solidFill>
                <a:latin typeface="Arial"/>
                <a:ea typeface="Arial"/>
                <a:cs typeface="Arial"/>
              </a:defRPr>
            </a:lvl8pPr>
            <a:lvl9pPr algn="l">
              <a:defRPr sz="1725" b="0">
                <a:solidFill>
                  <a:srgbClr val="263449"/>
                </a:solidFill>
                <a:latin typeface="Arial"/>
                <a:ea typeface="Arial"/>
                <a:cs typeface="Arial"/>
              </a:defRPr>
            </a:lvl9pPr>
          </a:lstStyle>
          <a:p xmlns:a="http://schemas.openxmlformats.org/drawingml/2006/main">
            <a:pPr algn="l">
              <a:defRPr sz="1725" b="0">
                <a:solidFill>
                  <a:srgbClr val="263449"/>
                </a:solidFill>
                <a:latin typeface="Arial"/>
                <a:ea typeface="Arial"/>
                <a:cs typeface="Arial"/>
              </a:defRPr>
            </a:pPr>
            <a:r>
              <a:rPr sz="1725" b="0">
                <a:solidFill>
                  <a:srgbClr val="263449"/>
                </a:solidFill>
                <a:latin typeface="Arial"/>
                <a:ea typeface="Arial"/>
                <a:cs typeface="Arial"/>
              </a:rPr>
              <a:t>vs 0.197 for linear regression</a:t>
            </a:r>
          </a:p>
        </p:txBody>
      </p:sp>
      <p:sp>
        <p:nvSpPr>
          <p:cNvPr id="8" name="paired-interval">
            <a:extLst xmlns:a="http://schemas.openxmlformats.org/drawingml/2006/main">
              <a:ext uri="{FF2B5EF4-FFF2-40B4-BE49-F238E27FC236}">
                <a16:creationId xmlns:a16="http://schemas.microsoft.com/office/drawing/2014/main" id="{10E4CF23-6457-4643-B7CD-48C66B886F73}"/>
              </a:ext>
            </a:extLst>
          </p:cNvPr>
          <p:cNvSpPr>
            <a:spLocks xmlns:a="http://schemas.openxmlformats.org/drawingml/2006/main" noGrp="1"/>
          </p:cNvSpPr>
          <p:nvPr/>
        </p:nvSpPr>
        <p:spPr>
          <a:xfrm xmlns:a="http://schemas.openxmlformats.org/drawingml/2006/main">
            <a:off x="609600" y="54197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Absolute MAE reduction: 3.04 cents</a:t>
            </a:r>
          </a:p>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95% paired bootstrap interval: 2.86 to 3.23 cents</a:t>
            </a:r>
          </a:p>
        </p:txBody>
      </p:sp>
      <p:sp>
        <p:nvSpPr>
          <p:cNvPr id="9" name="test-evaluation-footnote">
            <a:extLst xmlns:a="http://schemas.openxmlformats.org/drawingml/2006/main">
              <a:ext uri="{FF2B5EF4-FFF2-40B4-BE49-F238E27FC236}">
                <a16:creationId xmlns:a16="http://schemas.microsoft.com/office/drawing/2014/main" id="{5753255E-42E8-432D-AEB0-1924C7398C06}"/>
              </a:ext>
            </a:extLst>
          </p:cNvPr>
          <p:cNvSpPr>
            <a:spLocks xmlns:a="http://schemas.openxmlformats.org/drawingml/2006/main" noGrp="1"/>
          </p:cNvSpPr>
          <p:nvPr/>
        </p:nvSpPr>
        <p:spPr>
          <a:xfrm xmlns:a="http://schemas.openxmlformats.org/drawingml/2006/main">
            <a:off x="609600" y="634365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27085"/>
                </a:solidFill>
                <a:latin typeface="Arial"/>
                <a:ea typeface="Arial"/>
                <a:cs typeface="Arial"/>
              </a:defRPr>
            </a:defPPr>
            <a:lvl1pPr algn="l">
              <a:defRPr sz="1350" b="0">
                <a:solidFill>
                  <a:srgbClr val="627085"/>
                </a:solidFill>
                <a:latin typeface="Arial"/>
                <a:ea typeface="Arial"/>
                <a:cs typeface="Arial"/>
              </a:defRPr>
            </a:lvl1pPr>
            <a:lvl2pPr algn="l">
              <a:defRPr sz="1350" b="0">
                <a:solidFill>
                  <a:srgbClr val="627085"/>
                </a:solidFill>
                <a:latin typeface="Arial"/>
                <a:ea typeface="Arial"/>
                <a:cs typeface="Arial"/>
              </a:defRPr>
            </a:lvl2pPr>
            <a:lvl3pPr algn="l">
              <a:defRPr sz="1350" b="0">
                <a:solidFill>
                  <a:srgbClr val="627085"/>
                </a:solidFill>
                <a:latin typeface="Arial"/>
                <a:ea typeface="Arial"/>
                <a:cs typeface="Arial"/>
              </a:defRPr>
            </a:lvl3pPr>
            <a:lvl4pPr algn="l">
              <a:defRPr sz="1350" b="0">
                <a:solidFill>
                  <a:srgbClr val="627085"/>
                </a:solidFill>
                <a:latin typeface="Arial"/>
                <a:ea typeface="Arial"/>
                <a:cs typeface="Arial"/>
              </a:defRPr>
            </a:lvl4pPr>
            <a:lvl5pPr algn="l">
              <a:defRPr sz="1350" b="0">
                <a:solidFill>
                  <a:srgbClr val="627085"/>
                </a:solidFill>
                <a:latin typeface="Arial"/>
                <a:ea typeface="Arial"/>
                <a:cs typeface="Arial"/>
              </a:defRPr>
            </a:lvl5pPr>
            <a:lvl6pPr algn="l">
              <a:defRPr sz="1350" b="0">
                <a:solidFill>
                  <a:srgbClr val="627085"/>
                </a:solidFill>
                <a:latin typeface="Arial"/>
                <a:ea typeface="Arial"/>
                <a:cs typeface="Arial"/>
              </a:defRPr>
            </a:lvl6pPr>
            <a:lvl7pPr algn="l">
              <a:defRPr sz="1350" b="0">
                <a:solidFill>
                  <a:srgbClr val="627085"/>
                </a:solidFill>
                <a:latin typeface="Arial"/>
                <a:ea typeface="Arial"/>
                <a:cs typeface="Arial"/>
              </a:defRPr>
            </a:lvl7pPr>
            <a:lvl8pPr algn="l">
              <a:defRPr sz="1350" b="0">
                <a:solidFill>
                  <a:srgbClr val="627085"/>
                </a:solidFill>
                <a:latin typeface="Arial"/>
                <a:ea typeface="Arial"/>
                <a:cs typeface="Arial"/>
              </a:defRPr>
            </a:lvl8pPr>
            <a:lvl9pPr algn="l">
              <a:defRPr sz="1350" b="0">
                <a:solidFill>
                  <a:srgbClr val="627085"/>
                </a:solidFill>
                <a:latin typeface="Arial"/>
                <a:ea typeface="Arial"/>
                <a:cs typeface="Arial"/>
              </a:defRPr>
            </a:lvl9pPr>
          </a:lstStyle>
          <a:p xmlns:a="http://schemas.openxmlformats.org/drawingml/2006/main">
            <a:pPr algn="l">
              <a:defRPr sz="1350" b="0">
                <a:solidFill>
                  <a:srgbClr val="627085"/>
                </a:solidFill>
                <a:latin typeface="Arial"/>
                <a:ea typeface="Arial"/>
                <a:cs typeface="Arial"/>
              </a:defRPr>
            </a:pPr>
            <a:r>
              <a:rPr sz="1350" b="0">
                <a:solidFill>
                  <a:srgbClr val="627085"/>
                </a:solidFill>
                <a:latin typeface="Arial"/>
                <a:ea typeface="Arial"/>
                <a:cs typeface="Arial"/>
              </a:rPr>
              <a:t>11,191 test wallets. Bootstrap intervals condition on the fitted models and assume wallet independence.</a:t>
            </a:r>
          </a:p>
        </p:txBody>
      </p:sp>
    </p:spTree>
    <p:extLst>
      <p:ext uri="{BB962C8B-B14F-4D97-AF65-F5344CB8AC3E}">
        <p14:creationId xmlns:p14="http://schemas.microsoft.com/office/powerpoint/2010/main" val="1758115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283EEA6-3555-4BF3-BB35-608EE8A6A57F}"/>
              </a:ext>
            </a:extLst>
          </p:cNvPr>
          <p:cNvSpPr>
            <a:spLocks xmlns:a="http://schemas.openxmlformats.org/drawingml/2006/main" noGrp="1"/>
          </p:cNvSpPr>
          <p:nvPr/>
        </p:nvSpPr>
        <p:spPr>
          <a:xfrm xmlns:a="http://schemas.openxmlformats.org/drawingml/2006/main">
            <a:off x="609600" y="40005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263449"/>
                </a:solidFill>
                <a:latin typeface="Arial"/>
                <a:ea typeface="Arial"/>
                <a:cs typeface="Arial"/>
              </a:defRPr>
            </a:defPPr>
            <a:lvl1pPr algn="l">
              <a:defRPr sz="3300" b="1">
                <a:solidFill>
                  <a:srgbClr val="263449"/>
                </a:solidFill>
                <a:latin typeface="Arial"/>
                <a:ea typeface="Arial"/>
                <a:cs typeface="Arial"/>
              </a:defRPr>
            </a:lvl1pPr>
            <a:lvl2pPr algn="l">
              <a:defRPr sz="3300" b="1">
                <a:solidFill>
                  <a:srgbClr val="263449"/>
                </a:solidFill>
                <a:latin typeface="Arial"/>
                <a:ea typeface="Arial"/>
                <a:cs typeface="Arial"/>
              </a:defRPr>
            </a:lvl2pPr>
            <a:lvl3pPr algn="l">
              <a:defRPr sz="3300" b="1">
                <a:solidFill>
                  <a:srgbClr val="263449"/>
                </a:solidFill>
                <a:latin typeface="Arial"/>
                <a:ea typeface="Arial"/>
                <a:cs typeface="Arial"/>
              </a:defRPr>
            </a:lvl3pPr>
            <a:lvl4pPr algn="l">
              <a:defRPr sz="3300" b="1">
                <a:solidFill>
                  <a:srgbClr val="263449"/>
                </a:solidFill>
                <a:latin typeface="Arial"/>
                <a:ea typeface="Arial"/>
                <a:cs typeface="Arial"/>
              </a:defRPr>
            </a:lvl4pPr>
            <a:lvl5pPr algn="l">
              <a:defRPr sz="3300" b="1">
                <a:solidFill>
                  <a:srgbClr val="263449"/>
                </a:solidFill>
                <a:latin typeface="Arial"/>
                <a:ea typeface="Arial"/>
                <a:cs typeface="Arial"/>
              </a:defRPr>
            </a:lvl5pPr>
            <a:lvl6pPr algn="l">
              <a:defRPr sz="3300" b="1">
                <a:solidFill>
                  <a:srgbClr val="263449"/>
                </a:solidFill>
                <a:latin typeface="Arial"/>
                <a:ea typeface="Arial"/>
                <a:cs typeface="Arial"/>
              </a:defRPr>
            </a:lvl6pPr>
            <a:lvl7pPr algn="l">
              <a:defRPr sz="3300" b="1">
                <a:solidFill>
                  <a:srgbClr val="263449"/>
                </a:solidFill>
                <a:latin typeface="Arial"/>
                <a:ea typeface="Arial"/>
                <a:cs typeface="Arial"/>
              </a:defRPr>
            </a:lvl7pPr>
            <a:lvl8pPr algn="l">
              <a:defRPr sz="3300" b="1">
                <a:solidFill>
                  <a:srgbClr val="263449"/>
                </a:solidFill>
                <a:latin typeface="Arial"/>
                <a:ea typeface="Arial"/>
                <a:cs typeface="Arial"/>
              </a:defRPr>
            </a:lvl8pPr>
            <a:lvl9pPr algn="l">
              <a:defRPr sz="3300" b="1">
                <a:solidFill>
                  <a:srgbClr val="263449"/>
                </a:solidFill>
                <a:latin typeface="Arial"/>
                <a:ea typeface="Arial"/>
                <a:cs typeface="Arial"/>
              </a:defRPr>
            </a:lvl9pPr>
          </a:lstStyle>
          <a:p xmlns:a="http://schemas.openxmlformats.org/drawingml/2006/main">
            <a:pPr algn="l">
              <a:defRPr sz="3300" b="1">
                <a:solidFill>
                  <a:srgbClr val="263449"/>
                </a:solidFill>
                <a:latin typeface="Arial"/>
                <a:ea typeface="Arial"/>
                <a:cs typeface="Arial"/>
              </a:defRPr>
            </a:pPr>
            <a:r>
              <a:rPr sz="3300" b="1">
                <a:solidFill>
                  <a:srgbClr val="263449"/>
                </a:solidFill>
                <a:latin typeface="Arial"/>
                <a:ea typeface="Arial"/>
                <a:cs typeface="Arial"/>
              </a:rPr>
              <a:t>Interpretation</a:t>
            </a:r>
          </a:p>
        </p:txBody>
      </p:sp>
      <p:graphicFrame>
        <p:nvGraphicFramePr>
          <p:cNvPr id="3" name="Chart">
            <a:extLst xmlns:a="http://schemas.openxmlformats.org/drawingml/2006/main">
              <a:ext uri="{FF2B5EF4-FFF2-40B4-BE49-F238E27FC236}">
                <a16:creationId xmlns:a16="http://schemas.microsoft.com/office/drawing/2014/main" id="{CB4F701C-FDD1-48E5-9A51-B9AB86648A8D}"/>
              </a:ext>
            </a:extLst>
          </p:cNvPr>
          <p:cNvGraphicFramePr/>
          <p:nvPr/>
        </p:nvGraphicFramePr>
        <p:xfrm>
          <a:off xmlns:a="http://schemas.openxmlformats.org/drawingml/2006/main" x="533400" y="1381125"/>
          <a:ext xmlns:a="http://schemas.openxmlformats.org/drawingml/2006/main" cx="7124700" cy="4181475"/>
        </p:xfrm>
        <a:graphic xmlns:a="http://schemas.openxmlformats.org/drawingml/2006/main">
          <a:graphicData uri="http://schemas.openxmlformats.org/drawingml/2006/chart">
            <c:chart xmlns:r="http://schemas.openxmlformats.org/officeDocument/2006/relationships" xmlns:c="http://schemas.openxmlformats.org/drawingml/2006/chart" r:id="R9425d3dbb5a34261"/>
          </a:graphicData>
        </a:graphic>
      </p:graphicFrame>
      <p:sp>
        <p:nvSpPr>
          <p:cNvPr id="4" name="reliance-takeaway">
            <a:extLst xmlns:a="http://schemas.openxmlformats.org/drawingml/2006/main">
              <a:ext uri="{FF2B5EF4-FFF2-40B4-BE49-F238E27FC236}">
                <a16:creationId xmlns:a16="http://schemas.microsoft.com/office/drawing/2014/main" id="{6DB0497B-CC01-4E7F-8C1B-4D49ED6D0FA5}"/>
              </a:ext>
            </a:extLst>
          </p:cNvPr>
          <p:cNvSpPr>
            <a:spLocks xmlns:a="http://schemas.openxmlformats.org/drawingml/2006/main" noGrp="1"/>
          </p:cNvSpPr>
          <p:nvPr/>
        </p:nvSpPr>
        <p:spPr>
          <a:xfrm xmlns:a="http://schemas.openxmlformats.org/drawingml/2006/main">
            <a:off x="8105775" y="1533525"/>
            <a:ext cx="34290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263449"/>
                </a:solidFill>
                <a:latin typeface="Arial"/>
                <a:ea typeface="Arial"/>
                <a:cs typeface="Arial"/>
              </a:defRPr>
            </a:defPPr>
            <a:lvl1pPr algn="l">
              <a:defRPr sz="2325" b="1">
                <a:solidFill>
                  <a:srgbClr val="263449"/>
                </a:solidFill>
                <a:latin typeface="Arial"/>
                <a:ea typeface="Arial"/>
                <a:cs typeface="Arial"/>
              </a:defRPr>
            </a:lvl1pPr>
            <a:lvl2pPr algn="l">
              <a:defRPr sz="2325" b="1">
                <a:solidFill>
                  <a:srgbClr val="263449"/>
                </a:solidFill>
                <a:latin typeface="Arial"/>
                <a:ea typeface="Arial"/>
                <a:cs typeface="Arial"/>
              </a:defRPr>
            </a:lvl2pPr>
            <a:lvl3pPr algn="l">
              <a:defRPr sz="2325" b="1">
                <a:solidFill>
                  <a:srgbClr val="263449"/>
                </a:solidFill>
                <a:latin typeface="Arial"/>
                <a:ea typeface="Arial"/>
                <a:cs typeface="Arial"/>
              </a:defRPr>
            </a:lvl3pPr>
            <a:lvl4pPr algn="l">
              <a:defRPr sz="2325" b="1">
                <a:solidFill>
                  <a:srgbClr val="263449"/>
                </a:solidFill>
                <a:latin typeface="Arial"/>
                <a:ea typeface="Arial"/>
                <a:cs typeface="Arial"/>
              </a:defRPr>
            </a:lvl4pPr>
            <a:lvl5pPr algn="l">
              <a:defRPr sz="2325" b="1">
                <a:solidFill>
                  <a:srgbClr val="263449"/>
                </a:solidFill>
                <a:latin typeface="Arial"/>
                <a:ea typeface="Arial"/>
                <a:cs typeface="Arial"/>
              </a:defRPr>
            </a:lvl5pPr>
            <a:lvl6pPr algn="l">
              <a:defRPr sz="2325" b="1">
                <a:solidFill>
                  <a:srgbClr val="263449"/>
                </a:solidFill>
                <a:latin typeface="Arial"/>
                <a:ea typeface="Arial"/>
                <a:cs typeface="Arial"/>
              </a:defRPr>
            </a:lvl6pPr>
            <a:lvl7pPr algn="l">
              <a:defRPr sz="2325" b="1">
                <a:solidFill>
                  <a:srgbClr val="263449"/>
                </a:solidFill>
                <a:latin typeface="Arial"/>
                <a:ea typeface="Arial"/>
                <a:cs typeface="Arial"/>
              </a:defRPr>
            </a:lvl7pPr>
            <a:lvl8pPr algn="l">
              <a:defRPr sz="2325" b="1">
                <a:solidFill>
                  <a:srgbClr val="263449"/>
                </a:solidFill>
                <a:latin typeface="Arial"/>
                <a:ea typeface="Arial"/>
                <a:cs typeface="Arial"/>
              </a:defRPr>
            </a:lvl8pPr>
            <a:lvl9pPr algn="l">
              <a:defRPr sz="2325" b="1">
                <a:solidFill>
                  <a:srgbClr val="263449"/>
                </a:solidFill>
                <a:latin typeface="Arial"/>
                <a:ea typeface="Arial"/>
                <a:cs typeface="Arial"/>
              </a:defRPr>
            </a:lvl9pPr>
          </a:lstStyle>
          <a:p xmlns:a="http://schemas.openxmlformats.org/drawingml/2006/main">
            <a:pPr algn="l">
              <a:defRPr sz="2325" b="1">
                <a:solidFill>
                  <a:srgbClr val="263449"/>
                </a:solidFill>
                <a:latin typeface="Arial"/>
                <a:ea typeface="Arial"/>
                <a:cs typeface="Arial"/>
              </a:defRPr>
            </a:pPr>
            <a:r>
              <a:rPr sz="2325" b="1">
                <a:solidFill>
                  <a:srgbClr val="263449"/>
                </a:solidFill>
                <a:latin typeface="Arial"/>
                <a:ea typeface="Arial"/>
                <a:cs typeface="Arial"/>
              </a:rPr>
              <a:t>Trade count has the strongest model reliance.</a:t>
            </a:r>
          </a:p>
        </p:txBody>
      </p:sp>
      <p:sp>
        <p:nvSpPr>
          <p:cNvPr id="5" name="ablation-takeaway">
            <a:extLst xmlns:a="http://schemas.openxmlformats.org/drawingml/2006/main">
              <a:ext uri="{FF2B5EF4-FFF2-40B4-BE49-F238E27FC236}">
                <a16:creationId xmlns:a16="http://schemas.microsoft.com/office/drawing/2014/main" id="{A284F8A4-9861-48D8-953D-B4FFF7A11201}"/>
              </a:ext>
            </a:extLst>
          </p:cNvPr>
          <p:cNvSpPr>
            <a:spLocks xmlns:a="http://schemas.openxmlformats.org/drawingml/2006/main" noGrp="1"/>
          </p:cNvSpPr>
          <p:nvPr/>
        </p:nvSpPr>
        <p:spPr>
          <a:xfrm xmlns:a="http://schemas.openxmlformats.org/drawingml/2006/main">
            <a:off x="8105775" y="3086100"/>
            <a:ext cx="3429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63449"/>
                </a:solidFill>
                <a:latin typeface="Arial"/>
                <a:ea typeface="Arial"/>
                <a:cs typeface="Arial"/>
              </a:defRPr>
            </a:defPPr>
            <a:lvl1pPr algn="l">
              <a:defRPr sz="1875" b="0">
                <a:solidFill>
                  <a:srgbClr val="263449"/>
                </a:solidFill>
                <a:latin typeface="Arial"/>
                <a:ea typeface="Arial"/>
                <a:cs typeface="Arial"/>
              </a:defRPr>
            </a:lvl1pPr>
            <a:lvl2pPr algn="l">
              <a:defRPr sz="1875" b="0">
                <a:solidFill>
                  <a:srgbClr val="263449"/>
                </a:solidFill>
                <a:latin typeface="Arial"/>
                <a:ea typeface="Arial"/>
                <a:cs typeface="Arial"/>
              </a:defRPr>
            </a:lvl2pPr>
            <a:lvl3pPr algn="l">
              <a:defRPr sz="1875" b="0">
                <a:solidFill>
                  <a:srgbClr val="263449"/>
                </a:solidFill>
                <a:latin typeface="Arial"/>
                <a:ea typeface="Arial"/>
                <a:cs typeface="Arial"/>
              </a:defRPr>
            </a:lvl3pPr>
            <a:lvl4pPr algn="l">
              <a:defRPr sz="1875" b="0">
                <a:solidFill>
                  <a:srgbClr val="263449"/>
                </a:solidFill>
                <a:latin typeface="Arial"/>
                <a:ea typeface="Arial"/>
                <a:cs typeface="Arial"/>
              </a:defRPr>
            </a:lvl4pPr>
            <a:lvl5pPr algn="l">
              <a:defRPr sz="1875" b="0">
                <a:solidFill>
                  <a:srgbClr val="263449"/>
                </a:solidFill>
                <a:latin typeface="Arial"/>
                <a:ea typeface="Arial"/>
                <a:cs typeface="Arial"/>
              </a:defRPr>
            </a:lvl5pPr>
            <a:lvl6pPr algn="l">
              <a:defRPr sz="1875" b="0">
                <a:solidFill>
                  <a:srgbClr val="263449"/>
                </a:solidFill>
                <a:latin typeface="Arial"/>
                <a:ea typeface="Arial"/>
                <a:cs typeface="Arial"/>
              </a:defRPr>
            </a:lvl6pPr>
            <a:lvl7pPr algn="l">
              <a:defRPr sz="1875" b="0">
                <a:solidFill>
                  <a:srgbClr val="263449"/>
                </a:solidFill>
                <a:latin typeface="Arial"/>
                <a:ea typeface="Arial"/>
                <a:cs typeface="Arial"/>
              </a:defRPr>
            </a:lvl7pPr>
            <a:lvl8pPr algn="l">
              <a:defRPr sz="1875" b="0">
                <a:solidFill>
                  <a:srgbClr val="263449"/>
                </a:solidFill>
                <a:latin typeface="Arial"/>
                <a:ea typeface="Arial"/>
                <a:cs typeface="Arial"/>
              </a:defRPr>
            </a:lvl8pPr>
            <a:lvl9pPr algn="l">
              <a:defRPr sz="1875" b="0">
                <a:solidFill>
                  <a:srgbClr val="263449"/>
                </a:solidFill>
                <a:latin typeface="Arial"/>
                <a:ea typeface="Arial"/>
                <a:cs typeface="Arial"/>
              </a:defRPr>
            </a:lvl9pPr>
          </a:lstStyle>
          <a:p xmlns:a="http://schemas.openxmlformats.org/drawingml/2006/main">
            <a:pPr algn="l">
              <a:defRPr sz="1875" b="0">
                <a:solidFill>
                  <a:srgbClr val="263449"/>
                </a:solidFill>
                <a:latin typeface="Arial"/>
                <a:ea typeface="Arial"/>
                <a:cs typeface="Arial"/>
              </a:defRPr>
            </a:pPr>
            <a:r>
              <a:rPr sz="1875" b="0">
                <a:solidFill>
                  <a:srgbClr val="263449"/>
                </a:solidFill>
                <a:latin typeface="Arial"/>
                <a:ea typeface="Arial"/>
                <a:cs typeface="Arial"/>
              </a:rPr>
              <a:t>Removing spending and largest purchase raises MAE to 19.97 cents.</a:t>
            </a:r>
          </a:p>
        </p:txBody>
      </p:sp>
      <p:sp>
        <p:nvSpPr>
          <p:cNvPr id="6" name="scope-caution">
            <a:extLst xmlns:a="http://schemas.openxmlformats.org/drawingml/2006/main">
              <a:ext uri="{FF2B5EF4-FFF2-40B4-BE49-F238E27FC236}">
                <a16:creationId xmlns:a16="http://schemas.microsoft.com/office/drawing/2014/main" id="{B7371562-3DF0-45CA-B7D7-92ED3C09B35A}"/>
              </a:ext>
            </a:extLst>
          </p:cNvPr>
          <p:cNvSpPr>
            <a:spLocks xmlns:a="http://schemas.openxmlformats.org/drawingml/2006/main" noGrp="1"/>
          </p:cNvSpPr>
          <p:nvPr/>
        </p:nvSpPr>
        <p:spPr>
          <a:xfrm xmlns:a="http://schemas.openxmlformats.org/drawingml/2006/main">
            <a:off x="8105775" y="4676775"/>
            <a:ext cx="3429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63449"/>
                </a:solidFill>
                <a:latin typeface="Arial"/>
                <a:ea typeface="Arial"/>
                <a:cs typeface="Arial"/>
              </a:defRPr>
            </a:defPPr>
            <a:lvl1pPr algn="l">
              <a:defRPr sz="1800" b="0">
                <a:solidFill>
                  <a:srgbClr val="263449"/>
                </a:solidFill>
                <a:latin typeface="Arial"/>
                <a:ea typeface="Arial"/>
                <a:cs typeface="Arial"/>
              </a:defRPr>
            </a:lvl1pPr>
            <a:lvl2pPr algn="l">
              <a:defRPr sz="1800" b="0">
                <a:solidFill>
                  <a:srgbClr val="263449"/>
                </a:solidFill>
                <a:latin typeface="Arial"/>
                <a:ea typeface="Arial"/>
                <a:cs typeface="Arial"/>
              </a:defRPr>
            </a:lvl2pPr>
            <a:lvl3pPr algn="l">
              <a:defRPr sz="1800" b="0">
                <a:solidFill>
                  <a:srgbClr val="263449"/>
                </a:solidFill>
                <a:latin typeface="Arial"/>
                <a:ea typeface="Arial"/>
                <a:cs typeface="Arial"/>
              </a:defRPr>
            </a:lvl3pPr>
            <a:lvl4pPr algn="l">
              <a:defRPr sz="1800" b="0">
                <a:solidFill>
                  <a:srgbClr val="263449"/>
                </a:solidFill>
                <a:latin typeface="Arial"/>
                <a:ea typeface="Arial"/>
                <a:cs typeface="Arial"/>
              </a:defRPr>
            </a:lvl4pPr>
            <a:lvl5pPr algn="l">
              <a:defRPr sz="1800" b="0">
                <a:solidFill>
                  <a:srgbClr val="263449"/>
                </a:solidFill>
                <a:latin typeface="Arial"/>
                <a:ea typeface="Arial"/>
                <a:cs typeface="Arial"/>
              </a:defRPr>
            </a:lvl5pPr>
            <a:lvl6pPr algn="l">
              <a:defRPr sz="1800" b="0">
                <a:solidFill>
                  <a:srgbClr val="263449"/>
                </a:solidFill>
                <a:latin typeface="Arial"/>
                <a:ea typeface="Arial"/>
                <a:cs typeface="Arial"/>
              </a:defRPr>
            </a:lvl6pPr>
            <a:lvl7pPr algn="l">
              <a:defRPr sz="1800" b="0">
                <a:solidFill>
                  <a:srgbClr val="263449"/>
                </a:solidFill>
                <a:latin typeface="Arial"/>
                <a:ea typeface="Arial"/>
                <a:cs typeface="Arial"/>
              </a:defRPr>
            </a:lvl7pPr>
            <a:lvl8pPr algn="l">
              <a:defRPr sz="1800" b="0">
                <a:solidFill>
                  <a:srgbClr val="263449"/>
                </a:solidFill>
                <a:latin typeface="Arial"/>
                <a:ea typeface="Arial"/>
                <a:cs typeface="Arial"/>
              </a:defRPr>
            </a:lvl8pPr>
            <a:lvl9pPr algn="l">
              <a:defRPr sz="1800" b="0">
                <a:solidFill>
                  <a:srgbClr val="263449"/>
                </a:solidFill>
                <a:latin typeface="Arial"/>
                <a:ea typeface="Arial"/>
                <a:cs typeface="Arial"/>
              </a:defRPr>
            </a:lvl9pPr>
          </a:lstStyle>
          <a:p xmlns:a="http://schemas.openxmlformats.org/drawingml/2006/main">
            <a:pPr algn="l">
              <a:defRPr sz="1800" b="0">
                <a:solidFill>
                  <a:srgbClr val="263449"/>
                </a:solidFill>
                <a:latin typeface="Arial"/>
                <a:ea typeface="Arial"/>
                <a:cs typeface="Arial"/>
              </a:defRPr>
            </a:pPr>
            <a:r>
              <a:rPr sz="1800" b="0">
                <a:solidFill>
                  <a:srgbClr val="263449"/>
                </a:solidFill>
                <a:latin typeface="Arial"/>
                <a:ea typeface="Arial"/>
                <a:cs typeface="Arial"/>
              </a:rPr>
              <a:t>Same-period prediction.</a:t>
            </a:r>
          </a:p>
          <a:p xmlns:a="http://schemas.openxmlformats.org/drawingml/2006/main">
            <a:pPr algn="l">
              <a:defRPr sz="1800" b="0">
                <a:solidFill>
                  <a:srgbClr val="263449"/>
                </a:solidFill>
                <a:latin typeface="Arial"/>
                <a:ea typeface="Arial"/>
                <a:cs typeface="Arial"/>
              </a:defRPr>
            </a:pPr>
            <a:r>
              <a:rPr sz="1800" b="0">
                <a:solidFill>
                  <a:srgbClr val="263449"/>
                </a:solidFill>
                <a:latin typeface="Arial"/>
                <a:ea typeface="Arial"/>
                <a:cs typeface="Arial"/>
              </a:rPr>
              <a:t>Price differences can reflect market choice and timing.</a:t>
            </a:r>
          </a:p>
        </p:txBody>
      </p:sp>
      <p:sp>
        <p:nvSpPr>
          <p:cNvPr id="7" name="attribution-caution">
            <a:extLst xmlns:a="http://schemas.openxmlformats.org/drawingml/2006/main">
              <a:ext uri="{FF2B5EF4-FFF2-40B4-BE49-F238E27FC236}">
                <a16:creationId xmlns:a16="http://schemas.microsoft.com/office/drawing/2014/main" id="{098B6964-4560-403D-B085-82BC92C891BE}"/>
              </a:ext>
            </a:extLst>
          </p:cNvPr>
          <p:cNvSpPr>
            <a:spLocks xmlns:a="http://schemas.openxmlformats.org/drawingml/2006/main" noGrp="1"/>
          </p:cNvSpPr>
          <p:nvPr/>
        </p:nvSpPr>
        <p:spPr>
          <a:xfrm xmlns:a="http://schemas.openxmlformats.org/drawingml/2006/main">
            <a:off x="609600" y="62103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27085"/>
                </a:solidFill>
                <a:latin typeface="Arial"/>
                <a:ea typeface="Arial"/>
                <a:cs typeface="Arial"/>
              </a:defRPr>
            </a:defPPr>
            <a:lvl1pPr algn="l">
              <a:defRPr sz="1500" b="0">
                <a:solidFill>
                  <a:srgbClr val="627085"/>
                </a:solidFill>
                <a:latin typeface="Arial"/>
                <a:ea typeface="Arial"/>
                <a:cs typeface="Arial"/>
              </a:defRPr>
            </a:lvl1pPr>
            <a:lvl2pPr algn="l">
              <a:defRPr sz="1500" b="0">
                <a:solidFill>
                  <a:srgbClr val="627085"/>
                </a:solidFill>
                <a:latin typeface="Arial"/>
                <a:ea typeface="Arial"/>
                <a:cs typeface="Arial"/>
              </a:defRPr>
            </a:lvl2pPr>
            <a:lvl3pPr algn="l">
              <a:defRPr sz="1500" b="0">
                <a:solidFill>
                  <a:srgbClr val="627085"/>
                </a:solidFill>
                <a:latin typeface="Arial"/>
                <a:ea typeface="Arial"/>
                <a:cs typeface="Arial"/>
              </a:defRPr>
            </a:lvl3pPr>
            <a:lvl4pPr algn="l">
              <a:defRPr sz="1500" b="0">
                <a:solidFill>
                  <a:srgbClr val="627085"/>
                </a:solidFill>
                <a:latin typeface="Arial"/>
                <a:ea typeface="Arial"/>
                <a:cs typeface="Arial"/>
              </a:defRPr>
            </a:lvl4pPr>
            <a:lvl5pPr algn="l">
              <a:defRPr sz="1500" b="0">
                <a:solidFill>
                  <a:srgbClr val="627085"/>
                </a:solidFill>
                <a:latin typeface="Arial"/>
                <a:ea typeface="Arial"/>
                <a:cs typeface="Arial"/>
              </a:defRPr>
            </a:lvl5pPr>
            <a:lvl6pPr algn="l">
              <a:defRPr sz="1500" b="0">
                <a:solidFill>
                  <a:srgbClr val="627085"/>
                </a:solidFill>
                <a:latin typeface="Arial"/>
                <a:ea typeface="Arial"/>
                <a:cs typeface="Arial"/>
              </a:defRPr>
            </a:lvl6pPr>
            <a:lvl7pPr algn="l">
              <a:defRPr sz="1500" b="0">
                <a:solidFill>
                  <a:srgbClr val="627085"/>
                </a:solidFill>
                <a:latin typeface="Arial"/>
                <a:ea typeface="Arial"/>
                <a:cs typeface="Arial"/>
              </a:defRPr>
            </a:lvl7pPr>
            <a:lvl8pPr algn="l">
              <a:defRPr sz="1500" b="0">
                <a:solidFill>
                  <a:srgbClr val="627085"/>
                </a:solidFill>
                <a:latin typeface="Arial"/>
                <a:ea typeface="Arial"/>
                <a:cs typeface="Arial"/>
              </a:defRPr>
            </a:lvl8pPr>
            <a:lvl9pPr algn="l">
              <a:defRPr sz="1500" b="0">
                <a:solidFill>
                  <a:srgbClr val="627085"/>
                </a:solidFill>
                <a:latin typeface="Arial"/>
                <a:ea typeface="Arial"/>
                <a:cs typeface="Arial"/>
              </a:defRPr>
            </a:lvl9pPr>
          </a:lstStyle>
          <a:p xmlns:a="http://schemas.openxmlformats.org/drawingml/2006/main">
            <a:pPr algn="l">
              <a:defRPr sz="1500" b="0">
                <a:solidFill>
                  <a:srgbClr val="627085"/>
                </a:solidFill>
                <a:latin typeface="Arial"/>
                <a:ea typeface="Arial"/>
                <a:cs typeface="Arial"/>
              </a:defRPr>
            </a:pPr>
            <a:r>
              <a:rPr sz="1500" b="0">
                <a:solidFill>
                  <a:srgbClr val="627085"/>
                </a:solidFill>
                <a:latin typeface="Arial"/>
                <a:ea typeface="Arial"/>
                <a:cs typeface="Arial"/>
              </a:rPr>
              <a:t>Correlated predictors limit attribution. Importance gives no effect direction or causal interpretation.</a:t>
            </a:r>
          </a:p>
        </p:txBody>
      </p:sp>
    </p:spTree>
    <p:extLst>
      <p:ext uri="{BB962C8B-B14F-4D97-AF65-F5344CB8AC3E}">
        <p14:creationId xmlns:p14="http://schemas.microsoft.com/office/powerpoint/2010/main" val="3977205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2026-10-27T05:41:06.5150000Z</dcterms:created>
  <dcterms:modified xsi:type="dcterms:W3CDTF">2026-10-27T05:41:06.5150000Z</dcterms:modified>
</coreProperties>
</file>